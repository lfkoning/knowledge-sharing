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70" r:id="rId4"/>
    <p:sldId id="273" r:id="rId5"/>
    <p:sldId id="292" r:id="rId6"/>
    <p:sldId id="271" r:id="rId7"/>
    <p:sldId id="289" r:id="rId8"/>
    <p:sldId id="284" r:id="rId9"/>
    <p:sldId id="295" r:id="rId10"/>
    <p:sldId id="298" r:id="rId11"/>
    <p:sldId id="274" r:id="rId12"/>
    <p:sldId id="272" r:id="rId13"/>
    <p:sldId id="301" r:id="rId14"/>
    <p:sldId id="283" r:id="rId15"/>
    <p:sldId id="359" r:id="rId16"/>
    <p:sldId id="360" r:id="rId17"/>
    <p:sldId id="361" r:id="rId18"/>
    <p:sldId id="291" r:id="rId19"/>
    <p:sldId id="362" r:id="rId20"/>
    <p:sldId id="293" r:id="rId21"/>
    <p:sldId id="294" r:id="rId22"/>
    <p:sldId id="276" r:id="rId23"/>
    <p:sldId id="302" r:id="rId24"/>
    <p:sldId id="303" r:id="rId25"/>
    <p:sldId id="304" r:id="rId26"/>
    <p:sldId id="329" r:id="rId27"/>
    <p:sldId id="305" r:id="rId28"/>
    <p:sldId id="306" r:id="rId29"/>
    <p:sldId id="310" r:id="rId30"/>
    <p:sldId id="345" r:id="rId31"/>
    <p:sldId id="346" r:id="rId32"/>
    <p:sldId id="352" r:id="rId33"/>
    <p:sldId id="357" r:id="rId34"/>
    <p:sldId id="358" r:id="rId35"/>
    <p:sldId id="312" r:id="rId36"/>
    <p:sldId id="313" r:id="rId37"/>
    <p:sldId id="333" r:id="rId38"/>
    <p:sldId id="323" r:id="rId39"/>
    <p:sldId id="331" r:id="rId40"/>
    <p:sldId id="332" r:id="rId41"/>
    <p:sldId id="324" r:id="rId42"/>
    <p:sldId id="325" r:id="rId43"/>
    <p:sldId id="363" r:id="rId44"/>
    <p:sldId id="326" r:id="rId45"/>
    <p:sldId id="355" r:id="rId46"/>
    <p:sldId id="353" r:id="rId47"/>
    <p:sldId id="354" r:id="rId48"/>
    <p:sldId id="347" r:id="rId49"/>
    <p:sldId id="336" r:id="rId50"/>
    <p:sldId id="348" r:id="rId5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58" autoAdjust="0"/>
    <p:restoredTop sz="87402" autoAdjust="0"/>
  </p:normalViewPr>
  <p:slideViewPr>
    <p:cSldViewPr snapToGrid="0">
      <p:cViewPr varScale="1">
        <p:scale>
          <a:sx n="67" d="100"/>
          <a:sy n="67" d="100"/>
        </p:scale>
        <p:origin x="576" y="5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Noot: </a:t>
            </a:r>
            <a:r>
              <a:rPr lang="en-US" dirty="0" err="1"/>
              <a:t>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niet-verplichte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64117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48380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1_classes_dunder_methods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2459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4041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Demo: 2_classes_inheritance</a:t>
            </a:r>
            <a:endParaRPr lang="en-NL" dirty="0"/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9289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datamodel.html#special-method-nam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Data en operatoren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Controle structuren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Namespaces en scopes</a:t>
            </a:r>
          </a:p>
          <a:p>
            <a:pPr>
              <a:spcAft>
                <a:spcPts val="600"/>
              </a:spcAft>
            </a:pPr>
            <a:r>
              <a:rPr lang="nl-NL" sz="2000" dirty="0" err="1"/>
              <a:t>Mutable</a:t>
            </a:r>
            <a:r>
              <a:rPr lang="nl-NL" sz="2000" dirty="0"/>
              <a:t> of </a:t>
            </a:r>
            <a:r>
              <a:rPr lang="nl-NL" sz="2000" dirty="0" err="1"/>
              <a:t>immutable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en operatoren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5169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668" y="1828520"/>
            <a:ext cx="4453467" cy="114328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096000" y="4042952"/>
            <a:ext cx="4453467" cy="22794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set 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tuple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3, 4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list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838199" y="4042954"/>
            <a:ext cx="4453466" cy="22794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  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"it's Python"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'it\'s Python'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"""it's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Python"""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6096000" y="1881050"/>
            <a:ext cx="4453467" cy="1090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1A365-F935-B72D-75E3-9C40B0BD18FC}"/>
              </a:ext>
            </a:extLst>
          </p:cNvPr>
          <p:cNvSpPr txBox="1"/>
          <p:nvPr/>
        </p:nvSpPr>
        <p:spPr>
          <a:xfrm>
            <a:off x="831667" y="1413264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b="1" noProof="0" dirty="0">
                <a:cs typeface="Courier New" panose="02070309020205020404" pitchFamily="49" charset="0"/>
              </a:rPr>
              <a:t>Numeriek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97FB6-A8A8-30E6-8945-B9649678F545}"/>
              </a:ext>
            </a:extLst>
          </p:cNvPr>
          <p:cNvSpPr txBox="1"/>
          <p:nvPr/>
        </p:nvSpPr>
        <p:spPr>
          <a:xfrm>
            <a:off x="6096000" y="1413264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Logisch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1EB16-B55E-561F-5F08-6B9BCA302779}"/>
              </a:ext>
            </a:extLst>
          </p:cNvPr>
          <p:cNvSpPr txBox="1"/>
          <p:nvPr/>
        </p:nvSpPr>
        <p:spPr>
          <a:xfrm>
            <a:off x="831666" y="3618415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Tekst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B1925-E39C-5718-FB9E-ED9FFB618F0C}"/>
              </a:ext>
            </a:extLst>
          </p:cNvPr>
          <p:cNvSpPr txBox="1"/>
          <p:nvPr/>
        </p:nvSpPr>
        <p:spPr>
          <a:xfrm>
            <a:off x="6095999" y="3611887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Verzamelingen</a:t>
            </a:r>
            <a:endParaRPr lang="en-US" sz="1800" b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071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t</a:t>
            </a:r>
            <a:r>
              <a:rPr lang="nl-NL" sz="3600" noProof="0" dirty="0" err="1"/>
              <a:t>ekst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 =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template.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(n=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Doe,John"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/>
              <a:t> plak je strings aan elkaar.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Een format-string is vaak korter.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format()</a:t>
            </a:r>
            <a:r>
              <a:rPr lang="nl-NL" sz="2000" dirty="0"/>
              <a:t> methode doet hetzelfde,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maar indirect.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Splits string op scheidingsteken.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Plak lijst strings aan elkaar.</a:t>
            </a:r>
          </a:p>
        </p:txBody>
      </p:sp>
    </p:spTree>
    <p:extLst>
      <p:ext uri="{BB962C8B-B14F-4D97-AF65-F5344CB8AC3E}">
        <p14:creationId xmlns:p14="http://schemas.microsoft.com/office/powerpoint/2010/main" val="389145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v</a:t>
            </a:r>
            <a:r>
              <a:rPr lang="nl-NL" sz="3600" noProof="0" dirty="0" err="1"/>
              <a:t>erzamelingen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6328"/>
            <a:ext cx="4826000" cy="5241878"/>
          </a:xfr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= [1, 2, 3, 4]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list[1]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2, index start bij 0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list[4]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600" noProof="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IndexError</a:t>
            </a:r>
            <a:endParaRPr lang="nl-NL" sz="1600" noProof="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list[0:2]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list[2:]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[3, 4]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list[:-1]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2, 3]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list[-1:]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[4]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list[2] = 0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toewijzen (list)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27802" y="1166327"/>
            <a:ext cx="4826001" cy="5241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1,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2}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KeyError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3)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0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toewijzen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list(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["a", "b"]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dict.keys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04866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 converteren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4513"/>
            <a:ext cx="1625083" cy="900923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cs typeface="Courier New" panose="02070309020205020404" pitchFamily="49" charset="0"/>
              </a:rPr>
              <a:t>Integer</a:t>
            </a:r>
          </a:p>
          <a:p>
            <a:pPr marL="0" indent="0" algn="ctr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int(x)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3870130" y="2166241"/>
            <a:ext cx="1625083" cy="89746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Float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float(x)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6833635" y="2164513"/>
            <a:ext cx="1625083" cy="90092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String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str(x)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9728717" y="2164513"/>
            <a:ext cx="1625083" cy="90092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Boolean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bool(x)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45C0664-5CE8-3179-CBB0-12CEBB3A2DDA}"/>
              </a:ext>
            </a:extLst>
          </p:cNvPr>
          <p:cNvGrpSpPr/>
          <p:nvPr/>
        </p:nvGrpSpPr>
        <p:grpSpPr>
          <a:xfrm>
            <a:off x="838200" y="1595389"/>
            <a:ext cx="10515600" cy="374817"/>
            <a:chOff x="838199" y="1267371"/>
            <a:chExt cx="10515600" cy="37481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AF89407-A4C8-B31A-1B0E-F161B693C430}"/>
                </a:ext>
              </a:extLst>
            </p:cNvPr>
            <p:cNvCxnSpPr/>
            <p:nvPr/>
          </p:nvCxnSpPr>
          <p:spPr>
            <a:xfrm>
              <a:off x="838199" y="1642188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B4AB953-7749-A548-515E-7E5507009846}"/>
                </a:ext>
              </a:extLst>
            </p:cNvPr>
            <p:cNvSpPr txBox="1"/>
            <p:nvPr/>
          </p:nvSpPr>
          <p:spPr>
            <a:xfrm>
              <a:off x="5573259" y="1267371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75000"/>
                    </a:schemeClr>
                  </a:solidFill>
                </a:rPr>
                <a:t>widening</a:t>
              </a:r>
              <a:endParaRPr lang="en-NL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745BB8E-AD41-E60E-CE11-A2305F69FDFF}"/>
              </a:ext>
            </a:extLst>
          </p:cNvPr>
          <p:cNvGrpSpPr/>
          <p:nvPr/>
        </p:nvGrpSpPr>
        <p:grpSpPr>
          <a:xfrm>
            <a:off x="838200" y="3283610"/>
            <a:ext cx="10538408" cy="369332"/>
            <a:chOff x="887188" y="3586063"/>
            <a:chExt cx="10515600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EB6996C-0B22-9B6F-F8C4-3B79D1AB40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7188" y="3586063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FA5DB0C-6677-6279-8926-72398DDB0AB4}"/>
                </a:ext>
              </a:extLst>
            </p:cNvPr>
            <p:cNvSpPr txBox="1"/>
            <p:nvPr/>
          </p:nvSpPr>
          <p:spPr>
            <a:xfrm>
              <a:off x="5573259" y="3586063"/>
              <a:ext cx="1143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narrowing</a:t>
              </a:r>
              <a:endParaRPr lang="en-NL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EB5F364-DC78-5AA0-799A-0A3335A0BF01}"/>
              </a:ext>
            </a:extLst>
          </p:cNvPr>
          <p:cNvSpPr txBox="1"/>
          <p:nvPr/>
        </p:nvSpPr>
        <p:spPr>
          <a:xfrm>
            <a:off x="2312436" y="4136842"/>
            <a:ext cx="7567127" cy="222663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breder data type kan altijd…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smaller data type kan misgaan!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Je krijgt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nl-NL" sz="2000" dirty="0"/>
              <a:t> bij conversie van ongeldige waardes.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Voorbeelden ongeldige waardes: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 int(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"3.2"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Alleen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[], {}, 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nl-NL" sz="2000" dirty="0">
                <a:cs typeface="Courier New" panose="02070309020205020404" pitchFamily="49" charset="0"/>
              </a:rPr>
              <a:t> zijn </a:t>
            </a:r>
            <a:r>
              <a:rPr lang="nl-NL" sz="2000" dirty="0" err="1">
                <a:cs typeface="Courier New" panose="02070309020205020404" pitchFamily="49" charset="0"/>
              </a:rPr>
              <a:t>boolean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671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Operatoren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989"/>
            <a:ext cx="4842933" cy="5223218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Numeriek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 en toewijzen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-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Aftrekken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Vermenigvuldigen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 door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Delen, negeer rest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%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Rest bij deling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Machtsverheffen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10869" y="1184989"/>
            <a:ext cx="4842932" cy="52232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Logisch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!=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of gelijk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of gelijk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is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Is identiek (object)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Zit in een verzameling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Een van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Omkering</a:t>
            </a:r>
          </a:p>
        </p:txBody>
      </p:sp>
    </p:spTree>
    <p:extLst>
      <p:ext uri="{BB962C8B-B14F-4D97-AF65-F5344CB8AC3E}">
        <p14:creationId xmlns:p14="http://schemas.microsoft.com/office/powerpoint/2010/main" val="2443077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de uitkomst van:</a:t>
            </a:r>
          </a:p>
          <a:p>
            <a:pPr marL="457200" lvl="1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int(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3.7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/>
              <a:t>-  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"123"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39598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Controle structuren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2489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Conditionele logica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2980"/>
            <a:ext cx="4885268" cy="5026953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==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&gt;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&lt;=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12980"/>
            <a:ext cx="4885268" cy="50269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Maak conditionele blokken code met</a:t>
            </a:r>
          </a:p>
          <a:p>
            <a:pPr>
              <a:spcBef>
                <a:spcPts val="1000"/>
              </a:spcBef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Combineer condities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2000" dirty="0"/>
              <a:t> /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dirty="0"/>
              <a:t>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Komt waarde voor in een verzameling.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vang je alles dat niet voldoet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aan de voorgaande condities.</a:t>
            </a:r>
          </a:p>
        </p:txBody>
      </p:sp>
    </p:spTree>
    <p:extLst>
      <p:ext uri="{BB962C8B-B14F-4D97-AF65-F5344CB8AC3E}">
        <p14:creationId xmlns:p14="http://schemas.microsoft.com/office/powerpoint/2010/main" val="1657020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De </a:t>
            </a:r>
            <a:r>
              <a:rPr lang="nl-NL" sz="3600" noProof="0" dirty="0" err="1"/>
              <a:t>for</a:t>
            </a:r>
            <a:r>
              <a:rPr lang="nl-NL" sz="3600" noProof="0" dirty="0"/>
              <a:t>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(x)  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1, 2, 3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x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0, 1, 2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US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{k}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{v}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a=1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 ==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"_comment"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600" dirty="0"/>
              <a:t> loop gebruik je in combinatie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Geef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/>
              <a:t>op na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Tel iteraties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start=x</a:t>
            </a:r>
            <a:r>
              <a:rPr lang="nl-NL" sz="1600" dirty="0"/>
              <a:t> om startpunt op te geven.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items()</a:t>
            </a:r>
            <a:r>
              <a:rPr lang="nl-NL" sz="1600" dirty="0"/>
              <a:t> om door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600" dirty="0"/>
              <a:t> heen te lopen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nl-NL" sz="1600" dirty="0"/>
              <a:t> om iteratie over te slaan.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nl-NL" sz="1600" dirty="0"/>
              <a:t> om de loop te beëindigen.</a:t>
            </a:r>
          </a:p>
        </p:txBody>
      </p:sp>
    </p:spTree>
    <p:extLst>
      <p:ext uri="{BB962C8B-B14F-4D97-AF65-F5344CB8AC3E}">
        <p14:creationId xmlns:p14="http://schemas.microsoft.com/office/powerpoint/2010/main" val="582769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Comprehensions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name.lower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names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"even"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"uneven"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numbers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numbers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():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endParaRPr lang="nl-NL" sz="1600" dirty="0"/>
          </a:p>
          <a:p>
            <a:r>
              <a:rPr lang="nl-NL" sz="1600" dirty="0"/>
              <a:t>Bewerken alle items en geef een nieuwe lijst terug.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Waarde kan conditioneel zijn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/>
              <a:t>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Je kunt waardes filteren met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/>
              <a:t> na de </a:t>
            </a:r>
            <a:r>
              <a:rPr lang="nl-NL" sz="1600" dirty="0" err="1"/>
              <a:t>for</a:t>
            </a:r>
            <a:r>
              <a:rPr lang="nl-NL" sz="1600" dirty="0"/>
              <a:t> loop.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 err="1"/>
              <a:t>Comprehension</a:t>
            </a:r>
            <a:r>
              <a:rPr lang="nl-NL" sz="1600" dirty="0"/>
              <a:t> toegepast op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0430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(name=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(value)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value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dirty="0"/>
              <a:t> om een functie aan te maken.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Spring 4 spaties in voor de functie code.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Argumenten definieer je tussen de haken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Je kunt argumenten een standaard waarde geven.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Het argument is dan niet meer verplicht.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600" dirty="0"/>
              <a:t> geef je waardes terug uit een functie.</a:t>
            </a:r>
          </a:p>
        </p:txBody>
      </p:sp>
    </p:spTree>
    <p:extLst>
      <p:ext uri="{BB962C8B-B14F-4D97-AF65-F5344CB8AC3E}">
        <p14:creationId xmlns:p14="http://schemas.microsoft.com/office/powerpoint/2010/main" val="177868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B81AD-2190-FEC5-0C08-88BACBA5F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E56B6-68CE-A6ED-6273-C991AB648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3198-699A-D6CA-157A-28E69B7C9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sep=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188F43-11CE-CFD7-7D8F-DE5FBF1EEC26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kun je een variabel aantal argumenten opvangen in een lijst.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Aanroep met 2 naamloze argumenten plus een "</a:t>
            </a:r>
            <a:r>
              <a:rPr lang="nl-NL" sz="1600" dirty="0" err="1"/>
              <a:t>keyword</a:t>
            </a:r>
            <a:r>
              <a:rPr lang="nl-NL" sz="1600" dirty="0"/>
              <a:t> argument".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Alternatieve implementatie; scheidingsteken is nu eerste argument en verplicht.</a:t>
            </a:r>
          </a:p>
        </p:txBody>
      </p:sp>
    </p:spTree>
    <p:extLst>
      <p:ext uri="{BB962C8B-B14F-4D97-AF65-F5344CB8AC3E}">
        <p14:creationId xmlns:p14="http://schemas.microsoft.com/office/powerpoint/2010/main" val="264549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CBE9-8A6F-BB51-B73D-07ED3BCC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1540-F405-43EA-67C8-347E37076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693EB-340D-F2CC-24D4-FB5F5AE76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key, value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(key,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: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value)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course=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course : Python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year : 2026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ABB235-912A-09FA-C0E9-2CB7F20FD03F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vang je een variabel aantal namen en waardes op in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Mening: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en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zijn slecht leesbaar.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Vaak beter om list / </a:t>
            </a:r>
            <a:r>
              <a:rPr lang="nl-NL" sz="1600" dirty="0" err="1"/>
              <a:t>dict</a:t>
            </a:r>
            <a:r>
              <a:rPr lang="nl-NL" sz="1600" dirty="0"/>
              <a:t> / object te gebruiken.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Alleen voor </a:t>
            </a:r>
            <a:r>
              <a:rPr lang="nl-NL" sz="1600" dirty="0" err="1"/>
              <a:t>wrapper</a:t>
            </a:r>
            <a:r>
              <a:rPr lang="nl-NL" sz="1600" dirty="0"/>
              <a:t> functies.</a:t>
            </a:r>
          </a:p>
        </p:txBody>
      </p:sp>
    </p:spTree>
    <p:extLst>
      <p:ext uri="{BB962C8B-B14F-4D97-AF65-F5344CB8AC3E}">
        <p14:creationId xmlns:p14="http://schemas.microsoft.com/office/powerpoint/2010/main" val="1353347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78C49-8AF9-B444-C73C-F5A21744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40EE2-4ECE-FFAA-A02E-D262A1018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Ingebouwde functies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971A10-39A2-7D86-9CA7-E6DEDFB1F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0028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Handige hulpfuncties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Print object of waarde naar de terminal.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hulp over het object.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type van een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eigenschappen van het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unieke ID van het object weer.</a:t>
            </a:r>
          </a:p>
        </p:txBody>
      </p:sp>
    </p:spTree>
    <p:extLst>
      <p:ext uri="{BB962C8B-B14F-4D97-AF65-F5344CB8AC3E}">
        <p14:creationId xmlns:p14="http://schemas.microsoft.com/office/powerpoint/2010/main" val="2360719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C030-CA6B-09E8-6963-5B762C018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CE24-A65F-06EC-1C85-EA223894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Ingebouwde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423F-88AE-E175-4A2D-5426BEC67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>
                <a:cs typeface="Courier New" panose="02070309020205020404" pitchFamily="49" charset="0"/>
              </a:rPr>
              <a:t> module bevat alle ingebouwde functies, foutmeldingen en waarschuwingen.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code hiernaast print een lijst van ingebouwde objecten.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Data types:   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int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list / set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Rekenkundig: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Lijsten:  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max / min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496F4F-2F2B-F910-3A4E-7B11F13BA671}"/>
              </a:ext>
            </a:extLst>
          </p:cNvPr>
          <p:cNvSpPr txBox="1">
            <a:spLocks/>
          </p:cNvSpPr>
          <p:nvPr/>
        </p:nvSpPr>
        <p:spPr>
          <a:xfrm>
            <a:off x="8257953" y="1456267"/>
            <a:ext cx="309584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 all built-ins.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en-US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help on built-in.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(range)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C5B346-BCD4-947F-08E6-36C0C49BC655}"/>
              </a:ext>
            </a:extLst>
          </p:cNvPr>
          <p:cNvCxnSpPr>
            <a:cxnSpLocks/>
          </p:cNvCxnSpPr>
          <p:nvPr/>
        </p:nvCxnSpPr>
        <p:spPr>
          <a:xfrm>
            <a:off x="76802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9543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Lezen uit tekstbestanden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data_file.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Process a single line.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nl-NL" sz="1600" dirty="0"/>
              <a:t> open je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lees je alle regels tegelijk in.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close()</a:t>
            </a:r>
            <a:r>
              <a:rPr lang="nl-NL" sz="1600" dirty="0"/>
              <a:t> sluit je het bestand weer.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600" dirty="0"/>
              <a:t> om het bestand te openen...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Verwerk de regels in het tekstbestand…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Bestand wordt automatisch gesloten.</a:t>
            </a:r>
          </a:p>
        </p:txBody>
      </p:sp>
    </p:spTree>
    <p:extLst>
      <p:ext uri="{BB962C8B-B14F-4D97-AF65-F5344CB8AC3E}">
        <p14:creationId xmlns:p14="http://schemas.microsoft.com/office/powerpoint/2010/main" val="184242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Schrijven naar </a:t>
            </a:r>
            <a:r>
              <a:rPr lang="nl-NL" sz="3600" noProof="0" dirty="0" err="1"/>
              <a:t>tesktbestanden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lines = [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1"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2"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"output.txt"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out: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(line +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nl-NL" sz="1600" dirty="0"/>
              <a:t> </a:t>
            </a:r>
            <a:r>
              <a:rPr lang="nl-NL" sz="1600" u="sng" dirty="0"/>
              <a:t>overschrijft</a:t>
            </a:r>
            <a:r>
              <a:rPr lang="nl-NL" sz="1600" dirty="0"/>
              <a:t> het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nl-NL" sz="1600" dirty="0"/>
              <a:t> </a:t>
            </a:r>
            <a:r>
              <a:rPr lang="nl-NL" sz="1600" u="sng" dirty="0"/>
              <a:t>vult</a:t>
            </a:r>
            <a:r>
              <a:rPr lang="nl-NL" sz="1600" dirty="0"/>
              <a:t> het bestand </a:t>
            </a:r>
            <a:r>
              <a:rPr lang="nl-NL" sz="1600" u="sng" dirty="0"/>
              <a:t>aan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schrijf je tekst naar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Let op: Voeg regeleinde toe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410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Schrijf een script dat namen anonimiseert.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Opzet: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exercises/2_process_csv.py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de CSV data in te lezen.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anonymize_name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namen te maskeren.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staan in: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0_data/persons/personal_data.csv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8248260" y="1456267"/>
            <a:ext cx="282095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CSV input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name,gender,age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Henk de Boer,man,44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Ingrid Jansen,vrouw,37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Jaap Henriks,man,56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777240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878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Namespaces en scopes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3710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namespace?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namespace koppelt namen aan objecten. 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het script: </a:t>
            </a:r>
          </a:p>
          <a:p>
            <a:pPr marL="0" indent="0">
              <a:buNone/>
            </a:pPr>
            <a:r>
              <a:rPr lang="nl-NL" sz="2000" b="1" noProof="0" dirty="0" err="1"/>
              <a:t>global</a:t>
            </a:r>
            <a:r>
              <a:rPr lang="nl-NL" sz="2000" b="1" noProof="0" dirty="0"/>
              <a:t> namespace</a:t>
            </a:r>
            <a:r>
              <a:rPr lang="nl-NL" sz="2000" noProof="0" dirty="0"/>
              <a:t> 	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noProof="0" dirty="0"/>
              <a:t> +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de test functie:</a:t>
            </a:r>
          </a:p>
          <a:p>
            <a:pPr marL="0" indent="0">
              <a:buNone/>
            </a:pPr>
            <a:r>
              <a:rPr lang="nl-NL" sz="2000" b="1" noProof="0" dirty="0" err="1"/>
              <a:t>local</a:t>
            </a:r>
            <a:r>
              <a:rPr lang="nl-NL" sz="2000" b="1" noProof="0" dirty="0"/>
              <a:t> namespace </a:t>
            </a:r>
            <a:r>
              <a:rPr lang="nl-NL" sz="2000" noProof="0" dirty="0"/>
              <a:t>		              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endParaRPr lang="nl-NL" sz="2000" noProof="0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0BF9C8-CA1E-83DA-4E42-CF01D71DDD2F}"/>
              </a:ext>
            </a:extLst>
          </p:cNvPr>
          <p:cNvSpPr/>
          <p:nvPr/>
        </p:nvSpPr>
        <p:spPr>
          <a:xfrm>
            <a:off x="6604000" y="1900668"/>
            <a:ext cx="1912085" cy="1016000"/>
          </a:xfrm>
          <a:prstGeom prst="wedgeRectCallout">
            <a:avLst>
              <a:gd name="adj1" fmla="val -31319"/>
              <a:gd name="adj2" fmla="val 9440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Symbolische</a:t>
            </a:r>
          </a:p>
          <a:p>
            <a:pPr algn="ctr"/>
            <a:r>
              <a:rPr lang="nl-NL" sz="1600" dirty="0"/>
              <a:t>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1E88066-7799-0DC8-45AF-3BCF0102F6E8}"/>
              </a:ext>
            </a:extLst>
          </p:cNvPr>
          <p:cNvSpPr/>
          <p:nvPr/>
        </p:nvSpPr>
        <p:spPr>
          <a:xfrm>
            <a:off x="9214884" y="1900668"/>
            <a:ext cx="1912088" cy="1016000"/>
          </a:xfrm>
          <a:prstGeom prst="wedgeRectCallout">
            <a:avLst>
              <a:gd name="adj1" fmla="val -41157"/>
              <a:gd name="adj2" fmla="val 97978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String object</a:t>
            </a:r>
          </a:p>
          <a:p>
            <a:pPr algn="ctr"/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0" y="3301705"/>
            <a:ext cx="4749800" cy="1897063"/>
          </a:xfrm>
          <a:prstGeom prst="rect">
            <a:avLst/>
          </a:prstGeom>
          <a:ln>
            <a:noFill/>
          </a:ln>
        </p:spPr>
        <p:txBody>
          <a:bodyPr vert="horz" lIns="144000" tIns="144000" rIns="144000" bIns="14400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test():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2272B9-3844-2B0E-9ACC-7594392EB973}"/>
              </a:ext>
            </a:extLst>
          </p:cNvPr>
          <p:cNvCxnSpPr/>
          <p:nvPr/>
        </p:nvCxnSpPr>
        <p:spPr>
          <a:xfrm>
            <a:off x="6096000" y="1456267"/>
            <a:ext cx="0" cy="47112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656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scope?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Rechts zie je 3 </a:t>
            </a:r>
            <a:r>
              <a:rPr lang="nl-NL" sz="2000" noProof="0" dirty="0" err="1"/>
              <a:t>namespaces</a:t>
            </a:r>
            <a:r>
              <a:rPr lang="nl-NL" sz="2000" noProof="0" dirty="0"/>
              <a:t>: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noProof="0" dirty="0"/>
              <a:t>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2000" noProof="0" dirty="0"/>
              <a:t> en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Inspringen maakt een nieuwe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 met</a:t>
            </a:r>
            <a:r>
              <a:rPr lang="nl-NL" sz="2000" dirty="0"/>
              <a:t> bijbehorende </a:t>
            </a:r>
            <a:r>
              <a:rPr lang="nl-NL" sz="2000" u="sng" dirty="0"/>
              <a:t>scope</a:t>
            </a:r>
            <a:r>
              <a:rPr lang="nl-NL" sz="2000" dirty="0"/>
              <a:t>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Als een naam niet in scope is, zoekt Python hogerop in de hiërarchie.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De hiërarchische is:</a:t>
            </a:r>
          </a:p>
          <a:p>
            <a:pPr marL="0" indent="0">
              <a:buNone/>
            </a:pPr>
            <a:r>
              <a:rPr lang="en-US" sz="2000" dirty="0"/>
              <a:t>local</a:t>
            </a:r>
            <a:r>
              <a:rPr lang="en-US" sz="2000" noProof="0" dirty="0"/>
              <a:t>  &gt;  enveloping &gt; … &gt;  global  &gt;  built-ins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1" y="724430"/>
            <a:ext cx="3651251" cy="262121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D0D3FF-C593-5AED-E30D-30050CC6795B}"/>
              </a:ext>
            </a:extLst>
          </p:cNvPr>
          <p:cNvCxnSpPr>
            <a:cxnSpLocks/>
          </p:cNvCxnSpPr>
          <p:nvPr/>
        </p:nvCxnSpPr>
        <p:spPr>
          <a:xfrm>
            <a:off x="6096000" y="724430"/>
            <a:ext cx="0" cy="544310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Callout: Down Arrow 12">
            <a:extLst>
              <a:ext uri="{FF2B5EF4-FFF2-40B4-BE49-F238E27FC236}">
                <a16:creationId xmlns:a16="http://schemas.microsoft.com/office/drawing/2014/main" id="{7C7BCE59-6BBB-9D3E-70E6-78B6BBF9A17C}"/>
              </a:ext>
            </a:extLst>
          </p:cNvPr>
          <p:cNvSpPr/>
          <p:nvPr/>
        </p:nvSpPr>
        <p:spPr>
          <a:xfrm>
            <a:off x="6604001" y="3807584"/>
            <a:ext cx="4749799" cy="640826"/>
          </a:xfrm>
          <a:prstGeom prst="downArrow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Local namespace</a:t>
            </a:r>
          </a:p>
        </p:txBody>
      </p:sp>
      <p:sp>
        <p:nvSpPr>
          <p:cNvPr id="15" name="Callout: Down Arrow 14">
            <a:extLst>
              <a:ext uri="{FF2B5EF4-FFF2-40B4-BE49-F238E27FC236}">
                <a16:creationId xmlns:a16="http://schemas.microsoft.com/office/drawing/2014/main" id="{760D84F5-1713-A1FC-962A-B35C00D9B839}"/>
              </a:ext>
            </a:extLst>
          </p:cNvPr>
          <p:cNvSpPr/>
          <p:nvPr/>
        </p:nvSpPr>
        <p:spPr>
          <a:xfrm>
            <a:off x="6604001" y="4468639"/>
            <a:ext cx="4749799" cy="640826"/>
          </a:xfrm>
          <a:prstGeom prst="downArrowCallou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Enveloping namespace(s)</a:t>
            </a:r>
          </a:p>
        </p:txBody>
      </p:sp>
      <p:sp>
        <p:nvSpPr>
          <p:cNvPr id="16" name="Callout: Down Arrow 15">
            <a:extLst>
              <a:ext uri="{FF2B5EF4-FFF2-40B4-BE49-F238E27FC236}">
                <a16:creationId xmlns:a16="http://schemas.microsoft.com/office/drawing/2014/main" id="{A4DCABE0-C9C0-399E-B589-5ADF8053F9F7}"/>
              </a:ext>
            </a:extLst>
          </p:cNvPr>
          <p:cNvSpPr/>
          <p:nvPr/>
        </p:nvSpPr>
        <p:spPr>
          <a:xfrm>
            <a:off x="6604001" y="5129694"/>
            <a:ext cx="4749799" cy="640826"/>
          </a:xfrm>
          <a:prstGeom prst="downArrowCallou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Global namespace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F4610C-A276-0020-F296-F794024E7EA9}"/>
              </a:ext>
            </a:extLst>
          </p:cNvPr>
          <p:cNvSpPr/>
          <p:nvPr/>
        </p:nvSpPr>
        <p:spPr>
          <a:xfrm>
            <a:off x="6604003" y="5773602"/>
            <a:ext cx="4749797" cy="4033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Built-ins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7D6C6-4E34-70B6-9701-600503155C7D}"/>
              </a:ext>
            </a:extLst>
          </p:cNvPr>
          <p:cNvSpPr/>
          <p:nvPr/>
        </p:nvSpPr>
        <p:spPr>
          <a:xfrm>
            <a:off x="10296528" y="724430"/>
            <a:ext cx="323849" cy="2621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24233-5792-FF88-BCB9-9F704681BBB3}"/>
              </a:ext>
            </a:extLst>
          </p:cNvPr>
          <p:cNvSpPr/>
          <p:nvPr/>
        </p:nvSpPr>
        <p:spPr>
          <a:xfrm>
            <a:off x="10663239" y="1545677"/>
            <a:ext cx="323849" cy="17999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outer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E7FEA-69FC-722C-7D70-A8A2FA30F8D9}"/>
              </a:ext>
            </a:extLst>
          </p:cNvPr>
          <p:cNvSpPr/>
          <p:nvPr/>
        </p:nvSpPr>
        <p:spPr>
          <a:xfrm>
            <a:off x="11029951" y="2565400"/>
            <a:ext cx="323849" cy="780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inner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8866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97501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Wat komt er in de globale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Waarom werkt de functie hiernaast niet?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Werkt deze code en wat wordt er geprint?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7061200" y="1456267"/>
            <a:ext cx="400801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pandas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print(name):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 =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(sum)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66484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467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Mutable</a:t>
            </a:r>
            <a:r>
              <a:rPr lang="nl-NL" noProof="0" dirty="0"/>
              <a:t> of </a:t>
            </a:r>
            <a:r>
              <a:rPr lang="nl-NL" noProof="0" dirty="0" err="1"/>
              <a:t>immutable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08514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Kun je het wijzigen?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endParaRPr lang="nl-NL" sz="2000" b="1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Eigenschappen of waardes van </a:t>
            </a:r>
            <a:r>
              <a:rPr lang="nl-NL" sz="2000" noProof="0" dirty="0" err="1"/>
              <a:t>mutable</a:t>
            </a:r>
            <a:r>
              <a:rPr lang="nl-NL" sz="2000" noProof="0" dirty="0"/>
              <a:t> objecten kun je </a:t>
            </a:r>
            <a:r>
              <a:rPr lang="nl-NL" sz="2000" u="sng" noProof="0" dirty="0"/>
              <a:t>aanpassen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Een list is </a:t>
            </a:r>
            <a:r>
              <a:rPr lang="nl-NL" sz="2000" u="sng" noProof="0" dirty="0" err="1"/>
              <a:t>mutable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</a:t>
            </a:r>
            <a:r>
              <a:rPr lang="nl-NL" sz="20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0, 3]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endParaRPr lang="nl-NL" sz="2000" b="1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Eigenschappen of waardes van </a:t>
            </a:r>
            <a:r>
              <a:rPr lang="nl-NL" sz="2000" dirty="0" err="1"/>
              <a:t>immutable</a:t>
            </a:r>
            <a:r>
              <a:rPr lang="nl-NL" sz="2000" dirty="0"/>
              <a:t> objecten kun je </a:t>
            </a:r>
            <a:r>
              <a:rPr lang="nl-NL" sz="2000" u="sng" dirty="0"/>
              <a:t>niet aanpassen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</a:t>
            </a:r>
            <a:r>
              <a:rPr lang="nl-NL" sz="2000" dirty="0" err="1"/>
              <a:t>tuple</a:t>
            </a:r>
            <a:r>
              <a:rPr lang="nl-NL" sz="2000" dirty="0"/>
              <a:t> is </a:t>
            </a:r>
            <a:r>
              <a:rPr lang="nl-NL" sz="2000" u="sng" dirty="0" err="1"/>
              <a:t>immutable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8411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</a:t>
            </a:r>
            <a:r>
              <a:rPr lang="nl-NL" sz="3600" noProof="0" dirty="0" err="1"/>
              <a:t>mutable</a:t>
            </a:r>
            <a:r>
              <a:rPr lang="nl-NL" sz="3600" noProof="0" dirty="0"/>
              <a:t> en wat niet?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types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 err="1"/>
              <a:t>dict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list</a:t>
            </a:r>
          </a:p>
          <a:p>
            <a:pPr>
              <a:buFontTx/>
              <a:buChar char="-"/>
            </a:pPr>
            <a:r>
              <a:rPr lang="nl-NL" sz="2000" noProof="0" dirty="0"/>
              <a:t>set</a:t>
            </a:r>
          </a:p>
          <a:p>
            <a:pPr>
              <a:buFontTx/>
              <a:buChar char="-"/>
            </a:pPr>
            <a:r>
              <a:rPr lang="nl-NL" sz="2000" noProof="0" dirty="0"/>
              <a:t>object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types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bool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float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/>
              <a:t>int</a:t>
            </a: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str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tuple</a:t>
            </a:r>
            <a:endParaRPr lang="nl-NL" sz="2000" dirty="0"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32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019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==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839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data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data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4413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CAF27-696D-CA31-7794-87BE201D5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A5D80-F163-A98D-4418-1DC4674C0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7CAE4-648A-FF87-5255-EAD47EC6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(role, allowed,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=[]):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has_access.</a:t>
            </a:r>
            <a:r>
              <a:rPr lang="en-US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(allowed)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role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1: Seems OK...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2: What?!?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"DM"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True?!?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B52448-3AB8-5CC9-CC6A-CCBC35171178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Bedoeling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was voor rollen die sowieso toegang hebben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ADM</a:t>
            </a:r>
            <a:r>
              <a:rPr lang="nl-NL" sz="2000" dirty="0">
                <a:cs typeface="Courier New" panose="02070309020205020404" pitchFamily="49" charset="0"/>
              </a:rPr>
              <a:t>)…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leeg en het resultaat klopt…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als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6EA95B-5AD5-47FC-5610-7FB283415EB1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0923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3EBB1-79E6-3DB9-0DB0-0222C1754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25C0F-4000-CA1C-333E-E27F5B95F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CAC1B-42F3-794B-0A84-85DD908DD3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=0):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()]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]})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Fill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missings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now also changed...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540DC4F-8429-4E94-5448-C3809F1D762E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functie selecteert ontbrekende waardes en vult deze.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selectie methode past echter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nl-NL" sz="2000" dirty="0">
                <a:cs typeface="Courier New" panose="02070309020205020404" pitchFamily="49" charset="0"/>
              </a:rPr>
              <a:t> aan (in </a:t>
            </a:r>
            <a:r>
              <a:rPr lang="nl-NL" sz="2000" dirty="0" err="1">
                <a:cs typeface="Courier New" panose="02070309020205020404" pitchFamily="49" charset="0"/>
              </a:rPr>
              <a:t>place</a:t>
            </a:r>
            <a:r>
              <a:rPr lang="nl-NL" sz="200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Zowel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cs typeface="Courier New" panose="02070309020205020404" pitchFamily="49" charset="0"/>
              </a:rPr>
              <a:t>als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nl-NL" sz="2000" dirty="0">
                <a:cs typeface="Courier New" panose="02070309020205020404" pitchFamily="49" charset="0"/>
              </a:rPr>
              <a:t> hebben dus geen ontbrekende waardes meer!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2589E82-A0B8-6032-A1CA-9CB7F86F7686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189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82603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classes?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Classes bundelen: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Attributen:	Waardes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Methodes:	Logica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Methodes hebben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als eerste argument.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Gebruik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noProof="0" dirty="0"/>
              <a:t> om attributen en methodes van de class te benaderen.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 {</a:t>
            </a:r>
            <a:r>
              <a:rPr lang="nl-NL" sz="14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.lastname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greeting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0085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Class versus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Class (type)</a:t>
            </a:r>
          </a:p>
          <a:p>
            <a:pPr marL="0" indent="0">
              <a:buNone/>
            </a:pPr>
            <a:r>
              <a:rPr lang="nl-NL" sz="2000" noProof="0" dirty="0"/>
              <a:t>Blauwdruk met definities van </a:t>
            </a:r>
            <a:r>
              <a:rPr lang="nl-NL" sz="2000" dirty="0"/>
              <a:t>attributen en methodes.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Object (</a:t>
            </a:r>
            <a:r>
              <a:rPr lang="nl-NL" sz="2000" b="1" dirty="0" err="1"/>
              <a:t>instance</a:t>
            </a:r>
            <a:r>
              <a:rPr lang="nl-NL" sz="2000" b="1" dirty="0"/>
              <a:t>)</a:t>
            </a:r>
          </a:p>
          <a:p>
            <a:pPr marL="0" indent="0">
              <a:buNone/>
            </a:pPr>
            <a:r>
              <a:rPr lang="nl-NL" sz="2000" dirty="0"/>
              <a:t>Afdruk van de blauwdruk, initialiseren door class aan te roepen.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Unieke objecten, maar…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Ze delen dezelfde attributen.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Define the class.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an instance.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And another...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unique objects.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Attributes are the same...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person1.name == person2.name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186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Dunder</a:t>
            </a:r>
            <a:r>
              <a:rPr lang="nl-NL" sz="3600" noProof="0" dirty="0"/>
              <a:t> </a:t>
            </a:r>
            <a:r>
              <a:rPr lang="nl-NL" sz="3600" noProof="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Double underscore </a:t>
            </a:r>
            <a:r>
              <a:rPr lang="nl-NL" sz="2000" b="1" noProof="0" dirty="0" err="1"/>
              <a:t>methods</a:t>
            </a:r>
            <a:endParaRPr lang="nl-NL" sz="2000" b="1" dirty="0"/>
          </a:p>
          <a:p>
            <a:pPr marL="0" indent="0">
              <a:buNone/>
            </a:pPr>
            <a:r>
              <a:rPr lang="nl-NL" sz="2000" dirty="0"/>
              <a:t>Methodes met </a:t>
            </a:r>
            <a:r>
              <a:rPr lang="nl-NL" sz="2000" noProof="0" dirty="0"/>
              <a:t>een speciale functie.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noProof="0" dirty="0"/>
              <a:t>Aangeroepen bij initialiseren object.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dirty="0"/>
              <a:t>Aangeroepen bij conversie naar string. Bijvoorbeeld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print(&lt;object&gt;)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(self, name,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"""Store values in the object."""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self.name = name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__str__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"""Return the full name."""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self.name}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Initializing calls __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Printing calls __str__.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528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Meer </a:t>
            </a:r>
            <a:r>
              <a:rPr lang="nl-NL" sz="3600" dirty="0" err="1"/>
              <a:t>dunder</a:t>
            </a:r>
            <a:r>
              <a:rPr lang="nl-NL" sz="3600" dirty="0"/>
              <a:t> </a:t>
            </a:r>
            <a:r>
              <a:rPr lang="nl-NL" sz="360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Aangeroepen door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>
                <a:cs typeface="Courier New" panose="02070309020205020404" pitchFamily="49" charset="0"/>
              </a:rPr>
              <a:t> operator.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model met alle </a:t>
            </a:r>
            <a:r>
              <a:rPr lang="nl-NL" sz="2000" dirty="0" err="1"/>
              <a:t>dunder</a:t>
            </a:r>
            <a:r>
              <a:rPr lang="nl-NL" sz="2000" dirty="0"/>
              <a:t> </a:t>
            </a:r>
            <a:r>
              <a:rPr lang="nl-NL" sz="2000" dirty="0" err="1"/>
              <a:t>methods</a:t>
            </a:r>
            <a:r>
              <a:rPr lang="nl-NL" sz="2000" dirty="0"/>
              <a:t>:</a:t>
            </a: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hlinkClick r:id="rId3"/>
              </a:rPr>
              <a:t>https://docs.python.org/3/reference/datamodel.html#special-method-names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6000" y="1456267"/>
            <a:ext cx="5327651" cy="47206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Vector2D: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dx,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dx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__str__(self):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"(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__add__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(self, other):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Vector2D(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Construct two vectors.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v1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(4, 5)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v2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(2, 4)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Add them together; prints (6, 9).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print(v1 + v2)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875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Notebook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exercises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/4_fuzzy_dict.ipynb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nl-NL" sz="2000" dirty="0"/>
              <a:t> </a:t>
            </a:r>
            <a:r>
              <a:rPr lang="nl-NL" sz="2000" dirty="0" err="1"/>
              <a:t>dict</a:t>
            </a:r>
            <a:r>
              <a:rPr lang="nl-NL" sz="2000" dirty="0"/>
              <a:t> dat niet hoofdlettergevoelig is:</a:t>
            </a:r>
          </a:p>
          <a:p>
            <a:pPr lvl="1"/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/>
              <a:t> is gelijk aan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dirty="0"/>
          </a:p>
          <a:p>
            <a:pPr lvl="1"/>
            <a:r>
              <a:rPr lang="nl-NL" sz="2000" dirty="0">
                <a:cs typeface="Courier New" panose="02070309020205020404" pitchFamily="49" charset="0"/>
              </a:rPr>
              <a:t>Zowel bij ophalen als wegschrijven van waardes.</a:t>
            </a: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halen.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slaan.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AutoNum type="arabicPeriod" startAt="4"/>
            </a:pPr>
            <a:r>
              <a:rPr lang="nl-NL" sz="2000" dirty="0"/>
              <a:t>Bonus voor implementeren van methodes: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items</a:t>
            </a:r>
          </a:p>
        </p:txBody>
      </p:sp>
    </p:spTree>
    <p:extLst>
      <p:ext uri="{BB962C8B-B14F-4D97-AF65-F5344CB8AC3E}">
        <p14:creationId xmlns:p14="http://schemas.microsoft.com/office/powerpoint/2010/main" val="42876889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Privé attributen en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 err="1"/>
              <a:t>Priv</a:t>
            </a:r>
            <a:r>
              <a:rPr lang="nl-NL" sz="1800" b="1" dirty="0"/>
              <a:t>é attribuut</a:t>
            </a:r>
            <a:endParaRPr lang="nl-NL" sz="1800" b="1" noProof="0" dirty="0"/>
          </a:p>
          <a:p>
            <a:pPr>
              <a:buFontTx/>
              <a:buChar char="-"/>
            </a:pPr>
            <a:r>
              <a:rPr lang="nl-NL" sz="1800" dirty="0"/>
              <a:t>Beginnen met enkele underscore.</a:t>
            </a:r>
          </a:p>
          <a:p>
            <a:pPr>
              <a:buFontTx/>
              <a:buChar char="-"/>
            </a:pPr>
            <a:r>
              <a:rPr lang="nl-NL" sz="1800" dirty="0"/>
              <a:t>Bedoeld voor gebruik binnen de class.</a:t>
            </a:r>
          </a:p>
          <a:p>
            <a:pPr>
              <a:buFontTx/>
              <a:buChar char="-"/>
            </a:pPr>
            <a:r>
              <a:rPr lang="nl-NL" sz="1800" dirty="0"/>
              <a:t>Conventie: niet gebruiken buiten de class, implementatie kan wijzigen.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b="1" dirty="0"/>
              <a:t>Afgeschermd attribuut</a:t>
            </a:r>
          </a:p>
          <a:p>
            <a:pPr>
              <a:buFontTx/>
              <a:buChar char="-"/>
            </a:pPr>
            <a:r>
              <a:rPr lang="nl-NL" sz="1800" dirty="0"/>
              <a:t>Beginnen met dubbele underscore.</a:t>
            </a:r>
          </a:p>
          <a:p>
            <a:pPr>
              <a:buFontTx/>
              <a:buChar char="-"/>
            </a:pPr>
            <a:r>
              <a:rPr lang="nl-NL" sz="1800" dirty="0"/>
              <a:t>Niet buiten de class aan te roepen.</a:t>
            </a:r>
          </a:p>
          <a:p>
            <a:pPr>
              <a:buFontTx/>
              <a:buChar char="-"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private!"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restricted!"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Calling methods.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 = Example()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private!"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AttributeError</a:t>
            </a: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restricted!"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9813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Static</a:t>
            </a:r>
            <a:r>
              <a:rPr lang="nl-NL" sz="3600" noProof="0" dirty="0"/>
              <a:t> en class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</a:t>
            </a:r>
            <a:r>
              <a:rPr lang="nl-NL" sz="2000" dirty="0"/>
              <a:t> waarin toegang tot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niet nodig is.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Methodes die op de class werken. Eerste argument verwijst naar de class zelf.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is_valid_name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 &gt; </a:t>
            </a:r>
            <a:r>
              <a:rPr lang="nl-NL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person_str.split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CSV string.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Person.from_str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John,Doe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061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C5714-87F9-A8C0-7D26-0F9B57030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4F0824-4F4E-06ED-65CD-5B4F6BA2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Inheritance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312E24-90B2-EC96-32E5-F9A0E9B28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8244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</p:txBody>
      </p:sp>
    </p:spTree>
    <p:extLst>
      <p:ext uri="{BB962C8B-B14F-4D97-AF65-F5344CB8AC3E}">
        <p14:creationId xmlns:p14="http://schemas.microsoft.com/office/powerpoint/2010/main" val="30784798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3727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_separator</a:t>
            </a: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_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950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strike="sngStrike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strike="sngStrik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_separator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_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dirty="0"/>
              <a:t> kan eigenschappen overschrijven, zoals een eigen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dirty="0"/>
              <a:t> methode.</a:t>
            </a:r>
            <a:endParaRPr lang="nl-NL" sz="1800" noProof="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824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Class: </a:t>
            </a:r>
            <a:r>
              <a:rPr lang="nl-NL" sz="1800" dirty="0"/>
              <a:t> 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Attributen: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Methodes: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Class: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Basis: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Hergebruikt: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dirty="0"/>
              <a:t>Overschreven: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Extra:		_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_separator =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788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Toegang tot de basis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1800" noProof="0" dirty="0"/>
              <a:t> heb je toegang tot de basis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Hiermee kun functionaliteit hergebruiken die je overschrijft.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path, separator):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().__</a:t>
            </a:r>
            <a:r>
              <a:rPr lang="en-US" sz="11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__(path)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separator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1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super().read()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934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Implementeer weer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/>
              <a:t> class uit de vorige opdracht.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UserDict</a:t>
            </a:r>
            <a:r>
              <a:rPr lang="nl-NL" sz="2000" dirty="0"/>
              <a:t> uit standaard module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2000" dirty="0"/>
              <a:t> als basis.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Hoeveel methodes moet je nu nog zelf (over-) schrijven?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2000" dirty="0"/>
              <a:t> kun je bij de eigenschappen van de basis class!</a:t>
            </a:r>
          </a:p>
        </p:txBody>
      </p:sp>
    </p:spTree>
    <p:extLst>
      <p:ext uri="{BB962C8B-B14F-4D97-AF65-F5344CB8AC3E}">
        <p14:creationId xmlns:p14="http://schemas.microsoft.com/office/powerpoint/2010/main" val="421329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3883</Words>
  <Application>Microsoft Office PowerPoint</Application>
  <PresentationFormat>Widescreen</PresentationFormat>
  <Paragraphs>929</Paragraphs>
  <Slides>50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Calibri Light</vt:lpstr>
      <vt:lpstr>Courier New</vt:lpstr>
      <vt:lpstr>Wingdings</vt:lpstr>
      <vt:lpstr>Office Theme</vt:lpstr>
      <vt:lpstr>Python - Cursus</vt:lpstr>
      <vt:lpstr>Agenda</vt:lpstr>
      <vt:lpstr>Data en operatoren</vt:lpstr>
      <vt:lpstr>Data types</vt:lpstr>
      <vt:lpstr>Werken met tekst</vt:lpstr>
      <vt:lpstr>Werken met verzamelingen</vt:lpstr>
      <vt:lpstr>Data types converteren</vt:lpstr>
      <vt:lpstr>Operatoren</vt:lpstr>
      <vt:lpstr>Oefeningen I</vt:lpstr>
      <vt:lpstr>Controle structuren</vt:lpstr>
      <vt:lpstr>Conditionele logica</vt:lpstr>
      <vt:lpstr>De for loop</vt:lpstr>
      <vt:lpstr>Comprehensions</vt:lpstr>
      <vt:lpstr>Functies</vt:lpstr>
      <vt:lpstr>Functie argumenten</vt:lpstr>
      <vt:lpstr>Functie argumenten</vt:lpstr>
      <vt:lpstr>Ingebouwde functies</vt:lpstr>
      <vt:lpstr>Handige hulpfuncties</vt:lpstr>
      <vt:lpstr>Ingebouwde functies</vt:lpstr>
      <vt:lpstr>Lezen uit tekstbestanden</vt:lpstr>
      <vt:lpstr>Schrijven naar tesktbestanden</vt:lpstr>
      <vt:lpstr>Oefeningen II</vt:lpstr>
      <vt:lpstr>Namespaces en scopes</vt:lpstr>
      <vt:lpstr>Wat is een namespace?</vt:lpstr>
      <vt:lpstr>Wat is een scope?</vt:lpstr>
      <vt:lpstr>Oefeningen III</vt:lpstr>
      <vt:lpstr>Mutable of immutable</vt:lpstr>
      <vt:lpstr>Kun je het wijzigen?</vt:lpstr>
      <vt:lpstr>Wat is mutable en wat niet?</vt:lpstr>
      <vt:lpstr>Een simpel voorbeeld</vt:lpstr>
      <vt:lpstr>Een simpel voorbeeld</vt:lpstr>
      <vt:lpstr>Een simpel voorbeeld</vt:lpstr>
      <vt:lpstr>Waarom maakt het uit?</vt:lpstr>
      <vt:lpstr>Waarom maakt het uit?</vt:lpstr>
      <vt:lpstr>Classes</vt:lpstr>
      <vt:lpstr>Waarom classes?</vt:lpstr>
      <vt:lpstr>Class versus object</vt:lpstr>
      <vt:lpstr>Dunder methods</vt:lpstr>
      <vt:lpstr>Meer dunder methods</vt:lpstr>
      <vt:lpstr>Oefeningen IV</vt:lpstr>
      <vt:lpstr>Privé attributen en methodes</vt:lpstr>
      <vt:lpstr>Static en class methodes</vt:lpstr>
      <vt:lpstr>Inheritance</vt:lpstr>
      <vt:lpstr>Overerving</vt:lpstr>
      <vt:lpstr>Overerving</vt:lpstr>
      <vt:lpstr>Overerving</vt:lpstr>
      <vt:lpstr>Overerving</vt:lpstr>
      <vt:lpstr>Overerving</vt:lpstr>
      <vt:lpstr>Toegang tot de basis class</vt:lpstr>
      <vt:lpstr>Oefeningen 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854</cp:revision>
  <dcterms:created xsi:type="dcterms:W3CDTF">2022-11-09T07:34:24Z</dcterms:created>
  <dcterms:modified xsi:type="dcterms:W3CDTF">2026-09-23T13:51:20Z</dcterms:modified>
</cp:coreProperties>
</file>