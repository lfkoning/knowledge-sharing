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70" r:id="rId4"/>
    <p:sldId id="273" r:id="rId5"/>
    <p:sldId id="292" r:id="rId6"/>
    <p:sldId id="271" r:id="rId7"/>
    <p:sldId id="289" r:id="rId8"/>
    <p:sldId id="284" r:id="rId9"/>
    <p:sldId id="295" r:id="rId10"/>
    <p:sldId id="298" r:id="rId11"/>
    <p:sldId id="274" r:id="rId12"/>
    <p:sldId id="272" r:id="rId13"/>
    <p:sldId id="301" r:id="rId14"/>
    <p:sldId id="283" r:id="rId15"/>
    <p:sldId id="359" r:id="rId16"/>
    <p:sldId id="360" r:id="rId17"/>
    <p:sldId id="361" r:id="rId18"/>
    <p:sldId id="291" r:id="rId19"/>
    <p:sldId id="362" r:id="rId20"/>
    <p:sldId id="293" r:id="rId21"/>
    <p:sldId id="294" r:id="rId22"/>
    <p:sldId id="276" r:id="rId23"/>
    <p:sldId id="302" r:id="rId24"/>
    <p:sldId id="303" r:id="rId25"/>
    <p:sldId id="304" r:id="rId26"/>
    <p:sldId id="329" r:id="rId27"/>
    <p:sldId id="305" r:id="rId28"/>
    <p:sldId id="306" r:id="rId29"/>
    <p:sldId id="345" r:id="rId30"/>
    <p:sldId id="364" r:id="rId31"/>
    <p:sldId id="346" r:id="rId32"/>
    <p:sldId id="365" r:id="rId33"/>
    <p:sldId id="366" r:id="rId34"/>
    <p:sldId id="357" r:id="rId35"/>
    <p:sldId id="367" r:id="rId36"/>
    <p:sldId id="368" r:id="rId37"/>
    <p:sldId id="312" r:id="rId38"/>
    <p:sldId id="313" r:id="rId39"/>
    <p:sldId id="333" r:id="rId40"/>
    <p:sldId id="323" r:id="rId41"/>
    <p:sldId id="331" r:id="rId42"/>
    <p:sldId id="332" r:id="rId43"/>
    <p:sldId id="324" r:id="rId44"/>
    <p:sldId id="325" r:id="rId45"/>
    <p:sldId id="363" r:id="rId46"/>
    <p:sldId id="326" r:id="rId47"/>
    <p:sldId id="355" r:id="rId48"/>
    <p:sldId id="353" r:id="rId49"/>
    <p:sldId id="354" r:id="rId50"/>
    <p:sldId id="347" r:id="rId51"/>
    <p:sldId id="369" r:id="rId52"/>
    <p:sldId id="336" r:id="rId53"/>
    <p:sldId id="348" r:id="rId5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4" autoAdjust="0"/>
    <p:restoredTop sz="95917" autoAdjust="0"/>
  </p:normalViewPr>
  <p:slideViewPr>
    <p:cSldViewPr snapToGrid="0">
      <p:cViewPr varScale="1">
        <p:scale>
          <a:sx n="119" d="100"/>
          <a:sy n="119" d="100"/>
        </p:scale>
        <p:origin x="528" y="96"/>
      </p:cViewPr>
      <p:guideLst/>
    </p:cSldViewPr>
  </p:slideViewPr>
  <p:outlineViewPr>
    <p:cViewPr>
      <p:scale>
        <a:sx n="33" d="100"/>
        <a:sy n="33" d="100"/>
      </p:scale>
      <p:origin x="0" y="-2828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DDCAA-88FC-44D4-A91A-DD0530AB88E0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F0DEA-1372-46C0-8FC9-2869E9CCF7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927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Noot: </a:t>
            </a:r>
            <a:r>
              <a:rPr lang="en-US" dirty="0" err="1"/>
              <a:t>verplichte</a:t>
            </a:r>
            <a:r>
              <a:rPr lang="en-US" dirty="0"/>
              <a:t> </a:t>
            </a:r>
            <a:r>
              <a:rPr lang="en-US" dirty="0" err="1"/>
              <a:t>argumenten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niet-verplichte</a:t>
            </a:r>
            <a:r>
              <a:rPr lang="en-US" dirty="0"/>
              <a:t> </a:t>
            </a:r>
            <a:r>
              <a:rPr lang="en-US" dirty="0" err="1"/>
              <a:t>argumenten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4117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8380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1_dunder_methods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2459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404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E7722-99ED-3290-12F1-9592D976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7943D-2452-E61B-3679-6A28EE9EB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4C176-ADFC-3779-9C40-D40C52597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1C441-D77A-DD3F-2C22-A630602E2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1626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Demo: </a:t>
            </a:r>
            <a:r>
              <a:rPr lang="en-US"/>
              <a:t>2_inheritance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928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27/10/2026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datamodel.html#special-method-nam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Python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4796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noProof="0" dirty="0"/>
              <a:t>Data en operatoren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Controle structuren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Standaard functies</a:t>
            </a:r>
          </a:p>
          <a:p>
            <a:pPr>
              <a:spcAft>
                <a:spcPts val="600"/>
              </a:spcAft>
            </a:pPr>
            <a:r>
              <a:rPr lang="nl-NL" sz="2000" noProof="0" dirty="0"/>
              <a:t>Namespaces en scopes</a:t>
            </a:r>
          </a:p>
          <a:p>
            <a:pPr>
              <a:spcAft>
                <a:spcPts val="600"/>
              </a:spcAft>
            </a:pPr>
            <a:r>
              <a:rPr lang="nl-NL" sz="2000" dirty="0" err="1"/>
              <a:t>Mutable</a:t>
            </a:r>
            <a:r>
              <a:rPr lang="nl-NL" sz="2000" dirty="0"/>
              <a:t> of </a:t>
            </a:r>
            <a:r>
              <a:rPr lang="nl-NL" sz="2000" dirty="0" err="1"/>
              <a:t>immutable</a:t>
            </a:r>
            <a:endParaRPr lang="nl-NL" sz="200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Classes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O</a:t>
            </a:r>
            <a:r>
              <a:rPr lang="nl-NL" sz="2000" noProof="0" dirty="0"/>
              <a:t>vererving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1785D-DBAB-C34E-4C20-A2078BA9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1964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en operatoren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25169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668" y="1828520"/>
            <a:ext cx="4453467" cy="114328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int	= </a:t>
            </a:r>
            <a:r>
              <a:rPr lang="nl-NL" sz="18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nl-NL" sz="18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DE59F7-B924-ED44-CF04-891226252692}"/>
              </a:ext>
            </a:extLst>
          </p:cNvPr>
          <p:cNvSpPr txBox="1">
            <a:spLocks/>
          </p:cNvSpPr>
          <p:nvPr/>
        </p:nvSpPr>
        <p:spPr>
          <a:xfrm>
            <a:off x="6096000" y="4042952"/>
            <a:ext cx="4453467" cy="22794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set   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tuple 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3, 4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list  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C1F72F-53C6-7684-9B6D-92E3B2260179}"/>
              </a:ext>
            </a:extLst>
          </p:cNvPr>
          <p:cNvSpPr txBox="1">
            <a:spLocks/>
          </p:cNvSpPr>
          <p:nvPr/>
        </p:nvSpPr>
        <p:spPr>
          <a:xfrm>
            <a:off x="838199" y="4042954"/>
            <a:ext cx="4453466" cy="22794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   =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"it's Python"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	=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'it\'s Python'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	=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"""it's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Python"""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90B82E-B643-FC5A-7253-CD6AA530B79F}"/>
              </a:ext>
            </a:extLst>
          </p:cNvPr>
          <p:cNvSpPr txBox="1">
            <a:spLocks/>
          </p:cNvSpPr>
          <p:nvPr/>
        </p:nvSpPr>
        <p:spPr>
          <a:xfrm>
            <a:off x="6096000" y="1881050"/>
            <a:ext cx="4453467" cy="1090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bool  =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bool  =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1A365-F935-B72D-75E3-9C40B0BD18FC}"/>
              </a:ext>
            </a:extLst>
          </p:cNvPr>
          <p:cNvSpPr txBox="1"/>
          <p:nvPr/>
        </p:nvSpPr>
        <p:spPr>
          <a:xfrm>
            <a:off x="831667" y="1413264"/>
            <a:ext cx="445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0" dirty="0">
                <a:cs typeface="Courier New" panose="02070309020205020404" pitchFamily="49" charset="0"/>
              </a:rPr>
              <a:t>Numeriek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97FB6-A8A8-30E6-8945-B9649678F545}"/>
              </a:ext>
            </a:extLst>
          </p:cNvPr>
          <p:cNvSpPr txBox="1"/>
          <p:nvPr/>
        </p:nvSpPr>
        <p:spPr>
          <a:xfrm>
            <a:off x="6096000" y="1413264"/>
            <a:ext cx="445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cs typeface="Courier New" panose="02070309020205020404" pitchFamily="49" charset="0"/>
              </a:rPr>
              <a:t>Logisch</a:t>
            </a:r>
            <a:endParaRPr lang="en-US" b="1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1EB16-B55E-561F-5F08-6B9BCA302779}"/>
              </a:ext>
            </a:extLst>
          </p:cNvPr>
          <p:cNvSpPr txBox="1"/>
          <p:nvPr/>
        </p:nvSpPr>
        <p:spPr>
          <a:xfrm>
            <a:off x="831666" y="3618415"/>
            <a:ext cx="445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cs typeface="Courier New" panose="02070309020205020404" pitchFamily="49" charset="0"/>
              </a:rPr>
              <a:t>Tekst</a:t>
            </a:r>
            <a:endParaRPr lang="en-US" b="1" dirty="0"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B1925-E39C-5718-FB9E-ED9FFB618F0C}"/>
              </a:ext>
            </a:extLst>
          </p:cNvPr>
          <p:cNvSpPr txBox="1"/>
          <p:nvPr/>
        </p:nvSpPr>
        <p:spPr>
          <a:xfrm>
            <a:off x="6095999" y="3611887"/>
            <a:ext cx="445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cs typeface="Courier New" panose="02070309020205020404" pitchFamily="49" charset="0"/>
              </a:rPr>
              <a:t>Verzamelingen</a:t>
            </a:r>
            <a:endParaRPr lang="en-US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07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Werken met t</a:t>
            </a:r>
            <a:r>
              <a:rPr lang="nl-NL" sz="3600" noProof="0" dirty="0" err="1"/>
              <a:t>ekst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800" noProof="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"!"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nl-NL" sz="1800" noProof="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{name}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 = 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800" noProof="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{name}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template.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(name=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800" noProof="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Doe,John"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"Doe"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"John"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dirty="0"/>
              <a:t>Met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nl-NL" dirty="0"/>
              <a:t> plak je strings aan elkaar.</a:t>
            </a:r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Een format-string is korter en beter leesbaard.</a:t>
            </a:r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Met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format()</a:t>
            </a:r>
            <a:r>
              <a:rPr lang="nl-NL" dirty="0"/>
              <a:t> kun je interpolatie uitstellen.</a:t>
            </a:r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Splitst een string met een scheidingsteken.</a:t>
            </a:r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Plak lijst van strings aan elkaar.</a:t>
            </a:r>
          </a:p>
        </p:txBody>
      </p:sp>
    </p:spTree>
    <p:extLst>
      <p:ext uri="{BB962C8B-B14F-4D97-AF65-F5344CB8AC3E}">
        <p14:creationId xmlns:p14="http://schemas.microsoft.com/office/powerpoint/2010/main" val="38914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Werken met v</a:t>
            </a:r>
            <a:r>
              <a:rPr lang="nl-NL" sz="3600" noProof="0" dirty="0" err="1"/>
              <a:t>erzamelingen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328"/>
            <a:ext cx="4826000" cy="5241878"/>
          </a:xfr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44000" tIns="144000" rIns="144000" bIns="144000">
            <a:noAutofit/>
          </a:bodyPr>
          <a:lstStyle/>
          <a:p>
            <a:pPr marL="0" indent="0" algn="ctr">
              <a:buNone/>
            </a:pP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 / 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nl-NL" sz="18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 = [1, 2, 3, 4]</a:t>
            </a:r>
          </a:p>
          <a:p>
            <a:pPr marL="0" indent="0">
              <a:buNone/>
            </a:pP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list[1]    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2, index start bij 0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list[4]    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600" noProof="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  <a:endParaRPr lang="nl-NL" sz="1600" noProof="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list[0:2]  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[1, 2]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list[2:]   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[3, 4]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list[:-1]  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[1, 2, 3]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list[-1:]  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[4]</a:t>
            </a:r>
          </a:p>
          <a:p>
            <a:pPr marL="0" indent="0"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list[2] = 3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toewijzen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list)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list[4] = 5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  <a:endParaRPr lang="nl-NL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DE59F7-B924-ED44-CF04-891226252692}"/>
              </a:ext>
            </a:extLst>
          </p:cNvPr>
          <p:cNvSpPr txBox="1">
            <a:spLocks/>
          </p:cNvSpPr>
          <p:nvPr/>
        </p:nvSpPr>
        <p:spPr>
          <a:xfrm>
            <a:off x="6527802" y="1166327"/>
            <a:ext cx="4826001" cy="5241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44000" tIns="144000" rIns="144000" bIns="144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2}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dict.get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3)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0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toewijzen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list(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["a", "b"]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dict.keys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sleutels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dict.values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waardes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dict.items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sleutel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waarde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486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Data types converteren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4513"/>
            <a:ext cx="1625083" cy="900923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nl-NL" sz="2000" b="1" noProof="0" dirty="0">
                <a:cs typeface="Courier New" panose="02070309020205020404" pitchFamily="49" charset="0"/>
              </a:rPr>
              <a:t>Integer</a:t>
            </a:r>
          </a:p>
          <a:p>
            <a:pPr marL="0" indent="0" algn="ctr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int(x)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DE59F7-B924-ED44-CF04-891226252692}"/>
              </a:ext>
            </a:extLst>
          </p:cNvPr>
          <p:cNvSpPr txBox="1">
            <a:spLocks/>
          </p:cNvSpPr>
          <p:nvPr/>
        </p:nvSpPr>
        <p:spPr>
          <a:xfrm>
            <a:off x="3870130" y="2166241"/>
            <a:ext cx="1625083" cy="8974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cs typeface="Courier New" panose="02070309020205020404" pitchFamily="49" charset="0"/>
              </a:rPr>
              <a:t>Float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float(x)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C1F72F-53C6-7684-9B6D-92E3B2260179}"/>
              </a:ext>
            </a:extLst>
          </p:cNvPr>
          <p:cNvSpPr txBox="1">
            <a:spLocks/>
          </p:cNvSpPr>
          <p:nvPr/>
        </p:nvSpPr>
        <p:spPr>
          <a:xfrm>
            <a:off x="6833635" y="2164513"/>
            <a:ext cx="1625083" cy="9009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cs typeface="Courier New" panose="02070309020205020404" pitchFamily="49" charset="0"/>
              </a:rPr>
              <a:t>String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str(x)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90B82E-B643-FC5A-7253-CD6AA530B79F}"/>
              </a:ext>
            </a:extLst>
          </p:cNvPr>
          <p:cNvSpPr txBox="1">
            <a:spLocks/>
          </p:cNvSpPr>
          <p:nvPr/>
        </p:nvSpPr>
        <p:spPr>
          <a:xfrm>
            <a:off x="9728717" y="2164513"/>
            <a:ext cx="1625083" cy="9009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cs typeface="Courier New" panose="02070309020205020404" pitchFamily="49" charset="0"/>
              </a:rPr>
              <a:t>Boolean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bool(x)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5C0664-5CE8-3179-CBB0-12CEBB3A2DDA}"/>
              </a:ext>
            </a:extLst>
          </p:cNvPr>
          <p:cNvGrpSpPr/>
          <p:nvPr/>
        </p:nvGrpSpPr>
        <p:grpSpPr>
          <a:xfrm>
            <a:off x="838200" y="1595389"/>
            <a:ext cx="10515600" cy="374817"/>
            <a:chOff x="838199" y="1267371"/>
            <a:chExt cx="10515600" cy="37481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AF89407-A4C8-B31A-1B0E-F161B693C430}"/>
                </a:ext>
              </a:extLst>
            </p:cNvPr>
            <p:cNvCxnSpPr/>
            <p:nvPr/>
          </p:nvCxnSpPr>
          <p:spPr>
            <a:xfrm>
              <a:off x="838199" y="1642188"/>
              <a:ext cx="1051560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4AB953-7749-A548-515E-7E5507009846}"/>
                </a:ext>
              </a:extLst>
            </p:cNvPr>
            <p:cNvSpPr txBox="1"/>
            <p:nvPr/>
          </p:nvSpPr>
          <p:spPr>
            <a:xfrm>
              <a:off x="838199" y="1267371"/>
              <a:ext cx="1051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</a:rPr>
                <a:t>breder</a:t>
              </a:r>
              <a:endParaRPr lang="en-NL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45BB8E-AD41-E60E-CE11-A2305F69FDFF}"/>
              </a:ext>
            </a:extLst>
          </p:cNvPr>
          <p:cNvGrpSpPr/>
          <p:nvPr/>
        </p:nvGrpSpPr>
        <p:grpSpPr>
          <a:xfrm>
            <a:off x="838200" y="3283610"/>
            <a:ext cx="10538409" cy="369332"/>
            <a:chOff x="887188" y="3586063"/>
            <a:chExt cx="10515601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EB6996C-0B22-9B6F-F8C4-3B79D1AB40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88" y="3586063"/>
              <a:ext cx="1051560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A5DB0C-6677-6279-8926-72398DDB0AB4}"/>
                </a:ext>
              </a:extLst>
            </p:cNvPr>
            <p:cNvSpPr txBox="1"/>
            <p:nvPr/>
          </p:nvSpPr>
          <p:spPr>
            <a:xfrm>
              <a:off x="887189" y="3586063"/>
              <a:ext cx="1051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smaller</a:t>
              </a:r>
              <a:endParaRPr lang="en-NL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EB5F364-DC78-5AA0-799A-0A3335A0BF01}"/>
              </a:ext>
            </a:extLst>
          </p:cNvPr>
          <p:cNvSpPr txBox="1"/>
          <p:nvPr/>
        </p:nvSpPr>
        <p:spPr>
          <a:xfrm>
            <a:off x="2857302" y="4136842"/>
            <a:ext cx="6477395" cy="222663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285750" indent="-285750">
              <a:spcBef>
                <a:spcPts val="1200"/>
              </a:spcBef>
              <a:buFontTx/>
              <a:buChar char="-"/>
            </a:pPr>
            <a:r>
              <a:rPr lang="nl-NL" dirty="0"/>
              <a:t>Conversie naar breder data type gaat altijd goed…</a:t>
            </a:r>
          </a:p>
          <a:p>
            <a:pPr marL="285750" indent="-285750">
              <a:spcBef>
                <a:spcPts val="1200"/>
              </a:spcBef>
              <a:buFontTx/>
              <a:buChar char="-"/>
            </a:pPr>
            <a:r>
              <a:rPr lang="nl-NL" dirty="0"/>
              <a:t>Conversie naar smaller data type kan misgaan!</a:t>
            </a:r>
          </a:p>
          <a:p>
            <a:pPr marL="285750" indent="-285750">
              <a:spcBef>
                <a:spcPts val="1200"/>
              </a:spcBef>
              <a:buFontTx/>
              <a:buChar char="-"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 of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nl-NL" dirty="0"/>
              <a:t> bij conversie ongeldige waardes.</a:t>
            </a:r>
          </a:p>
          <a:p>
            <a:pPr marL="285750" indent="-285750">
              <a:spcBef>
                <a:spcPts val="1200"/>
              </a:spcBef>
              <a:buFontTx/>
              <a:buChar char="-"/>
            </a:pPr>
            <a:r>
              <a:rPr lang="nl-NL" dirty="0"/>
              <a:t>Voorbeelden: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"3a"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), int(</a:t>
            </a:r>
            <a:r>
              <a:rPr lang="nl-NL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"3.2"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85750" indent="-285750">
              <a:spcBef>
                <a:spcPts val="1200"/>
              </a:spcBef>
              <a:buFontTx/>
              <a:buChar char="-"/>
            </a:pPr>
            <a:r>
              <a:rPr lang="nl-NL" dirty="0">
                <a:cs typeface="Courier New" panose="02070309020205020404" pitchFamily="49" charset="0"/>
              </a:rPr>
              <a:t>Alleen </a:t>
            </a:r>
            <a:r>
              <a:rPr lang="nl-NL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, [], {}, </a:t>
            </a:r>
            <a:r>
              <a:rPr lang="nl-NL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nl-NL" dirty="0">
                <a:cs typeface="Courier New" panose="02070309020205020404" pitchFamily="49" charset="0"/>
              </a:rPr>
              <a:t> zijn </a:t>
            </a:r>
            <a:r>
              <a:rPr lang="nl-NL" dirty="0" err="1">
                <a:cs typeface="Courier New" panose="02070309020205020404" pitchFamily="49" charset="0"/>
              </a:rPr>
              <a:t>boolean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nl-NL" dirty="0"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8671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Operatoren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989"/>
            <a:ext cx="4842933" cy="5223218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Autofit/>
          </a:bodyPr>
          <a:lstStyle/>
          <a:p>
            <a:pPr marL="0" indent="0" algn="ctr">
              <a:buNone/>
            </a:pP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Numeriek</a:t>
            </a:r>
          </a:p>
          <a:p>
            <a:pPr marL="0" indent="0">
              <a:buNone/>
            </a:pP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Toewijzing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+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Optellen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+=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Optellen en toewijzen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-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Aftrekken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*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Vermenigvuldigen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/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Delen door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//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Delen, negeer rest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%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Rest bij deling</a:t>
            </a:r>
          </a:p>
          <a:p>
            <a:pPr marL="0" indent="0"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**	  </a:t>
            </a:r>
            <a:r>
              <a:rPr lang="nl-NL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Machtsverheffen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DE59F7-B924-ED44-CF04-891226252692}"/>
              </a:ext>
            </a:extLst>
          </p:cNvPr>
          <p:cNvSpPr txBox="1">
            <a:spLocks/>
          </p:cNvSpPr>
          <p:nvPr/>
        </p:nvSpPr>
        <p:spPr>
          <a:xfrm>
            <a:off x="6510869" y="1184989"/>
            <a:ext cx="4842932" cy="52232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144000" tIns="144000" rIns="144000" bIns="144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Logisch</a:t>
            </a:r>
            <a:endParaRPr lang="nl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Gelijk aan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!=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Ongelijk aan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Groter dan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&gt;=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Groter of gelijk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Kleiner dan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&lt;=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Kleiner of gelijk</a:t>
            </a:r>
          </a:p>
          <a:p>
            <a:pPr marL="0" indent="0"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is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Identiek (object)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 een verzameling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Beiden waar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or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Een van beiden waar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Omkering</a:t>
            </a:r>
          </a:p>
        </p:txBody>
      </p:sp>
    </p:spTree>
    <p:extLst>
      <p:ext uri="{BB962C8B-B14F-4D97-AF65-F5344CB8AC3E}">
        <p14:creationId xmlns:p14="http://schemas.microsoft.com/office/powerpoint/2010/main" val="244307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Wat is de uitkomst van:</a:t>
            </a:r>
          </a:p>
          <a:p>
            <a:pPr marL="457200" lvl="1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int(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3.7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NL" sz="1800" dirty="0"/>
          </a:p>
          <a:p>
            <a:pPr marL="457200" lvl="1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"3.7"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NL" sz="1800" dirty="0"/>
          </a:p>
          <a:p>
            <a:pPr marL="457200" lvl="1" indent="0">
              <a:buNone/>
            </a:pPr>
            <a:r>
              <a:rPr lang="nl-NL" sz="1800" dirty="0"/>
              <a:t>-  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int(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"3.7"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NL" sz="1800" dirty="0"/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Wat is het resultaat van 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"123"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nl-NL" sz="1800" dirty="0"/>
              <a:t>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Wat is het resultaat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*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nl-NL" sz="1800" dirty="0"/>
              <a:t>?</a:t>
            </a:r>
          </a:p>
          <a:p>
            <a:pPr marL="0" indent="0">
              <a:buNone/>
            </a:pPr>
            <a:endParaRPr lang="nl-NL" sz="1800" noProof="0" dirty="0"/>
          </a:p>
        </p:txBody>
      </p:sp>
    </p:spTree>
    <p:extLst>
      <p:ext uri="{BB962C8B-B14F-4D97-AF65-F5344CB8AC3E}">
        <p14:creationId xmlns:p14="http://schemas.microsoft.com/office/powerpoint/2010/main" val="263959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Controle structuren</a:t>
            </a:r>
          </a:p>
        </p:txBody>
      </p:sp>
    </p:spTree>
    <p:extLst>
      <p:ext uri="{BB962C8B-B14F-4D97-AF65-F5344CB8AC3E}">
        <p14:creationId xmlns:p14="http://schemas.microsoft.com/office/powerpoint/2010/main" val="343248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Conditionele logica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980"/>
            <a:ext cx="4885268" cy="5026953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==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&gt;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&lt;=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999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12980"/>
            <a:ext cx="4885268" cy="5026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dirty="0"/>
              <a:t>Maak conditionele blokken code met</a:t>
            </a:r>
          </a:p>
          <a:p>
            <a:pPr>
              <a:spcBef>
                <a:spcPts val="1000"/>
              </a:spcBef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nl-NL" dirty="0"/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Combineer condities met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nl-NL" dirty="0"/>
              <a:t> en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dirty="0"/>
              <a:t>.</a:t>
            </a:r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Komt waarde voor in een verzameling.</a:t>
            </a:r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endParaRPr lang="nl-NL" dirty="0"/>
          </a:p>
          <a:p>
            <a:pPr>
              <a:spcBef>
                <a:spcPts val="1000"/>
              </a:spcBef>
            </a:pPr>
            <a:r>
              <a:rPr lang="nl-NL" dirty="0"/>
              <a:t>Met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nl-NL" dirty="0"/>
              <a:t> vang je alles dat niet voldoet</a:t>
            </a:r>
          </a:p>
          <a:p>
            <a:pPr>
              <a:spcBef>
                <a:spcPts val="1000"/>
              </a:spcBef>
            </a:pPr>
            <a:r>
              <a:rPr lang="nl-NL" dirty="0"/>
              <a:t>aan de voorgaande condities.</a:t>
            </a:r>
          </a:p>
        </p:txBody>
      </p:sp>
    </p:spTree>
    <p:extLst>
      <p:ext uri="{BB962C8B-B14F-4D97-AF65-F5344CB8AC3E}">
        <p14:creationId xmlns:p14="http://schemas.microsoft.com/office/powerpoint/2010/main" val="1657020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De </a:t>
            </a:r>
            <a:r>
              <a:rPr lang="nl-NL" sz="3600" noProof="0" dirty="0" err="1"/>
              <a:t>for</a:t>
            </a:r>
            <a:r>
              <a:rPr lang="nl-NL" sz="3600" noProof="0" dirty="0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(x)             </a:t>
            </a:r>
            <a:r>
              <a:rPr lang="en-US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1, 2, 3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x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enumerate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</a:t>
            </a:r>
            <a:r>
              <a:rPr lang="en-US" sz="16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0, 1, 2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k, v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}.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{k}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{v}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a=1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 ==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"_comment"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sz="1600" dirty="0"/>
              <a:t>Een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NL" sz="1600" dirty="0"/>
              <a:t> loop gebruik je in combinatie 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1600" dirty="0"/>
              <a:t>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Geef een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/>
              <a:t>op na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1600" dirty="0"/>
              <a:t>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Tel iteraties met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enumerate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600" dirty="0"/>
              <a:t>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Gebruik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start=x</a:t>
            </a:r>
            <a:r>
              <a:rPr lang="nl-NL" sz="1600" dirty="0"/>
              <a:t> om startpunt op te geven.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Gebruik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items()</a:t>
            </a:r>
            <a:r>
              <a:rPr lang="nl-NL" sz="1600" dirty="0"/>
              <a:t> om door een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nl-NL" sz="1600" dirty="0"/>
              <a:t> heen te lopen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Gebruik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nl-NL" sz="1600" dirty="0"/>
              <a:t> om iteratie over te slaan.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Gebruik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nl-NL" sz="1600" dirty="0"/>
              <a:t> om de loop te beëindigen.</a:t>
            </a:r>
          </a:p>
        </p:txBody>
      </p:sp>
    </p:spTree>
    <p:extLst>
      <p:ext uri="{BB962C8B-B14F-4D97-AF65-F5344CB8AC3E}">
        <p14:creationId xmlns:p14="http://schemas.microsoft.com/office/powerpoint/2010/main" val="582769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Comprehensions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name.lower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names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16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"even"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n % 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600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"uneven"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numbers </a:t>
            </a: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numbers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 %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k.lower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v.lower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k, v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my_dict.items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endParaRPr lang="nl-NL" sz="1600" dirty="0"/>
          </a:p>
          <a:p>
            <a:r>
              <a:rPr lang="nl-NL" sz="1600" dirty="0"/>
              <a:t>Bewerken alle items en geef een nieuwe lijst terug.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Waarde is afhankelijk van conditie met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nl-NL" sz="1600" dirty="0"/>
              <a:t>.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Filter waardes met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sz="1600" dirty="0"/>
              <a:t> na een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NL" sz="1600" dirty="0"/>
              <a:t> loop.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 err="1"/>
              <a:t>Comprehension</a:t>
            </a:r>
            <a:r>
              <a:rPr lang="nl-NL" sz="1600" dirty="0"/>
              <a:t> toegepast op een </a:t>
            </a:r>
            <a:r>
              <a:rPr lang="nl-NL" sz="1600" dirty="0" err="1"/>
              <a:t>dict</a:t>
            </a:r>
            <a:r>
              <a:rPr lang="nl-N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0430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Functies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say_hello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say_hello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{name}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say_hello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(name=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"World"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{name}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(value)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value %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sz="1600" dirty="0"/>
              <a:t>Gebruik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600" dirty="0"/>
              <a:t> om een functie aan te maken.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Spring 4 spaties in voor de functie code.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Argumenten definieer je tussen de haken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Argumenten kun je een standaard waarde geven.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Het argument is dan niet meer verplicht.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nl-NL" sz="1600" dirty="0"/>
              <a:t> geef je waardes terug uit een functie.</a:t>
            </a:r>
          </a:p>
        </p:txBody>
      </p:sp>
    </p:spTree>
    <p:extLst>
      <p:ext uri="{BB962C8B-B14F-4D97-AF65-F5344CB8AC3E}">
        <p14:creationId xmlns:p14="http://schemas.microsoft.com/office/powerpoint/2010/main" val="177868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81AD-2190-FEC5-0C08-88BACBA5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56B6-68CE-A6ED-6273-C991AB64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Functie argumenten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3198-699A-D6CA-157A-28E69B7C9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sep.join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"World"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sep=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sep.join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"World"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188F43-11CE-CFD7-7D8F-DE5FBF1EEC26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nl-NL" sz="1600" dirty="0"/>
              <a:t> vang je een variabel aantal argumenten op in een lijst.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Aanroep met 2 positionele argumenten en een </a:t>
            </a:r>
            <a:r>
              <a:rPr lang="nl-NL" sz="1600" dirty="0" err="1"/>
              <a:t>keyword</a:t>
            </a:r>
            <a:r>
              <a:rPr lang="nl-NL" sz="1600" dirty="0"/>
              <a:t> argument.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Alternatief; scheidingsteken is nu verplicht argument.</a:t>
            </a:r>
          </a:p>
        </p:txBody>
      </p:sp>
    </p:spTree>
    <p:extLst>
      <p:ext uri="{BB962C8B-B14F-4D97-AF65-F5344CB8AC3E}">
        <p14:creationId xmlns:p14="http://schemas.microsoft.com/office/powerpoint/2010/main" val="264549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CBE9-8A6F-BB51-B73D-07ED3BCC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1540-F405-43EA-67C8-347E3707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Functie argumenten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693EB-340D-F2CC-24D4-FB5F5AE76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kwargs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key, value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kwargs.items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(key,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: 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value)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print_args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course=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"Python"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NL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course : Python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year : 2026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BB235-912A-09FA-C0E9-2CB7F20FD03F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kwargs</a:t>
            </a:r>
            <a:r>
              <a:rPr lang="nl-NL" sz="1600" dirty="0"/>
              <a:t> vang je een variabel aantal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argument=waarde</a:t>
            </a:r>
            <a:r>
              <a:rPr lang="nl-NL" sz="1600" dirty="0"/>
              <a:t> combinaties op in een </a:t>
            </a:r>
            <a:r>
              <a:rPr lang="nl-NL" sz="1600" dirty="0" err="1"/>
              <a:t>dict</a:t>
            </a:r>
            <a:r>
              <a:rPr lang="nl-NL" sz="1600" dirty="0"/>
              <a:t>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Mening:</a:t>
            </a:r>
          </a:p>
          <a:p>
            <a:pPr marL="285750" indent="-285750">
              <a:spcBef>
                <a:spcPts val="1000"/>
              </a:spcBef>
              <a:buFontTx/>
              <a:buChar char="-"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nl-NL" sz="1600" dirty="0"/>
              <a:t> en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kwargs</a:t>
            </a:r>
            <a:r>
              <a:rPr lang="nl-NL" sz="1600" dirty="0"/>
              <a:t> zijn slecht leesbaar.</a:t>
            </a:r>
          </a:p>
          <a:p>
            <a:pPr marL="285750" indent="-285750">
              <a:spcBef>
                <a:spcPts val="1000"/>
              </a:spcBef>
              <a:buFontTx/>
              <a:buChar char="-"/>
            </a:pPr>
            <a:r>
              <a:rPr lang="nl-NL" sz="1600" dirty="0"/>
              <a:t>Vaak beter om list / </a:t>
            </a:r>
            <a:r>
              <a:rPr lang="nl-NL" sz="1600" dirty="0" err="1"/>
              <a:t>dict</a:t>
            </a:r>
            <a:r>
              <a:rPr lang="nl-NL" sz="1600" dirty="0"/>
              <a:t> / object te gebruiken.</a:t>
            </a:r>
          </a:p>
          <a:p>
            <a:pPr marL="285750" indent="-285750">
              <a:spcBef>
                <a:spcPts val="1000"/>
              </a:spcBef>
              <a:buFontTx/>
              <a:buChar char="-"/>
            </a:pPr>
            <a:r>
              <a:rPr lang="nl-NL" sz="1600" dirty="0"/>
              <a:t>Alleen voor </a:t>
            </a:r>
            <a:r>
              <a:rPr lang="nl-NL" sz="1600" dirty="0" err="1"/>
              <a:t>wrapper</a:t>
            </a:r>
            <a:r>
              <a:rPr lang="nl-NL" sz="1600" dirty="0"/>
              <a:t> functies.</a:t>
            </a:r>
          </a:p>
        </p:txBody>
      </p:sp>
    </p:spTree>
    <p:extLst>
      <p:ext uri="{BB962C8B-B14F-4D97-AF65-F5344CB8AC3E}">
        <p14:creationId xmlns:p14="http://schemas.microsoft.com/office/powerpoint/2010/main" val="1353347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78C49-8AF9-B444-C73C-F5A21744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C40EE2-4ECE-FFAA-A02E-D262A101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Standaard functies</a:t>
            </a:r>
          </a:p>
        </p:txBody>
      </p:sp>
    </p:spTree>
    <p:extLst>
      <p:ext uri="{BB962C8B-B14F-4D97-AF65-F5344CB8AC3E}">
        <p14:creationId xmlns:p14="http://schemas.microsoft.com/office/powerpoint/2010/main" val="140028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Handige hulpfuncties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1642"/>
            <a:ext cx="10515599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anchor="ctr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sz="18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&lt;object&gt;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/>
              <a:t>Print waarde of object naar de terminal.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&lt;object&gt;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/>
              <a:t>Geeft hulp over het object.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&lt;object&gt;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/>
              <a:t>Geeft type van een object weer.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&lt;object&gt;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/>
              <a:t>Geeft eigenschappen van het object weer.</a:t>
            </a:r>
          </a:p>
          <a:p>
            <a:pPr marL="0" indent="0">
              <a:lnSpc>
                <a:spcPct val="100000"/>
              </a:lnSpc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1800" noProof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&lt;object&gt;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800" dirty="0"/>
              <a:t>Geeft unieke ID van het object weer.</a:t>
            </a:r>
          </a:p>
        </p:txBody>
      </p:sp>
    </p:spTree>
    <p:extLst>
      <p:ext uri="{BB962C8B-B14F-4D97-AF65-F5344CB8AC3E}">
        <p14:creationId xmlns:p14="http://schemas.microsoft.com/office/powerpoint/2010/main" val="2360719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C030-CA6B-09E8-6963-5B762C01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CE24-A65F-06EC-1C85-EA223894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Standaard functies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2423F-88AE-E175-4A2D-5426BEC67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514322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De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builtins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dirty="0">
                <a:cs typeface="Courier New" panose="02070309020205020404" pitchFamily="49" charset="0"/>
              </a:rPr>
              <a:t> module bevat alle ingebouwde functies, foutmeldingen en waarschuwingen.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De code hiernaast print een lijst van ingebouwde objecten.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Data types: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int,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list, set,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Rekenkundig: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Lijsten:  	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min, max,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496F4F-2F2B-F910-3A4E-7B11F13BA671}"/>
              </a:ext>
            </a:extLst>
          </p:cNvPr>
          <p:cNvSpPr txBox="1">
            <a:spLocks/>
          </p:cNvSpPr>
          <p:nvPr/>
        </p:nvSpPr>
        <p:spPr>
          <a:xfrm>
            <a:off x="8257953" y="1456267"/>
            <a:ext cx="309584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all built-ins.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 in </a:t>
            </a:r>
            <a:r>
              <a:rPr lang="en-US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(__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builtins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(_)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help on built-in.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(sorted)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C5B346-BCD4-947F-08E6-36C0C49BC655}"/>
              </a:ext>
            </a:extLst>
          </p:cNvPr>
          <p:cNvCxnSpPr>
            <a:cxnSpLocks/>
          </p:cNvCxnSpPr>
          <p:nvPr/>
        </p:nvCxnSpPr>
        <p:spPr>
          <a:xfrm>
            <a:off x="7680250" y="1456267"/>
            <a:ext cx="0" cy="47206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954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Lezen uit tekstbestanden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data_file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"input.csv"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data_file.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data_file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open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"input.csv"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data: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600" b="1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data: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Process a single line.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nl-NL" sz="1600" dirty="0"/>
              <a:t> open je een bestand.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600" dirty="0"/>
              <a:t> lees je alle regels tegelijk in.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  <a:r>
              <a:rPr lang="nl-NL" sz="1600" dirty="0"/>
              <a:t> sluit je het bestand weer.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Gebruik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nl-NL" sz="1600" dirty="0"/>
              <a:t> om het bestand te openen.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Loop over de regels en verwerk ze.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Bestand automatisch gesloten na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nl-NL" sz="1600" dirty="0"/>
              <a:t> blok.</a:t>
            </a:r>
          </a:p>
        </p:txBody>
      </p:sp>
    </p:spTree>
    <p:extLst>
      <p:ext uri="{BB962C8B-B14F-4D97-AF65-F5344CB8AC3E}">
        <p14:creationId xmlns:p14="http://schemas.microsoft.com/office/powerpoint/2010/main" val="1842426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Schrijven naar </a:t>
            </a:r>
            <a:r>
              <a:rPr lang="nl-NL" sz="3600" noProof="0" dirty="0" err="1"/>
              <a:t>tesktbestanden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4885268" cy="5008292"/>
          </a:xfr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lines = [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 line 1"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 line 2"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"output.txt"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out: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lines: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</a:t>
            </a:r>
            <a:r>
              <a:rPr lang="en-US" sz="16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(line + </a:t>
            </a:r>
            <a:r>
              <a:rPr lang="en-US" sz="16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"\n"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789F1-EE2E-727B-7D3D-6249E89ED81A}"/>
              </a:ext>
            </a:extLst>
          </p:cNvPr>
          <p:cNvSpPr/>
          <p:nvPr/>
        </p:nvSpPr>
        <p:spPr>
          <a:xfrm>
            <a:off x="6468532" y="1231642"/>
            <a:ext cx="4885268" cy="5008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Modus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"w"</a:t>
            </a:r>
            <a:r>
              <a:rPr lang="nl-NL" sz="1600" dirty="0"/>
              <a:t> </a:t>
            </a:r>
            <a:r>
              <a:rPr lang="nl-NL" sz="1600" u="sng" dirty="0"/>
              <a:t>overschrijft</a:t>
            </a:r>
            <a:r>
              <a:rPr lang="nl-NL" sz="1600" dirty="0"/>
              <a:t> het bestand.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Modus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nl-NL" sz="1600" dirty="0"/>
              <a:t> </a:t>
            </a:r>
            <a:r>
              <a:rPr lang="nl-NL" sz="1600" u="sng" dirty="0"/>
              <a:t>vult</a:t>
            </a:r>
            <a:r>
              <a:rPr lang="nl-NL" sz="1600" dirty="0"/>
              <a:t> het bestand </a:t>
            </a:r>
            <a:r>
              <a:rPr lang="nl-NL" sz="1600" u="sng" dirty="0"/>
              <a:t>aan</a:t>
            </a:r>
            <a:r>
              <a:rPr lang="nl-NL" sz="1600" dirty="0"/>
              <a:t>.</a:t>
            </a:r>
          </a:p>
          <a:p>
            <a:pPr>
              <a:spcBef>
                <a:spcPts val="1000"/>
              </a:spcBef>
            </a:pPr>
            <a:endParaRPr lang="nl-NL" sz="1600" dirty="0"/>
          </a:p>
          <a:p>
            <a:pPr>
              <a:spcBef>
                <a:spcPts val="1000"/>
              </a:spcBef>
            </a:pPr>
            <a:r>
              <a:rPr lang="nl-NL" sz="1600" dirty="0"/>
              <a:t>Met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600" dirty="0"/>
              <a:t> schrijf je tekst naar een bestand.</a:t>
            </a:r>
          </a:p>
          <a:p>
            <a:pPr>
              <a:spcBef>
                <a:spcPts val="1000"/>
              </a:spcBef>
            </a:pPr>
            <a:r>
              <a:rPr lang="nl-NL" sz="1600" dirty="0"/>
              <a:t>Let op: Zelf regeleinde toevoegen 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"\n"</a:t>
            </a:r>
            <a:r>
              <a:rPr lang="nl-N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4101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</a:t>
            </a:r>
            <a:r>
              <a:rPr lang="nl-NL" sz="3600" dirty="0"/>
              <a:t>2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514322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Schrijf een script dat namen anonimiseert.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Opzet: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exercises/2_process_csv.py</a:t>
            </a:r>
          </a:p>
          <a:p>
            <a:pPr marL="457200" indent="-457200">
              <a:buAutoNum type="arabicPeriod"/>
            </a:pPr>
            <a:endParaRPr lang="nl-NL" sz="1800" noProof="0" dirty="0"/>
          </a:p>
          <a:p>
            <a:pPr marL="457200" indent="-457200">
              <a:buAutoNum type="arabicPeriod"/>
            </a:pPr>
            <a:r>
              <a:rPr lang="nl-NL" sz="1800" noProof="0" dirty="0"/>
              <a:t>Schrijf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noProof="0" dirty="0"/>
              <a:t> om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personal_data.csv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noProof="0" dirty="0"/>
              <a:t>in te lezen.</a:t>
            </a:r>
          </a:p>
          <a:p>
            <a:pPr marL="457200" indent="-457200">
              <a:buAutoNum type="arabicPeriod"/>
            </a:pPr>
            <a:endParaRPr lang="nl-NL" sz="1800" noProof="0" dirty="0"/>
          </a:p>
          <a:p>
            <a:pPr marL="457200" indent="-457200">
              <a:buAutoNum type="arabicPeriod"/>
            </a:pPr>
            <a:r>
              <a:rPr lang="nl-NL" sz="1800" noProof="0" dirty="0"/>
              <a:t>Schrijf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mask_name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noProof="0" dirty="0"/>
              <a:t> om namen te maskeren.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E940DA-5AAD-D002-6F9A-E2FF312E3A6C}"/>
              </a:ext>
            </a:extLst>
          </p:cNvPr>
          <p:cNvSpPr txBox="1">
            <a:spLocks/>
          </p:cNvSpPr>
          <p:nvPr/>
        </p:nvSpPr>
        <p:spPr>
          <a:xfrm>
            <a:off x="8248260" y="1456267"/>
            <a:ext cx="282095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CSV input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name,gender,age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Henk de Boer,man,44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Ingrid Jansen,vrouw,37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Jaap Henriks,man,56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6A5445-2474-58A8-F1AE-18BB279DAEAF}"/>
              </a:ext>
            </a:extLst>
          </p:cNvPr>
          <p:cNvCxnSpPr/>
          <p:nvPr/>
        </p:nvCxnSpPr>
        <p:spPr>
          <a:xfrm>
            <a:off x="7772400" y="1456267"/>
            <a:ext cx="0" cy="47206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878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Namespaces en scopes</a:t>
            </a:r>
          </a:p>
        </p:txBody>
      </p:sp>
    </p:spTree>
    <p:extLst>
      <p:ext uri="{BB962C8B-B14F-4D97-AF65-F5344CB8AC3E}">
        <p14:creationId xmlns:p14="http://schemas.microsoft.com/office/powerpoint/2010/main" val="2183710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een namespace?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7498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/>
              <a:t>Een namespace koppelt namen aan objecten. 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b="1" noProof="0" dirty="0"/>
              <a:t>Globale namespace: </a:t>
            </a:r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global_var</a:t>
            </a: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b="1" noProof="0" dirty="0"/>
              <a:t>Test functie namespace:</a:t>
            </a:r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local_var</a:t>
            </a:r>
            <a:endParaRPr lang="nl-NL" sz="1800" noProof="0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00BF9C8-CA1E-83DA-4E42-CF01D71DDD2F}"/>
              </a:ext>
            </a:extLst>
          </p:cNvPr>
          <p:cNvSpPr/>
          <p:nvPr/>
        </p:nvSpPr>
        <p:spPr>
          <a:xfrm>
            <a:off x="6604000" y="1900668"/>
            <a:ext cx="1912085" cy="1016000"/>
          </a:xfrm>
          <a:prstGeom prst="wedgeRectCallout">
            <a:avLst>
              <a:gd name="adj1" fmla="val -31319"/>
              <a:gd name="adj2" fmla="val 944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dirty="0"/>
              <a:t>Symbolische</a:t>
            </a:r>
          </a:p>
          <a:p>
            <a:pPr algn="ctr"/>
            <a:r>
              <a:rPr lang="nl-NL" sz="1600" dirty="0"/>
              <a:t>naam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1E88066-7799-0DC8-45AF-3BCF0102F6E8}"/>
              </a:ext>
            </a:extLst>
          </p:cNvPr>
          <p:cNvSpPr/>
          <p:nvPr/>
        </p:nvSpPr>
        <p:spPr>
          <a:xfrm>
            <a:off x="9214884" y="1900668"/>
            <a:ext cx="1912088" cy="1016000"/>
          </a:xfrm>
          <a:prstGeom prst="wedgeRectCallout">
            <a:avLst>
              <a:gd name="adj1" fmla="val -41157"/>
              <a:gd name="adj2" fmla="val 9797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dirty="0"/>
              <a:t>String object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E973AA-C236-D32F-0231-6F924FAC0135}"/>
              </a:ext>
            </a:extLst>
          </p:cNvPr>
          <p:cNvSpPr txBox="1">
            <a:spLocks/>
          </p:cNvSpPr>
          <p:nvPr/>
        </p:nvSpPr>
        <p:spPr>
          <a:xfrm>
            <a:off x="6604000" y="3301705"/>
            <a:ext cx="4749800" cy="1897063"/>
          </a:xfrm>
          <a:prstGeom prst="rect">
            <a:avLst/>
          </a:prstGeom>
          <a:ln>
            <a:noFill/>
          </a:ln>
        </p:spPr>
        <p:txBody>
          <a:bodyPr vert="horz" lIns="144000" tIns="144000" rIns="144000" bIns="144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global_var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8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test():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local_var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8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2272B9-3844-2B0E-9ACC-7594392EB973}"/>
              </a:ext>
            </a:extLst>
          </p:cNvPr>
          <p:cNvCxnSpPr/>
          <p:nvPr/>
        </p:nvCxnSpPr>
        <p:spPr>
          <a:xfrm>
            <a:off x="6096000" y="1456267"/>
            <a:ext cx="0" cy="47112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56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een scope?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7498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/>
              <a:t>Rechts zie je 3 namespaces:</a:t>
            </a:r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nl-NL" sz="1800" noProof="0" dirty="0"/>
              <a:t>,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envelop</a:t>
            </a:r>
            <a:r>
              <a:rPr lang="nl-NL" sz="1800" noProof="0" dirty="0">
                <a:cs typeface="Courier New" panose="02070309020205020404" pitchFamily="49" charset="0"/>
              </a:rPr>
              <a:t> </a:t>
            </a:r>
            <a:r>
              <a:rPr lang="nl-NL" sz="1800" noProof="0" dirty="0"/>
              <a:t>en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nl-NL" sz="1800" noProof="0" dirty="0"/>
              <a:t>.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/>
              <a:t>Inspringen creëert nieuwe namespace met</a:t>
            </a:r>
            <a:r>
              <a:rPr lang="nl-NL" sz="1800" dirty="0"/>
              <a:t> bijbehorende </a:t>
            </a:r>
            <a:r>
              <a:rPr lang="nl-NL" sz="1800" u="sng" dirty="0"/>
              <a:t>scope</a:t>
            </a:r>
            <a:r>
              <a:rPr lang="nl-NL" sz="1800" dirty="0"/>
              <a:t>.</a:t>
            </a: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/>
              <a:t>Als een naam niet in scope is, zoekt Python hogerop in de hiërarchie: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local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noProof="0" dirty="0"/>
              <a:t>&gt;  enveloping</a:t>
            </a:r>
          </a:p>
          <a:p>
            <a:pPr marL="0" indent="0">
              <a:buNone/>
            </a:pPr>
            <a:r>
              <a:rPr lang="en-US" sz="1800" dirty="0"/>
              <a:t>        &gt;  </a:t>
            </a:r>
            <a:r>
              <a:rPr lang="en-US" sz="1800" noProof="0" dirty="0"/>
              <a:t>global</a:t>
            </a:r>
          </a:p>
          <a:p>
            <a:pPr marL="0" indent="0">
              <a:buNone/>
            </a:pPr>
            <a:r>
              <a:rPr lang="en-US" sz="1800" noProof="0" dirty="0"/>
              <a:t>            &gt;  built-ins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E973AA-C236-D32F-0231-6F924FAC0135}"/>
              </a:ext>
            </a:extLst>
          </p:cNvPr>
          <p:cNvSpPr txBox="1">
            <a:spLocks/>
          </p:cNvSpPr>
          <p:nvPr/>
        </p:nvSpPr>
        <p:spPr>
          <a:xfrm>
            <a:off x="6604001" y="1998059"/>
            <a:ext cx="3651251" cy="26212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144000" tIns="144000" rIns="144000" bIns="144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envelop():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x = 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"envelop x"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7D6C6-4E34-70B6-9701-600503155C7D}"/>
              </a:ext>
            </a:extLst>
          </p:cNvPr>
          <p:cNvSpPr/>
          <p:nvPr/>
        </p:nvSpPr>
        <p:spPr>
          <a:xfrm>
            <a:off x="10296528" y="1998059"/>
            <a:ext cx="323849" cy="2621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dirty="0">
                <a:solidFill>
                  <a:schemeClr val="tx1"/>
                </a:solidFill>
              </a:rPr>
              <a:t>global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24233-5792-FF88-BCB9-9F704681BBB3}"/>
              </a:ext>
            </a:extLst>
          </p:cNvPr>
          <p:cNvSpPr/>
          <p:nvPr/>
        </p:nvSpPr>
        <p:spPr>
          <a:xfrm>
            <a:off x="10663239" y="2819306"/>
            <a:ext cx="323849" cy="17999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dirty="0">
                <a:solidFill>
                  <a:schemeClr val="tx1"/>
                </a:solidFill>
              </a:rPr>
              <a:t>envelop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E7FEA-69FC-722C-7D70-A8A2FA30F8D9}"/>
              </a:ext>
            </a:extLst>
          </p:cNvPr>
          <p:cNvSpPr/>
          <p:nvPr/>
        </p:nvSpPr>
        <p:spPr>
          <a:xfrm>
            <a:off x="11029951" y="3839029"/>
            <a:ext cx="323849" cy="780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dirty="0">
                <a:solidFill>
                  <a:schemeClr val="tx1"/>
                </a:solidFill>
              </a:rPr>
              <a:t>inner</a:t>
            </a:r>
            <a:endParaRPr lang="en-NL" dirty="0">
              <a:solidFill>
                <a:schemeClr val="tx1"/>
              </a:solidFill>
            </a:endParaRP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0F1ED8E-4E8A-52B4-4730-F344F090EC6D}"/>
              </a:ext>
            </a:extLst>
          </p:cNvPr>
          <p:cNvCxnSpPr>
            <a:stCxn id="7" idx="2"/>
            <a:endCxn id="6" idx="2"/>
          </p:cNvCxnSpPr>
          <p:nvPr/>
        </p:nvCxnSpPr>
        <p:spPr>
          <a:xfrm rot="5400000">
            <a:off x="11008520" y="4435914"/>
            <a:ext cx="12700" cy="36671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7FE1E10C-C733-7D3C-813A-D64D75D6457F}"/>
              </a:ext>
            </a:extLst>
          </p:cNvPr>
          <p:cNvCxnSpPr>
            <a:stCxn id="6" idx="2"/>
            <a:endCxn id="4" idx="2"/>
          </p:cNvCxnSpPr>
          <p:nvPr/>
        </p:nvCxnSpPr>
        <p:spPr>
          <a:xfrm rot="5400000">
            <a:off x="10641809" y="4435915"/>
            <a:ext cx="12700" cy="36671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886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397501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1800" noProof="0" dirty="0"/>
              <a:t>Wat komt er in de globale </a:t>
            </a:r>
            <a:r>
              <a:rPr lang="nl-NL" sz="1800" noProof="0" dirty="0" err="1"/>
              <a:t>namespace</a:t>
            </a:r>
            <a:r>
              <a:rPr lang="nl-NL" sz="1800" noProof="0" dirty="0"/>
              <a:t>?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noProof="0" dirty="0"/>
              <a:t>Waarom werkt de functie hiernaast niet?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dirty="0"/>
              <a:t>Werkt deze code en wat wordt er geprint?</a:t>
            </a:r>
          </a:p>
          <a:p>
            <a:pPr marL="457200" indent="-457200">
              <a:buAutoNum type="arabicPeriod"/>
            </a:pPr>
            <a:endParaRPr lang="nl-NL" sz="1800" noProof="0" dirty="0"/>
          </a:p>
          <a:p>
            <a:pPr marL="457200" indent="-457200">
              <a:buAutoNum type="arabicPeriod"/>
            </a:pPr>
            <a:endParaRPr lang="nl-NL" sz="1800" noProof="0" dirty="0"/>
          </a:p>
          <a:p>
            <a:pPr marL="457200" indent="-457200">
              <a:buAutoNum type="arabicPeriod"/>
            </a:pPr>
            <a:endParaRPr lang="nl-NL" sz="1800" noProof="0" dirty="0"/>
          </a:p>
          <a:p>
            <a:pPr marL="0" indent="0">
              <a:buNone/>
            </a:pPr>
            <a:endParaRPr lang="nl-NL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E940DA-5AAD-D002-6F9A-E2FF312E3A6C}"/>
              </a:ext>
            </a:extLst>
          </p:cNvPr>
          <p:cNvSpPr txBox="1">
            <a:spLocks/>
          </p:cNvSpPr>
          <p:nvPr/>
        </p:nvSpPr>
        <p:spPr>
          <a:xfrm>
            <a:off x="7061200" y="1456267"/>
            <a:ext cx="400801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print(name):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{name}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sum = </a:t>
            </a: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(sum)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6A5445-2474-58A8-F1AE-18BB279DAEAF}"/>
              </a:ext>
            </a:extLst>
          </p:cNvPr>
          <p:cNvCxnSpPr/>
          <p:nvPr/>
        </p:nvCxnSpPr>
        <p:spPr>
          <a:xfrm>
            <a:off x="6648450" y="1456267"/>
            <a:ext cx="0" cy="47206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467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Mutable</a:t>
            </a:r>
            <a:r>
              <a:rPr lang="nl-NL" noProof="0" dirty="0"/>
              <a:t> of </a:t>
            </a:r>
            <a:r>
              <a:rPr lang="nl-NL" noProof="0" dirty="0" err="1"/>
              <a:t>immutable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608514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Kun je het wijzigen?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dirty="0" err="1"/>
              <a:t>Immutable</a:t>
            </a:r>
            <a:endParaRPr lang="nl-NL" sz="1800" b="1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Eigenschappen of waardes van </a:t>
            </a:r>
            <a:r>
              <a:rPr lang="nl-NL" sz="1800" dirty="0" err="1"/>
              <a:t>immutable</a:t>
            </a:r>
            <a:r>
              <a:rPr lang="nl-NL" sz="1800" dirty="0"/>
              <a:t> objecten kun je </a:t>
            </a:r>
            <a:r>
              <a:rPr lang="nl-NL" sz="1800" u="sng" dirty="0"/>
              <a:t>niet wijzigen</a:t>
            </a:r>
            <a:r>
              <a:rPr lang="nl-NL" sz="1800" dirty="0"/>
              <a:t>.</a:t>
            </a:r>
          </a:p>
          <a:p>
            <a:pPr marL="0" indent="0">
              <a:buNone/>
            </a:pPr>
            <a:endParaRPr lang="nl-NL" sz="1800" dirty="0"/>
          </a:p>
          <a:p>
            <a:pPr>
              <a:buFontTx/>
              <a:buChar char="-"/>
            </a:pPr>
            <a:r>
              <a:rPr lang="nl-NL" sz="1800" dirty="0" err="1"/>
              <a:t>bool</a:t>
            </a:r>
            <a:endParaRPr lang="nl-NL" sz="1800" dirty="0"/>
          </a:p>
          <a:p>
            <a:pPr>
              <a:buFontTx/>
              <a:buChar char="-"/>
            </a:pPr>
            <a:r>
              <a:rPr lang="nl-NL" sz="1800" dirty="0" err="1">
                <a:cs typeface="Courier New" panose="02070309020205020404" pitchFamily="49" charset="0"/>
              </a:rPr>
              <a:t>float</a:t>
            </a:r>
            <a:endParaRPr lang="nl-NL" sz="18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dirty="0"/>
              <a:t>int</a:t>
            </a:r>
          </a:p>
          <a:p>
            <a:pPr>
              <a:buFontTx/>
              <a:buChar char="-"/>
            </a:pPr>
            <a:r>
              <a:rPr lang="nl-NL" sz="1800" dirty="0" err="1">
                <a:cs typeface="Courier New" panose="02070309020205020404" pitchFamily="49" charset="0"/>
              </a:rPr>
              <a:t>str</a:t>
            </a:r>
            <a:endParaRPr lang="nl-NL" sz="18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dirty="0" err="1">
                <a:cs typeface="Courier New" panose="02070309020205020404" pitchFamily="49" charset="0"/>
              </a:rPr>
              <a:t>tuple</a:t>
            </a:r>
            <a:endParaRPr lang="nl-NL" sz="1800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5985937" y="1456267"/>
            <a:ext cx="517313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b="1" dirty="0" err="1"/>
              <a:t>Mutable</a:t>
            </a:r>
            <a:endParaRPr lang="nl-NL" sz="1800" b="1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Eigenschappen of waardes van </a:t>
            </a:r>
            <a:r>
              <a:rPr lang="nl-NL" sz="1800" dirty="0" err="1"/>
              <a:t>mutable</a:t>
            </a:r>
            <a:r>
              <a:rPr lang="nl-NL" sz="1800" dirty="0"/>
              <a:t> objecten kun je </a:t>
            </a:r>
            <a:r>
              <a:rPr lang="nl-NL" sz="1800" u="sng" dirty="0"/>
              <a:t>wel wijzigen</a:t>
            </a:r>
            <a:r>
              <a:rPr lang="nl-NL" sz="1800" dirty="0"/>
              <a:t>.</a:t>
            </a:r>
          </a:p>
          <a:p>
            <a:pPr marL="0" indent="0">
              <a:buNone/>
            </a:pPr>
            <a:endParaRPr lang="nl-NL" sz="1800" dirty="0"/>
          </a:p>
          <a:p>
            <a:pPr>
              <a:buFontTx/>
              <a:buChar char="-"/>
            </a:pPr>
            <a:r>
              <a:rPr lang="nl-NL" sz="1800" dirty="0" err="1"/>
              <a:t>dict</a:t>
            </a:r>
            <a:endParaRPr lang="nl-NL" sz="1800" dirty="0"/>
          </a:p>
          <a:p>
            <a:pPr>
              <a:buFontTx/>
              <a:buChar char="-"/>
            </a:pPr>
            <a:r>
              <a:rPr lang="nl-NL" sz="1800" dirty="0"/>
              <a:t>list</a:t>
            </a:r>
          </a:p>
          <a:p>
            <a:pPr>
              <a:buFontTx/>
              <a:buChar char="-"/>
            </a:pPr>
            <a:r>
              <a:rPr lang="nl-NL" sz="1800" dirty="0"/>
              <a:t>set</a:t>
            </a:r>
          </a:p>
          <a:p>
            <a:pPr>
              <a:buFontTx/>
              <a:buChar char="-"/>
            </a:pPr>
            <a:r>
              <a:rPr lang="nl-NL" sz="1800" dirty="0"/>
              <a:t>object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841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Een simpel voorbeeld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dirty="0" err="1"/>
              <a:t>Immutable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nl-NL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33019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985E-C10B-B343-8B78-9C189C75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0D02-0B10-4015-A2F3-433494AE0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Een simpel voorbeeld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09D7B-C395-7E83-C9F7-F451529F7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dirty="0" err="1"/>
              <a:t>Immutable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y:	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/>
              <a:t>Check:     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 !=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</p:txBody>
      </p:sp>
    </p:spTree>
    <p:extLst>
      <p:ext uri="{BB962C8B-B14F-4D97-AF65-F5344CB8AC3E}">
        <p14:creationId xmlns:p14="http://schemas.microsoft.com/office/powerpoint/2010/main" val="3157229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Een simpel voorbeeld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dirty="0" err="1"/>
              <a:t>Immutable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y:	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/>
              <a:t>Check:     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 !=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5985937" y="1456267"/>
            <a:ext cx="517313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b="1" dirty="0" err="1"/>
              <a:t>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839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1647-6F82-4B1E-7E94-B26576FD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0A28-59AC-CDDE-15AD-71DFB591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Een simpel voorbeeld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2A380-8CD9-8BE5-205B-F4FCA7C09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dirty="0" err="1"/>
              <a:t>Immutable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y:	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/>
              <a:t>Check:     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 !=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C9B63F-EF23-2F43-51ED-B3BCDFA0371F}"/>
              </a:ext>
            </a:extLst>
          </p:cNvPr>
          <p:cNvSpPr txBox="1">
            <a:spLocks/>
          </p:cNvSpPr>
          <p:nvPr/>
        </p:nvSpPr>
        <p:spPr>
          <a:xfrm>
            <a:off x="5985937" y="1456267"/>
            <a:ext cx="517313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b="1" dirty="0" err="1"/>
              <a:t>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y:	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nl-NL" sz="1800" dirty="0"/>
              <a:t>Check:    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 ==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0C6B30-CCEE-67E9-3AAB-2692270A7BA9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814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0111-F523-EFB2-F56C-55730313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CB70-FF25-2ED5-4781-47E1FFDE4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Een simpel voorbeeld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B3EBB-97B6-0A62-78E3-7401D91A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dirty="0" err="1"/>
              <a:t>Immutable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x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y:	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nl-NL" sz="1800" dirty="0"/>
              <a:t>Check:     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 !=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28A959-149E-2FF9-97A3-903D94D237E7}"/>
              </a:ext>
            </a:extLst>
          </p:cNvPr>
          <p:cNvSpPr txBox="1">
            <a:spLocks/>
          </p:cNvSpPr>
          <p:nvPr/>
        </p:nvSpPr>
        <p:spPr>
          <a:xfrm>
            <a:off x="5985937" y="1456267"/>
            <a:ext cx="517313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b="1" dirty="0" err="1"/>
              <a:t>Mutable</a:t>
            </a:r>
            <a:r>
              <a:rPr lang="nl-NL" sz="1800" b="1" dirty="0"/>
              <a:t> type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= 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nl-NL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.copy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Waarde van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y:	[</a:t>
            </a:r>
            <a:r>
              <a:rPr lang="nl-NL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nl-NL" sz="1800" dirty="0"/>
              <a:t>Check:       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 !=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87B9F3-A4D2-BA46-31D7-A9DA50A6EAC1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71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AF27-696D-CA31-7794-87BE201D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5D80-F163-A98D-4418-1DC4674C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Waarom maakt het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CAE4-648A-FF87-5255-EAD47EC6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0579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check_access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(role, access, allowed=[]):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allowed.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(access)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role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allowed: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B52448-3AB8-5CC9-CC6A-CCBC35171178}"/>
              </a:ext>
            </a:extLst>
          </p:cNvPr>
          <p:cNvSpPr txBox="1">
            <a:spLocks/>
          </p:cNvSpPr>
          <p:nvPr/>
        </p:nvSpPr>
        <p:spPr>
          <a:xfrm>
            <a:off x="7258049" y="1456267"/>
            <a:ext cx="390101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	   </a:t>
            </a:r>
            <a:r>
              <a:rPr lang="nl-NL" sz="1800" dirty="0" err="1">
                <a:cs typeface="Courier New" panose="02070309020205020404" pitchFamily="49" charset="0"/>
              </a:rPr>
              <a:t>Role</a:t>
            </a:r>
            <a:r>
              <a:rPr lang="nl-NL" sz="1800" dirty="0">
                <a:cs typeface="Courier New" panose="02070309020205020404" pitchFamily="49" charset="0"/>
              </a:rPr>
              <a:t> of </a:t>
            </a:r>
            <a:r>
              <a:rPr lang="nl-NL" sz="1800" dirty="0" err="1">
                <a:cs typeface="Courier New" panose="02070309020205020404" pitchFamily="49" charset="0"/>
              </a:rPr>
              <a:t>the</a:t>
            </a:r>
            <a:r>
              <a:rPr lang="nl-NL" sz="1800" dirty="0">
                <a:cs typeface="Courier New" panose="02070309020205020404" pitchFamily="49" charset="0"/>
              </a:rPr>
              <a:t> user.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access:   </a:t>
            </a:r>
            <a:r>
              <a:rPr lang="nl-NL" sz="1800" dirty="0" err="1">
                <a:cs typeface="Courier New" panose="02070309020205020404" pitchFamily="49" charset="0"/>
              </a:rPr>
              <a:t>Roles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having</a:t>
            </a:r>
            <a:r>
              <a:rPr lang="nl-NL" sz="1800" dirty="0">
                <a:cs typeface="Courier New" panose="02070309020205020404" pitchFamily="49" charset="0"/>
              </a:rPr>
              <a:t> access.</a:t>
            </a: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nl-NL" sz="1800" dirty="0" err="1">
                <a:cs typeface="Courier New" panose="02070309020205020404" pitchFamily="49" charset="0"/>
              </a:rPr>
              <a:t>Override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for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priviliged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                          </a:t>
            </a:r>
            <a:r>
              <a:rPr lang="nl-NL" sz="1800" dirty="0" err="1">
                <a:cs typeface="Courier New" panose="02070309020205020404" pitchFamily="49" charset="0"/>
              </a:rPr>
              <a:t>roles</a:t>
            </a:r>
            <a:r>
              <a:rPr lang="nl-NL" sz="1800" dirty="0">
                <a:cs typeface="Courier New" panose="02070309020205020404" pitchFamily="49" charset="0"/>
              </a:rPr>
              <a:t> like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ADM.</a:t>
            </a:r>
            <a:endParaRPr lang="nl-NL" sz="1800" dirty="0"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6EA95B-5AD5-47FC-5610-7FB283415EB1}"/>
              </a:ext>
            </a:extLst>
          </p:cNvPr>
          <p:cNvCxnSpPr>
            <a:cxnSpLocks/>
          </p:cNvCxnSpPr>
          <p:nvPr/>
        </p:nvCxnSpPr>
        <p:spPr>
          <a:xfrm>
            <a:off x="704638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092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E646-9EA3-F385-716D-171EA999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E0DD-EDBF-22B3-5D36-018F5D59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Waarom maakt het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AA852-1E7B-873F-40AD-53A9E2E5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0579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check_access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(role, access, allowed=[]):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allowed.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(access)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role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allowed: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 1: Seems OK...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check_access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B6E6E5-A4F2-8CC3-4D70-B72DCAB394E8}"/>
              </a:ext>
            </a:extLst>
          </p:cNvPr>
          <p:cNvSpPr txBox="1">
            <a:spLocks/>
          </p:cNvSpPr>
          <p:nvPr/>
        </p:nvSpPr>
        <p:spPr>
          <a:xfrm>
            <a:off x="7258049" y="1456267"/>
            <a:ext cx="390101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	   </a:t>
            </a:r>
            <a:r>
              <a:rPr lang="nl-NL" sz="1800" dirty="0" err="1">
                <a:cs typeface="Courier New" panose="02070309020205020404" pitchFamily="49" charset="0"/>
              </a:rPr>
              <a:t>Role</a:t>
            </a:r>
            <a:r>
              <a:rPr lang="nl-NL" sz="1800" dirty="0">
                <a:cs typeface="Courier New" panose="02070309020205020404" pitchFamily="49" charset="0"/>
              </a:rPr>
              <a:t> of </a:t>
            </a:r>
            <a:r>
              <a:rPr lang="nl-NL" sz="1800" dirty="0" err="1">
                <a:cs typeface="Courier New" panose="02070309020205020404" pitchFamily="49" charset="0"/>
              </a:rPr>
              <a:t>the</a:t>
            </a:r>
            <a:r>
              <a:rPr lang="nl-NL" sz="1800" dirty="0">
                <a:cs typeface="Courier New" panose="02070309020205020404" pitchFamily="49" charset="0"/>
              </a:rPr>
              <a:t> user.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access:   </a:t>
            </a:r>
            <a:r>
              <a:rPr lang="nl-NL" sz="1800" dirty="0" err="1">
                <a:cs typeface="Courier New" panose="02070309020205020404" pitchFamily="49" charset="0"/>
              </a:rPr>
              <a:t>Roles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having</a:t>
            </a:r>
            <a:r>
              <a:rPr lang="nl-NL" sz="1800" dirty="0">
                <a:cs typeface="Courier New" panose="02070309020205020404" pitchFamily="49" charset="0"/>
              </a:rPr>
              <a:t> access.</a:t>
            </a: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nl-NL" sz="1800" dirty="0" err="1">
                <a:cs typeface="Courier New" panose="02070309020205020404" pitchFamily="49" charset="0"/>
              </a:rPr>
              <a:t>Override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for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priviliged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                          </a:t>
            </a:r>
            <a:r>
              <a:rPr lang="nl-NL" sz="1800" dirty="0" err="1">
                <a:cs typeface="Courier New" panose="02070309020205020404" pitchFamily="49" charset="0"/>
              </a:rPr>
              <a:t>roles</a:t>
            </a:r>
            <a:r>
              <a:rPr lang="nl-NL" sz="1800" dirty="0">
                <a:cs typeface="Courier New" panose="02070309020205020404" pitchFamily="49" charset="0"/>
              </a:rPr>
              <a:t> like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ADM.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Checken tegen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  <a:r>
              <a:rPr lang="nl-NL" sz="1800" dirty="0">
                <a:cs typeface="Courier New" panose="02070309020205020404" pitchFamily="49" charset="0"/>
              </a:rPr>
              <a:t> 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</a:t>
            </a:r>
            <a:r>
              <a:rPr lang="nl-NL" sz="1800" dirty="0">
                <a:cs typeface="Courier New" panose="02070309020205020404" pitchFamily="49" charset="0"/>
              </a:rPr>
              <a:t> is leeg…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8A8AB5-AD4C-4445-0DD1-ACA0E02ED86E}"/>
              </a:ext>
            </a:extLst>
          </p:cNvPr>
          <p:cNvCxnSpPr>
            <a:cxnSpLocks/>
          </p:cNvCxnSpPr>
          <p:nvPr/>
        </p:nvCxnSpPr>
        <p:spPr>
          <a:xfrm>
            <a:off x="704638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38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5046-B32A-98B5-123D-3E32DC12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1092-A59C-C21F-5578-07C78DCA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Waarom maakt het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7F93-F955-DB34-B233-39871AD19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0579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check_access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(role, access, allowed=[]):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allowed.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(access)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role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allowed: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 1: Seems OK...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check_access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True</a:t>
            </a:r>
          </a:p>
          <a:p>
            <a:pPr marL="0" indent="0">
              <a:buNone/>
            </a:pP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 2: What?!?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check_access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"INT"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"DM"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True?!?</a:t>
            </a:r>
            <a:endParaRPr lang="nl-NL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189A42-85E1-5429-53BB-68D70A9DCED1}"/>
              </a:ext>
            </a:extLst>
          </p:cNvPr>
          <p:cNvSpPr txBox="1">
            <a:spLocks/>
          </p:cNvSpPr>
          <p:nvPr/>
        </p:nvSpPr>
        <p:spPr>
          <a:xfrm>
            <a:off x="7258049" y="1456267"/>
            <a:ext cx="390101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	   </a:t>
            </a:r>
            <a:r>
              <a:rPr lang="nl-NL" sz="1800" dirty="0" err="1">
                <a:cs typeface="Courier New" panose="02070309020205020404" pitchFamily="49" charset="0"/>
              </a:rPr>
              <a:t>Role</a:t>
            </a:r>
            <a:r>
              <a:rPr lang="nl-NL" sz="1800" dirty="0">
                <a:cs typeface="Courier New" panose="02070309020205020404" pitchFamily="49" charset="0"/>
              </a:rPr>
              <a:t> of </a:t>
            </a:r>
            <a:r>
              <a:rPr lang="nl-NL" sz="1800" dirty="0" err="1">
                <a:cs typeface="Courier New" panose="02070309020205020404" pitchFamily="49" charset="0"/>
              </a:rPr>
              <a:t>the</a:t>
            </a:r>
            <a:r>
              <a:rPr lang="nl-NL" sz="1800" dirty="0">
                <a:cs typeface="Courier New" panose="02070309020205020404" pitchFamily="49" charset="0"/>
              </a:rPr>
              <a:t> user.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access:   </a:t>
            </a:r>
            <a:r>
              <a:rPr lang="nl-NL" sz="1800" dirty="0" err="1">
                <a:cs typeface="Courier New" panose="02070309020205020404" pitchFamily="49" charset="0"/>
              </a:rPr>
              <a:t>Roles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having</a:t>
            </a:r>
            <a:r>
              <a:rPr lang="nl-NL" sz="1800" dirty="0">
                <a:cs typeface="Courier New" panose="02070309020205020404" pitchFamily="49" charset="0"/>
              </a:rPr>
              <a:t> access.</a:t>
            </a: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nl-NL" sz="1800" dirty="0" err="1">
                <a:cs typeface="Courier New" panose="02070309020205020404" pitchFamily="49" charset="0"/>
              </a:rPr>
              <a:t>Override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for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priviliged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                          </a:t>
            </a:r>
            <a:r>
              <a:rPr lang="nl-NL" sz="1800" dirty="0" err="1">
                <a:cs typeface="Courier New" panose="02070309020205020404" pitchFamily="49" charset="0"/>
              </a:rPr>
              <a:t>roles</a:t>
            </a:r>
            <a:r>
              <a:rPr lang="nl-NL" sz="1800" dirty="0">
                <a:cs typeface="Courier New" panose="02070309020205020404" pitchFamily="49" charset="0"/>
              </a:rPr>
              <a:t> like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ADM.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Checken tegen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  <a:r>
              <a:rPr lang="nl-NL" sz="1800" dirty="0">
                <a:cs typeface="Courier New" panose="02070309020205020404" pitchFamily="49" charset="0"/>
              </a:rPr>
              <a:t> 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</a:t>
            </a:r>
            <a:r>
              <a:rPr lang="nl-NL" sz="1800" dirty="0">
                <a:cs typeface="Courier New" panose="02070309020205020404" pitchFamily="49" charset="0"/>
              </a:rPr>
              <a:t> is leeg…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Lijst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</a:t>
            </a:r>
            <a:r>
              <a:rPr lang="nl-NL" sz="1800" dirty="0">
                <a:cs typeface="Courier New" panose="02070309020205020404" pitchFamily="49" charset="0"/>
              </a:rPr>
              <a:t> is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nl-NL" sz="1800" dirty="0">
                <a:cs typeface="Courier New" panose="02070309020205020404" pitchFamily="49" charset="0"/>
              </a:rPr>
              <a:t>door vorige aanroep :-(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E14573-9E47-F8AF-0D24-4F3A706A5031}"/>
              </a:ext>
            </a:extLst>
          </p:cNvPr>
          <p:cNvCxnSpPr>
            <a:cxnSpLocks/>
          </p:cNvCxnSpPr>
          <p:nvPr/>
        </p:nvCxnSpPr>
        <p:spPr>
          <a:xfrm>
            <a:off x="704638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825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582603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Waarom classes?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/>
              <a:t>Classes bundelen:</a:t>
            </a:r>
          </a:p>
          <a:p>
            <a:pPr>
              <a:buFontTx/>
              <a:buChar char="-"/>
            </a:pPr>
            <a:endParaRPr lang="nl-NL" sz="1800" noProof="0" dirty="0"/>
          </a:p>
          <a:p>
            <a:pPr>
              <a:buFontTx/>
              <a:buChar char="-"/>
            </a:pPr>
            <a:r>
              <a:rPr lang="nl-NL" sz="1800" dirty="0"/>
              <a:t>Attributen:	Waardes</a:t>
            </a:r>
            <a:endParaRPr lang="nl-NL" sz="1800" noProof="0" dirty="0"/>
          </a:p>
          <a:p>
            <a:pPr>
              <a:buFontTx/>
              <a:buChar char="-"/>
            </a:pPr>
            <a:r>
              <a:rPr lang="nl-NL" sz="1800" noProof="0" dirty="0"/>
              <a:t>Methodes:	Logica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dirty="0"/>
              <a:t>Methodes hebben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800" dirty="0"/>
              <a:t> als eerste argument.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/>
              <a:t>Gebruik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800" noProof="0" dirty="0"/>
              <a:t> om attributen en methodes van de class te benaderen.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Person: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endParaRPr lang="nl-NL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"John"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"Doe"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endParaRPr lang="nl-NL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nl-NL" sz="1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.name} {</a:t>
            </a:r>
            <a:r>
              <a:rPr lang="nl-NL" sz="14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.lastname</a:t>
            </a:r>
            <a:r>
              <a:rPr lang="nl-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greeting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nl-NL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nl-NL" sz="1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.name}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008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Class versus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/>
              <a:t>Class (type)</a:t>
            </a:r>
          </a:p>
          <a:p>
            <a:pPr marL="0" indent="0">
              <a:buNone/>
            </a:pPr>
            <a:r>
              <a:rPr lang="nl-NL" sz="1800" noProof="0" dirty="0"/>
              <a:t>Blauwdruk met definities van </a:t>
            </a:r>
            <a:r>
              <a:rPr lang="nl-NL" sz="1800" dirty="0"/>
              <a:t>attributen en methodes.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b="1" dirty="0"/>
          </a:p>
          <a:p>
            <a:pPr marL="0" indent="0">
              <a:buNone/>
            </a:pPr>
            <a:r>
              <a:rPr lang="nl-NL" sz="1800" b="1" dirty="0"/>
              <a:t>Object (</a:t>
            </a:r>
            <a:r>
              <a:rPr lang="nl-NL" sz="1800" b="1" dirty="0" err="1"/>
              <a:t>instance</a:t>
            </a:r>
            <a:r>
              <a:rPr lang="nl-NL" sz="1800" b="1" dirty="0"/>
              <a:t>)</a:t>
            </a:r>
          </a:p>
          <a:p>
            <a:pPr marL="0" indent="0">
              <a:buNone/>
            </a:pPr>
            <a:r>
              <a:rPr lang="nl-NL" sz="1800" dirty="0"/>
              <a:t>Afdruk van de blauwdruk, initialiseren door class aan te roepen.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/>
              <a:t>Unieke objecten, maar…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/>
              <a:t>Ze delen dezelfde attributen.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Define the class.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Person: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 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"John"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"Doe"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an instance.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person1 =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Person()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And another...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person2 =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Person()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Two unique objects.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id(person1) != id(person2)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Attributes are the same...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person1.name == person2.name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186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Dunder</a:t>
            </a:r>
            <a:r>
              <a:rPr lang="nl-NL" sz="3600" noProof="0" dirty="0"/>
              <a:t> </a:t>
            </a:r>
            <a:r>
              <a:rPr lang="nl-NL" sz="3600" noProof="0" dirty="0" err="1"/>
              <a:t>methods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/>
              <a:t>Double underscore </a:t>
            </a:r>
            <a:r>
              <a:rPr lang="nl-NL" sz="1800" b="1" noProof="0" dirty="0" err="1"/>
              <a:t>methods</a:t>
            </a:r>
            <a:endParaRPr lang="nl-NL" sz="1800" b="1" dirty="0"/>
          </a:p>
          <a:p>
            <a:pPr marL="0" indent="0">
              <a:buNone/>
            </a:pPr>
            <a:r>
              <a:rPr lang="nl-NL" sz="1800" dirty="0"/>
              <a:t>Methodes met </a:t>
            </a:r>
            <a:r>
              <a:rPr lang="nl-NL" sz="1800" noProof="0" dirty="0"/>
              <a:t>een speciale functie.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endParaRPr lang="nl-NL" sz="1800" b="1" noProof="0" dirty="0"/>
          </a:p>
          <a:p>
            <a:pPr marL="0" indent="0">
              <a:buNone/>
            </a:pPr>
            <a:r>
              <a:rPr lang="nl-NL" sz="1800" noProof="0" dirty="0"/>
              <a:t>Aangeroepen bij initialiseren object.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endParaRPr lang="nl-NL" sz="1800" b="1" noProof="0" dirty="0"/>
          </a:p>
          <a:p>
            <a:pPr marL="0" indent="0">
              <a:buNone/>
            </a:pPr>
            <a:r>
              <a:rPr lang="nl-NL" sz="1800" dirty="0"/>
              <a:t>Aangeroepen bij conversie naar string. Bijvoorbeeld met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print(&lt;object&gt;)</a:t>
            </a:r>
            <a:r>
              <a:rPr lang="nl-NL" sz="1800" dirty="0"/>
              <a:t>.</a:t>
            </a:r>
          </a:p>
          <a:p>
            <a:pPr marL="0" indent="0">
              <a:buNone/>
            </a:pPr>
            <a:endParaRPr lang="nl-NL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Person: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(self, name,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"""Store values in the object."""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self.name =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"""Return the full name."""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self.name}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self.lastname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Initializing calls __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john_doe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Person(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"John"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"Doe"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Printing calls __str__.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john_doe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5285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Dunder</a:t>
            </a:r>
            <a:r>
              <a:rPr lang="nl-NL" sz="3600" dirty="0"/>
              <a:t> </a:t>
            </a:r>
            <a:r>
              <a:rPr lang="nl-NL" sz="3600" dirty="0" err="1"/>
              <a:t>methods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Aangeroepen door de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nl-NL" sz="1800" dirty="0">
                <a:cs typeface="Courier New" panose="02070309020205020404" pitchFamily="49" charset="0"/>
              </a:rPr>
              <a:t> operator.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Data model met alle </a:t>
            </a:r>
            <a:r>
              <a:rPr lang="nl-NL" sz="1800" dirty="0" err="1"/>
              <a:t>dunder</a:t>
            </a:r>
            <a:r>
              <a:rPr lang="nl-NL" sz="1800" dirty="0"/>
              <a:t> </a:t>
            </a:r>
            <a:r>
              <a:rPr lang="nl-NL" sz="1800" dirty="0" err="1"/>
              <a:t>methods</a:t>
            </a:r>
            <a:r>
              <a:rPr lang="nl-NL" sz="1800" dirty="0"/>
              <a:t>:</a:t>
            </a:r>
            <a:endParaRPr lang="nl-NL" sz="1800" noProof="0" dirty="0"/>
          </a:p>
          <a:p>
            <a:pPr marL="0" indent="0">
              <a:buNone/>
            </a:pPr>
            <a:r>
              <a:rPr lang="nl-NL" sz="1800" dirty="0">
                <a:hlinkClick r:id="rId3"/>
              </a:rPr>
              <a:t>https://docs.python.org/3/reference/datamodel.html#special-method-names</a:t>
            </a:r>
            <a:endParaRPr lang="nl-NL" sz="1800" noProof="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6000" y="1456267"/>
            <a:ext cx="5327651" cy="47206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Vector2D: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dx,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self.dx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dx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self.dy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__str__(self):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"(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3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self.dx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3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self.dy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__add__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(self, other):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Vector2D(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self.dx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other.dx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self.dy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other.dy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3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Construct two vectors.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v1 =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Vector2D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(4, 5)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v2 =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Vector2D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(2, 4)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 them together; prints (6, 9).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print(v1 + v2)</a:t>
            </a:r>
            <a:endParaRPr lang="en-US" sz="13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A82EC6-2420-91D7-55DA-52A2E6E77E8D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dunder methods.</a:t>
            </a:r>
          </a:p>
        </p:txBody>
      </p:sp>
    </p:spTree>
    <p:extLst>
      <p:ext uri="{BB962C8B-B14F-4D97-AF65-F5344CB8AC3E}">
        <p14:creationId xmlns:p14="http://schemas.microsoft.com/office/powerpoint/2010/main" val="1057875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</a:t>
            </a:r>
            <a:r>
              <a:rPr lang="nl-NL" sz="3600" dirty="0"/>
              <a:t>4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Open Notebook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exercises/4_fuzzy_dict.py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nl-NL" sz="1800" dirty="0"/>
              <a:t> </a:t>
            </a:r>
            <a:r>
              <a:rPr lang="nl-NL" sz="1800" dirty="0" err="1"/>
              <a:t>dict</a:t>
            </a:r>
            <a:r>
              <a:rPr lang="nl-NL" sz="1800" dirty="0"/>
              <a:t> met sleutels die niet hoofdlettergevoelig zijn.</a:t>
            </a:r>
          </a:p>
          <a:p>
            <a:pPr lvl="1"/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"NAAM"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nl-NL" sz="1800" dirty="0"/>
              <a:t> is gelijk aan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"naam"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  <a:endParaRPr lang="nl-NL" sz="1800" dirty="0"/>
          </a:p>
          <a:p>
            <a:pPr lvl="1"/>
            <a:r>
              <a:rPr lang="nl-NL" sz="1800" dirty="0">
                <a:cs typeface="Courier New" panose="02070309020205020404" pitchFamily="49" charset="0"/>
              </a:rPr>
              <a:t>Zowel voor ophalen als wegschrijven van waardes.</a:t>
            </a: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Gebruik: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__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getitem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dirty="0"/>
              <a:t> om waardes op te halen.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__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setitem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800" dirty="0"/>
              <a:t> om waardes op te slaan.</a:t>
            </a:r>
          </a:p>
          <a:p>
            <a:pPr marL="0" indent="0">
              <a:buNone/>
            </a:pPr>
            <a:endParaRPr lang="nl-NL" sz="1800" dirty="0"/>
          </a:p>
          <a:p>
            <a:pPr marL="457200" indent="-457200">
              <a:buAutoNum type="arabicPeriod" startAt="4"/>
            </a:pPr>
            <a:r>
              <a:rPr lang="nl-NL" sz="1800" dirty="0"/>
              <a:t>Bonus voor implementeren: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__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__, __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688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Privé attributen en methodes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 err="1"/>
              <a:t>Priv</a:t>
            </a:r>
            <a:r>
              <a:rPr lang="nl-NL" sz="1800" b="1" dirty="0"/>
              <a:t>é attribuut</a:t>
            </a:r>
            <a:endParaRPr lang="nl-NL" sz="1800" b="1" noProof="0" dirty="0"/>
          </a:p>
          <a:p>
            <a:pPr>
              <a:buFontTx/>
              <a:buChar char="-"/>
            </a:pPr>
            <a:r>
              <a:rPr lang="nl-NL" sz="1800" dirty="0"/>
              <a:t>Begint met enkele underscore.</a:t>
            </a:r>
          </a:p>
          <a:p>
            <a:pPr>
              <a:buFontTx/>
              <a:buChar char="-"/>
            </a:pPr>
            <a:r>
              <a:rPr lang="nl-NL" sz="1800" dirty="0"/>
              <a:t>Conventie: intern gebruik binnen de class.</a:t>
            </a:r>
          </a:p>
          <a:p>
            <a:pPr>
              <a:buFontTx/>
              <a:buChar char="-"/>
            </a:pPr>
            <a:r>
              <a:rPr lang="nl-NL" sz="1800" dirty="0"/>
              <a:t>Niet gebruiken buiten de class, want implementatie kan wijzigen.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b="1" dirty="0"/>
              <a:t>Afgeschermd attribuut</a:t>
            </a:r>
          </a:p>
          <a:p>
            <a:pPr>
              <a:buFontTx/>
              <a:buChar char="-"/>
            </a:pPr>
            <a:r>
              <a:rPr lang="nl-NL" sz="1800" dirty="0"/>
              <a:t>Beginnen met dubbele underscore.</a:t>
            </a:r>
          </a:p>
          <a:p>
            <a:pPr>
              <a:buFontTx/>
              <a:buChar char="-"/>
            </a:pPr>
            <a:r>
              <a:rPr lang="nl-NL" sz="1800" dirty="0"/>
              <a:t>Niet buiten de class aan te roepen.</a:t>
            </a:r>
          </a:p>
          <a:p>
            <a:pPr>
              <a:buFontTx/>
              <a:buChar char="-"/>
            </a:pPr>
            <a:endParaRPr lang="nl-NL" sz="18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Example: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_private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(self):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"I'm private!"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__restricted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"I'm restricted!"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indirect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self.__restricted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Calling methods.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 = Example()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x._private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prints "I'm private!"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x.__restricted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endParaRPr lang="en-US" sz="12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x.indirect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prints "I'm restricted!"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81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Static</a:t>
            </a:r>
            <a:r>
              <a:rPr lang="nl-NL" sz="3600" noProof="0" dirty="0"/>
              <a:t> en class methodes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@staticmethod</a:t>
            </a:r>
            <a:r>
              <a:rPr lang="nl-NL" sz="1800" noProof="0" dirty="0"/>
              <a:t> </a:t>
            </a:r>
          </a:p>
          <a:p>
            <a:pPr marL="0" indent="0">
              <a:buNone/>
            </a:pPr>
            <a:r>
              <a:rPr lang="nl-NL" sz="1800" noProof="0" dirty="0"/>
              <a:t>Methode</a:t>
            </a:r>
            <a:r>
              <a:rPr lang="nl-NL" sz="1800" dirty="0"/>
              <a:t> waarin toegang tot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800" dirty="0"/>
              <a:t> niet nodig is.</a:t>
            </a:r>
            <a:endParaRPr lang="nl-NL" sz="1800" noProof="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@classmethod</a:t>
            </a:r>
            <a:r>
              <a:rPr lang="nl-NL" sz="1800" noProof="0" dirty="0"/>
              <a:t> </a:t>
            </a:r>
          </a:p>
          <a:p>
            <a:pPr marL="0" indent="0">
              <a:buNone/>
            </a:pPr>
            <a:r>
              <a:rPr lang="nl-NL" sz="1800" noProof="0" dirty="0"/>
              <a:t>Methodes die op de class werken. Eerste argument verwijst naar de class zelf.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Person: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@staticmethod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is_valid_name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(name):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(name) &gt; </a:t>
            </a:r>
            <a:r>
              <a:rPr lang="nl-NL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@classmethod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from_str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person_str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name,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person_str.split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(name,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person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CSV string.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Person.from_str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John,Doe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06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5714-87F9-A8C0-7D26-0F9B5703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4F0824-4F4E-06ED-65CD-5B4F6BA2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Overerving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458244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Overerving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A90BB-468A-6D0A-002C-262602B18B4B}"/>
              </a:ext>
            </a:extLst>
          </p:cNvPr>
          <p:cNvSpPr/>
          <p:nvPr/>
        </p:nvSpPr>
        <p:spPr>
          <a:xfrm>
            <a:off x="8119533" y="724430"/>
            <a:ext cx="2368547" cy="21899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D9BB673-766C-2B9E-E2A1-0A38CF168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403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/>
              <a:t>Eigenschappen overnemen van een andere class.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noProof="0" dirty="0"/>
              <a:t> is een </a:t>
            </a:r>
            <a:r>
              <a:rPr lang="nl-NL" sz="1800" u="sng" noProof="0" dirty="0"/>
              <a:t>class</a:t>
            </a:r>
            <a:r>
              <a:rPr lang="nl-NL" sz="1800" noProof="0" dirty="0"/>
              <a:t> die methodes heeft om tekstbestanden te verwerken.</a:t>
            </a:r>
          </a:p>
        </p:txBody>
      </p:sp>
    </p:spTree>
    <p:extLst>
      <p:ext uri="{BB962C8B-B14F-4D97-AF65-F5344CB8AC3E}">
        <p14:creationId xmlns:p14="http://schemas.microsoft.com/office/powerpoint/2010/main" val="3078479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Overerving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A90BB-468A-6D0A-002C-262602B18B4B}"/>
              </a:ext>
            </a:extLst>
          </p:cNvPr>
          <p:cNvSpPr/>
          <p:nvPr/>
        </p:nvSpPr>
        <p:spPr>
          <a:xfrm>
            <a:off x="8119533" y="724430"/>
            <a:ext cx="2821070" cy="21899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F36A3-E63F-438C-664E-6CCFFF26537D}"/>
              </a:ext>
            </a:extLst>
          </p:cNvPr>
          <p:cNvSpPr/>
          <p:nvPr/>
        </p:nvSpPr>
        <p:spPr>
          <a:xfrm>
            <a:off x="8119532" y="3696789"/>
            <a:ext cx="2821070" cy="24801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D9BB673-766C-2B9E-E2A1-0A38CF168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403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/>
              <a:t>Eigenschappen overnemen van een andere class.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dirty="0"/>
              <a:t> is een </a:t>
            </a:r>
            <a:r>
              <a:rPr lang="nl-NL" sz="1800" u="sng" dirty="0"/>
              <a:t>class</a:t>
            </a:r>
            <a:r>
              <a:rPr lang="nl-NL" sz="1800" dirty="0"/>
              <a:t> die methodes heeft om tekstbestanden te verwerken.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800" noProof="0" dirty="0"/>
              <a:t> is een </a:t>
            </a:r>
            <a:r>
              <a:rPr lang="nl-NL" sz="1800" u="sng" noProof="0" dirty="0"/>
              <a:t>afgeleide class</a:t>
            </a:r>
            <a:r>
              <a:rPr lang="nl-NL" sz="1800" noProof="0" dirty="0"/>
              <a:t> en krijgt alle attributen van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noProof="0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EF9B61-43E9-4DB5-22C9-921F1E7947F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9530067" y="2914403"/>
            <a:ext cx="1" cy="782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3727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247583-45C3-FF1F-1D7D-C39EEB08F9B0}"/>
              </a:ext>
            </a:extLst>
          </p:cNvPr>
          <p:cNvSpPr/>
          <p:nvPr/>
        </p:nvSpPr>
        <p:spPr>
          <a:xfrm>
            <a:off x="8119533" y="724430"/>
            <a:ext cx="2821070" cy="21899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D9DB0-52B4-6D89-F50A-6AC55BF9200E}"/>
              </a:ext>
            </a:extLst>
          </p:cNvPr>
          <p:cNvSpPr/>
          <p:nvPr/>
        </p:nvSpPr>
        <p:spPr>
          <a:xfrm>
            <a:off x="8119533" y="3696789"/>
            <a:ext cx="2821070" cy="24801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85750" indent="-285750">
              <a:buFontTx/>
              <a:buChar char="-"/>
            </a:pPr>
            <a:endParaRPr lang="nl-NL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_separator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_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85750" indent="-285750">
              <a:buFontTx/>
              <a:buChar char="-"/>
            </a:pPr>
            <a:endParaRPr lang="nl-NL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32A5B5-092B-87F1-5E7A-A50E54671B88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9530068" y="2914403"/>
            <a:ext cx="0" cy="782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Overerving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D9BB673-766C-2B9E-E2A1-0A38CF168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403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/>
              <a:t>Eigenschappen overnemen van een andere class.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dirty="0"/>
              <a:t> is een </a:t>
            </a:r>
            <a:r>
              <a:rPr lang="nl-NL" sz="1800" u="sng" dirty="0"/>
              <a:t>class</a:t>
            </a:r>
            <a:r>
              <a:rPr lang="nl-NL" sz="1800" dirty="0"/>
              <a:t> die methodes heeft om tekstbestanden te verwerken.</a:t>
            </a: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800" dirty="0"/>
              <a:t> is een </a:t>
            </a:r>
            <a:r>
              <a:rPr lang="nl-NL" sz="1800" u="sng" dirty="0"/>
              <a:t>afgeleide class</a:t>
            </a:r>
            <a:r>
              <a:rPr lang="nl-NL" sz="1800" dirty="0"/>
              <a:t> en krijgt alle attributen van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dirty="0"/>
              <a:t>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800" noProof="0" dirty="0"/>
              <a:t> kan attributen toevoegen zoals _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separator</a:t>
            </a:r>
            <a:r>
              <a:rPr lang="nl-NL" sz="1800" noProof="0" dirty="0"/>
              <a:t> en _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noProof="0" dirty="0"/>
              <a:t>.</a:t>
            </a:r>
          </a:p>
          <a:p>
            <a:pPr marL="0" indent="0">
              <a:buNone/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1165950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BAB395-61B1-21BC-9EC5-3E01572C22C5}"/>
              </a:ext>
            </a:extLst>
          </p:cNvPr>
          <p:cNvSpPr/>
          <p:nvPr/>
        </p:nvSpPr>
        <p:spPr>
          <a:xfrm>
            <a:off x="8119533" y="724430"/>
            <a:ext cx="2821070" cy="21899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endParaRPr lang="nl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AAA3E-E729-8217-AB66-8343DB9B7C90}"/>
              </a:ext>
            </a:extLst>
          </p:cNvPr>
          <p:cNvSpPr/>
          <p:nvPr/>
        </p:nvSpPr>
        <p:spPr>
          <a:xfrm>
            <a:off x="8119533" y="3696789"/>
            <a:ext cx="2821070" cy="24801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nl-NL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b="1" strike="sngStrike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b="1" strike="sngStrik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nl-NL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_separator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_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632F7C-36DC-69D5-E2AB-C1D7C7660567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9530068" y="2914403"/>
            <a:ext cx="0" cy="782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Overerving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D9BB673-766C-2B9E-E2A1-0A38CF168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403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/>
              <a:t>Eigenschappen overnemen van een andere class.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dirty="0"/>
              <a:t> is een </a:t>
            </a:r>
            <a:r>
              <a:rPr lang="nl-NL" sz="1800" u="sng" dirty="0"/>
              <a:t>class</a:t>
            </a:r>
            <a:r>
              <a:rPr lang="nl-NL" sz="1800" dirty="0"/>
              <a:t> die methodes heeft om tekstbestanden te verwerken.</a:t>
            </a: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800" dirty="0"/>
              <a:t> is een </a:t>
            </a:r>
            <a:r>
              <a:rPr lang="nl-NL" sz="1800" u="sng" dirty="0"/>
              <a:t>afgeleide class</a:t>
            </a:r>
            <a:r>
              <a:rPr lang="nl-NL" sz="1800" dirty="0"/>
              <a:t> en krijgt alle attributen van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nl-NL" sz="1800" dirty="0"/>
              <a:t>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800" dirty="0"/>
              <a:t> kan attributen toevoegen zoals _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separator</a:t>
            </a:r>
            <a:r>
              <a:rPr lang="nl-NL" sz="1800" dirty="0"/>
              <a:t> en 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dirty="0"/>
              <a:t>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nl-NL" sz="1800" dirty="0"/>
              <a:t> kan eigenschappen overschrijven, zoals een eigen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dirty="0"/>
              <a:t> methode.</a:t>
            </a:r>
            <a:endParaRPr lang="nl-NL" sz="1800" noProof="0" dirty="0"/>
          </a:p>
        </p:txBody>
      </p:sp>
    </p:spTree>
    <p:extLst>
      <p:ext uri="{BB962C8B-B14F-4D97-AF65-F5344CB8AC3E}">
        <p14:creationId xmlns:p14="http://schemas.microsoft.com/office/powerpoint/2010/main" val="373182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Overerving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400" noProof="0" dirty="0"/>
              <a:t>Class: </a:t>
            </a:r>
            <a:r>
              <a:rPr lang="nl-NL" sz="1400" dirty="0"/>
              <a:t> 		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400" noProof="0" dirty="0"/>
              <a:t>Methodes:		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7531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"""Class for reading text data."""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read(self):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open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378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E9D1-9E58-B1F0-180F-C7DE914D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B201-5055-F6B4-5A6D-008EBB1A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Overerving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67A3-4A5D-39BE-1DDE-8C10D3352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400" noProof="0" dirty="0"/>
              <a:t>Class: </a:t>
            </a:r>
            <a:r>
              <a:rPr lang="nl-NL" sz="1400" dirty="0"/>
              <a:t> 		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400" noProof="0" dirty="0"/>
              <a:t>Methodes:		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400" noProof="0" dirty="0"/>
          </a:p>
          <a:p>
            <a:pPr marL="0" indent="0">
              <a:buNone/>
            </a:pPr>
            <a:endParaRPr lang="nl-NL" sz="1400" noProof="0" dirty="0"/>
          </a:p>
          <a:p>
            <a:pPr marL="0" indent="0">
              <a:buNone/>
            </a:pPr>
            <a:endParaRPr lang="nl-NL" sz="1400" noProof="0" dirty="0"/>
          </a:p>
          <a:p>
            <a:pPr marL="0" indent="0">
              <a:buNone/>
            </a:pPr>
            <a:endParaRPr lang="nl-NL" sz="1400" noProof="0" dirty="0"/>
          </a:p>
          <a:p>
            <a:pPr marL="0" indent="0">
              <a:buNone/>
            </a:pPr>
            <a:r>
              <a:rPr lang="nl-NL" sz="1400" noProof="0" dirty="0"/>
              <a:t>Class:		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400" noProof="0" dirty="0"/>
              <a:t>Hergebruikt:	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nl-NL" sz="1400" dirty="0"/>
              <a:t>Overschreven: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400" noProof="0" dirty="0"/>
              <a:t>Toegevoegd:		_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separator</a:t>
            </a:r>
          </a:p>
          <a:p>
            <a:pPr marL="0" indent="0"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_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E80DCF-6411-50C9-9213-615E34CD0711}"/>
              </a:ext>
            </a:extLst>
          </p:cNvPr>
          <p:cNvSpPr txBox="1">
            <a:spLocks/>
          </p:cNvSpPr>
          <p:nvPr/>
        </p:nvSpPr>
        <p:spPr>
          <a:xfrm>
            <a:off x="6095999" y="147531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"""Class for reading text data."""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read(self):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open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"""Class for reading CSV data."""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_separator =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_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record):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record.split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self.separator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 read(self):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open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self._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split_record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csv_file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]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968D78-7D83-2C2C-C8AD-29F7EAD39983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8725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Toegang tot de basis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r>
              <a:rPr lang="nl-NL" sz="1800" noProof="0" dirty="0"/>
              <a:t>Met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nl-NL" sz="1800" noProof="0" dirty="0"/>
              <a:t> kun je bij de basis class.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Hergebruik van functionaliteit die je overschrijft.</a:t>
            </a:r>
          </a:p>
          <a:p>
            <a:pPr marL="0" indent="0">
              <a:buNone/>
            </a:pPr>
            <a:endParaRPr lang="nl-NL" sz="1800" noProof="0" dirty="0"/>
          </a:p>
          <a:p>
            <a:pPr marL="0" indent="0">
              <a:buNone/>
            </a:pPr>
            <a:endParaRPr lang="nl-NL" sz="18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6095999" y="147531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"""Class for reading text data."""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read(self):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open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self.path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txt_file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TextReader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"""Class for reading CSV data."""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__(self, path, separator):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().__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__(path)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self._separator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separator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read(self):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self._separator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1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super().read()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]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9A8D70-4F53-F084-AC46-33DDA96EC0A9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inheritance.</a:t>
            </a:r>
          </a:p>
        </p:txBody>
      </p:sp>
    </p:spTree>
    <p:extLst>
      <p:ext uri="{BB962C8B-B14F-4D97-AF65-F5344CB8AC3E}">
        <p14:creationId xmlns:p14="http://schemas.microsoft.com/office/powerpoint/2010/main" val="36649345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/>
              <a:t>Oefeningen 5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Implementeer weer de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nl-NL" sz="1800" dirty="0"/>
              <a:t> class uit de vorige opdracht.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Gebruik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UserDict</a:t>
            </a:r>
            <a:r>
              <a:rPr lang="nl-NL" sz="1800" dirty="0"/>
              <a:t> uit standaard module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</a:t>
            </a:r>
            <a:r>
              <a:rPr lang="nl-NL" sz="1800" dirty="0"/>
              <a:t> als basis.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Hoeveel methodes moet je nu nog zelf (over-) schrijven?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Tip: Met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nl-NL" sz="1800" dirty="0"/>
              <a:t> kun je bij de eigenschappen van de basis class!</a:t>
            </a:r>
          </a:p>
        </p:txBody>
      </p:sp>
    </p:spTree>
    <p:extLst>
      <p:ext uri="{BB962C8B-B14F-4D97-AF65-F5344CB8AC3E}">
        <p14:creationId xmlns:p14="http://schemas.microsoft.com/office/powerpoint/2010/main" val="421329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3950</Words>
  <Application>Microsoft Office PowerPoint</Application>
  <PresentationFormat>Widescreen</PresentationFormat>
  <Paragraphs>963</Paragraphs>
  <Slides>53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Courier New</vt:lpstr>
      <vt:lpstr>Office Theme</vt:lpstr>
      <vt:lpstr>Python - Cursus</vt:lpstr>
      <vt:lpstr>Agenda</vt:lpstr>
      <vt:lpstr>Data en operatoren</vt:lpstr>
      <vt:lpstr>Data types</vt:lpstr>
      <vt:lpstr>Werken met tekst</vt:lpstr>
      <vt:lpstr>Werken met verzamelingen</vt:lpstr>
      <vt:lpstr>Data types converteren</vt:lpstr>
      <vt:lpstr>Operatoren</vt:lpstr>
      <vt:lpstr>Oefeningen 1</vt:lpstr>
      <vt:lpstr>Controle structuren</vt:lpstr>
      <vt:lpstr>Conditionele logica</vt:lpstr>
      <vt:lpstr>De for loop</vt:lpstr>
      <vt:lpstr>Comprehensions</vt:lpstr>
      <vt:lpstr>Functies</vt:lpstr>
      <vt:lpstr>Functie argumenten</vt:lpstr>
      <vt:lpstr>Functie argumenten</vt:lpstr>
      <vt:lpstr>Standaard functies</vt:lpstr>
      <vt:lpstr>Handige hulpfuncties</vt:lpstr>
      <vt:lpstr>Standaard functies</vt:lpstr>
      <vt:lpstr>Lezen uit tekstbestanden</vt:lpstr>
      <vt:lpstr>Schrijven naar tesktbestanden</vt:lpstr>
      <vt:lpstr>Oefeningen 2</vt:lpstr>
      <vt:lpstr>Namespaces en scopes</vt:lpstr>
      <vt:lpstr>Wat is een namespace?</vt:lpstr>
      <vt:lpstr>Wat is een scope?</vt:lpstr>
      <vt:lpstr>Oefeningen 3</vt:lpstr>
      <vt:lpstr>Mutable of immutable</vt:lpstr>
      <vt:lpstr>Kun je het wijzigen?</vt:lpstr>
      <vt:lpstr>Een simpel voorbeeld</vt:lpstr>
      <vt:lpstr>Een simpel voorbeeld</vt:lpstr>
      <vt:lpstr>Een simpel voorbeeld</vt:lpstr>
      <vt:lpstr>Een simpel voorbeeld</vt:lpstr>
      <vt:lpstr>Een simpel voorbeeld</vt:lpstr>
      <vt:lpstr>Waarom maakt het uit?</vt:lpstr>
      <vt:lpstr>Waarom maakt het uit?</vt:lpstr>
      <vt:lpstr>Waarom maakt het uit?</vt:lpstr>
      <vt:lpstr>Classes</vt:lpstr>
      <vt:lpstr>Waarom classes?</vt:lpstr>
      <vt:lpstr>Class versus object</vt:lpstr>
      <vt:lpstr>Dunder methods</vt:lpstr>
      <vt:lpstr>Dunder methods</vt:lpstr>
      <vt:lpstr>Oefeningen 4</vt:lpstr>
      <vt:lpstr>Privé attributen en methodes</vt:lpstr>
      <vt:lpstr>Static en class methodes</vt:lpstr>
      <vt:lpstr>Overerving</vt:lpstr>
      <vt:lpstr>Overerving</vt:lpstr>
      <vt:lpstr>Overerving</vt:lpstr>
      <vt:lpstr>Overerving</vt:lpstr>
      <vt:lpstr>Overerving</vt:lpstr>
      <vt:lpstr>Overerving in code</vt:lpstr>
      <vt:lpstr>Overerving in code</vt:lpstr>
      <vt:lpstr>Toegang tot de basis class</vt:lpstr>
      <vt:lpstr>Oefeningen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1001</cp:revision>
  <dcterms:created xsi:type="dcterms:W3CDTF">2022-11-09T07:34:24Z</dcterms:created>
  <dcterms:modified xsi:type="dcterms:W3CDTF">2026-10-27T15:07:05Z</dcterms:modified>
</cp:coreProperties>
</file>