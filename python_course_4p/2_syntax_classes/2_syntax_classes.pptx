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70" r:id="rId4"/>
    <p:sldId id="273" r:id="rId5"/>
    <p:sldId id="292" r:id="rId6"/>
    <p:sldId id="271" r:id="rId7"/>
    <p:sldId id="289" r:id="rId8"/>
    <p:sldId id="284" r:id="rId9"/>
    <p:sldId id="295" r:id="rId10"/>
    <p:sldId id="298" r:id="rId11"/>
    <p:sldId id="274" r:id="rId12"/>
    <p:sldId id="272" r:id="rId13"/>
    <p:sldId id="301" r:id="rId14"/>
    <p:sldId id="283" r:id="rId15"/>
    <p:sldId id="359" r:id="rId16"/>
    <p:sldId id="360" r:id="rId17"/>
    <p:sldId id="361" r:id="rId18"/>
    <p:sldId id="291" r:id="rId19"/>
    <p:sldId id="362" r:id="rId20"/>
    <p:sldId id="293" r:id="rId21"/>
    <p:sldId id="294" r:id="rId22"/>
    <p:sldId id="276" r:id="rId23"/>
    <p:sldId id="302" r:id="rId24"/>
    <p:sldId id="303" r:id="rId25"/>
    <p:sldId id="304" r:id="rId26"/>
    <p:sldId id="329" r:id="rId27"/>
    <p:sldId id="305" r:id="rId28"/>
    <p:sldId id="306" r:id="rId29"/>
    <p:sldId id="310" r:id="rId30"/>
    <p:sldId id="345" r:id="rId31"/>
    <p:sldId id="346" r:id="rId32"/>
    <p:sldId id="352" r:id="rId33"/>
    <p:sldId id="357" r:id="rId34"/>
    <p:sldId id="358" r:id="rId35"/>
    <p:sldId id="312" r:id="rId36"/>
    <p:sldId id="313" r:id="rId37"/>
    <p:sldId id="333" r:id="rId38"/>
    <p:sldId id="323" r:id="rId39"/>
    <p:sldId id="356" r:id="rId40"/>
    <p:sldId id="331" r:id="rId41"/>
    <p:sldId id="324" r:id="rId42"/>
    <p:sldId id="325" r:id="rId43"/>
    <p:sldId id="332" r:id="rId44"/>
    <p:sldId id="326" r:id="rId45"/>
    <p:sldId id="355" r:id="rId46"/>
    <p:sldId id="353" r:id="rId47"/>
    <p:sldId id="354" r:id="rId48"/>
    <p:sldId id="347" r:id="rId49"/>
    <p:sldId id="336" r:id="rId50"/>
    <p:sldId id="348" r:id="rId51"/>
    <p:sldId id="334" r:id="rId52"/>
    <p:sldId id="335" r:id="rId53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58" autoAdjust="0"/>
    <p:restoredTop sz="87402" autoAdjust="0"/>
  </p:normalViewPr>
  <p:slideViewPr>
    <p:cSldViewPr snapToGrid="0">
      <p:cViewPr varScale="1">
        <p:scale>
          <a:sx n="108" d="100"/>
          <a:sy n="108" d="100"/>
        </p:scale>
        <p:origin x="926" y="91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Noot: </a:t>
            </a:r>
            <a:r>
              <a:rPr lang="en-US" dirty="0" err="1"/>
              <a:t>verplichte</a:t>
            </a:r>
            <a:r>
              <a:rPr lang="en-US" dirty="0"/>
              <a:t> </a:t>
            </a:r>
            <a:r>
              <a:rPr lang="en-US" dirty="0" err="1"/>
              <a:t>argumenten</a:t>
            </a:r>
            <a:r>
              <a:rPr lang="en-US" dirty="0"/>
              <a:t> </a:t>
            </a:r>
            <a:r>
              <a:rPr lang="en-US" dirty="0" err="1"/>
              <a:t>altijd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niet-verplichte</a:t>
            </a:r>
            <a:r>
              <a:rPr lang="en-US" dirty="0"/>
              <a:t> </a:t>
            </a:r>
            <a:r>
              <a:rPr lang="en-US" dirty="0" err="1"/>
              <a:t>argumenten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64117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Notebook: 1_classes_dunder_methods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48380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Notebook: 2_classes_inheritance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84041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datamodel.html#special-method-names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Data en operatoren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Controle structuren</a:t>
            </a:r>
          </a:p>
          <a:p>
            <a:pPr>
              <a:spcAft>
                <a:spcPts val="600"/>
              </a:spcAft>
            </a:pPr>
            <a:r>
              <a:rPr lang="nl-NL" sz="2000" noProof="0" dirty="0"/>
              <a:t>Namespaces en scopes</a:t>
            </a:r>
          </a:p>
          <a:p>
            <a:pPr>
              <a:spcAft>
                <a:spcPts val="600"/>
              </a:spcAft>
            </a:pPr>
            <a:r>
              <a:rPr lang="nl-NL" sz="2000" dirty="0" err="1"/>
              <a:t>Mutable</a:t>
            </a:r>
            <a:r>
              <a:rPr lang="nl-NL" sz="2000" dirty="0"/>
              <a:t> of </a:t>
            </a:r>
            <a:r>
              <a:rPr lang="nl-NL" sz="2000" dirty="0" err="1"/>
              <a:t>immutable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en operatoren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51694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1668" y="1828520"/>
            <a:ext cx="4453467" cy="114328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int	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096000" y="4042952"/>
            <a:ext cx="4453467" cy="22794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set 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tuple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3, 4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list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"b"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1F72F-53C6-7684-9B6D-92E3B2260179}"/>
              </a:ext>
            </a:extLst>
          </p:cNvPr>
          <p:cNvSpPr txBox="1">
            <a:spLocks/>
          </p:cNvSpPr>
          <p:nvPr/>
        </p:nvSpPr>
        <p:spPr>
          <a:xfrm>
            <a:off x="838199" y="4042954"/>
            <a:ext cx="4453466" cy="22794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   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"it's Python"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	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'it\'s Python'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	=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"""it's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Python"""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90B82E-B643-FC5A-7253-CD6AA530B79F}"/>
              </a:ext>
            </a:extLst>
          </p:cNvPr>
          <p:cNvSpPr txBox="1">
            <a:spLocks/>
          </p:cNvSpPr>
          <p:nvPr/>
        </p:nvSpPr>
        <p:spPr>
          <a:xfrm>
            <a:off x="6096000" y="1881050"/>
            <a:ext cx="4453467" cy="1090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  =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  =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21A365-F935-B72D-75E3-9C40B0BD18FC}"/>
              </a:ext>
            </a:extLst>
          </p:cNvPr>
          <p:cNvSpPr txBox="1"/>
          <p:nvPr/>
        </p:nvSpPr>
        <p:spPr>
          <a:xfrm>
            <a:off x="831667" y="1413264"/>
            <a:ext cx="4459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b="1" noProof="0" dirty="0">
                <a:cs typeface="Courier New" panose="02070309020205020404" pitchFamily="49" charset="0"/>
              </a:rPr>
              <a:t>Numeriek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97FB6-A8A8-30E6-8945-B9649678F545}"/>
              </a:ext>
            </a:extLst>
          </p:cNvPr>
          <p:cNvSpPr txBox="1"/>
          <p:nvPr/>
        </p:nvSpPr>
        <p:spPr>
          <a:xfrm>
            <a:off x="6096000" y="1413264"/>
            <a:ext cx="4453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Logisch</a:t>
            </a:r>
            <a:endParaRPr lang="en-US" sz="1800" b="1" dirty="0"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91EB16-B55E-561F-5F08-6B9BCA302779}"/>
              </a:ext>
            </a:extLst>
          </p:cNvPr>
          <p:cNvSpPr txBox="1"/>
          <p:nvPr/>
        </p:nvSpPr>
        <p:spPr>
          <a:xfrm>
            <a:off x="831666" y="3618415"/>
            <a:ext cx="4459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Tekst</a:t>
            </a:r>
            <a:endParaRPr lang="en-US" sz="1800" b="1" dirty="0"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B1925-E39C-5718-FB9E-ED9FFB618F0C}"/>
              </a:ext>
            </a:extLst>
          </p:cNvPr>
          <p:cNvSpPr txBox="1"/>
          <p:nvPr/>
        </p:nvSpPr>
        <p:spPr>
          <a:xfrm>
            <a:off x="6095999" y="3611887"/>
            <a:ext cx="4453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cs typeface="Courier New" panose="02070309020205020404" pitchFamily="49" charset="0"/>
              </a:rPr>
              <a:t>Verzamelingen</a:t>
            </a:r>
            <a:endParaRPr lang="en-US" sz="1800" b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071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Werken met t</a:t>
            </a:r>
            <a:r>
              <a:rPr lang="nl-NL" sz="3600" noProof="0" dirty="0" err="1"/>
              <a:t>ekst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"!"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template =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{n}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template.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(n=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noProof="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Doe,John"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join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nl-NL" sz="2000" dirty="0"/>
              <a:t> plak je strings aan elkaar.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Een format-string is vaak korter.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format()</a:t>
            </a:r>
            <a:r>
              <a:rPr lang="nl-NL" sz="2000" dirty="0"/>
              <a:t> methode doet hetzelfde,</a:t>
            </a:r>
          </a:p>
          <a:p>
            <a:pPr>
              <a:spcBef>
                <a:spcPts val="1000"/>
              </a:spcBef>
            </a:pPr>
            <a:r>
              <a:rPr lang="nl-NL" sz="2000" dirty="0"/>
              <a:t>maar indirect.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Splits string op scheidingsteken.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Plak lijst strings aan elkaar.</a:t>
            </a:r>
          </a:p>
        </p:txBody>
      </p:sp>
    </p:spTree>
    <p:extLst>
      <p:ext uri="{BB962C8B-B14F-4D97-AF65-F5344CB8AC3E}">
        <p14:creationId xmlns:p14="http://schemas.microsoft.com/office/powerpoint/2010/main" val="389145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Werken met v</a:t>
            </a:r>
            <a:r>
              <a:rPr lang="nl-NL" sz="3600" noProof="0" dirty="0" err="1"/>
              <a:t>erzamelingen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6328"/>
            <a:ext cx="4826000" cy="5241878"/>
          </a:xfr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 / 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 = [1, 2, 3, 4]</a:t>
            </a: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list[1] 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2, index start bij 0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list[4] 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600" noProof="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IndexError</a:t>
            </a:r>
            <a:endParaRPr lang="nl-NL" sz="1600" noProof="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list[0:2]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2]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list[2:] 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[3, 4]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list[:-1]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2, 3]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list[-1:]  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[4]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list[2] = 0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toewijzen (list)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527802" y="1166327"/>
            <a:ext cx="4826001" cy="5241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144000" tIns="144000" rIns="144000" bIns="1440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1,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2}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KeyError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3)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= 0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toewijzen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list(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["a", "b"]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dict.keys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sleutels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waardes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sleutel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waarde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04866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Data types converteren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4513"/>
            <a:ext cx="1625083" cy="900923"/>
          </a:xfr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cs typeface="Courier New" panose="02070309020205020404" pitchFamily="49" charset="0"/>
              </a:rPr>
              <a:t>Integer</a:t>
            </a:r>
          </a:p>
          <a:p>
            <a:pPr marL="0" indent="0" algn="ctr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int(x)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3870130" y="2166241"/>
            <a:ext cx="1625083" cy="89746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Float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float(x)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1F72F-53C6-7684-9B6D-92E3B2260179}"/>
              </a:ext>
            </a:extLst>
          </p:cNvPr>
          <p:cNvSpPr txBox="1">
            <a:spLocks/>
          </p:cNvSpPr>
          <p:nvPr/>
        </p:nvSpPr>
        <p:spPr>
          <a:xfrm>
            <a:off x="6833635" y="2164513"/>
            <a:ext cx="1625083" cy="90092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String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str(x)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90B82E-B643-FC5A-7253-CD6AA530B79F}"/>
              </a:ext>
            </a:extLst>
          </p:cNvPr>
          <p:cNvSpPr txBox="1">
            <a:spLocks/>
          </p:cNvSpPr>
          <p:nvPr/>
        </p:nvSpPr>
        <p:spPr>
          <a:xfrm>
            <a:off x="9728717" y="2164513"/>
            <a:ext cx="1625083" cy="90092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dirty="0">
                <a:cs typeface="Courier New" panose="02070309020205020404" pitchFamily="49" charset="0"/>
              </a:rPr>
              <a:t>Boolean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bool(x)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45C0664-5CE8-3179-CBB0-12CEBB3A2DDA}"/>
              </a:ext>
            </a:extLst>
          </p:cNvPr>
          <p:cNvGrpSpPr/>
          <p:nvPr/>
        </p:nvGrpSpPr>
        <p:grpSpPr>
          <a:xfrm>
            <a:off x="838200" y="1595389"/>
            <a:ext cx="10515600" cy="374817"/>
            <a:chOff x="838199" y="1267371"/>
            <a:chExt cx="10515600" cy="374817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5AF89407-A4C8-B31A-1B0E-F161B693C430}"/>
                </a:ext>
              </a:extLst>
            </p:cNvPr>
            <p:cNvCxnSpPr/>
            <p:nvPr/>
          </p:nvCxnSpPr>
          <p:spPr>
            <a:xfrm>
              <a:off x="838199" y="1642188"/>
              <a:ext cx="10515600" cy="0"/>
            </a:xfrm>
            <a:prstGeom prst="straightConnector1">
              <a:avLst/>
            </a:prstGeom>
            <a:ln>
              <a:headEnd w="lg" len="lg"/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B4AB953-7749-A548-515E-7E5507009846}"/>
                </a:ext>
              </a:extLst>
            </p:cNvPr>
            <p:cNvSpPr txBox="1"/>
            <p:nvPr/>
          </p:nvSpPr>
          <p:spPr>
            <a:xfrm>
              <a:off x="5573259" y="1267371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6">
                      <a:lumMod val="75000"/>
                    </a:schemeClr>
                  </a:solidFill>
                </a:rPr>
                <a:t>widening</a:t>
              </a:r>
              <a:endParaRPr lang="en-NL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745BB8E-AD41-E60E-CE11-A2305F69FDFF}"/>
              </a:ext>
            </a:extLst>
          </p:cNvPr>
          <p:cNvGrpSpPr/>
          <p:nvPr/>
        </p:nvGrpSpPr>
        <p:grpSpPr>
          <a:xfrm>
            <a:off x="838200" y="3283610"/>
            <a:ext cx="10538408" cy="369332"/>
            <a:chOff x="887188" y="3586063"/>
            <a:chExt cx="10515600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EB6996C-0B22-9B6F-F8C4-3B79D1AB40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7188" y="3586063"/>
              <a:ext cx="10515600" cy="0"/>
            </a:xfrm>
            <a:prstGeom prst="straightConnector1">
              <a:avLst/>
            </a:prstGeom>
            <a:ln>
              <a:headEnd w="lg" len="lg"/>
              <a:tailEnd type="triangle" w="lg" len="lg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FA5DB0C-6677-6279-8926-72398DDB0AB4}"/>
                </a:ext>
              </a:extLst>
            </p:cNvPr>
            <p:cNvSpPr txBox="1"/>
            <p:nvPr/>
          </p:nvSpPr>
          <p:spPr>
            <a:xfrm>
              <a:off x="5573259" y="3586063"/>
              <a:ext cx="1143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75000"/>
                    </a:schemeClr>
                  </a:solidFill>
                </a:rPr>
                <a:t>narrowing</a:t>
              </a:r>
              <a:endParaRPr lang="en-NL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EB5F364-DC78-5AA0-799A-0A3335A0BF01}"/>
              </a:ext>
            </a:extLst>
          </p:cNvPr>
          <p:cNvSpPr txBox="1"/>
          <p:nvPr/>
        </p:nvSpPr>
        <p:spPr>
          <a:xfrm>
            <a:off x="2312436" y="4136842"/>
            <a:ext cx="7567127" cy="222663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Conversie naar een breder data type kan altijd…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Conversie naar een smaller data type kan misgaan!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Je krijgt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ValueError</a:t>
            </a:r>
            <a:r>
              <a:rPr lang="nl-NL" sz="2000" dirty="0"/>
              <a:t> bij conversie van ongeldige waardes.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/>
              <a:t>Voorbeelden ongeldige waardes: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"3a"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 int(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"3.2"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285750" indent="-285750">
              <a:spcBef>
                <a:spcPts val="1200"/>
              </a:spcBef>
              <a:buFontTx/>
              <a:buChar char="-"/>
            </a:pPr>
            <a:r>
              <a:rPr lang="nl-NL" sz="2000" dirty="0">
                <a:cs typeface="Courier New" panose="02070309020205020404" pitchFamily="49" charset="0"/>
              </a:rPr>
              <a:t>Alleen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[], {}, </a:t>
            </a:r>
            <a:r>
              <a:rPr lang="nl-NL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nl-NL" sz="2000" dirty="0">
                <a:cs typeface="Courier New" panose="02070309020205020404" pitchFamily="49" charset="0"/>
              </a:rPr>
              <a:t> zijn </a:t>
            </a:r>
            <a:r>
              <a:rPr lang="nl-NL" sz="2000" dirty="0" err="1">
                <a:cs typeface="Courier New" panose="02070309020205020404" pitchFamily="49" charset="0"/>
              </a:rPr>
              <a:t>boolean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8671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Operatoren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4989"/>
            <a:ext cx="4842933" cy="5223218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 algn="ctr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Numeriek</a:t>
            </a: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Toewijzing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+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Optellen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+=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Optellen en toewijzen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-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Aftrekken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Vermenigvuldigen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Delen door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//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Delen, negeer rest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%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Rest bij deling</a:t>
            </a:r>
          </a:p>
          <a:p>
            <a:pPr marL="0" indent="0"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**	  </a:t>
            </a:r>
            <a:r>
              <a:rPr lang="nl-NL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Machtsverheffen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DE59F7-B924-ED44-CF04-891226252692}"/>
              </a:ext>
            </a:extLst>
          </p:cNvPr>
          <p:cNvSpPr txBox="1">
            <a:spLocks/>
          </p:cNvSpPr>
          <p:nvPr/>
        </p:nvSpPr>
        <p:spPr>
          <a:xfrm>
            <a:off x="6510869" y="1184989"/>
            <a:ext cx="4842932" cy="52232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144000" tIns="144000" rIns="144000" bIns="14400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Logisch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Gelijk aan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!=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Ongelijk aan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Groter dan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Groter of gelijk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Kleiner dan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&lt;=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Kleiner of gelijk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is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Is identiek (object)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Zit in een verzameling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Beiden waar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or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Een van beiden waar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 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Omkering</a:t>
            </a:r>
          </a:p>
        </p:txBody>
      </p:sp>
    </p:spTree>
    <p:extLst>
      <p:ext uri="{BB962C8B-B14F-4D97-AF65-F5344CB8AC3E}">
        <p14:creationId xmlns:p14="http://schemas.microsoft.com/office/powerpoint/2010/main" val="2443077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de uitkomst van:</a:t>
            </a:r>
          </a:p>
          <a:p>
            <a:pPr marL="457200" lvl="1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 int(</a:t>
            </a:r>
            <a:r>
              <a:rPr lang="nl-NL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3.7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lvl="1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"3.7"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lvl="1" indent="0">
              <a:buNone/>
            </a:pPr>
            <a:r>
              <a:rPr lang="nl-NL" sz="1600" dirty="0"/>
              <a:t>-  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"3.7"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NL" sz="16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het resultaat van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"123"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/>
              <a:t>?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Wat is het resultaat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*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/>
              <a:t>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39598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Controle structuren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32489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Conditionele logica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2980"/>
            <a:ext cx="4885268" cy="5026953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==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&gt;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&lt;=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999</a:t>
            </a:r>
            <a:r>
              <a:rPr lang="en-US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12980"/>
            <a:ext cx="4885268" cy="502695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Maak conditionele blokken code met</a:t>
            </a:r>
          </a:p>
          <a:p>
            <a:pPr>
              <a:spcBef>
                <a:spcPts val="1000"/>
              </a:spcBef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Combineer condities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nl-NL" sz="2000" dirty="0"/>
              <a:t> /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000" dirty="0"/>
              <a:t>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Komt waarde voor in een verzameling.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Met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2000" dirty="0"/>
              <a:t> vang je alles dat niet voldoet</a:t>
            </a:r>
          </a:p>
          <a:p>
            <a:pPr>
              <a:spcBef>
                <a:spcPts val="1000"/>
              </a:spcBef>
            </a:pPr>
            <a:r>
              <a:rPr lang="nl-NL" sz="2000" dirty="0"/>
              <a:t>aan de voorgaande condities.</a:t>
            </a:r>
          </a:p>
        </p:txBody>
      </p:sp>
    </p:spTree>
    <p:extLst>
      <p:ext uri="{BB962C8B-B14F-4D97-AF65-F5344CB8AC3E}">
        <p14:creationId xmlns:p14="http://schemas.microsoft.com/office/powerpoint/2010/main" val="1657020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De </a:t>
            </a:r>
            <a:r>
              <a:rPr lang="nl-NL" sz="3600" noProof="0" dirty="0" err="1"/>
              <a:t>for</a:t>
            </a:r>
            <a:r>
              <a:rPr lang="nl-NL" sz="3600" noProof="0" dirty="0"/>
              <a:t>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(x)             </a:t>
            </a:r>
            <a:r>
              <a:rPr lang="en-US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1, 2, 3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x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          </a:t>
            </a:r>
            <a:r>
              <a:rPr lang="en-US" sz="16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0, 1, 2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k, v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}.</a:t>
            </a:r>
            <a:r>
              <a:rPr lang="en-US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{k}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{v}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a=1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 ==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"_comment"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600" dirty="0"/>
              <a:t> loop gebruik je in combinatie 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Geef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/>
              <a:t>op na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Tel iteraties 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start=x</a:t>
            </a:r>
            <a:r>
              <a:rPr lang="nl-NL" sz="1600" dirty="0"/>
              <a:t> om startpunt op te geven.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items()</a:t>
            </a:r>
            <a:r>
              <a:rPr lang="nl-NL" sz="1600" dirty="0"/>
              <a:t> om door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NL" sz="1600" dirty="0"/>
              <a:t> heen te lopen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nl-NL" sz="1600" dirty="0"/>
              <a:t> om iteratie over te slaan.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nl-NL" sz="1600" dirty="0"/>
              <a:t> om de loop te beëindigen.</a:t>
            </a:r>
          </a:p>
        </p:txBody>
      </p:sp>
    </p:spTree>
    <p:extLst>
      <p:ext uri="{BB962C8B-B14F-4D97-AF65-F5344CB8AC3E}">
        <p14:creationId xmlns:p14="http://schemas.microsoft.com/office/powerpoint/2010/main" val="582769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Comprehensions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name.lower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name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names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"even"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 %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"uneven"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numbers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numbers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 %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k.lower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():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v.lower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k, v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my_dict.items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endParaRPr lang="nl-NL" sz="1600" dirty="0"/>
          </a:p>
          <a:p>
            <a:r>
              <a:rPr lang="nl-NL" sz="1600" dirty="0"/>
              <a:t>Bewerken alle items en geef een nieuwe lijst terug.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/>
              <a:t>Waarde kan conditioneel zijn 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nl-NL" sz="1600" dirty="0"/>
              <a:t>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/>
              <a:t>Je kunt waardes filteren met een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600" dirty="0"/>
              <a:t> na de </a:t>
            </a:r>
            <a:r>
              <a:rPr lang="nl-NL" sz="1600" dirty="0" err="1"/>
              <a:t>for</a:t>
            </a:r>
            <a:r>
              <a:rPr lang="nl-NL" sz="1600" dirty="0"/>
              <a:t> loop.</a:t>
            </a:r>
          </a:p>
          <a:p>
            <a:endParaRPr lang="nl-NL" sz="1600" dirty="0"/>
          </a:p>
          <a:p>
            <a:endParaRPr lang="nl-NL" sz="1600" dirty="0"/>
          </a:p>
          <a:p>
            <a:endParaRPr lang="nl-NL" sz="1600" dirty="0"/>
          </a:p>
          <a:p>
            <a:r>
              <a:rPr lang="nl-NL" sz="1600" dirty="0" err="1"/>
              <a:t>Comprehension</a:t>
            </a:r>
            <a:r>
              <a:rPr lang="nl-NL" sz="1600" dirty="0"/>
              <a:t> toegepast op een </a:t>
            </a:r>
            <a:r>
              <a:rPr lang="nl-NL" sz="1600" dirty="0" err="1"/>
              <a:t>dict</a:t>
            </a:r>
            <a:r>
              <a:rPr lang="nl-N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0430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(name=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(value)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value %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dirty="0"/>
              <a:t> om een functie aan te maken.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Spring 4 spaties in voor de functie code.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Argumenten definieer je tussen de haken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Je kunt argumenten een standaard waarde geven.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Het argument is dan niet meer verplicht.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nl-NL" sz="1600" dirty="0"/>
              <a:t> geef je waardes terug uit een functie.</a:t>
            </a:r>
          </a:p>
        </p:txBody>
      </p:sp>
    </p:spTree>
    <p:extLst>
      <p:ext uri="{BB962C8B-B14F-4D97-AF65-F5344CB8AC3E}">
        <p14:creationId xmlns:p14="http://schemas.microsoft.com/office/powerpoint/2010/main" val="1778683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B81AD-2190-FEC5-0C08-88BACBA5F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E56B6-68CE-A6ED-6273-C991AB648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 argumenten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73198-699A-D6CA-157A-28E69B7C9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sep.join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sep=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sep.join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concat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"World"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188F43-11CE-CFD7-7D8F-DE5FBF1EEC26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NL" sz="1600" dirty="0"/>
              <a:t> kun je een variabel aantal argumenten opvangen in een lijst.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Aanroep met 2 naamloze argumenten plus een "</a:t>
            </a:r>
            <a:r>
              <a:rPr lang="nl-NL" sz="1600" dirty="0" err="1"/>
              <a:t>keyword</a:t>
            </a:r>
            <a:r>
              <a:rPr lang="nl-NL" sz="1600" dirty="0"/>
              <a:t> argument".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Alternatieve implementatie; scheidingsteken is nu eerste argument en verplicht.</a:t>
            </a:r>
          </a:p>
        </p:txBody>
      </p:sp>
    </p:spTree>
    <p:extLst>
      <p:ext uri="{BB962C8B-B14F-4D97-AF65-F5344CB8AC3E}">
        <p14:creationId xmlns:p14="http://schemas.microsoft.com/office/powerpoint/2010/main" val="2645497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6CBE9-8A6F-BB51-B73D-07ED3BCC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01540-F405-43EA-67C8-347E37076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Functie argumenten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693EB-340D-F2CC-24D4-FB5F5AE76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key, value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kwargs.items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(key,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: 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value)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print_args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course=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"Python"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course : Python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year : 2026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ABB235-912A-09FA-C0E9-2CB7F20FD03F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nl-NL" sz="1600" dirty="0"/>
              <a:t> vang je een variabel aantal namen en waardes op in een </a:t>
            </a:r>
            <a:r>
              <a:rPr lang="nl-NL" sz="1600" dirty="0" err="1"/>
              <a:t>dict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Mening: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NL" sz="1600" dirty="0"/>
              <a:t> en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kwargs</a:t>
            </a:r>
            <a:r>
              <a:rPr lang="nl-NL" sz="1600" dirty="0"/>
              <a:t> zijn slecht leesbaar.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/>
              <a:t>Vaak beter om list / </a:t>
            </a:r>
            <a:r>
              <a:rPr lang="nl-NL" sz="1600" dirty="0" err="1"/>
              <a:t>dict</a:t>
            </a:r>
            <a:r>
              <a:rPr lang="nl-NL" sz="1600" dirty="0"/>
              <a:t> / object te gebruiken.</a:t>
            </a:r>
          </a:p>
          <a:p>
            <a:pPr marL="285750" indent="-285750">
              <a:spcBef>
                <a:spcPts val="1000"/>
              </a:spcBef>
              <a:buFontTx/>
              <a:buChar char="-"/>
            </a:pPr>
            <a:r>
              <a:rPr lang="nl-NL" sz="1600" dirty="0"/>
              <a:t>Alleen voor </a:t>
            </a:r>
            <a:r>
              <a:rPr lang="nl-NL" sz="1600" dirty="0" err="1"/>
              <a:t>wrapper</a:t>
            </a:r>
            <a:r>
              <a:rPr lang="nl-NL" sz="1600" dirty="0"/>
              <a:t> functies.</a:t>
            </a:r>
          </a:p>
        </p:txBody>
      </p:sp>
    </p:spTree>
    <p:extLst>
      <p:ext uri="{BB962C8B-B14F-4D97-AF65-F5344CB8AC3E}">
        <p14:creationId xmlns:p14="http://schemas.microsoft.com/office/powerpoint/2010/main" val="1353347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78C49-8AF9-B444-C73C-F5A217445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C40EE2-4ECE-FFAA-A02E-D262A1018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Ingebouwde functies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971A10-39A2-7D86-9CA7-E6DEDFB1FD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00285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Handige hulpfuncties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000" noProof="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&lt;object&gt;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2000" dirty="0"/>
              <a:t>Print object of waarde naar de terminal.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type van een object weer.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hulp over het object.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eigenschappen van het object weer.</a:t>
            </a:r>
          </a:p>
          <a:p>
            <a:pPr>
              <a:spcBef>
                <a:spcPts val="1000"/>
              </a:spcBef>
            </a:pPr>
            <a:endParaRPr lang="nl-NL" sz="2000" dirty="0"/>
          </a:p>
          <a:p>
            <a:pPr>
              <a:spcBef>
                <a:spcPts val="1000"/>
              </a:spcBef>
            </a:pPr>
            <a:r>
              <a:rPr lang="nl-NL" sz="2000" dirty="0"/>
              <a:t>Geeft unieke ID van het object weer.</a:t>
            </a:r>
          </a:p>
        </p:txBody>
      </p:sp>
    </p:spTree>
    <p:extLst>
      <p:ext uri="{BB962C8B-B14F-4D97-AF65-F5344CB8AC3E}">
        <p14:creationId xmlns:p14="http://schemas.microsoft.com/office/powerpoint/2010/main" val="23607190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6C030-CA6B-09E8-6963-5B762C018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1CE24-A65F-06EC-1C85-EA223894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Ingebouwde functies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2423F-88AE-E175-4A2D-5426BEC67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51432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builtins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dirty="0">
                <a:cs typeface="Courier New" panose="02070309020205020404" pitchFamily="49" charset="0"/>
              </a:rPr>
              <a:t> module bevat alle ingebouwde functies, foutmeldingen en waarschuwingen.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 code hiernaast print een lijst van ingebouwde objecten.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Data types:   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int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list / set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Rekenkundig: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Lijsten:  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max / min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reversed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496F4F-2F2B-F910-3A4E-7B11F13BA671}"/>
              </a:ext>
            </a:extLst>
          </p:cNvPr>
          <p:cNvSpPr txBox="1">
            <a:spLocks/>
          </p:cNvSpPr>
          <p:nvPr/>
        </p:nvSpPr>
        <p:spPr>
          <a:xfrm>
            <a:off x="8257953" y="1456267"/>
            <a:ext cx="309584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 all built-ins.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_ in </a:t>
            </a:r>
            <a:r>
              <a:rPr lang="en-US" sz="14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(__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builtins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(_)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Get help on built-in.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(range)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C5B346-BCD4-947F-08E6-36C0C49BC655}"/>
              </a:ext>
            </a:extLst>
          </p:cNvPr>
          <p:cNvCxnSpPr>
            <a:cxnSpLocks/>
          </p:cNvCxnSpPr>
          <p:nvPr/>
        </p:nvCxnSpPr>
        <p:spPr>
          <a:xfrm>
            <a:off x="768025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59543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Lezen uit tekstbestanden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"input.csv"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data_file.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data_file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 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"input.csv"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data: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600" b="1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data: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Process a single line.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nl-NL" sz="1600" dirty="0"/>
              <a:t> open je een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 lees je alle regels tegelijk in.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close()</a:t>
            </a:r>
            <a:r>
              <a:rPr lang="nl-NL" sz="1600" dirty="0"/>
              <a:t> sluit je het bestand weer.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Gebruik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NL" sz="1600" dirty="0"/>
              <a:t> om het bestand te openen...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Verwerk de regels in het tekstbestand…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Bestand wordt automatisch gesloten.</a:t>
            </a:r>
          </a:p>
        </p:txBody>
      </p:sp>
    </p:spTree>
    <p:extLst>
      <p:ext uri="{BB962C8B-B14F-4D97-AF65-F5344CB8AC3E}">
        <p14:creationId xmlns:p14="http://schemas.microsoft.com/office/powerpoint/2010/main" val="1842426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Schrijven naar </a:t>
            </a:r>
            <a:r>
              <a:rPr lang="nl-NL" sz="3600" noProof="0" dirty="0" err="1"/>
              <a:t>tesktbestanden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1642"/>
            <a:ext cx="4885268" cy="5008292"/>
          </a:xfr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lines = [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line 1"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"test line 2"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"output.txt"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600" noProof="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out: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lines: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(line + </a:t>
            </a:r>
            <a:r>
              <a:rPr lang="en-US" sz="1600" noProof="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"\n"</a:t>
            </a:r>
            <a:r>
              <a:rPr lang="en-US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C789F1-EE2E-727B-7D3D-6249E89ED81A}"/>
              </a:ext>
            </a:extLst>
          </p:cNvPr>
          <p:cNvSpPr/>
          <p:nvPr/>
        </p:nvSpPr>
        <p:spPr>
          <a:xfrm>
            <a:off x="6468532" y="1231642"/>
            <a:ext cx="4885268" cy="5008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Modus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"w"</a:t>
            </a:r>
            <a:r>
              <a:rPr lang="nl-NL" sz="1600" dirty="0"/>
              <a:t> </a:t>
            </a:r>
            <a:r>
              <a:rPr lang="nl-NL" sz="1600" u="sng" dirty="0"/>
              <a:t>overschrijft</a:t>
            </a:r>
            <a:r>
              <a:rPr lang="nl-NL" sz="1600" dirty="0"/>
              <a:t> het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Modus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nl-NL" sz="1600" dirty="0"/>
              <a:t> </a:t>
            </a:r>
            <a:r>
              <a:rPr lang="nl-NL" sz="1600" u="sng" dirty="0"/>
              <a:t>vult</a:t>
            </a:r>
            <a:r>
              <a:rPr lang="nl-NL" sz="1600" dirty="0"/>
              <a:t> het bestand </a:t>
            </a:r>
            <a:r>
              <a:rPr lang="nl-NL" sz="1600" u="sng" dirty="0"/>
              <a:t>aan</a:t>
            </a:r>
            <a:r>
              <a:rPr lang="nl-NL" sz="1600" dirty="0"/>
              <a:t>.</a:t>
            </a:r>
          </a:p>
          <a:p>
            <a:pPr>
              <a:spcBef>
                <a:spcPts val="1000"/>
              </a:spcBef>
            </a:pPr>
            <a:endParaRPr lang="nl-NL" sz="1600" dirty="0"/>
          </a:p>
          <a:p>
            <a:pPr>
              <a:spcBef>
                <a:spcPts val="1000"/>
              </a:spcBef>
            </a:pPr>
            <a:r>
              <a:rPr lang="nl-NL" sz="1600" dirty="0"/>
              <a:t>Met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600" dirty="0"/>
              <a:t> schrijf je tekst naar een bestand.</a:t>
            </a:r>
          </a:p>
          <a:p>
            <a:pPr>
              <a:spcBef>
                <a:spcPts val="1000"/>
              </a:spcBef>
            </a:pPr>
            <a:r>
              <a:rPr lang="nl-NL" sz="1600" dirty="0"/>
              <a:t>Let op: Voeg regeleinde toe met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"\n"</a:t>
            </a:r>
            <a:r>
              <a:rPr lang="nl-N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4101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514322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Schrijf een script dat namen anonimiseert.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Opzet: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exercises/2_process_csv.py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Schrijf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read_csv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2000" noProof="0" dirty="0"/>
              <a:t> om de CSV data in te lezen.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Schrijf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anonymize_name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2000" noProof="0" dirty="0"/>
              <a:t> om namen te maskeren.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Data staan in: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0_data/persons/personal_data.csv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E940DA-5AAD-D002-6F9A-E2FF312E3A6C}"/>
              </a:ext>
            </a:extLst>
          </p:cNvPr>
          <p:cNvSpPr txBox="1">
            <a:spLocks/>
          </p:cNvSpPr>
          <p:nvPr/>
        </p:nvSpPr>
        <p:spPr>
          <a:xfrm>
            <a:off x="8248260" y="1456267"/>
            <a:ext cx="282095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CSV input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name,gender,age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Henk de Boer,man,44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Ingrid Jansen,vrouw,37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Jaap Henriks,man,56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6A5445-2474-58A8-F1AE-18BB279DAEAF}"/>
              </a:ext>
            </a:extLst>
          </p:cNvPr>
          <p:cNvCxnSpPr/>
          <p:nvPr/>
        </p:nvCxnSpPr>
        <p:spPr>
          <a:xfrm>
            <a:off x="777240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5878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Namespaces en scopes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37101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namespace?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namespace koppelt namen aan objecten. 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Namen in het script: </a:t>
            </a:r>
          </a:p>
          <a:p>
            <a:pPr marL="0" indent="0">
              <a:buNone/>
            </a:pPr>
            <a:r>
              <a:rPr lang="nl-NL" sz="2000" b="1" noProof="0" dirty="0" err="1"/>
              <a:t>global</a:t>
            </a:r>
            <a:r>
              <a:rPr lang="nl-NL" sz="2000" b="1" noProof="0" dirty="0"/>
              <a:t> namespace</a:t>
            </a:r>
            <a:r>
              <a:rPr lang="nl-NL" sz="2000" noProof="0" dirty="0"/>
              <a:t> 	       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r>
              <a:rPr lang="nl-NL" sz="2000" noProof="0" dirty="0"/>
              <a:t> +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Namen in de test functie:</a:t>
            </a:r>
          </a:p>
          <a:p>
            <a:pPr marL="0" indent="0">
              <a:buNone/>
            </a:pPr>
            <a:r>
              <a:rPr lang="nl-NL" sz="2000" b="1" noProof="0" dirty="0" err="1"/>
              <a:t>local</a:t>
            </a:r>
            <a:r>
              <a:rPr lang="nl-NL" sz="2000" b="1" noProof="0" dirty="0"/>
              <a:t> namespace </a:t>
            </a:r>
            <a:r>
              <a:rPr lang="nl-NL" sz="2000" noProof="0" dirty="0"/>
              <a:t>		                     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lcl</a:t>
            </a:r>
            <a:endParaRPr lang="nl-NL" sz="2000" noProof="0" dirty="0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100BF9C8-CA1E-83DA-4E42-CF01D71DDD2F}"/>
              </a:ext>
            </a:extLst>
          </p:cNvPr>
          <p:cNvSpPr/>
          <p:nvPr/>
        </p:nvSpPr>
        <p:spPr>
          <a:xfrm>
            <a:off x="6604000" y="1900668"/>
            <a:ext cx="1912085" cy="1016000"/>
          </a:xfrm>
          <a:prstGeom prst="wedgeRectCallout">
            <a:avLst>
              <a:gd name="adj1" fmla="val -31319"/>
              <a:gd name="adj2" fmla="val 94400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600" dirty="0"/>
              <a:t>Symbolische</a:t>
            </a:r>
          </a:p>
          <a:p>
            <a:pPr algn="ctr"/>
            <a:r>
              <a:rPr lang="nl-NL" sz="1600" dirty="0"/>
              <a:t>naam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01E88066-7799-0DC8-45AF-3BCF0102F6E8}"/>
              </a:ext>
            </a:extLst>
          </p:cNvPr>
          <p:cNvSpPr/>
          <p:nvPr/>
        </p:nvSpPr>
        <p:spPr>
          <a:xfrm>
            <a:off x="9214884" y="1900668"/>
            <a:ext cx="1912088" cy="1016000"/>
          </a:xfrm>
          <a:prstGeom prst="wedgeRectCallout">
            <a:avLst>
              <a:gd name="adj1" fmla="val -41157"/>
              <a:gd name="adj2" fmla="val 97978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600" dirty="0"/>
              <a:t>String object</a:t>
            </a:r>
          </a:p>
          <a:p>
            <a:pPr algn="ctr"/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E973AA-C236-D32F-0231-6F924FAC0135}"/>
              </a:ext>
            </a:extLst>
          </p:cNvPr>
          <p:cNvSpPr txBox="1">
            <a:spLocks/>
          </p:cNvSpPr>
          <p:nvPr/>
        </p:nvSpPr>
        <p:spPr>
          <a:xfrm>
            <a:off x="6604000" y="3301705"/>
            <a:ext cx="4749800" cy="1897063"/>
          </a:xfrm>
          <a:prstGeom prst="rect">
            <a:avLst/>
          </a:prstGeom>
          <a:ln>
            <a:noFill/>
          </a:ln>
        </p:spPr>
        <p:txBody>
          <a:bodyPr vert="horz" lIns="144000" tIns="144000" rIns="144000" bIns="14400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test():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lcl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20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var"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2272B9-3844-2B0E-9ACC-7594392EB973}"/>
              </a:ext>
            </a:extLst>
          </p:cNvPr>
          <p:cNvCxnSpPr/>
          <p:nvPr/>
        </p:nvCxnSpPr>
        <p:spPr>
          <a:xfrm>
            <a:off x="6096000" y="1456267"/>
            <a:ext cx="0" cy="471126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6567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scope?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Rechts zie je 3 </a:t>
            </a:r>
            <a:r>
              <a:rPr lang="nl-NL" sz="2000" noProof="0" dirty="0" err="1"/>
              <a:t>namespaces</a:t>
            </a:r>
            <a:r>
              <a:rPr lang="nl-NL" sz="2000" noProof="0" dirty="0"/>
              <a:t>: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2000" noProof="0" dirty="0"/>
              <a:t>,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2000" noProof="0" dirty="0"/>
              <a:t> en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Inspringen creëert een nieuwe </a:t>
            </a:r>
            <a:r>
              <a:rPr lang="nl-NL" sz="2000" noProof="0" dirty="0" err="1"/>
              <a:t>namespace</a:t>
            </a:r>
            <a:r>
              <a:rPr lang="nl-NL" sz="2000" noProof="0" dirty="0"/>
              <a:t> met</a:t>
            </a:r>
            <a:r>
              <a:rPr lang="nl-NL" sz="2000" dirty="0"/>
              <a:t> bijbehorende </a:t>
            </a:r>
            <a:r>
              <a:rPr lang="nl-NL" sz="2000" u="sng" dirty="0"/>
              <a:t>scope</a:t>
            </a:r>
            <a:r>
              <a:rPr lang="nl-NL" sz="2000" dirty="0"/>
              <a:t>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Als een naam niet gevonden wordt, zoekt Python hogerop in de hiërarchie.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De hiërarchische volgorde is:</a:t>
            </a:r>
          </a:p>
          <a:p>
            <a:pPr marL="0" indent="0">
              <a:buNone/>
            </a:pPr>
            <a:r>
              <a:rPr lang="en-US" sz="2000" dirty="0"/>
              <a:t>local</a:t>
            </a:r>
            <a:r>
              <a:rPr lang="en-US" sz="2000" noProof="0" dirty="0"/>
              <a:t>  &gt;  enveloping &gt; … &gt;  global  &gt;  built-ins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E973AA-C236-D32F-0231-6F924FAC0135}"/>
              </a:ext>
            </a:extLst>
          </p:cNvPr>
          <p:cNvSpPr txBox="1">
            <a:spLocks/>
          </p:cNvSpPr>
          <p:nvPr/>
        </p:nvSpPr>
        <p:spPr>
          <a:xfrm>
            <a:off x="6604001" y="724430"/>
            <a:ext cx="3651251" cy="262121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144000" tIns="144000" rIns="144000" bIns="1440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x = 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nl-NL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x"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</a:t>
            </a:r>
            <a:r>
              <a:rPr lang="nl-NL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print(x)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3D0D3FF-C593-5AED-E30D-30050CC6795B}"/>
              </a:ext>
            </a:extLst>
          </p:cNvPr>
          <p:cNvCxnSpPr>
            <a:cxnSpLocks/>
          </p:cNvCxnSpPr>
          <p:nvPr/>
        </p:nvCxnSpPr>
        <p:spPr>
          <a:xfrm>
            <a:off x="6096000" y="724430"/>
            <a:ext cx="0" cy="544310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Callout: Down Arrow 12">
            <a:extLst>
              <a:ext uri="{FF2B5EF4-FFF2-40B4-BE49-F238E27FC236}">
                <a16:creationId xmlns:a16="http://schemas.microsoft.com/office/drawing/2014/main" id="{7C7BCE59-6BBB-9D3E-70E6-78B6BBF9A17C}"/>
              </a:ext>
            </a:extLst>
          </p:cNvPr>
          <p:cNvSpPr/>
          <p:nvPr/>
        </p:nvSpPr>
        <p:spPr>
          <a:xfrm>
            <a:off x="6604001" y="3807584"/>
            <a:ext cx="4749799" cy="640826"/>
          </a:xfrm>
          <a:prstGeom prst="downArrow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Local namespace</a:t>
            </a:r>
          </a:p>
        </p:txBody>
      </p:sp>
      <p:sp>
        <p:nvSpPr>
          <p:cNvPr id="15" name="Callout: Down Arrow 14">
            <a:extLst>
              <a:ext uri="{FF2B5EF4-FFF2-40B4-BE49-F238E27FC236}">
                <a16:creationId xmlns:a16="http://schemas.microsoft.com/office/drawing/2014/main" id="{760D84F5-1713-A1FC-962A-B35C00D9B839}"/>
              </a:ext>
            </a:extLst>
          </p:cNvPr>
          <p:cNvSpPr/>
          <p:nvPr/>
        </p:nvSpPr>
        <p:spPr>
          <a:xfrm>
            <a:off x="6604001" y="4468639"/>
            <a:ext cx="4749799" cy="640826"/>
          </a:xfrm>
          <a:prstGeom prst="downArrowCallou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Enveloping namespace(s)</a:t>
            </a:r>
          </a:p>
        </p:txBody>
      </p:sp>
      <p:sp>
        <p:nvSpPr>
          <p:cNvPr id="16" name="Callout: Down Arrow 15">
            <a:extLst>
              <a:ext uri="{FF2B5EF4-FFF2-40B4-BE49-F238E27FC236}">
                <a16:creationId xmlns:a16="http://schemas.microsoft.com/office/drawing/2014/main" id="{A4DCABE0-C9C0-399E-B589-5ADF8053F9F7}"/>
              </a:ext>
            </a:extLst>
          </p:cNvPr>
          <p:cNvSpPr/>
          <p:nvPr/>
        </p:nvSpPr>
        <p:spPr>
          <a:xfrm>
            <a:off x="6604001" y="5129694"/>
            <a:ext cx="4749799" cy="640826"/>
          </a:xfrm>
          <a:prstGeom prst="downArrowCallou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Global namespace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F4610C-A276-0020-F296-F794024E7EA9}"/>
              </a:ext>
            </a:extLst>
          </p:cNvPr>
          <p:cNvSpPr/>
          <p:nvPr/>
        </p:nvSpPr>
        <p:spPr>
          <a:xfrm>
            <a:off x="6604003" y="5773602"/>
            <a:ext cx="4749797" cy="4033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Built-ins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7D6C6-4E34-70B6-9701-600503155C7D}"/>
              </a:ext>
            </a:extLst>
          </p:cNvPr>
          <p:cNvSpPr/>
          <p:nvPr/>
        </p:nvSpPr>
        <p:spPr>
          <a:xfrm>
            <a:off x="10296528" y="724430"/>
            <a:ext cx="323849" cy="262121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C24233-5792-FF88-BCB9-9F704681BBB3}"/>
              </a:ext>
            </a:extLst>
          </p:cNvPr>
          <p:cNvSpPr/>
          <p:nvPr/>
        </p:nvSpPr>
        <p:spPr>
          <a:xfrm>
            <a:off x="10663239" y="1545677"/>
            <a:ext cx="323849" cy="17999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outer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E7FEA-69FC-722C-7D70-A8A2FA30F8D9}"/>
              </a:ext>
            </a:extLst>
          </p:cNvPr>
          <p:cNvSpPr/>
          <p:nvPr/>
        </p:nvSpPr>
        <p:spPr>
          <a:xfrm>
            <a:off x="11029951" y="2565400"/>
            <a:ext cx="323849" cy="780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r>
              <a:rPr lang="en-US" dirty="0">
                <a:solidFill>
                  <a:schemeClr val="tx1"/>
                </a:solidFill>
              </a:rPr>
              <a:t>inner</a:t>
            </a:r>
            <a:endParaRPr lang="en-N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8866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397501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Wat komt er in de globale </a:t>
            </a:r>
            <a:r>
              <a:rPr lang="nl-NL" sz="2000" noProof="0" dirty="0" err="1"/>
              <a:t>namespace</a:t>
            </a:r>
            <a:r>
              <a:rPr lang="nl-NL" sz="2000" noProof="0" dirty="0"/>
              <a:t>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noProof="0" dirty="0"/>
              <a:t>Waarom werkt de functie hiernaast niet?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Werkt deze code en wat wordt er geprint?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E940DA-5AAD-D002-6F9A-E2FF312E3A6C}"/>
              </a:ext>
            </a:extLst>
          </p:cNvPr>
          <p:cNvSpPr txBox="1">
            <a:spLocks/>
          </p:cNvSpPr>
          <p:nvPr/>
        </p:nvSpPr>
        <p:spPr>
          <a:xfrm>
            <a:off x="7061200" y="1456267"/>
            <a:ext cx="400801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 pandas import *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print(name):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print(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{name}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sum = sum([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print(sum)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6A5445-2474-58A8-F1AE-18BB279DAEAF}"/>
              </a:ext>
            </a:extLst>
          </p:cNvPr>
          <p:cNvCxnSpPr/>
          <p:nvPr/>
        </p:nvCxnSpPr>
        <p:spPr>
          <a:xfrm>
            <a:off x="6648450" y="1456267"/>
            <a:ext cx="0" cy="47206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1467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Mutable</a:t>
            </a:r>
            <a:r>
              <a:rPr lang="nl-NL" noProof="0" dirty="0"/>
              <a:t> of </a:t>
            </a:r>
            <a:r>
              <a:rPr lang="nl-NL" noProof="0" dirty="0" err="1"/>
              <a:t>immutable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08514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Kun je het wijzigen?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endParaRPr lang="nl-NL" sz="2000" b="1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Eigenschappen of waardes van </a:t>
            </a:r>
            <a:r>
              <a:rPr lang="nl-NL" sz="2000" noProof="0" dirty="0" err="1"/>
              <a:t>mutable</a:t>
            </a:r>
            <a:r>
              <a:rPr lang="nl-NL" sz="2000" noProof="0" dirty="0"/>
              <a:t> objecten kun je </a:t>
            </a:r>
            <a:r>
              <a:rPr lang="nl-NL" sz="2000" u="sng" noProof="0" dirty="0"/>
              <a:t>aanpassen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Een list is </a:t>
            </a:r>
            <a:r>
              <a:rPr lang="nl-NL" sz="2000" u="sng" noProof="0" dirty="0" err="1"/>
              <a:t>mutable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 </a:t>
            </a:r>
            <a:r>
              <a:rPr lang="nl-NL" sz="20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[1, 0, 3]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endParaRPr lang="nl-NL" sz="2000" b="1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Eigenschappen of waardes van </a:t>
            </a:r>
            <a:r>
              <a:rPr lang="nl-NL" sz="2000" dirty="0" err="1"/>
              <a:t>immutable</a:t>
            </a:r>
            <a:r>
              <a:rPr lang="nl-NL" sz="2000" dirty="0"/>
              <a:t> objecten kun je </a:t>
            </a:r>
            <a:r>
              <a:rPr lang="nl-NL" sz="2000" u="sng" dirty="0"/>
              <a:t>niet aanpassen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Een </a:t>
            </a:r>
            <a:r>
              <a:rPr lang="nl-NL" sz="2000" dirty="0" err="1"/>
              <a:t>tuple</a:t>
            </a:r>
            <a:r>
              <a:rPr lang="nl-NL" sz="2000" dirty="0"/>
              <a:t> is </a:t>
            </a:r>
            <a:r>
              <a:rPr lang="nl-NL" sz="2000" u="sng" dirty="0" err="1"/>
              <a:t>immutable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tpl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tpl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</a:t>
            </a:r>
            <a:r>
              <a:rPr lang="nl-NL" sz="20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0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endParaRPr lang="nl-NL" sz="20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98411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</a:t>
            </a:r>
            <a:r>
              <a:rPr lang="nl-NL" sz="3600" noProof="0" dirty="0" err="1"/>
              <a:t>mutable</a:t>
            </a:r>
            <a:r>
              <a:rPr lang="nl-NL" sz="3600" noProof="0" dirty="0"/>
              <a:t> en wat niet?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types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 err="1"/>
              <a:t>dict</a:t>
            </a: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list</a:t>
            </a:r>
          </a:p>
          <a:p>
            <a:pPr>
              <a:buFontTx/>
              <a:buChar char="-"/>
            </a:pPr>
            <a:r>
              <a:rPr lang="nl-NL" sz="2000" noProof="0" dirty="0"/>
              <a:t>set</a:t>
            </a:r>
          </a:p>
          <a:p>
            <a:pPr>
              <a:buFontTx/>
              <a:buChar char="-"/>
            </a:pPr>
            <a:r>
              <a:rPr lang="nl-NL" sz="2000" noProof="0" dirty="0"/>
              <a:t>object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types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bool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float</a:t>
            </a: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/>
              <a:t>int</a:t>
            </a:r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str</a:t>
            </a:r>
            <a:endParaRPr lang="nl-NL" sz="20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2000" dirty="0" err="1">
                <a:cs typeface="Courier New" panose="02070309020205020404" pitchFamily="49" charset="0"/>
              </a:rPr>
              <a:t>tuple</a:t>
            </a:r>
            <a:endParaRPr lang="nl-NL" sz="2000" dirty="0"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320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nl-NL" sz="2000" dirty="0"/>
              <a:t>?</a:t>
            </a: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nl-NL" sz="2000" dirty="0"/>
              <a:t>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0192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type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dirty="0"/>
              <a:t>Dubbel check: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==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type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/>
              <a:t>Dubbel check: 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8396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Een simpel voorbeeld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Mutable</a:t>
            </a:r>
            <a:r>
              <a:rPr lang="nl-NL" sz="2000" b="1" noProof="0" dirty="0"/>
              <a:t> data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[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nl-NL" sz="2000" dirty="0"/>
              <a:t>Dubbel check: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5985937" y="1456267"/>
            <a:ext cx="51731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 err="1"/>
              <a:t>Immutable</a:t>
            </a:r>
            <a:r>
              <a:rPr lang="nl-NL" sz="2000" b="1" dirty="0"/>
              <a:t> data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Waarde van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y:	</a:t>
            </a:r>
            <a:r>
              <a:rPr lang="nl-NL" sz="2000" dirty="0">
                <a:cs typeface="Courier New" panose="02070309020205020404" pitchFamily="49" charset="0"/>
              </a:rPr>
              <a:t> </a:t>
            </a:r>
            <a:r>
              <a:rPr lang="nl-NL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None/>
            </a:pPr>
            <a:r>
              <a:rPr lang="nl-NL" sz="2000" dirty="0"/>
              <a:t>Dubbel check:       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(x) !=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24413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CAF27-696D-CA31-7794-87BE201D5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A5D80-F163-A98D-4418-1DC4674C0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maakt het uit?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7CAE4-648A-FF87-5255-EAD47EC61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579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(role, allowed,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=[]):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has_access.</a:t>
            </a:r>
            <a:r>
              <a:rPr lang="en-US" sz="1600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(allowed)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role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pPr marL="0" indent="0"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 1: Seems OK...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"DE"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True</a:t>
            </a:r>
          </a:p>
          <a:p>
            <a:pPr marL="0" indent="0">
              <a:buNone/>
            </a:pP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 2: What?!?</a:t>
            </a: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check_access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"INT"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"DM"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True?!?</a:t>
            </a:r>
            <a:endParaRPr lang="nl-NL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B52448-3AB8-5CC9-CC6A-CCBC35171178}"/>
              </a:ext>
            </a:extLst>
          </p:cNvPr>
          <p:cNvSpPr txBox="1">
            <a:spLocks/>
          </p:cNvSpPr>
          <p:nvPr/>
        </p:nvSpPr>
        <p:spPr>
          <a:xfrm>
            <a:off x="7258049" y="1456267"/>
            <a:ext cx="390101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Bedoeling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was voor rollen die sowieso toegang hebben (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ADM</a:t>
            </a:r>
            <a:r>
              <a:rPr lang="nl-NL" sz="2000" dirty="0">
                <a:cs typeface="Courier New" panose="02070309020205020404" pitchFamily="49" charset="0"/>
              </a:rPr>
              <a:t>)…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lijst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begint hier leeg en het resultaat klopt…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lijst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has_access</a:t>
            </a:r>
            <a:r>
              <a:rPr lang="nl-NL" sz="2000" dirty="0">
                <a:cs typeface="Courier New" panose="02070309020205020404" pitchFamily="49" charset="0"/>
              </a:rPr>
              <a:t> begint hier als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"DA"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"DE"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>
                <a:cs typeface="Courier New" panose="02070309020205020404" pitchFamily="49" charset="0"/>
              </a:rPr>
              <a:t>…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E6EA95B-5AD5-47FC-5610-7FB283415EB1}"/>
              </a:ext>
            </a:extLst>
          </p:cNvPr>
          <p:cNvCxnSpPr>
            <a:cxnSpLocks/>
          </p:cNvCxnSpPr>
          <p:nvPr/>
        </p:nvCxnSpPr>
        <p:spPr>
          <a:xfrm>
            <a:off x="704638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30923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3EBB1-79E6-3DB9-0DB0-0222C1754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25C0F-4000-CA1C-333E-E27F5B95F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maakt het uit?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CAC1B-42F3-794B-0A84-85DD908DD3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579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fill_value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=0):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"x"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].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()]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fill_value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({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"x"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[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>
                <a:solidFill>
                  <a:schemeClr val="accent5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]})</a:t>
            </a:r>
            <a:endParaRPr lang="en-US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Fill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missings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df_filled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fillna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But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 now also changed...</a:t>
            </a:r>
            <a:endParaRPr lang="nl-NL" sz="16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540DC4F-8429-4E94-5448-C3809F1D762E}"/>
              </a:ext>
            </a:extLst>
          </p:cNvPr>
          <p:cNvSpPr txBox="1">
            <a:spLocks/>
          </p:cNvSpPr>
          <p:nvPr/>
        </p:nvSpPr>
        <p:spPr>
          <a:xfrm>
            <a:off x="7258049" y="1456267"/>
            <a:ext cx="390101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functie selecteert ontbrekende waardes en vult deze.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De selectie methode past echter 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nl-NL" sz="2000" dirty="0">
                <a:cs typeface="Courier New" panose="02070309020205020404" pitchFamily="49" charset="0"/>
              </a:rPr>
              <a:t> aan (in </a:t>
            </a:r>
            <a:r>
              <a:rPr lang="nl-NL" sz="2000" dirty="0" err="1">
                <a:cs typeface="Courier New" panose="02070309020205020404" pitchFamily="49" charset="0"/>
              </a:rPr>
              <a:t>place</a:t>
            </a:r>
            <a:r>
              <a:rPr lang="nl-NL" sz="200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Zowel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>
                <a:cs typeface="Courier New" panose="02070309020205020404" pitchFamily="49" charset="0"/>
              </a:rPr>
              <a:t>als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df_filled</a:t>
            </a:r>
            <a:r>
              <a:rPr lang="nl-NL" sz="2000" dirty="0">
                <a:cs typeface="Courier New" panose="02070309020205020404" pitchFamily="49" charset="0"/>
              </a:rPr>
              <a:t> hebben dus geen ontbrekende waardes meer!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2589E82-A0B8-6032-A1CA-9CB7F86F7686}"/>
              </a:ext>
            </a:extLst>
          </p:cNvPr>
          <p:cNvCxnSpPr>
            <a:cxnSpLocks/>
          </p:cNvCxnSpPr>
          <p:nvPr/>
        </p:nvCxnSpPr>
        <p:spPr>
          <a:xfrm>
            <a:off x="704638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1893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Classes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826032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classes?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Classes bundelen: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Attributen:	Waardes</a:t>
            </a: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Methodes:	Logica / gedrag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Methodes kunnen bij eigen attributen en methodes via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Elke methode heeft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dirty="0"/>
              <a:t> als argument.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Attributes</a:t>
            </a: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Methods</a:t>
            </a:r>
            <a:endParaRPr lang="nl-NL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full_name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4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.name} {</a:t>
            </a:r>
            <a:r>
              <a:rPr lang="nl-NL" sz="14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.lastname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greeting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NL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"Hello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nl-NL" sz="14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.name}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0085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Class versus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Class (type)</a:t>
            </a:r>
          </a:p>
          <a:p>
            <a:pPr marL="0" indent="0">
              <a:buNone/>
            </a:pPr>
            <a:r>
              <a:rPr lang="nl-NL" sz="2000" noProof="0" dirty="0"/>
              <a:t>Blauwdruk, definieert </a:t>
            </a:r>
            <a:r>
              <a:rPr lang="nl-NL" sz="2000" dirty="0"/>
              <a:t>eigenschappen en methodes.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dirty="0"/>
              <a:t>Object (</a:t>
            </a:r>
            <a:r>
              <a:rPr lang="nl-NL" sz="2000" b="1" dirty="0" err="1"/>
              <a:t>instance</a:t>
            </a:r>
            <a:r>
              <a:rPr lang="nl-NL" sz="2000" b="1" dirty="0"/>
              <a:t>)</a:t>
            </a:r>
          </a:p>
          <a:p>
            <a:pPr marL="0" indent="0">
              <a:buNone/>
            </a:pPr>
            <a:r>
              <a:rPr lang="nl-NL" sz="2000" dirty="0"/>
              <a:t>Afdruk van de blauwdruk, eigen unieke kopie. Initialiseren; class aanroepen.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Unieke objecten, maar…</a:t>
            </a:r>
          </a:p>
          <a:p>
            <a:pPr marL="0" indent="0">
              <a:buNone/>
            </a:pPr>
            <a:r>
              <a:rPr lang="nl-NL" sz="2000" noProof="0" dirty="0"/>
              <a:t>Ze delen dezelfde attributen.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Define the class.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Person: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 =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an instance.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And another...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person2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unique objects.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id(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id(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person2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Sharing the same attribute values.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person1.name == person2.name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11860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Dunder</a:t>
            </a:r>
            <a:r>
              <a:rPr lang="nl-NL" sz="3600" noProof="0" dirty="0"/>
              <a:t> </a:t>
            </a:r>
            <a:r>
              <a:rPr lang="nl-NL" sz="3600" noProof="0" dirty="0" err="1"/>
              <a:t>methods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Double </a:t>
            </a:r>
            <a:r>
              <a:rPr lang="nl-NL" sz="2000" b="1" noProof="0" dirty="0" err="1"/>
              <a:t>underscore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methods</a:t>
            </a:r>
            <a:endParaRPr lang="nl-NL" sz="2000" b="1" dirty="0"/>
          </a:p>
          <a:p>
            <a:pPr marL="0" indent="0">
              <a:buNone/>
            </a:pPr>
            <a:r>
              <a:rPr lang="nl-NL" sz="2000" dirty="0"/>
              <a:t>Methodes met </a:t>
            </a:r>
            <a:r>
              <a:rPr lang="nl-NL" sz="2000" noProof="0" dirty="0"/>
              <a:t>een speciale functie.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NL" sz="2000" b="1" noProof="0" dirty="0"/>
          </a:p>
          <a:p>
            <a:pPr marL="0" indent="0">
              <a:buNone/>
            </a:pPr>
            <a:r>
              <a:rPr lang="nl-NL" sz="2000" noProof="0" dirty="0"/>
              <a:t>Aangeroepen bij initialiseren object.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NL" sz="2000" b="1" noProof="0" dirty="0"/>
          </a:p>
          <a:p>
            <a:pPr marL="0" indent="0">
              <a:buNone/>
            </a:pPr>
            <a:r>
              <a:rPr lang="nl-NL" sz="2000" dirty="0"/>
              <a:t>Aangeroepen bij conversie naar string. Bijvoorbeeld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print(&lt;object&gt;)</a:t>
            </a:r>
            <a:r>
              <a:rPr lang="nl-NL" sz="2000" dirty="0"/>
              <a:t>.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(self, name,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"""Store values in the object."""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self.name = name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self.lastname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__str__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"""Return the full name."""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self.name}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self.lastname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Initializing calls __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john_doe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Person(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"John"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"Doe"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Printing calls __str__.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john_doe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9528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Dunder</a:t>
            </a:r>
            <a:r>
              <a:rPr lang="nl-NL" sz="3600" noProof="0" dirty="0"/>
              <a:t> </a:t>
            </a:r>
            <a:r>
              <a:rPr lang="nl-NL" sz="3600" noProof="0" dirty="0" err="1"/>
              <a:t>methods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 err="1"/>
              <a:t>Iterable</a:t>
            </a:r>
            <a:r>
              <a:rPr lang="nl-NL" sz="2000" dirty="0"/>
              <a:t>: een object waar je overheen kunt loop-en.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NL" sz="2000" b="1" noProof="0" dirty="0"/>
          </a:p>
          <a:p>
            <a:pPr marL="0" indent="0">
              <a:buNone/>
            </a:pPr>
            <a:r>
              <a:rPr lang="nl-NL" sz="2000" noProof="0" dirty="0"/>
              <a:t>Aangeroepen als itereren begint, geeft object zelf terug.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__next__</a:t>
            </a:r>
            <a:endParaRPr lang="nl-NL" sz="2000" b="1" noProof="0" dirty="0"/>
          </a:p>
          <a:p>
            <a:pPr marL="0" indent="0">
              <a:buNone/>
            </a:pPr>
            <a:r>
              <a:rPr lang="nl-NL" sz="2000" dirty="0"/>
              <a:t>Geeft het volgende item terug of </a:t>
            </a:r>
            <a:r>
              <a:rPr lang="nl-NL" sz="2000" dirty="0" err="1"/>
              <a:t>StopIteration</a:t>
            </a:r>
            <a:r>
              <a:rPr lang="nl-NL" sz="2000" dirty="0"/>
              <a:t> als de items op zijn.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RandomLetters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(self, n):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"""Draw random letters."""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self.letters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random.sample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string.ascii_uppercase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self.n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 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__next__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"""Return next letter."""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if not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self.letters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raise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StopIteration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self.letters.pop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Loop through random letters.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Calls __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 =&gt; __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iter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 =&gt; __next__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for letter in 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RandomLetters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(10):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print(letter)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7541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Meer </a:t>
            </a:r>
            <a:r>
              <a:rPr lang="nl-NL" sz="3600" dirty="0" err="1"/>
              <a:t>dunder</a:t>
            </a:r>
            <a:r>
              <a:rPr lang="nl-NL" sz="3600" dirty="0"/>
              <a:t> </a:t>
            </a:r>
            <a:r>
              <a:rPr lang="nl-NL" sz="3600" dirty="0" err="1"/>
              <a:t>methods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pPr marL="0" indent="0">
              <a:buNone/>
            </a:pPr>
            <a:r>
              <a:rPr lang="nl-NL" sz="2000" dirty="0">
                <a:cs typeface="Courier New" panose="02070309020205020404" pitchFamily="49" charset="0"/>
              </a:rPr>
              <a:t>Aangeroepen door 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nl-NL" sz="2000" dirty="0">
                <a:cs typeface="Courier New" panose="02070309020205020404" pitchFamily="49" charset="0"/>
              </a:rPr>
              <a:t> operator.</a:t>
            </a:r>
          </a:p>
          <a:p>
            <a:pPr marL="0" indent="0">
              <a:buNone/>
            </a:pPr>
            <a:endParaRPr lang="nl-NL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Data model met alle </a:t>
            </a:r>
            <a:r>
              <a:rPr lang="nl-NL" sz="2000" dirty="0" err="1"/>
              <a:t>dunder</a:t>
            </a:r>
            <a:r>
              <a:rPr lang="nl-NL" sz="2000" dirty="0"/>
              <a:t> </a:t>
            </a:r>
            <a:r>
              <a:rPr lang="nl-NL" sz="2000" dirty="0" err="1"/>
              <a:t>methods</a:t>
            </a:r>
            <a:r>
              <a:rPr lang="nl-NL" sz="2000" dirty="0"/>
              <a:t>:</a:t>
            </a:r>
            <a:endParaRPr lang="nl-NL" sz="2000" noProof="0" dirty="0"/>
          </a:p>
          <a:p>
            <a:pPr marL="0" indent="0">
              <a:buNone/>
            </a:pPr>
            <a:r>
              <a:rPr lang="nl-NL" sz="2000" dirty="0">
                <a:hlinkClick r:id="rId2"/>
              </a:rPr>
              <a:t>https://docs.python.org/3/reference/datamodel.html#special-method-names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6000" y="1456267"/>
            <a:ext cx="5327651" cy="472069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Vector2D: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def __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dx,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dx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def __str__(self):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f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"(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3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30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3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__add__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(self, other):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Vector2D(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other.dx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self.dy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other.dy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b="1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Construct two vectors.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v1 =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Vector2D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(4, 5)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v2 = </a:t>
            </a:r>
            <a:r>
              <a:rPr lang="en-US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Vector2D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(2, 4)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Add them together; prints (6, 9).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print(v1 + v2)</a:t>
            </a:r>
            <a:endParaRPr lang="en-US" sz="13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78756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Privé attributen en methodes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 err="1"/>
              <a:t>Priv</a:t>
            </a:r>
            <a:r>
              <a:rPr lang="nl-NL" sz="1800" b="1" dirty="0"/>
              <a:t>é attribuut</a:t>
            </a:r>
            <a:endParaRPr lang="nl-NL" sz="1800" b="1" noProof="0" dirty="0"/>
          </a:p>
          <a:p>
            <a:pPr>
              <a:buFontTx/>
              <a:buChar char="-"/>
            </a:pPr>
            <a:r>
              <a:rPr lang="nl-NL" sz="1800" dirty="0"/>
              <a:t>Beginnen met een enkele </a:t>
            </a:r>
            <a:r>
              <a:rPr lang="nl-NL" sz="1800" dirty="0" err="1"/>
              <a:t>underscore</a:t>
            </a:r>
            <a:r>
              <a:rPr lang="nl-NL" sz="1800" dirty="0"/>
              <a:t>.</a:t>
            </a:r>
          </a:p>
          <a:p>
            <a:pPr>
              <a:buFontTx/>
              <a:buChar char="-"/>
            </a:pPr>
            <a:r>
              <a:rPr lang="nl-NL" sz="1800" dirty="0"/>
              <a:t>Worden intern gebruikt door de class.</a:t>
            </a:r>
          </a:p>
          <a:p>
            <a:pPr>
              <a:buFontTx/>
              <a:buChar char="-"/>
            </a:pPr>
            <a:r>
              <a:rPr lang="nl-NL" sz="1800" dirty="0"/>
              <a:t>Conventie: niet extern aanroepen, want kunnen wijzigen.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b="1" dirty="0"/>
              <a:t>Afgeschermd attribuut</a:t>
            </a:r>
          </a:p>
          <a:p>
            <a:pPr>
              <a:buFontTx/>
              <a:buChar char="-"/>
            </a:pPr>
            <a:r>
              <a:rPr lang="nl-NL" sz="1800" dirty="0"/>
              <a:t>Beginnen met dubbele </a:t>
            </a:r>
            <a:r>
              <a:rPr lang="nl-NL" sz="1800" dirty="0" err="1"/>
              <a:t>underscore</a:t>
            </a:r>
            <a:r>
              <a:rPr lang="nl-NL" sz="1800" dirty="0"/>
              <a:t>.</a:t>
            </a:r>
          </a:p>
          <a:p>
            <a:pPr>
              <a:buFontTx/>
              <a:buChar char="-"/>
            </a:pPr>
            <a:r>
              <a:rPr lang="nl-NL" sz="1800" dirty="0"/>
              <a:t>Niet (direct) extern aan te roepen.</a:t>
            </a:r>
          </a:p>
          <a:p>
            <a:pPr>
              <a:buFontTx/>
              <a:buChar char="-"/>
            </a:pP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_private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"I'm private!"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en-US" sz="12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"I'm restricted!"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def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indirect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Calling methods.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x = Example()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x._private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prints "I'm private!"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x.__restricted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2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AttributeError</a:t>
            </a:r>
            <a:endParaRPr lang="en-US" sz="12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x.indirect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prints "I'm restricted!"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9813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Static</a:t>
            </a:r>
            <a:r>
              <a:rPr lang="nl-NL" sz="3600" noProof="0" dirty="0"/>
              <a:t> en class methodes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@staticmethod</a:t>
            </a:r>
            <a:r>
              <a:rPr lang="nl-NL" sz="2000" noProof="0" dirty="0"/>
              <a:t> </a:t>
            </a:r>
          </a:p>
          <a:p>
            <a:pPr marL="0" indent="0">
              <a:buNone/>
            </a:pPr>
            <a:r>
              <a:rPr lang="nl-NL" sz="2000" noProof="0" dirty="0"/>
              <a:t>Methode</a:t>
            </a:r>
            <a:r>
              <a:rPr lang="nl-NL" sz="2000" dirty="0"/>
              <a:t> waarin toegang tot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nl-NL" sz="2000" dirty="0"/>
              <a:t> niet nodig is.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r>
              <a:rPr lang="nl-NL" sz="2000" noProof="0" dirty="0"/>
              <a:t> </a:t>
            </a:r>
          </a:p>
          <a:p>
            <a:pPr marL="0" indent="0">
              <a:buNone/>
            </a:pPr>
            <a:r>
              <a:rPr lang="nl-NL" sz="2000" noProof="0" dirty="0"/>
              <a:t>Methodes die op de class werken. Eerste argument verwijst naar de class zelf.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5626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Person: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@staticmethod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is_valid_name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(name):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(name) &gt; </a:t>
            </a:r>
            <a:r>
              <a:rPr lang="nl-NL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name,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person_str.split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(name,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person </a:t>
            </a:r>
            <a:r>
              <a:rPr lang="nl-NL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CSV string.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john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Person.from_str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John,Doe</a:t>
            </a:r>
            <a:r>
              <a:rPr lang="nl-NL" sz="14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061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IV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Open Notebook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exercises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/4_fuzzy_dict.ipynb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nl-NL" sz="2000" dirty="0"/>
              <a:t> </a:t>
            </a:r>
            <a:r>
              <a:rPr lang="nl-NL" sz="2000" dirty="0" err="1"/>
              <a:t>dict</a:t>
            </a:r>
            <a:r>
              <a:rPr lang="nl-NL" sz="2000" dirty="0"/>
              <a:t> dat niet hoofdlettergevoelig is:</a:t>
            </a:r>
          </a:p>
          <a:p>
            <a:pPr lvl="1"/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"NAAM"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/>
              <a:t> is gelijk aan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"naam"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  <a:endParaRPr lang="nl-NL" sz="2000" dirty="0"/>
          </a:p>
          <a:p>
            <a:pPr lvl="1"/>
            <a:r>
              <a:rPr lang="nl-NL" sz="2000" dirty="0">
                <a:cs typeface="Courier New" panose="02070309020205020404" pitchFamily="49" charset="0"/>
              </a:rPr>
              <a:t>Zowel bij ophalen als wegschrijven van waardes.</a:t>
            </a: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Gebruik: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getitem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dirty="0"/>
              <a:t> om waardes op te halen.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setitem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2000" dirty="0"/>
              <a:t> om waardes op te slaan.</a:t>
            </a:r>
          </a:p>
          <a:p>
            <a:pPr marL="0" indent="0">
              <a:buNone/>
            </a:pPr>
            <a:endParaRPr lang="nl-NL" sz="2000" dirty="0"/>
          </a:p>
          <a:p>
            <a:pPr marL="457200" indent="-457200">
              <a:buAutoNum type="arabicPeriod" startAt="4"/>
            </a:pPr>
            <a:r>
              <a:rPr lang="nl-NL" sz="2000" dirty="0"/>
              <a:t>Bonus voor implementeren van methodes: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__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__,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items</a:t>
            </a:r>
          </a:p>
        </p:txBody>
      </p:sp>
    </p:spTree>
    <p:extLst>
      <p:ext uri="{BB962C8B-B14F-4D97-AF65-F5344CB8AC3E}">
        <p14:creationId xmlns:p14="http://schemas.microsoft.com/office/powerpoint/2010/main" val="42876889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</p:txBody>
      </p:sp>
    </p:spTree>
    <p:extLst>
      <p:ext uri="{BB962C8B-B14F-4D97-AF65-F5344CB8AC3E}">
        <p14:creationId xmlns:p14="http://schemas.microsoft.com/office/powerpoint/2010/main" val="30784798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3727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- separator</a:t>
            </a:r>
          </a:p>
          <a:p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kan eigenschappen toevoegen zoals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950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119533" y="724430"/>
            <a:ext cx="2368547" cy="21899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119532" y="3696789"/>
            <a:ext cx="2368547" cy="248017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0000" tIns="180000" rIns="180000" bIns="180000" rtlCol="0" anchor="t"/>
          <a:lstStyle/>
          <a:p>
            <a:pPr algn="ctr"/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nl-NL" sz="14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b="1" strike="sngStrike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b="1" strike="sngStrike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nl-NL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separator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nl-NL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D9BB673-766C-2B9E-E2A1-0A38CF168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9403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Overerving: eigenschappen overnemen van een andere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basis class</a:t>
            </a:r>
            <a:r>
              <a:rPr lang="nl-NL" sz="1800" noProof="0" dirty="0"/>
              <a:t> en bevat methodes om tekstbestanden te verwerken.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is een </a:t>
            </a:r>
            <a:r>
              <a:rPr lang="nl-NL" sz="1800" u="sng" noProof="0" dirty="0"/>
              <a:t>afgeleide class</a:t>
            </a:r>
            <a:r>
              <a:rPr lang="nl-NL" sz="1800" noProof="0" dirty="0"/>
              <a:t> en krijgt alle eigenschappen van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noProof="0" dirty="0"/>
              <a:t> kan eigenschappen toevoegen zoals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nl-NL" sz="1800" dirty="0"/>
              <a:t> kan eigenschappen overschrijven, zoals een eigen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nl-NL" sz="1800" dirty="0"/>
              <a:t> methode.</a:t>
            </a:r>
            <a:endParaRPr lang="nl-NL" sz="1800" noProof="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EF9B61-43E9-4DB5-22C9-921F1E7947F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9303806" y="2914403"/>
            <a:ext cx="1" cy="7823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824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/>
              <a:t>Class: </a:t>
            </a:r>
            <a:r>
              <a:rPr lang="nl-NL" sz="1800" dirty="0"/>
              <a:t> 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Attributen:	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Methodes:	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Class: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Basis: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/>
              <a:t>Hergebruikt: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0" indent="0">
              <a:buNone/>
            </a:pPr>
            <a:r>
              <a:rPr lang="nl-NL" sz="1800" noProof="0" dirty="0"/>
              <a:t>Nieuw:		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separator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nl-NL" sz="1800" noProof="0" dirty="0"/>
              <a:t>Overschreven: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7531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"""Class for reading text data."""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with open(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return [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 for line in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"""Class for reading CSV data."""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separator =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(self, record):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record.split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with open(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return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self._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for line in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csv_file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]</a:t>
            </a: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788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Toegang tot de basis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571999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r>
              <a:rPr lang="nl-NL" sz="1800" noProof="0" dirty="0"/>
              <a:t>Via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super()</a:t>
            </a:r>
            <a:r>
              <a:rPr lang="nl-NL" sz="1800" noProof="0" dirty="0"/>
              <a:t> krijg je toegang tot de basis class.</a:t>
            </a:r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dirty="0"/>
              <a:t>Hiermee kun functionaliteit hergebruiken die je overschrijft.</a:t>
            </a:r>
          </a:p>
          <a:p>
            <a:pPr marL="0" indent="0">
              <a:buNone/>
            </a:pPr>
            <a:endParaRPr lang="nl-NL" sz="1800" noProof="0" dirty="0"/>
          </a:p>
          <a:p>
            <a:pPr marL="0" indent="0">
              <a:buNone/>
            </a:pPr>
            <a:endParaRPr lang="nl-NL" sz="18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8EFE1E9-4D56-5081-678F-F94DE9C3DCC6}"/>
              </a:ext>
            </a:extLst>
          </p:cNvPr>
          <p:cNvSpPr txBox="1">
            <a:spLocks/>
          </p:cNvSpPr>
          <p:nvPr/>
        </p:nvSpPr>
        <p:spPr>
          <a:xfrm>
            <a:off x="6095999" y="1475317"/>
            <a:ext cx="5063067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"""Class for reading text data."""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with open(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self.path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"r"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return [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() for line in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txt_file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TextReader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"""Class for reading CSV data."""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__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__(self, path, separator):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super().__</a:t>
            </a:r>
            <a:r>
              <a:rPr lang="en-US" sz="11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__(path)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= separator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_</a:t>
            </a:r>
            <a:r>
              <a:rPr lang="en-US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(self, record):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record.split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self.separator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def read(self):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self._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split_record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for line in </a:t>
            </a:r>
            <a:r>
              <a:rPr lang="en-US" sz="11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super().read()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]</a:t>
            </a:r>
            <a:endParaRPr lang="en-US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162173-AD9E-1ED9-F92B-186066229DD6}"/>
              </a:ext>
            </a:extLst>
          </p:cNvPr>
          <p:cNvCxnSpPr>
            <a:cxnSpLocks/>
          </p:cNvCxnSpPr>
          <p:nvPr/>
        </p:nvCxnSpPr>
        <p:spPr>
          <a:xfrm>
            <a:off x="5655733" y="1456267"/>
            <a:ext cx="0" cy="48090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9345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Implementeer weer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FuzzyDict</a:t>
            </a:r>
            <a:r>
              <a:rPr lang="nl-NL" sz="2000" dirty="0"/>
              <a:t> class uit de vorige opdracht.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Gebruik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UserDict</a:t>
            </a:r>
            <a:r>
              <a:rPr lang="nl-NL" sz="2000" dirty="0"/>
              <a:t> uit standaard module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2000" dirty="0"/>
              <a:t> als basis.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nl-NL" sz="2000" dirty="0"/>
              <a:t>Hoeveel methodes moet je nu nog zelf (over-) schrijven?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Tip: Met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super()</a:t>
            </a:r>
            <a:r>
              <a:rPr lang="nl-NL" sz="2000" dirty="0"/>
              <a:t> kun je bij de eigenschappen van de basis class!</a:t>
            </a:r>
          </a:p>
        </p:txBody>
      </p:sp>
    </p:spTree>
    <p:extLst>
      <p:ext uri="{BB962C8B-B14F-4D97-AF65-F5344CB8AC3E}">
        <p14:creationId xmlns:p14="http://schemas.microsoft.com/office/powerpoint/2010/main" val="42132914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 van meerdere classes</a:t>
            </a: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B27AE4E2-70D6-7A0D-E69B-B672CD554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716467"/>
              </p:ext>
            </p:extLst>
          </p:nvPr>
        </p:nvGraphicFramePr>
        <p:xfrm>
          <a:off x="838200" y="2199429"/>
          <a:ext cx="4787901" cy="736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95967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1785459708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3617932867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C(B)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NL" b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z</a:t>
                      </a:r>
                      <a:endParaRPr lang="en-NL" b="1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1E6095E-7DAB-1E45-97B7-08734FD406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805855"/>
              </p:ext>
            </p:extLst>
          </p:nvPr>
        </p:nvGraphicFramePr>
        <p:xfrm>
          <a:off x="838199" y="3444665"/>
          <a:ext cx="3191924" cy="7366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595962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2">
                  <a:extLst>
                    <a:ext uri="{9D8B030D-6E8A-4147-A177-3AD203B41FA5}">
                      <a16:colId xmlns:a16="http://schemas.microsoft.com/office/drawing/2014/main" val="425155110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B(A)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x</a:t>
                      </a:r>
                      <a:endParaRPr lang="en-NL" b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graphicFrame>
        <p:nvGraphicFramePr>
          <p:cNvPr id="15" name="Table 13">
            <a:extLst>
              <a:ext uri="{FF2B5EF4-FFF2-40B4-BE49-F238E27FC236}">
                <a16:creationId xmlns:a16="http://schemas.microsoft.com/office/drawing/2014/main" id="{4F2A733B-E4CD-912B-B22F-EF2CFBBB1D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290865"/>
              </p:ext>
            </p:extLst>
          </p:nvPr>
        </p:nvGraphicFramePr>
        <p:xfrm>
          <a:off x="838200" y="4689901"/>
          <a:ext cx="3191934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967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1785459708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A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x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7AC5FE-664D-BC4D-2089-A98B1DA8332F}"/>
              </a:ext>
            </a:extLst>
          </p:cNvPr>
          <p:cNvCxnSpPr/>
          <p:nvPr/>
        </p:nvCxnSpPr>
        <p:spPr>
          <a:xfrm flipV="1">
            <a:off x="1636183" y="2936029"/>
            <a:ext cx="0" cy="5086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29C54E-8E31-8697-5A5D-3133381BC0DD}"/>
              </a:ext>
            </a:extLst>
          </p:cNvPr>
          <p:cNvSpPr txBox="1"/>
          <p:nvPr/>
        </p:nvSpPr>
        <p:spPr>
          <a:xfrm>
            <a:off x="838199" y="1407704"/>
            <a:ext cx="4787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Gestapelde</a:t>
            </a:r>
            <a:r>
              <a:rPr lang="en-US" dirty="0"/>
              <a:t> basis classes:</a:t>
            </a:r>
            <a:endParaRPr lang="en-NL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77064D2-0639-4331-F791-351BE7441628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8959849" y="2936029"/>
            <a:ext cx="0" cy="17538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Table 13">
            <a:extLst>
              <a:ext uri="{FF2B5EF4-FFF2-40B4-BE49-F238E27FC236}">
                <a16:creationId xmlns:a16="http://schemas.microsoft.com/office/drawing/2014/main" id="{65F8BC86-C019-6DFA-8B7D-D2524383A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376609"/>
              </p:ext>
            </p:extLst>
          </p:nvPr>
        </p:nvGraphicFramePr>
        <p:xfrm>
          <a:off x="6565899" y="2199429"/>
          <a:ext cx="4787901" cy="736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95967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1785459708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3617932867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C(B, A)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NL" b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z</a:t>
                      </a:r>
                      <a:endParaRPr lang="en-NL" b="1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F78B0BB4-C1B5-70FA-1D00-756DCF224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19683"/>
              </p:ext>
            </p:extLst>
          </p:nvPr>
        </p:nvGraphicFramePr>
        <p:xfrm>
          <a:off x="6565898" y="3444665"/>
          <a:ext cx="1595962" cy="7366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595962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B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x</a:t>
                      </a:r>
                      <a:endParaRPr lang="en-NL" b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graphicFrame>
        <p:nvGraphicFramePr>
          <p:cNvPr id="40" name="Table 13">
            <a:extLst>
              <a:ext uri="{FF2B5EF4-FFF2-40B4-BE49-F238E27FC236}">
                <a16:creationId xmlns:a16="http://schemas.microsoft.com/office/drawing/2014/main" id="{B3D6C019-4EB3-9634-3803-1CF3FF3B0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121039"/>
              </p:ext>
            </p:extLst>
          </p:nvPr>
        </p:nvGraphicFramePr>
        <p:xfrm>
          <a:off x="6565899" y="4689901"/>
          <a:ext cx="3191934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967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1785459708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A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x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FC27A-93C4-8674-F8BC-E8B8D394A8F4}"/>
              </a:ext>
            </a:extLst>
          </p:cNvPr>
          <p:cNvCxnSpPr/>
          <p:nvPr/>
        </p:nvCxnSpPr>
        <p:spPr>
          <a:xfrm flipV="1">
            <a:off x="7363882" y="2936029"/>
            <a:ext cx="0" cy="5086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60B0507-D999-C8F2-7321-B2A621FB3901}"/>
              </a:ext>
            </a:extLst>
          </p:cNvPr>
          <p:cNvSpPr txBox="1"/>
          <p:nvPr/>
        </p:nvSpPr>
        <p:spPr>
          <a:xfrm>
            <a:off x="6565898" y="1406521"/>
            <a:ext cx="4787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Meerdere</a:t>
            </a:r>
            <a:r>
              <a:rPr lang="en-US" dirty="0"/>
              <a:t> basis classes:</a:t>
            </a:r>
            <a:endParaRPr lang="en-NL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E25EED-092A-E1CB-7DBB-299AF75B9D41}"/>
              </a:ext>
            </a:extLst>
          </p:cNvPr>
          <p:cNvGrpSpPr/>
          <p:nvPr/>
        </p:nvGrpSpPr>
        <p:grpSpPr>
          <a:xfrm>
            <a:off x="1532464" y="4181265"/>
            <a:ext cx="207428" cy="508636"/>
            <a:chOff x="1532464" y="4181265"/>
            <a:chExt cx="207428" cy="508636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FD692D0-5F50-9D82-5201-ABC0A469DC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183" y="4181265"/>
              <a:ext cx="0" cy="50863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&quot;Not Allowed&quot; Symbol 44">
              <a:extLst>
                <a:ext uri="{FF2B5EF4-FFF2-40B4-BE49-F238E27FC236}">
                  <a16:creationId xmlns:a16="http://schemas.microsoft.com/office/drawing/2014/main" id="{590B82F8-58DB-52DE-6F22-8243E36770A4}"/>
                </a:ext>
              </a:extLst>
            </p:cNvPr>
            <p:cNvSpPr/>
            <p:nvPr/>
          </p:nvSpPr>
          <p:spPr>
            <a:xfrm>
              <a:off x="1532464" y="4340379"/>
              <a:ext cx="207428" cy="190408"/>
            </a:xfrm>
            <a:prstGeom prst="noSmoking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A2A4214-1E82-59D6-6101-490CD4892C88}"/>
              </a:ext>
            </a:extLst>
          </p:cNvPr>
          <p:cNvGrpSpPr/>
          <p:nvPr/>
        </p:nvGrpSpPr>
        <p:grpSpPr>
          <a:xfrm>
            <a:off x="7254868" y="4184548"/>
            <a:ext cx="207428" cy="508636"/>
            <a:chOff x="1532464" y="4181265"/>
            <a:chExt cx="207428" cy="508636"/>
          </a:xfrm>
        </p:grpSpPr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8DC037C-6F9C-5881-0C1F-EB92DCB2AE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183" y="4181265"/>
              <a:ext cx="0" cy="50863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&quot;Not Allowed&quot; Symbol 48">
              <a:extLst>
                <a:ext uri="{FF2B5EF4-FFF2-40B4-BE49-F238E27FC236}">
                  <a16:creationId xmlns:a16="http://schemas.microsoft.com/office/drawing/2014/main" id="{7B5D8BCB-8B94-0ADC-9919-3F68DEB0A34C}"/>
                </a:ext>
              </a:extLst>
            </p:cNvPr>
            <p:cNvSpPr/>
            <p:nvPr/>
          </p:nvSpPr>
          <p:spPr>
            <a:xfrm>
              <a:off x="1532464" y="4340379"/>
              <a:ext cx="207428" cy="190408"/>
            </a:xfrm>
            <a:prstGeom prst="noSmoking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D3DDD5F-3374-0BC6-1C14-EB47F2BBACA9}"/>
              </a:ext>
            </a:extLst>
          </p:cNvPr>
          <p:cNvCxnSpPr>
            <a:cxnSpLocks/>
          </p:cNvCxnSpPr>
          <p:nvPr/>
        </p:nvCxnSpPr>
        <p:spPr>
          <a:xfrm flipV="1">
            <a:off x="3232150" y="2936029"/>
            <a:ext cx="0" cy="5086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7900520-4524-63D0-52CB-89C29C0978BB}"/>
              </a:ext>
            </a:extLst>
          </p:cNvPr>
          <p:cNvCxnSpPr>
            <a:cxnSpLocks/>
          </p:cNvCxnSpPr>
          <p:nvPr/>
        </p:nvCxnSpPr>
        <p:spPr>
          <a:xfrm flipV="1">
            <a:off x="3232150" y="4181265"/>
            <a:ext cx="0" cy="5086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895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Overerving van meerdere classes</a:t>
            </a: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B27AE4E2-70D6-7A0D-E69B-B672CD55466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99429"/>
          <a:ext cx="4787901" cy="736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95967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1785459708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3617932867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C(B)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NL" b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z</a:t>
                      </a:r>
                      <a:endParaRPr lang="en-NL" b="1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1E6095E-7DAB-1E45-97B7-08734FD4069A}"/>
              </a:ext>
            </a:extLst>
          </p:cNvPr>
          <p:cNvGraphicFramePr>
            <a:graphicFrameLocks noGrp="1"/>
          </p:cNvGraphicFramePr>
          <p:nvPr/>
        </p:nvGraphicFramePr>
        <p:xfrm>
          <a:off x="838199" y="3444665"/>
          <a:ext cx="3191924" cy="7366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595962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2">
                  <a:extLst>
                    <a:ext uri="{9D8B030D-6E8A-4147-A177-3AD203B41FA5}">
                      <a16:colId xmlns:a16="http://schemas.microsoft.com/office/drawing/2014/main" val="425155110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B(A)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x</a:t>
                      </a:r>
                      <a:endParaRPr lang="en-NL" b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graphicFrame>
        <p:nvGraphicFramePr>
          <p:cNvPr id="15" name="Table 13">
            <a:extLst>
              <a:ext uri="{FF2B5EF4-FFF2-40B4-BE49-F238E27FC236}">
                <a16:creationId xmlns:a16="http://schemas.microsoft.com/office/drawing/2014/main" id="{4F2A733B-E4CD-912B-B22F-EF2CFBBB1DE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689901"/>
          <a:ext cx="3191934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967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1785459708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A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x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7AC5FE-664D-BC4D-2089-A98B1DA8332F}"/>
              </a:ext>
            </a:extLst>
          </p:cNvPr>
          <p:cNvCxnSpPr/>
          <p:nvPr/>
        </p:nvCxnSpPr>
        <p:spPr>
          <a:xfrm flipV="1">
            <a:off x="1636183" y="2936029"/>
            <a:ext cx="0" cy="5086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29C54E-8E31-8697-5A5D-3133381BC0DD}"/>
              </a:ext>
            </a:extLst>
          </p:cNvPr>
          <p:cNvSpPr txBox="1"/>
          <p:nvPr/>
        </p:nvSpPr>
        <p:spPr>
          <a:xfrm>
            <a:off x="838199" y="1407704"/>
            <a:ext cx="4787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Gestapelde</a:t>
            </a:r>
            <a:r>
              <a:rPr lang="en-US" dirty="0"/>
              <a:t> basis classes:</a:t>
            </a:r>
            <a:endParaRPr lang="en-NL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77064D2-0639-4331-F791-351BE7441628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8959849" y="2936029"/>
            <a:ext cx="0" cy="17538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Table 13">
            <a:extLst>
              <a:ext uri="{FF2B5EF4-FFF2-40B4-BE49-F238E27FC236}">
                <a16:creationId xmlns:a16="http://schemas.microsoft.com/office/drawing/2014/main" id="{65F8BC86-C019-6DFA-8B7D-D2524383A76D}"/>
              </a:ext>
            </a:extLst>
          </p:cNvPr>
          <p:cNvGraphicFramePr>
            <a:graphicFrameLocks noGrp="1"/>
          </p:cNvGraphicFramePr>
          <p:nvPr/>
        </p:nvGraphicFramePr>
        <p:xfrm>
          <a:off x="6565899" y="2199429"/>
          <a:ext cx="4787901" cy="736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95967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1785459708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3617932867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C(B, A)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NL" b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z</a:t>
                      </a:r>
                      <a:endParaRPr lang="en-NL" b="1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F78B0BB4-C1B5-70FA-1D00-756DCF22428E}"/>
              </a:ext>
            </a:extLst>
          </p:cNvPr>
          <p:cNvGraphicFramePr>
            <a:graphicFrameLocks noGrp="1"/>
          </p:cNvGraphicFramePr>
          <p:nvPr/>
        </p:nvGraphicFramePr>
        <p:xfrm>
          <a:off x="6565898" y="3444665"/>
          <a:ext cx="1595962" cy="7366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595962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B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x</a:t>
                      </a:r>
                      <a:endParaRPr lang="en-NL" b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graphicFrame>
        <p:nvGraphicFramePr>
          <p:cNvPr id="40" name="Table 13">
            <a:extLst>
              <a:ext uri="{FF2B5EF4-FFF2-40B4-BE49-F238E27FC236}">
                <a16:creationId xmlns:a16="http://schemas.microsoft.com/office/drawing/2014/main" id="{B3D6C019-4EB3-9634-3803-1CF3FF3B0DCF}"/>
              </a:ext>
            </a:extLst>
          </p:cNvPr>
          <p:cNvGraphicFramePr>
            <a:graphicFrameLocks noGrp="1"/>
          </p:cNvGraphicFramePr>
          <p:nvPr/>
        </p:nvGraphicFramePr>
        <p:xfrm>
          <a:off x="6565899" y="4689901"/>
          <a:ext cx="3191934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967">
                  <a:extLst>
                    <a:ext uri="{9D8B030D-6E8A-4147-A177-3AD203B41FA5}">
                      <a16:colId xmlns:a16="http://schemas.microsoft.com/office/drawing/2014/main" val="3073575854"/>
                    </a:ext>
                  </a:extLst>
                </a:gridCol>
                <a:gridCol w="1595967">
                  <a:extLst>
                    <a:ext uri="{9D8B030D-6E8A-4147-A177-3AD203B41FA5}">
                      <a16:colId xmlns:a16="http://schemas.microsoft.com/office/drawing/2014/main" val="1785459708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A</a:t>
                      </a:r>
                      <a:endParaRPr lang="en-NL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35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x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y</a:t>
                      </a:r>
                      <a:endParaRPr lang="en-NL" b="1" dirty="0">
                        <a:solidFill>
                          <a:schemeClr val="accent5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041814"/>
                  </a:ext>
                </a:extLst>
              </a:tr>
            </a:tbl>
          </a:graphicData>
        </a:graphic>
      </p:graphicFrame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6EFC27A-93C4-8674-F8BC-E8B8D394A8F4}"/>
              </a:ext>
            </a:extLst>
          </p:cNvPr>
          <p:cNvCxnSpPr/>
          <p:nvPr/>
        </p:nvCxnSpPr>
        <p:spPr>
          <a:xfrm flipV="1">
            <a:off x="7363882" y="2936029"/>
            <a:ext cx="0" cy="5086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60B0507-D999-C8F2-7321-B2A621FB3901}"/>
              </a:ext>
            </a:extLst>
          </p:cNvPr>
          <p:cNvSpPr txBox="1"/>
          <p:nvPr/>
        </p:nvSpPr>
        <p:spPr>
          <a:xfrm>
            <a:off x="6565898" y="1406521"/>
            <a:ext cx="4787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Meerdere</a:t>
            </a:r>
            <a:r>
              <a:rPr lang="en-US" dirty="0"/>
              <a:t> basis classes:</a:t>
            </a:r>
            <a:endParaRPr lang="en-NL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E25EED-092A-E1CB-7DBB-299AF75B9D41}"/>
              </a:ext>
            </a:extLst>
          </p:cNvPr>
          <p:cNvGrpSpPr/>
          <p:nvPr/>
        </p:nvGrpSpPr>
        <p:grpSpPr>
          <a:xfrm>
            <a:off x="1532464" y="4181265"/>
            <a:ext cx="207428" cy="508636"/>
            <a:chOff x="1532464" y="4181265"/>
            <a:chExt cx="207428" cy="508636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FD692D0-5F50-9D82-5201-ABC0A469DC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183" y="4181265"/>
              <a:ext cx="0" cy="50863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&quot;Not Allowed&quot; Symbol 44">
              <a:extLst>
                <a:ext uri="{FF2B5EF4-FFF2-40B4-BE49-F238E27FC236}">
                  <a16:creationId xmlns:a16="http://schemas.microsoft.com/office/drawing/2014/main" id="{590B82F8-58DB-52DE-6F22-8243E36770A4}"/>
                </a:ext>
              </a:extLst>
            </p:cNvPr>
            <p:cNvSpPr/>
            <p:nvPr/>
          </p:nvSpPr>
          <p:spPr>
            <a:xfrm>
              <a:off x="1532464" y="4340379"/>
              <a:ext cx="207428" cy="190408"/>
            </a:xfrm>
            <a:prstGeom prst="noSmoking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A2A4214-1E82-59D6-6101-490CD4892C88}"/>
              </a:ext>
            </a:extLst>
          </p:cNvPr>
          <p:cNvGrpSpPr/>
          <p:nvPr/>
        </p:nvGrpSpPr>
        <p:grpSpPr>
          <a:xfrm>
            <a:off x="7254868" y="4184548"/>
            <a:ext cx="207428" cy="508636"/>
            <a:chOff x="1532464" y="4181265"/>
            <a:chExt cx="207428" cy="508636"/>
          </a:xfrm>
        </p:grpSpPr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8DC037C-6F9C-5881-0C1F-EB92DCB2AE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183" y="4181265"/>
              <a:ext cx="0" cy="50863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&quot;Not Allowed&quot; Symbol 48">
              <a:extLst>
                <a:ext uri="{FF2B5EF4-FFF2-40B4-BE49-F238E27FC236}">
                  <a16:creationId xmlns:a16="http://schemas.microsoft.com/office/drawing/2014/main" id="{7B5D8BCB-8B94-0ADC-9919-3F68DEB0A34C}"/>
                </a:ext>
              </a:extLst>
            </p:cNvPr>
            <p:cNvSpPr/>
            <p:nvPr/>
          </p:nvSpPr>
          <p:spPr>
            <a:xfrm>
              <a:off x="1532464" y="4340379"/>
              <a:ext cx="207428" cy="190408"/>
            </a:xfrm>
            <a:prstGeom prst="noSmoking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D3DDD5F-3374-0BC6-1C14-EB47F2BBACA9}"/>
              </a:ext>
            </a:extLst>
          </p:cNvPr>
          <p:cNvCxnSpPr>
            <a:cxnSpLocks/>
          </p:cNvCxnSpPr>
          <p:nvPr/>
        </p:nvCxnSpPr>
        <p:spPr>
          <a:xfrm flipV="1">
            <a:off x="3232150" y="2936029"/>
            <a:ext cx="0" cy="5086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7900520-4524-63D0-52CB-89C29C0978BB}"/>
              </a:ext>
            </a:extLst>
          </p:cNvPr>
          <p:cNvCxnSpPr>
            <a:cxnSpLocks/>
          </p:cNvCxnSpPr>
          <p:nvPr/>
        </p:nvCxnSpPr>
        <p:spPr>
          <a:xfrm flipV="1">
            <a:off x="3232150" y="4181265"/>
            <a:ext cx="0" cy="5086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11E8271-51F5-2816-7896-5897A12226C4}"/>
              </a:ext>
            </a:extLst>
          </p:cNvPr>
          <p:cNvSpPr/>
          <p:nvPr/>
        </p:nvSpPr>
        <p:spPr>
          <a:xfrm>
            <a:off x="838188" y="3247178"/>
            <a:ext cx="4787901" cy="2677371"/>
          </a:xfrm>
          <a:prstGeom prst="rect">
            <a:avLst/>
          </a:prstGeom>
          <a:solidFill>
            <a:schemeClr val="bg2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r>
              <a:rPr lang="nl-NL" b="1" dirty="0"/>
              <a:t>Specialisatie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Classes met zelfde doel / uit zelfde domein.</a:t>
            </a:r>
          </a:p>
          <a:p>
            <a:pPr marL="285750" indent="-285750">
              <a:buFontTx/>
              <a:buChar char="-"/>
            </a:pPr>
            <a:r>
              <a:rPr lang="nl-NL" dirty="0"/>
              <a:t>Meer gespecialiseerde functionaliteit.</a:t>
            </a:r>
          </a:p>
          <a:p>
            <a:pPr lvl="1"/>
            <a:endParaRPr lang="nl-NL" dirty="0"/>
          </a:p>
          <a:p>
            <a:pPr lvl="1"/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DataReader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=&gt;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SQLReader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=&gt;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MicrosoftSQLReader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91AC0D-107B-6331-D8B5-23418AE5EAA1}"/>
              </a:ext>
            </a:extLst>
          </p:cNvPr>
          <p:cNvSpPr/>
          <p:nvPr/>
        </p:nvSpPr>
        <p:spPr>
          <a:xfrm>
            <a:off x="6565897" y="3247178"/>
            <a:ext cx="4787901" cy="2677371"/>
          </a:xfrm>
          <a:prstGeom prst="rect">
            <a:avLst/>
          </a:prstGeom>
          <a:solidFill>
            <a:schemeClr val="bg2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r>
              <a:rPr lang="nl-NL" b="1" dirty="0"/>
              <a:t>Adaptatie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Classes met uiteenlopende doelen.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Behoefte aan gedeelde functionaliteit.</a:t>
            </a:r>
          </a:p>
          <a:p>
            <a:pPr lvl="1"/>
            <a:endParaRPr lang="nl-NL" dirty="0"/>
          </a:p>
          <a:p>
            <a:pPr lvl="1"/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MicrosoftSQLReader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&lt;=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SQLReader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EncryptionMixin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9185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4180</Words>
  <Application>Microsoft Office PowerPoint</Application>
  <PresentationFormat>Widescreen</PresentationFormat>
  <Paragraphs>1017</Paragraphs>
  <Slides>52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Arial</vt:lpstr>
      <vt:lpstr>Calibri</vt:lpstr>
      <vt:lpstr>Calibri Light</vt:lpstr>
      <vt:lpstr>Courier New</vt:lpstr>
      <vt:lpstr>Wingdings</vt:lpstr>
      <vt:lpstr>Office Theme</vt:lpstr>
      <vt:lpstr>Python - Cursus</vt:lpstr>
      <vt:lpstr>Agenda</vt:lpstr>
      <vt:lpstr>Data en operatoren</vt:lpstr>
      <vt:lpstr>Data types</vt:lpstr>
      <vt:lpstr>Werken met tekst</vt:lpstr>
      <vt:lpstr>Werken met verzamelingen</vt:lpstr>
      <vt:lpstr>Data types converteren</vt:lpstr>
      <vt:lpstr>Operatoren</vt:lpstr>
      <vt:lpstr>Oefeningen I</vt:lpstr>
      <vt:lpstr>Controle structuren</vt:lpstr>
      <vt:lpstr>Conditionele logica</vt:lpstr>
      <vt:lpstr>De for loop</vt:lpstr>
      <vt:lpstr>Comprehensions</vt:lpstr>
      <vt:lpstr>Functies</vt:lpstr>
      <vt:lpstr>Functie argumenten</vt:lpstr>
      <vt:lpstr>Functie argumenten</vt:lpstr>
      <vt:lpstr>Ingebouwde functies</vt:lpstr>
      <vt:lpstr>Handige hulpfuncties</vt:lpstr>
      <vt:lpstr>Ingebouwde functies</vt:lpstr>
      <vt:lpstr>Lezen uit tekstbestanden</vt:lpstr>
      <vt:lpstr>Schrijven naar tesktbestanden</vt:lpstr>
      <vt:lpstr>Oefeningen II</vt:lpstr>
      <vt:lpstr>Namespaces en scopes</vt:lpstr>
      <vt:lpstr>Wat is een namespace?</vt:lpstr>
      <vt:lpstr>Wat is een scope?</vt:lpstr>
      <vt:lpstr>Oefeningen III</vt:lpstr>
      <vt:lpstr>Mutable of immutable</vt:lpstr>
      <vt:lpstr>Kun je het wijzigen?</vt:lpstr>
      <vt:lpstr>Wat is mutable en wat niet?</vt:lpstr>
      <vt:lpstr>Een simpel voorbeeld</vt:lpstr>
      <vt:lpstr>Een simpel voorbeeld</vt:lpstr>
      <vt:lpstr>Een simpel voorbeeld</vt:lpstr>
      <vt:lpstr>Waarom maakt het uit?</vt:lpstr>
      <vt:lpstr>Waarom maakt het uit?</vt:lpstr>
      <vt:lpstr>Classes</vt:lpstr>
      <vt:lpstr>Waarom classes?</vt:lpstr>
      <vt:lpstr>Class versus object</vt:lpstr>
      <vt:lpstr>Dunder methods</vt:lpstr>
      <vt:lpstr>Dunder methods</vt:lpstr>
      <vt:lpstr>Meer dunder methods</vt:lpstr>
      <vt:lpstr>Privé attributen en methodes</vt:lpstr>
      <vt:lpstr>Static en class methodes</vt:lpstr>
      <vt:lpstr>Oefeningen IV</vt:lpstr>
      <vt:lpstr>Overerving</vt:lpstr>
      <vt:lpstr>Overerving</vt:lpstr>
      <vt:lpstr>Overerving</vt:lpstr>
      <vt:lpstr>Overerving</vt:lpstr>
      <vt:lpstr>Overerving</vt:lpstr>
      <vt:lpstr>Toegang tot de basis class</vt:lpstr>
      <vt:lpstr>Oefeningen V</vt:lpstr>
      <vt:lpstr>Overerving van meerdere classes</vt:lpstr>
      <vt:lpstr>Overerving van meerdere classes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803</cp:revision>
  <dcterms:created xsi:type="dcterms:W3CDTF">2022-11-09T07:34:24Z</dcterms:created>
  <dcterms:modified xsi:type="dcterms:W3CDTF">2026-09-23T09:37:33Z</dcterms:modified>
</cp:coreProperties>
</file>