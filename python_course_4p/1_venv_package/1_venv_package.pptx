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67" r:id="rId4"/>
    <p:sldId id="258" r:id="rId5"/>
    <p:sldId id="352" r:id="rId6"/>
    <p:sldId id="261" r:id="rId7"/>
    <p:sldId id="262" r:id="rId8"/>
    <p:sldId id="349" r:id="rId9"/>
    <p:sldId id="338" r:id="rId10"/>
    <p:sldId id="350" r:id="rId11"/>
    <p:sldId id="296" r:id="rId12"/>
    <p:sldId id="259" r:id="rId13"/>
    <p:sldId id="268" r:id="rId14"/>
    <p:sldId id="354" r:id="rId15"/>
    <p:sldId id="355" r:id="rId16"/>
    <p:sldId id="356" r:id="rId17"/>
    <p:sldId id="357" r:id="rId18"/>
    <p:sldId id="358" r:id="rId19"/>
    <p:sldId id="361" r:id="rId20"/>
    <p:sldId id="353" r:id="rId21"/>
    <p:sldId id="360" r:id="rId22"/>
    <p:sldId id="363" r:id="rId23"/>
    <p:sldId id="364" r:id="rId24"/>
    <p:sldId id="366" r:id="rId25"/>
    <p:sldId id="369" r:id="rId26"/>
    <p:sldId id="368" r:id="rId27"/>
    <p:sldId id="371" r:id="rId28"/>
    <p:sldId id="372" r:id="rId29"/>
    <p:sldId id="370" r:id="rId30"/>
    <p:sldId id="374" r:id="rId31"/>
    <p:sldId id="362" r:id="rId32"/>
    <p:sldId id="375" r:id="rId33"/>
    <p:sldId id="359" r:id="rId34"/>
    <p:sldId id="266" r:id="rId35"/>
    <p:sldId id="299" r:id="rId36"/>
    <p:sldId id="278" r:id="rId37"/>
    <p:sldId id="279" r:id="rId38"/>
    <p:sldId id="281" r:id="rId39"/>
    <p:sldId id="282" r:id="rId40"/>
    <p:sldId id="351" r:id="rId4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1" autoAdjust="0"/>
    <p:restoredTop sz="81321" autoAdjust="0"/>
  </p:normalViewPr>
  <p:slideViewPr>
    <p:cSldViewPr snapToGrid="0">
      <p:cViewPr varScale="1">
        <p:scale>
          <a:sx n="101" d="100"/>
          <a:sy n="101" d="100"/>
        </p:scale>
        <p:origin x="1229" y="67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 op: </a:t>
            </a:r>
            <a:r>
              <a:rPr lang="en-US" dirty="0" err="1"/>
              <a:t>nog</a:t>
            </a:r>
            <a:r>
              <a:rPr lang="en-US" dirty="0"/>
              <a:t>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</a:t>
            </a:r>
            <a:r>
              <a:rPr lang="en-US" dirty="0" err="1"/>
              <a:t>opgezet</a:t>
            </a:r>
            <a:r>
              <a:rPr lang="en-US"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5982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980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16/09/2026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index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.9/library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/>
              <a:t>2024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Python</a:t>
            </a:r>
            <a:endParaRPr lang="nl-NL" sz="2000" dirty="0"/>
          </a:p>
          <a:p>
            <a:pPr lvl="1">
              <a:spcAft>
                <a:spcPts val="600"/>
              </a:spcAft>
            </a:pPr>
            <a:r>
              <a:rPr lang="nl-NL" sz="1600" noProof="0" dirty="0"/>
              <a:t>Hoe werkt Python?</a:t>
            </a:r>
          </a:p>
          <a:p>
            <a:pPr lvl="1">
              <a:spcAft>
                <a:spcPts val="600"/>
              </a:spcAft>
            </a:pPr>
            <a:r>
              <a:rPr lang="nl-NL" sz="1600" noProof="0" dirty="0"/>
              <a:t>Omgevingen en packages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Ontwikkel omgevingen</a:t>
            </a:r>
            <a:endParaRPr lang="nl-NL" sz="1600" dirty="0"/>
          </a:p>
          <a:p>
            <a:pPr lvl="1">
              <a:spcAft>
                <a:spcPts val="600"/>
              </a:spcAft>
            </a:pPr>
            <a:r>
              <a:rPr lang="nl-NL" sz="1600" noProof="0" dirty="0" err="1"/>
              <a:t>Marimo</a:t>
            </a:r>
            <a:r>
              <a:rPr lang="nl-NL" sz="1600" noProof="0" dirty="0"/>
              <a:t> Notebooks</a:t>
            </a:r>
          </a:p>
          <a:p>
            <a:pPr lvl="1">
              <a:spcAft>
                <a:spcPts val="600"/>
              </a:spcAft>
            </a:pPr>
            <a:r>
              <a:rPr lang="nl-NL" sz="1600" dirty="0"/>
              <a:t>Visual Studio Code</a:t>
            </a:r>
            <a:endParaRPr lang="nl-NL" sz="16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Python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ython">
            <a:extLst>
              <a:ext uri="{FF2B5EF4-FFF2-40B4-BE49-F238E27FC236}">
                <a16:creationId xmlns:a16="http://schemas.microsoft.com/office/drawing/2014/main" id="{2604CCD1-B710-B7B3-3C01-61B36162D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0227" y="1098853"/>
            <a:ext cx="4473573" cy="5078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en 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Sterke punten: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Makkelijk te leren, flexibele syntax.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Veel ontwikkelaars en gebruikers.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Veel online informatie.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Uitgebreid ecosysteem van uitbreidingen.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Breed inzetbaar.</a:t>
            </a:r>
          </a:p>
        </p:txBody>
      </p:sp>
    </p:spTree>
    <p:extLst>
      <p:ext uri="{BB962C8B-B14F-4D97-AF65-F5344CB8AC3E}">
        <p14:creationId xmlns:p14="http://schemas.microsoft.com/office/powerpoint/2010/main" val="34442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37BD-A938-DAF3-FEF2-1B5E3A6E1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4E2EF-C0A7-A70B-04F1-1E24BD18D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en 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9D57C-00B8-1248-107F-AA6E5F085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Zwakke punten: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Makkelijk om “slechte” code te schrijven.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Relatief traag  (vgl. C, C++, Scala, Rust).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Distributie code niet eenduidig.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10A4AD-7C19-5184-ECB4-77EDD34F6402}"/>
              </a:ext>
            </a:extLst>
          </p:cNvPr>
          <p:cNvSpPr txBox="1">
            <a:spLocks/>
          </p:cNvSpPr>
          <p:nvPr/>
        </p:nvSpPr>
        <p:spPr>
          <a:xfrm>
            <a:off x="6409267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4D819A-A65A-B849-482E-28A9AA671928}"/>
              </a:ext>
            </a:extLst>
          </p:cNvPr>
          <p:cNvSpPr txBox="1">
            <a:spLocks/>
          </p:cNvSpPr>
          <p:nvPr/>
        </p:nvSpPr>
        <p:spPr>
          <a:xfrm>
            <a:off x="6604000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_ ** 2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type(_) in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int)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is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None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!= 0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370871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79043AF-CAAF-445D-CBBE-67C45DBAB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065" y="3974574"/>
            <a:ext cx="6891867" cy="1215492"/>
          </a:xfrm>
        </p:spPr>
        <p:txBody>
          <a:bodyPr>
            <a:normAutofit/>
          </a:bodyPr>
          <a:lstStyle/>
          <a:p>
            <a:r>
              <a:rPr lang="nl-NL" sz="2000" noProof="0" dirty="0"/>
              <a:t>Python code wordt geïnterpreteerd (vs. gecompileerd).</a:t>
            </a:r>
          </a:p>
          <a:p>
            <a:r>
              <a:rPr lang="nl-NL" sz="2000" dirty="0" err="1"/>
              <a:t>CPython</a:t>
            </a:r>
            <a:r>
              <a:rPr lang="nl-NL" sz="2000" dirty="0"/>
              <a:t>: Python code wordt omgezet naar C instructies.</a:t>
            </a:r>
            <a:endParaRPr lang="nl-NL" sz="2000" noProof="0" dirty="0"/>
          </a:p>
          <a:p>
            <a:r>
              <a:rPr lang="nl-NL" sz="2000" noProof="0" dirty="0"/>
              <a:t>Interpreter is vereist om de code uit te kunnen voeren.</a:t>
            </a:r>
          </a:p>
        </p:txBody>
      </p:sp>
    </p:spTree>
    <p:extLst>
      <p:ext uri="{BB962C8B-B14F-4D97-AF65-F5344CB8AC3E}">
        <p14:creationId xmlns:p14="http://schemas.microsoft.com/office/powerpoint/2010/main" val="440605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Packages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2756604" y="5048782"/>
            <a:ext cx="6678790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2000" dirty="0"/>
              <a:t>Packages breiden standaard functionaliteit uit.</a:t>
            </a:r>
          </a:p>
          <a:p>
            <a:r>
              <a:rPr lang="nl-NL" sz="2000" dirty="0"/>
              <a:t>Sommige packages zijn geschreven in Python.</a:t>
            </a:r>
          </a:p>
          <a:p>
            <a:r>
              <a:rPr lang="nl-NL" sz="2000" dirty="0"/>
              <a:t>Je importeert deze code in je eigen code.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81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API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2756604" y="5055132"/>
            <a:ext cx="6678790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2000" dirty="0"/>
              <a:t>Packages kunnen ook geschreven zijn in C / C++ / Rust.</a:t>
            </a:r>
          </a:p>
          <a:p>
            <a:r>
              <a:rPr lang="nl-NL" sz="2000" dirty="0"/>
              <a:t>Ze bieden dan alleen Python instructies aan.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149287B-DA34-8FB5-1538-ADC9C7A3A3D3}"/>
              </a:ext>
            </a:extLst>
          </p:cNvPr>
          <p:cNvSpPr/>
          <p:nvPr/>
        </p:nvSpPr>
        <p:spPr>
          <a:xfrm>
            <a:off x="6736643" y="33951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F6AC21-2E86-1126-DD5E-0604773AC96E}"/>
              </a:ext>
            </a:extLst>
          </p:cNvPr>
          <p:cNvCxnSpPr>
            <a:stCxn id="19" idx="1"/>
            <a:endCxn id="3" idx="3"/>
          </p:cNvCxnSpPr>
          <p:nvPr/>
        </p:nvCxnSpPr>
        <p:spPr>
          <a:xfrm flipH="1">
            <a:off x="2506132" y="3886201"/>
            <a:ext cx="423051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A3F80B6-BD67-038A-9247-EC0DC28112AD}"/>
              </a:ext>
            </a:extLst>
          </p:cNvPr>
          <p:cNvCxnSpPr>
            <a:stCxn id="19" idx="3"/>
            <a:endCxn id="11" idx="1"/>
          </p:cNvCxnSpPr>
          <p:nvPr/>
        </p:nvCxnSpPr>
        <p:spPr>
          <a:xfrm flipV="1">
            <a:off x="8404576" y="2159001"/>
            <a:ext cx="1281291" cy="172720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Met Python komen veel </a:t>
            </a:r>
            <a:r>
              <a:rPr lang="nl-NL" sz="1800" dirty="0">
                <a:cs typeface="Courier New" panose="02070309020205020404" pitchFamily="49" charset="0"/>
              </a:rPr>
              <a:t>packages mee.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Deze packages zijn onderdeel van de zogenaamde "standard </a:t>
            </a:r>
            <a:r>
              <a:rPr lang="nl-NL" sz="1800" dirty="0" err="1">
                <a:cs typeface="Courier New" panose="02070309020205020404" pitchFamily="49" charset="0"/>
              </a:rPr>
              <a:t>library</a:t>
            </a:r>
            <a:r>
              <a:rPr lang="nl-NL" sz="1800" dirty="0">
                <a:cs typeface="Courier New" panose="02070309020205020404" pitchFamily="49" charset="0"/>
              </a:rPr>
              <a:t>".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Ze worden geïnstalleerd met Python zelf.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Overzicht: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  <a:hlinkClick r:id="rId2"/>
              </a:rPr>
              <a:t>https://docs.python.org/3/library/index.html</a:t>
            </a: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16F8C6-A449-4CBB-DB98-A9213C453A21}"/>
              </a:ext>
            </a:extLst>
          </p:cNvPr>
          <p:cNvSpPr txBox="1">
            <a:spLocks/>
          </p:cNvSpPr>
          <p:nvPr/>
        </p:nvSpPr>
        <p:spPr>
          <a:xfrm>
            <a:off x="6231468" y="1456267"/>
            <a:ext cx="51223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nl-NL" sz="1600" dirty="0">
                <a:cs typeface="Courier New" panose="02070309020205020404" pitchFamily="49" charset="0"/>
              </a:rPr>
              <a:t>		Omgang met Operating System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nl-NL" sz="1600" dirty="0">
                <a:cs typeface="Courier New" panose="02070309020205020404" pitchFamily="49" charset="0"/>
              </a:rPr>
              <a:t>		Systeem functies / informatie.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pathlib</a:t>
            </a:r>
            <a:r>
              <a:rPr lang="nl-NL" sz="1600" dirty="0">
                <a:cs typeface="Courier New" panose="02070309020205020404" pitchFamily="49" charset="0"/>
              </a:rPr>
              <a:t>		Werken met bestandspaden.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nl-NL" sz="1600" dirty="0">
                <a:cs typeface="Courier New" panose="02070309020205020404" pitchFamily="49" charset="0"/>
              </a:rPr>
              <a:t>		Functies voor CSV bestanden.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nl-NL" sz="1600" dirty="0">
                <a:cs typeface="Courier New" panose="02070309020205020404" pitchFamily="49" charset="0"/>
              </a:rPr>
              <a:t>		Functies voor JSON bestanden.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zipfile</a:t>
            </a:r>
            <a:r>
              <a:rPr lang="nl-NL" sz="1600" dirty="0">
                <a:cs typeface="Courier New" panose="02070309020205020404" pitchFamily="49" charset="0"/>
              </a:rPr>
              <a:t>		Functies voor zip bestanden.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nl-NL" sz="1600" dirty="0">
                <a:cs typeface="Courier New" panose="02070309020205020404" pitchFamily="49" charset="0"/>
              </a:rPr>
              <a:t>	Functies voor datum en tijd.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1600" dirty="0">
                <a:cs typeface="Courier New" panose="02070309020205020404" pitchFamily="49" charset="0"/>
              </a:rPr>
              <a:t>	Handige data structuren.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</a:t>
            </a:r>
            <a:r>
              <a:rPr lang="nl-NL" sz="1600" dirty="0">
                <a:cs typeface="Courier New" panose="02070309020205020404" pitchFamily="49" charset="0"/>
              </a:rPr>
              <a:t>	Functies voor itereren.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nl-NL" sz="1600" dirty="0">
                <a:cs typeface="Courier New" panose="02070309020205020404" pitchFamily="49" charset="0"/>
              </a:rPr>
              <a:t>		Relationele database.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2874982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Externe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1.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b="1" noProof="0" dirty="0"/>
              <a:t>: download package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Download code van de Python Package Index (</a:t>
            </a:r>
            <a:r>
              <a:rPr lang="nl-NL" sz="1800" noProof="0" dirty="0" err="1">
                <a:cs typeface="Courier New" panose="02070309020205020404" pitchFamily="49" charset="0"/>
              </a:rPr>
              <a:t>PyPI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2.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setuptools</a:t>
            </a:r>
            <a:r>
              <a:rPr lang="nl-NL" sz="1800" b="1" noProof="0" dirty="0"/>
              <a:t>: installeer package</a:t>
            </a:r>
          </a:p>
          <a:p>
            <a:pPr marL="0" indent="0">
              <a:buNone/>
            </a:pPr>
            <a:r>
              <a:rPr lang="nl-NL" sz="1800" noProof="0" dirty="0"/>
              <a:t>Voert setup </a:t>
            </a:r>
            <a:r>
              <a:rPr lang="nl-NL" sz="1800" dirty="0">
                <a:cs typeface="Courier New" panose="02070309020205020404" pitchFamily="49" charset="0"/>
              </a:rPr>
              <a:t>uit en kopieert bestanden naar je Python omgeving.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b="1" dirty="0"/>
              <a:t>3.   Herhaal 1 en 2 voor afhankelijkheden</a:t>
            </a:r>
          </a:p>
          <a:p>
            <a:pPr marL="0" indent="0">
              <a:buNone/>
            </a:pPr>
            <a:r>
              <a:rPr lang="nl-NL" sz="1800" dirty="0"/>
              <a:t>Als package afhankelijk is van andere</a:t>
            </a:r>
            <a:r>
              <a:rPr lang="nl-NL" sz="1800" noProof="0" dirty="0"/>
              <a:t> packages worden deze ook geïnstalleerd.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4B952DD-657A-F90B-C98C-15EB93E1A9FE}"/>
              </a:ext>
            </a:extLst>
          </p:cNvPr>
          <p:cNvSpPr/>
          <p:nvPr/>
        </p:nvSpPr>
        <p:spPr>
          <a:xfrm>
            <a:off x="6604000" y="1456267"/>
            <a:ext cx="4749791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pip install pandas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F8CDF-EDA0-AEFA-678C-C6B88000B456}"/>
              </a:ext>
            </a:extLst>
          </p:cNvPr>
          <p:cNvSpPr/>
          <p:nvPr/>
        </p:nvSpPr>
        <p:spPr>
          <a:xfrm>
            <a:off x="6604000" y="2896153"/>
            <a:ext cx="4749797" cy="42333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pandas-2.1.0-cp39-cp39-win_amd64.whl</a:t>
            </a:r>
            <a:endParaRPr lang="en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EBC5E51-1B2F-2F0A-3610-1BD9FA18439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8978896" y="1879600"/>
            <a:ext cx="3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AE431AF-9734-C304-20AB-3E86AFFD6A19}"/>
              </a:ext>
            </a:extLst>
          </p:cNvPr>
          <p:cNvSpPr/>
          <p:nvPr/>
        </p:nvSpPr>
        <p:spPr>
          <a:xfrm>
            <a:off x="6603994" y="4336039"/>
            <a:ext cx="4749797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pyproject.toml</a:t>
            </a:r>
            <a:endParaRPr lang="en-NL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1E2D9D-B1EA-CAB3-5065-3CD0A9685119}"/>
              </a:ext>
            </a:extLst>
          </p:cNvPr>
          <p:cNvSpPr/>
          <p:nvPr/>
        </p:nvSpPr>
        <p:spPr>
          <a:xfrm>
            <a:off x="6604000" y="5775926"/>
            <a:ext cx="4749797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./.</a:t>
            </a:r>
            <a:r>
              <a:rPr lang="en-US" dirty="0" err="1"/>
              <a:t>venv</a:t>
            </a:r>
            <a:r>
              <a:rPr lang="en-US" dirty="0"/>
              <a:t>/lib/site-packages/</a:t>
            </a:r>
            <a:endParaRPr lang="en-NL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E2265C-8FFC-FA95-A755-D4937EFE8928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 flipH="1">
            <a:off x="8978893" y="3319486"/>
            <a:ext cx="6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9FFCEB-AD0B-E81A-1172-BC64F2F995A1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8978893" y="4759372"/>
            <a:ext cx="6" cy="1016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55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Werken met packages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1955800" y="3860801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Standaard bibliotheek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38200" y="1354667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import </a:t>
            </a:r>
            <a:r>
              <a:rPr lang="nl-NL" dirty="0" err="1"/>
              <a:t>pandas</a:t>
            </a:r>
            <a:endParaRPr lang="nl-NL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1955800" y="26077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Huidige 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F2571F-1EE4-C4EB-CDB7-E1400BFEDC6C}"/>
              </a:ext>
            </a:extLst>
          </p:cNvPr>
          <p:cNvSpPr/>
          <p:nvPr/>
        </p:nvSpPr>
        <p:spPr>
          <a:xfrm>
            <a:off x="1955800" y="5113868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site-packages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FABBBF3-EE16-E39A-9A8E-8A9412AD6C71}"/>
              </a:ext>
            </a:extLst>
          </p:cNvPr>
          <p:cNvCxnSpPr>
            <a:stCxn id="9" idx="2"/>
            <a:endCxn id="3" idx="1"/>
          </p:cNvCxnSpPr>
          <p:nvPr/>
        </p:nvCxnSpPr>
        <p:spPr>
          <a:xfrm rot="16200000" flipH="1">
            <a:off x="1432983" y="2575984"/>
            <a:ext cx="762000" cy="2836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8AF714E-536B-1149-319F-11FF50468B33}"/>
              </a:ext>
            </a:extLst>
          </p:cNvPr>
          <p:cNvCxnSpPr>
            <a:stCxn id="9" idx="2"/>
            <a:endCxn id="8" idx="1"/>
          </p:cNvCxnSpPr>
          <p:nvPr/>
        </p:nvCxnSpPr>
        <p:spPr>
          <a:xfrm rot="16200000" flipH="1">
            <a:off x="806450" y="3202517"/>
            <a:ext cx="2015067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3859A33-2FDB-CD9F-C7D7-6890B0672AF3}"/>
              </a:ext>
            </a:extLst>
          </p:cNvPr>
          <p:cNvCxnSpPr>
            <a:stCxn id="9" idx="2"/>
            <a:endCxn id="7" idx="1"/>
          </p:cNvCxnSpPr>
          <p:nvPr/>
        </p:nvCxnSpPr>
        <p:spPr>
          <a:xfrm rot="16200000" flipH="1">
            <a:off x="179916" y="3829051"/>
            <a:ext cx="3268134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7AAA918-2F62-7346-9993-AD00B7347624}"/>
              </a:ext>
            </a:extLst>
          </p:cNvPr>
          <p:cNvSpPr txBox="1">
            <a:spLocks/>
          </p:cNvSpPr>
          <p:nvPr/>
        </p:nvSpPr>
        <p:spPr>
          <a:xfrm>
            <a:off x="4364566" y="1354667"/>
            <a:ext cx="6223000" cy="982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Packages zijn bouwstenen die je kunt gebruiken in je eigen code door ze te importeren.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B4073E-2723-4DF7-A3EE-70B4CE15ED42}"/>
              </a:ext>
            </a:extLst>
          </p:cNvPr>
          <p:cNvSpPr txBox="1"/>
          <p:nvPr/>
        </p:nvSpPr>
        <p:spPr>
          <a:xfrm>
            <a:off x="4364567" y="5113868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Tot slot doorzoekt Python de systeem locaties:</a:t>
            </a:r>
          </a:p>
          <a:p>
            <a:pPr marL="0" indent="0">
              <a:buNone/>
            </a:pPr>
            <a:r>
              <a:rPr lang="nl-NL" sz="2000" dirty="0"/>
              <a:t>Zie </a:t>
            </a:r>
            <a:r>
              <a:rPr lang="nl-NL" sz="2000" dirty="0" err="1">
                <a:latin typeface="Corbel Light" panose="020B0303020204020204" pitchFamily="34" charset="0"/>
              </a:rPr>
              <a:t>sys.path</a:t>
            </a:r>
            <a:r>
              <a:rPr lang="nl-NL" sz="2000" dirty="0"/>
              <a:t> voor een overzicht.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2FAB39-B8E8-C6DD-542A-FEE5072318CA}"/>
              </a:ext>
            </a:extLst>
          </p:cNvPr>
          <p:cNvSpPr txBox="1"/>
          <p:nvPr/>
        </p:nvSpPr>
        <p:spPr>
          <a:xfrm>
            <a:off x="4364567" y="3860800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Daarna doorzoekt Python de standaard bibliotheek:</a:t>
            </a:r>
          </a:p>
          <a:p>
            <a:pPr marL="0" indent="0">
              <a:buNone/>
            </a:pPr>
            <a:r>
              <a:rPr lang="nl-NL" sz="2000" dirty="0">
                <a:hlinkClick r:id="rId2"/>
              </a:rPr>
              <a:t>https://docs.python.org/3.9/library/</a:t>
            </a:r>
            <a:endParaRPr lang="nl-NL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CC6992-5FD5-2CF8-4F03-AC313DB0D39C}"/>
              </a:ext>
            </a:extLst>
          </p:cNvPr>
          <p:cNvSpPr txBox="1"/>
          <p:nvPr/>
        </p:nvSpPr>
        <p:spPr>
          <a:xfrm>
            <a:off x="4364567" y="2607732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Eerst doorzoekt Python huidige directory (werk directory).</a:t>
            </a:r>
          </a:p>
        </p:txBody>
      </p:sp>
    </p:spTree>
    <p:extLst>
      <p:ext uri="{BB962C8B-B14F-4D97-AF65-F5344CB8AC3E}">
        <p14:creationId xmlns:p14="http://schemas.microsoft.com/office/powerpoint/2010/main" val="1615583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Conflicterende packages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26F608-6EC7-1CCF-D446-DA9A456EBECC}"/>
              </a:ext>
            </a:extLst>
          </p:cNvPr>
          <p:cNvSpPr/>
          <p:nvPr/>
        </p:nvSpPr>
        <p:spPr>
          <a:xfrm>
            <a:off x="1222043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2.0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D403AA-F806-9074-1669-B7F509DBC271}"/>
              </a:ext>
            </a:extLst>
          </p:cNvPr>
          <p:cNvSpPr/>
          <p:nvPr/>
        </p:nvSpPr>
        <p:spPr>
          <a:xfrm>
            <a:off x="4819366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3.0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044D0-6AEF-0308-0651-FA373D7B7E0E}"/>
              </a:ext>
            </a:extLst>
          </p:cNvPr>
          <p:cNvSpPr/>
          <p:nvPr/>
        </p:nvSpPr>
        <p:spPr>
          <a:xfrm>
            <a:off x="8416689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3.13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polars == 1.0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requests == 2.4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08DFB4DA-1DE4-0444-3004-CDAC17FED73D}"/>
              </a:ext>
            </a:extLst>
          </p:cNvPr>
          <p:cNvSpPr/>
          <p:nvPr/>
        </p:nvSpPr>
        <p:spPr>
          <a:xfrm>
            <a:off x="6967181" y="3500651"/>
            <a:ext cx="2053989" cy="143302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60272E3C-5DE7-5F9C-9792-8D116DBFC1B5}"/>
              </a:ext>
            </a:extLst>
          </p:cNvPr>
          <p:cNvSpPr/>
          <p:nvPr/>
        </p:nvSpPr>
        <p:spPr>
          <a:xfrm>
            <a:off x="3480179" y="4471916"/>
            <a:ext cx="1665026" cy="161500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91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Virtuele omgevingen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AFD3-2BBD-C911-F727-1345C09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18F3-6E42-9694-6E01-81C68F2E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B70B3-7708-E6F1-AF8D-037AA4627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Met </a:t>
            </a:r>
            <a:r>
              <a:rPr lang="nl-NL" sz="2000" noProof="0" dirty="0" err="1"/>
              <a:t>uv</a:t>
            </a:r>
            <a:r>
              <a:rPr lang="nl-NL" sz="2000" noProof="0" dirty="0"/>
              <a:t> beheer je: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Python interpreter</a:t>
            </a:r>
          </a:p>
          <a:p>
            <a:pPr>
              <a:buFontTx/>
              <a:buChar char="-"/>
            </a:pPr>
            <a:r>
              <a:rPr lang="nl-NL" sz="2000" noProof="0" dirty="0"/>
              <a:t>Externe packages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een aparte installatie voor iedere omgeving.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Helpt bij opzetten van projecten inclusief afhankelijkheden.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3D0DF6-03D4-59AA-0BB6-EE2368B72B3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python.exe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main.py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453608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0CC8A-9864-6A63-8EA9-433B5ED38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B8003-CE44-B652-C4E0-5EE62496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E8B4-F838-20A4-4A98-8B9D57852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Aanmaken virtuele omgeving: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Installeren packages: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410817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19ED3-6BE7-D4BB-E587-358373C9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D113A-C3D8-3CFC-5423-8C24EDC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A198-59F7-22FD-B6A5-3FA149231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Packages updaten: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&lt;package&gt;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Packages bekijken: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list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Packages verwijderen: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628143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C4B3B-8D11-18DD-366F-BBB79ADC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D7FFC-6338-3514-9AF4-ADD31531B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D9982-5E42-B3C8-CF33-8BBFBD5B0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script of commando draaien in de virtuele omgeving: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run &lt;script.py&gt;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run python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run black 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Omgeving activeren / deactiveren: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/Scripts/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deactivate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08840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1215E-980C-3A00-40F7-A8AAB0C3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3E22-2F93-EC51-8F65-282755D43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759D4-C85C-6B11-1EBA-D4715DF05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Maak een map aan met de naam exploratie.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hierin een nieuwe virtuele omgeving met Python 3.13.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Installeer het package </a:t>
            </a:r>
            <a:r>
              <a:rPr lang="nl-NL" sz="2000" dirty="0" err="1"/>
              <a:t>marimo</a:t>
            </a:r>
            <a:r>
              <a:rPr lang="nl-NL" sz="2000" dirty="0"/>
              <a:t> in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Start </a:t>
            </a:r>
            <a:r>
              <a:rPr lang="nl-NL" sz="2000" dirty="0" err="1"/>
              <a:t>marimo</a:t>
            </a:r>
            <a:r>
              <a:rPr lang="nl-NL" sz="2000" dirty="0"/>
              <a:t> op binnen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00917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83CED-4B84-298E-002A-1E5FA9968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2BD2-BB52-5487-FDD5-33D43D80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Persoonlijke experimenten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0634A-BCD5-9E95-80CA-85E47472C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Het beheer van virtuele omgevingen op deze manier werkt voor persoonlijke experimenten.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Maar: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Versie van python is nergens opgeslagen.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Welke packages je gebruikt wordt nergens bijgehouden.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Je kunt de omgeving niet eenvoudig opnieuw optuigen…</a:t>
            </a:r>
          </a:p>
        </p:txBody>
      </p:sp>
    </p:spTree>
    <p:extLst>
      <p:ext uri="{BB962C8B-B14F-4D97-AF65-F5344CB8AC3E}">
        <p14:creationId xmlns:p14="http://schemas.microsoft.com/office/powerpoint/2010/main" val="3124063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B4A3-A11D-6A47-4CDD-D1FBDA0D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49817-B2C5-0D71-1E75-E1C498D99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Project opzetten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EF5EA-3923-D53E-06A5-CF56FBCF9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4162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89FDD-5A28-F95A-B44B-8BB2E0F24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7372-BB49-CE36-7314-6054D3426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82EEF-9095-114B-2E9C-2B83F1054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Eenvoudig project opzetten met </a:t>
            </a:r>
            <a:r>
              <a:rPr lang="nl-NL" sz="2000" noProof="0" dirty="0" err="1"/>
              <a:t>uv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&lt;project 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/>
              <a:t>lege main.py 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586D434-CE5D-BD83-D5D2-A7A8140E03F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835670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C61F3-236A-370D-17B6-9388E56B0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A7D01-B72D-4884-4E41-5EECA5F16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9E4E0-BE6B-C82A-1C3F-3479FA7F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Eenvoudig project opzetten met </a:t>
            </a:r>
            <a:r>
              <a:rPr lang="nl-NL" sz="2000" noProof="0" dirty="0" err="1"/>
              <a:t>uv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&lt;project folder&gt;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/>
              <a:t>Lege main.py 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920376-6F53-DA36-4255-6FFC1837178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3188998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29D4-D901-F3FF-C97E-547342F0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CAC3D-10A9-080C-E818-4FA0B956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4759A-6720-15CE-F96E-546C716A8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Je kunt met </a:t>
            </a:r>
            <a:r>
              <a:rPr lang="nl-NL" sz="2000" noProof="0" dirty="0" err="1"/>
              <a:t>uv</a:t>
            </a:r>
            <a:r>
              <a:rPr lang="nl-NL" sz="2000" noProof="0" dirty="0"/>
              <a:t> eenvoudig packages toevoegen aan je project: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Voegt package toe aan dependencies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2000" dirty="0"/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0725D3-16CA-E2D5-94A7-60A3544B603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&gt;=0.24.2",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1387486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F31B-CD77-8B0C-F464-97043D9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55AD-FDB1-0689-1895-A8015E58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8AB73-081D-B81A-C563-829A0ED40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Met </a:t>
            </a:r>
            <a:r>
              <a:rPr lang="nl-NL" sz="2000" noProof="0" dirty="0" err="1"/>
              <a:t>uv</a:t>
            </a:r>
            <a:r>
              <a:rPr lang="nl-NL" sz="2000" noProof="0" dirty="0"/>
              <a:t> </a:t>
            </a:r>
            <a:r>
              <a:rPr lang="nl-NL" sz="2000" noProof="0" dirty="0" err="1"/>
              <a:t>add</a:t>
            </a:r>
            <a:r>
              <a:rPr lang="nl-NL" sz="2000" noProof="0" dirty="0"/>
              <a:t> kun je versies ook updaten: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==2.3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==3.0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Dit update het package ook in de virtuele omgeving als dat nodig is.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Een packages verwijderen kan met: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68E9040-9954-D4E3-6B44-08DF892DF220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&gt;=0.24.2",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445240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D17E-60EA-B9C3-423A-049658E8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A8121-4031-E815-BDDD-0C6FCE3F7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Versies opgeven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2DC5C-BC6B-6697-28CC-21B1B52AA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Semantische versienummers:</a:t>
            </a:r>
          </a:p>
          <a:p>
            <a:pPr>
              <a:buFontTx/>
              <a:buChar char="-"/>
            </a:pPr>
            <a:r>
              <a:rPr lang="nl-NL" sz="2000" dirty="0"/>
              <a:t>major:      niet </a:t>
            </a:r>
            <a:r>
              <a:rPr lang="nl-NL" sz="2000" dirty="0" err="1"/>
              <a:t>backwards</a:t>
            </a:r>
            <a:r>
              <a:rPr lang="nl-NL" sz="2000" dirty="0"/>
              <a:t> compatible.</a:t>
            </a:r>
          </a:p>
          <a:p>
            <a:pPr>
              <a:buFontTx/>
              <a:buChar char="-"/>
            </a:pPr>
            <a:r>
              <a:rPr lang="nl-NL" sz="2000" dirty="0"/>
              <a:t>minor:      nieuwe functionaliteit.</a:t>
            </a:r>
          </a:p>
          <a:p>
            <a:pPr>
              <a:buFontTx/>
              <a:buChar char="-"/>
            </a:pPr>
            <a:r>
              <a:rPr lang="nl-NL" sz="2000" dirty="0"/>
              <a:t>patch:       bug </a:t>
            </a:r>
            <a:r>
              <a:rPr lang="nl-NL" sz="2000" dirty="0" err="1"/>
              <a:t>fixes</a:t>
            </a:r>
            <a:r>
              <a:rPr lang="nl-NL" sz="2000" dirty="0"/>
              <a:t>, security patches.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Manieren om versies op te geven:</a:t>
            </a:r>
          </a:p>
          <a:p>
            <a:pPr>
              <a:buFontTx/>
              <a:buChar char="-"/>
            </a:pPr>
            <a:r>
              <a:rPr lang="nl-NL" sz="2000" dirty="0"/>
              <a:t>exacte versie: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</a:p>
          <a:p>
            <a:pPr>
              <a:buFontTx/>
              <a:buChar char="-"/>
            </a:pPr>
            <a:r>
              <a:rPr lang="nl-NL" sz="2000" dirty="0"/>
              <a:t>patch versie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~=</a:t>
            </a:r>
          </a:p>
          <a:p>
            <a:pPr>
              <a:buFontTx/>
              <a:buChar char="-"/>
            </a:pPr>
            <a:r>
              <a:rPr lang="nl-NL" sz="2000" dirty="0"/>
              <a:t>versiebereik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&gt;=2.3,&lt;3</a:t>
            </a:r>
          </a:p>
          <a:p>
            <a:pPr>
              <a:buFontTx/>
              <a:buChar char="-"/>
            </a:pPr>
            <a:r>
              <a:rPr lang="nl-NL" sz="2000" dirty="0"/>
              <a:t>minimale versie: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869381-1F27-5D78-7255-5DB9F4F7A6F3}"/>
              </a:ext>
            </a:extLst>
          </p:cNvPr>
          <p:cNvSpPr txBox="1">
            <a:spLocks/>
          </p:cNvSpPr>
          <p:nvPr/>
        </p:nvSpPr>
        <p:spPr>
          <a:xfrm>
            <a:off x="6637869" y="1463824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Tx/>
              <a:buChar char="-"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Tx/>
              <a:buChar char="-"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== 2.3.1    #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~= 2.31     # 2.3.x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&gt;= 2.3,&lt;3   # 2.x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&gt;= 2.3      # 2.x + 3.x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178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B8268-2043-BFCE-BD33-FB5E1907B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635C-F1AF-D3C3-38BF-0C76BBEB9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98FDE-C544-1CC2-7F01-4640E77DE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rabicPeriod"/>
            </a:pPr>
            <a:r>
              <a:rPr lang="nl-NL" sz="2000" dirty="0"/>
              <a:t>Start een nieuw project met </a:t>
            </a:r>
            <a:r>
              <a:rPr lang="nl-NL" sz="2000" dirty="0" err="1"/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Voeg het package </a:t>
            </a:r>
            <a:r>
              <a:rPr lang="nl-NL" sz="2000" dirty="0" err="1"/>
              <a:t>marimo</a:t>
            </a:r>
            <a:r>
              <a:rPr lang="nl-NL" sz="2000" dirty="0"/>
              <a:t> toe aan het project.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Voeg </a:t>
            </a:r>
            <a:r>
              <a:rPr lang="nl-NL" sz="2000" dirty="0" err="1"/>
              <a:t>pandas</a:t>
            </a:r>
            <a:r>
              <a:rPr lang="nl-NL" sz="2000" dirty="0"/>
              <a:t> toe aan het project, geef geen versie op:</a:t>
            </a:r>
          </a:p>
          <a:p>
            <a:pPr marL="914400" lvl="1" indent="-457200">
              <a:buAutoNum type="arabicPeriod"/>
            </a:pPr>
            <a:r>
              <a:rPr lang="nl-NL" sz="1600" dirty="0"/>
              <a:t>Wat staat er in </a:t>
            </a:r>
            <a:r>
              <a:rPr lang="nl-NL" sz="1600" dirty="0" err="1"/>
              <a:t>pyproject.toml</a:t>
            </a:r>
            <a:r>
              <a:rPr lang="nl-NL" sz="1600" dirty="0"/>
              <a:t>?</a:t>
            </a:r>
          </a:p>
          <a:p>
            <a:pPr marL="914400" lvl="1" indent="-457200">
              <a:buAutoNum type="arabicPeriod"/>
            </a:pPr>
            <a:r>
              <a:rPr lang="nl-NL" sz="1600" dirty="0"/>
              <a:t>Welk package werd geïnstalleerd?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Verander nu de versie van </a:t>
            </a:r>
            <a:r>
              <a:rPr lang="nl-NL" sz="2000" dirty="0" err="1"/>
              <a:t>pandas</a:t>
            </a:r>
            <a:r>
              <a:rPr lang="nl-NL" sz="2000" dirty="0"/>
              <a:t> naar 2.3.1, wat gebeurt er?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Start </a:t>
            </a:r>
            <a:r>
              <a:rPr lang="nl-NL" sz="2000" dirty="0" err="1"/>
              <a:t>marimo</a:t>
            </a:r>
            <a:r>
              <a:rPr lang="nl-NL" sz="2000" dirty="0"/>
              <a:t> op binnen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Importeer </a:t>
            </a:r>
            <a:r>
              <a:rPr lang="nl-NL" sz="2000" dirty="0" err="1"/>
              <a:t>sklearn</a:t>
            </a:r>
            <a:r>
              <a:rPr lang="nl-NL" sz="2000" dirty="0"/>
              <a:t> in het Notebook.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9778290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EBAB7-3235-4663-4FA7-BB2FA622A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1C2B5-46CA-1CF2-3FD4-6CE6974C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Het </a:t>
            </a:r>
            <a:r>
              <a:rPr lang="nl-NL" sz="3600" dirty="0" err="1"/>
              <a:t>uv.lock</a:t>
            </a:r>
            <a:r>
              <a:rPr lang="nl-NL" sz="3600" dirty="0"/>
              <a:t> bestand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7D104-144F-E411-77B6-9B8137E15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Versie specificaties laten meestal ruimte voor verschillende versies.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2000" dirty="0"/>
              <a:t> bestand bevat de precieze versies in de virtuele omgeving.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Met dit bestand probeert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/>
              <a:t> de omgeving te recreëren.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Als dit niet lukt, worden alternatieven gezocht.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37EF78-F0D6-D5A9-3E59-86D562B13FE7}"/>
              </a:ext>
            </a:extLst>
          </p:cNvPr>
          <p:cNvSpPr txBox="1">
            <a:spLocks/>
          </p:cNvSpPr>
          <p:nvPr/>
        </p:nvSpPr>
        <p:spPr>
          <a:xfrm>
            <a:off x="6637869" y="1141110"/>
            <a:ext cx="4715935" cy="50434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revision =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name = "scikit-learn"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"1.9.1"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"https://pypi.org/simple"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joblib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"narwhals"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threadpoolctl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098461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882A2-CE8B-F4EA-98A8-DBD2E590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78E-BCAA-2EDA-FC0E-E32BE225A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Beheer van </a:t>
            </a:r>
            <a:r>
              <a:rPr lang="nl-NL" sz="3600" dirty="0" err="1"/>
              <a:t>uv.lock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D6F03-E003-DFC5-BE3C-EA0A5D124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Updaten </a:t>
            </a:r>
            <a:r>
              <a:rPr lang="nl-NL" sz="2000" dirty="0" err="1"/>
              <a:t>lock</a:t>
            </a:r>
            <a:r>
              <a:rPr lang="nl-NL" sz="2000" dirty="0"/>
              <a:t> file kan met: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Gelijktrekken omgeving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sync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sync --check</a:t>
            </a:r>
          </a:p>
          <a:p>
            <a:pPr marL="0" indent="0"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EDAD0D8-BCAD-2099-7471-B0D8926255BD}"/>
              </a:ext>
            </a:extLst>
          </p:cNvPr>
          <p:cNvSpPr txBox="1">
            <a:spLocks/>
          </p:cNvSpPr>
          <p:nvPr/>
        </p:nvSpPr>
        <p:spPr>
          <a:xfrm>
            <a:off x="6637869" y="1141110"/>
            <a:ext cx="4715935" cy="50434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revision =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name = "scikit-learn"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"1.9.1"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"https://pypi.org/simple"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joblib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"narwhals"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threadpoolctl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0199831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09A3-99EC-A18B-7CE2-4A05569F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8BF3EB-11DE-EB68-ACE3-AFB603E12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Package maken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06D4F-E101-4332-DA66-985969D82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0426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C2708-94FA-8F43-E08A-168861230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759-D5E1-AB81-7F75-4F13B1097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</a:t>
            </a:r>
            <a:r>
              <a:rPr lang="nl-NL" sz="3600" dirty="0" err="1"/>
              <a:t>vs</a:t>
            </a:r>
            <a:r>
              <a:rPr lang="nl-NL" sz="3600" dirty="0"/>
              <a:t> package</a:t>
            </a:r>
            <a:endParaRPr lang="nl-NL" sz="3600" noProof="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53EE70-7562-9CEE-3BE4-5D238D492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Project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Collectie van Python scripts.</a:t>
            </a:r>
          </a:p>
          <a:p>
            <a:pPr>
              <a:buFontTx/>
              <a:buChar char="-"/>
            </a:pPr>
            <a:endParaRPr lang="nl-NL" sz="2000" b="1" noProof="0" dirty="0"/>
          </a:p>
          <a:p>
            <a:pPr>
              <a:buFontTx/>
              <a:buChar char="-"/>
            </a:pPr>
            <a:r>
              <a:rPr lang="nl-NL" sz="2000" dirty="0"/>
              <a:t>Eindgebruiker werkt direct met de scripts.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Voorbeelden:</a:t>
            </a:r>
          </a:p>
          <a:p>
            <a:pPr lvl="1">
              <a:buFontTx/>
              <a:buChar char="-"/>
            </a:pPr>
            <a:r>
              <a:rPr lang="nl-NL" sz="2000" noProof="0" dirty="0" err="1"/>
              <a:t>Expl</a:t>
            </a:r>
            <a:r>
              <a:rPr lang="nl-NL" sz="2000" dirty="0" err="1"/>
              <a:t>oratieve</a:t>
            </a:r>
            <a:r>
              <a:rPr lang="nl-NL" sz="2000" dirty="0"/>
              <a:t> analyse</a:t>
            </a:r>
          </a:p>
          <a:p>
            <a:pPr lvl="1">
              <a:buFontTx/>
              <a:buChar char="-"/>
            </a:pPr>
            <a:r>
              <a:rPr lang="nl-NL" sz="2000" noProof="0" dirty="0"/>
              <a:t>We</a:t>
            </a:r>
            <a:r>
              <a:rPr lang="nl-NL" sz="2000" dirty="0"/>
              <a:t>b applicatie</a:t>
            </a:r>
            <a:endParaRPr lang="nl-NL" sz="2000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E391D7-CCA7-A9C3-CBE7-571AF45B2F4B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AC17-1289-F6E5-FD36-C8546C3967B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/>
              <a:t>Package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Collectie van Python scripts.</a:t>
            </a:r>
          </a:p>
          <a:p>
            <a:pPr>
              <a:buFontTx/>
              <a:buChar char="-"/>
            </a:pPr>
            <a:endParaRPr lang="nl-NL" sz="2000" b="1" dirty="0"/>
          </a:p>
          <a:p>
            <a:pPr>
              <a:buFontTx/>
              <a:buChar char="-"/>
            </a:pPr>
            <a:r>
              <a:rPr lang="nl-NL" sz="2000" dirty="0"/>
              <a:t>Eindgebruiker importeert code in eigen scripts.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Voorbeelden:</a:t>
            </a:r>
          </a:p>
          <a:p>
            <a:pPr lvl="1">
              <a:buFontTx/>
              <a:buChar char="-"/>
            </a:pPr>
            <a:r>
              <a:rPr lang="nl-NL" sz="2000" dirty="0" err="1"/>
              <a:t>pandas</a:t>
            </a:r>
            <a:endParaRPr lang="nl-NL" sz="2000" dirty="0"/>
          </a:p>
          <a:p>
            <a:pPr lvl="1">
              <a:buFontTx/>
              <a:buChar char="-"/>
            </a:pPr>
            <a:r>
              <a:rPr lang="nl-NL" sz="2000" dirty="0" err="1"/>
              <a:t>scikit-learn</a:t>
            </a: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</p:txBody>
      </p:sp>
    </p:spTree>
    <p:extLst>
      <p:ext uri="{BB962C8B-B14F-4D97-AF65-F5344CB8AC3E}">
        <p14:creationId xmlns:p14="http://schemas.microsoft.com/office/powerpoint/2010/main" val="29096819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4E86-FAC2-307A-D6C6-6DA31D006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04A7D-3308-CE26-91D4-AB2A5BE11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C1221-641C-518B-47F3-AA276E540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dirty="0"/>
              <a:t>Eenvoudig project opzetten met </a:t>
            </a:r>
            <a:r>
              <a:rPr lang="nl-NL" sz="2000" dirty="0" err="1"/>
              <a:t>uv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&lt;folder&gt;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src</a:t>
            </a:r>
            <a:r>
              <a:rPr lang="nl-NL" sz="2000" dirty="0"/>
              <a:t>/package directory</a:t>
            </a:r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65E4DB-2F84-BC73-5EF4-62BC378EC829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8279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BB9F-A6A0-AFED-2171-8A442D80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163D-DDD0-E8EF-8D44-9E5368D8D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882A7-CA06-1555-4175-CA300E8EC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dirty="0"/>
              <a:t>Eenvoudig project opzetten met </a:t>
            </a:r>
            <a:r>
              <a:rPr lang="nl-NL" sz="2000" dirty="0" err="1"/>
              <a:t>uv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&lt;folder&gt;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src</a:t>
            </a:r>
            <a:r>
              <a:rPr lang="nl-NL" sz="2000" dirty="0"/>
              <a:t>/package directory</a:t>
            </a:r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5A19D6-CB96-C5FC-6379-1EF45F3F0A83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"0.1.0"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here"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"README.md"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"Lukas Koning"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-python = "&gt;=3.13"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-system]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&gt;=0.11"]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-backend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583511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39F0-2D02-907F-DBB6-BF47FCD5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BCF02F-7B24-4473-0E35-AB6BB6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Ontwikkel omgevingen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13D7BD-12C8-6930-C8E5-AA40930CC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45139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Keuze voor 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Jupyter</a:t>
            </a:r>
            <a:r>
              <a:rPr lang="nl-NL" sz="2000" b="1" noProof="0" dirty="0"/>
              <a:t> Notebook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exploratief werken.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demo’s, directe feedback.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-     Qua functionaliteit vrij beperkt.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-    Foutgevoelig, snel onoverzichtelijk.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6E87A0-1070-48CA-27A1-259B2400F9C1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Visual Studio Code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Goed voor gestructureerd werken.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+    Kan ook Notebooks bewerken.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Veel functionaliteit en plug-ins.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-     Kost wat moeite om op te zetten.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7852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Jupyter</a:t>
            </a:r>
            <a:r>
              <a:rPr lang="nl-NL" sz="3600" noProof="0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688847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Via de Anaconda Prompt: 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1. Installeer het Python package: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notebook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–f python-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course.yaml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2. Start daarna de Notebook server: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notebook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3. Open de link in de console (automatisch).</a:t>
            </a:r>
            <a:endParaRPr lang="nl-NL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5185BF-7D59-839C-B40D-85A67EDE26F1}"/>
              </a:ext>
            </a:extLst>
          </p:cNvPr>
          <p:cNvSpPr/>
          <p:nvPr/>
        </p:nvSpPr>
        <p:spPr>
          <a:xfrm>
            <a:off x="9086850" y="558272"/>
            <a:ext cx="2171700" cy="105092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Browser</a:t>
            </a:r>
            <a:endParaRPr lang="en-N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E33538-C8C4-1C3E-C9FA-9DEB16F60F7C}"/>
              </a:ext>
            </a:extLst>
          </p:cNvPr>
          <p:cNvSpPr/>
          <p:nvPr/>
        </p:nvSpPr>
        <p:spPr>
          <a:xfrm>
            <a:off x="9086850" y="2121783"/>
            <a:ext cx="2171700" cy="105092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Jupyter</a:t>
            </a:r>
            <a:endParaRPr lang="en-US" dirty="0"/>
          </a:p>
          <a:p>
            <a:pPr algn="ctr"/>
            <a:r>
              <a:rPr lang="en-US" dirty="0"/>
              <a:t>Server</a:t>
            </a:r>
            <a:endParaRPr lang="en-N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111FDA-DB2D-62F3-9B23-A9FEE526ED7E}"/>
              </a:ext>
            </a:extLst>
          </p:cNvPr>
          <p:cNvSpPr/>
          <p:nvPr/>
        </p:nvSpPr>
        <p:spPr>
          <a:xfrm>
            <a:off x="9086850" y="3685294"/>
            <a:ext cx="2171700" cy="105092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IPython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A71ED4-002C-DAB4-C927-FB469A237BB2}"/>
              </a:ext>
            </a:extLst>
          </p:cNvPr>
          <p:cNvSpPr/>
          <p:nvPr/>
        </p:nvSpPr>
        <p:spPr>
          <a:xfrm>
            <a:off x="9086850" y="5248804"/>
            <a:ext cx="2171700" cy="105092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Python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5706F5-08DC-E145-3D12-1CECCA4F2CE3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0172700" y="1609196"/>
            <a:ext cx="0" cy="512587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F3C4CA-EFB7-D533-17A4-6A5A2F758A97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0172700" y="3172707"/>
            <a:ext cx="0" cy="512587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294A07-8358-E610-3E9A-632423A8F974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10172700" y="4736218"/>
            <a:ext cx="0" cy="512586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301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Virtual Studio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3"/>
            <a:ext cx="8615099" cy="5116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4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Code: Overzicht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998" y="1069986"/>
            <a:ext cx="8615099" cy="511639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3EE54AB-CA0C-A167-4903-C9487ECFD50D}"/>
              </a:ext>
            </a:extLst>
          </p:cNvPr>
          <p:cNvSpPr/>
          <p:nvPr/>
        </p:nvSpPr>
        <p:spPr>
          <a:xfrm>
            <a:off x="1834364" y="1276770"/>
            <a:ext cx="2192866" cy="474133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side panel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41963B-E95A-15EE-12BF-B0F5169BED67}"/>
              </a:ext>
            </a:extLst>
          </p:cNvPr>
          <p:cNvSpPr/>
          <p:nvPr/>
        </p:nvSpPr>
        <p:spPr>
          <a:xfrm>
            <a:off x="4086497" y="1284708"/>
            <a:ext cx="6062133" cy="335332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editor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FF7756-F566-137A-8C0D-709A9B9BBBE4}"/>
              </a:ext>
            </a:extLst>
          </p:cNvPr>
          <p:cNvSpPr/>
          <p:nvPr/>
        </p:nvSpPr>
        <p:spPr>
          <a:xfrm>
            <a:off x="4088614" y="4682493"/>
            <a:ext cx="6062133" cy="13356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output / terminal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383199-6ED0-9DFE-0315-0D7DEC7AB311}"/>
              </a:ext>
            </a:extLst>
          </p:cNvPr>
          <p:cNvSpPr/>
          <p:nvPr/>
        </p:nvSpPr>
        <p:spPr>
          <a:xfrm>
            <a:off x="7824650" y="6018103"/>
            <a:ext cx="2323979" cy="47477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Python </a:t>
            </a:r>
            <a:r>
              <a:rPr lang="en-US" dirty="0" err="1">
                <a:solidFill>
                  <a:srgbClr val="FF0000"/>
                </a:solidFill>
              </a:rPr>
              <a:t>omgeving</a:t>
            </a:r>
            <a:endParaRPr lang="en-N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4975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8126E4-E480-0C54-1EB2-215BFBEC0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4"/>
            <a:ext cx="8615099" cy="5099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Code: Linker menu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947FF2-D85D-CA54-14DE-BCA195B13522}"/>
              </a:ext>
            </a:extLst>
          </p:cNvPr>
          <p:cNvSpPr/>
          <p:nvPr/>
        </p:nvSpPr>
        <p:spPr>
          <a:xfrm>
            <a:off x="1989667" y="1422400"/>
            <a:ext cx="2201333" cy="46736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700"/>
              </a:spcAft>
            </a:pPr>
            <a:r>
              <a:rPr lang="en-US" dirty="0"/>
              <a:t>Files</a:t>
            </a:r>
          </a:p>
          <a:p>
            <a:pPr>
              <a:spcAft>
                <a:spcPts val="700"/>
              </a:spcAft>
            </a:pPr>
            <a:r>
              <a:rPr lang="en-US" dirty="0"/>
              <a:t>Search</a:t>
            </a:r>
          </a:p>
          <a:p>
            <a:pPr>
              <a:spcAft>
                <a:spcPts val="700"/>
              </a:spcAft>
            </a:pPr>
            <a:r>
              <a:rPr lang="en-US" dirty="0"/>
              <a:t>Unit testing</a:t>
            </a:r>
          </a:p>
          <a:p>
            <a:pPr>
              <a:spcAft>
                <a:spcPts val="700"/>
              </a:spcAft>
            </a:pPr>
            <a:r>
              <a:rPr lang="en-US" dirty="0"/>
              <a:t>Debugger</a:t>
            </a:r>
          </a:p>
          <a:p>
            <a:pPr>
              <a:spcAft>
                <a:spcPts val="700"/>
              </a:spcAft>
            </a:pPr>
            <a:r>
              <a:rPr lang="en-US" dirty="0"/>
              <a:t>Version control</a:t>
            </a:r>
          </a:p>
          <a:p>
            <a:pPr>
              <a:spcAft>
                <a:spcPts val="700"/>
              </a:spcAft>
            </a:pPr>
            <a:r>
              <a:rPr lang="en-US" dirty="0"/>
              <a:t>Plugins</a:t>
            </a:r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r>
              <a:rPr lang="en-US" dirty="0"/>
              <a:t>Accounts</a:t>
            </a:r>
          </a:p>
          <a:p>
            <a:pPr>
              <a:spcAft>
                <a:spcPts val="700"/>
              </a:spcAft>
            </a:pPr>
            <a:r>
              <a:rPr lang="en-US" dirty="0"/>
              <a:t>Settings</a:t>
            </a:r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N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813DE5-CB72-48F8-08CE-236C8E7361EB}"/>
              </a:ext>
            </a:extLst>
          </p:cNvPr>
          <p:cNvSpPr/>
          <p:nvPr/>
        </p:nvSpPr>
        <p:spPr>
          <a:xfrm>
            <a:off x="1176866" y="1422400"/>
            <a:ext cx="3031067" cy="47053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sidebar menu</a:t>
            </a:r>
            <a:endParaRPr lang="en-N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37080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Setting voor de cursus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Open </a:t>
            </a:r>
            <a:r>
              <a:rPr lang="nl-NL" sz="2000" b="1" noProof="0" dirty="0" err="1"/>
              <a:t>Settings</a:t>
            </a:r>
            <a:r>
              <a:rPr lang="nl-NL" sz="2000" noProof="0" dirty="0"/>
              <a:t> (tandwiel of CTRL + ,)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Klik op </a:t>
            </a:r>
            <a:r>
              <a:rPr lang="nl-NL" sz="2000" b="1" noProof="0" dirty="0" err="1"/>
              <a:t>Extensions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Zoek naar </a:t>
            </a:r>
            <a:r>
              <a:rPr lang="nl-NL" sz="2000" b="1" noProof="0" dirty="0"/>
              <a:t>Python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Vink deze setting aan:</a:t>
            </a:r>
          </a:p>
          <a:p>
            <a:pPr marL="0" indent="0">
              <a:buNone/>
            </a:pPr>
            <a:r>
              <a:rPr lang="nl-NL" sz="2000" noProof="0" dirty="0"/>
              <a:t>    </a:t>
            </a:r>
            <a:r>
              <a:rPr lang="nl-NL" sz="2000" b="1" noProof="0" dirty="0"/>
              <a:t>Terminal: </a:t>
            </a:r>
            <a:r>
              <a:rPr lang="nl-NL" sz="2000" b="1" noProof="0" dirty="0" err="1"/>
              <a:t>Execute</a:t>
            </a:r>
            <a:r>
              <a:rPr lang="nl-NL" sz="2000" b="1" noProof="0" dirty="0"/>
              <a:t> In File Dir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5" y="1460763"/>
            <a:ext cx="4715935" cy="19682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715DFF-473D-EF2F-A10B-8B92AC29B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865" y="4287478"/>
            <a:ext cx="4715932" cy="68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658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85DCBE-F97F-45FA-1C33-E1AAE19C3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9" y="1882246"/>
            <a:ext cx="4716677" cy="239342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Settings</a:t>
            </a:r>
            <a:r>
              <a:rPr lang="nl-NL" sz="2000" b="1" noProof="0" dirty="0"/>
              <a:t>: CTRL + ,</a:t>
            </a:r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>
              <a:buFontTx/>
              <a:buChar char="-"/>
            </a:pPr>
            <a:r>
              <a:rPr lang="nl-NL" sz="2000" noProof="0" dirty="0"/>
              <a:t>Georganiseerd per sectie.</a:t>
            </a:r>
          </a:p>
          <a:p>
            <a:pPr>
              <a:buFontTx/>
              <a:buChar char="-"/>
            </a:pPr>
            <a:r>
              <a:rPr lang="nl-NL" sz="2000" noProof="0" dirty="0"/>
              <a:t>Bijvoorbeeld: </a:t>
            </a:r>
            <a:r>
              <a:rPr lang="nl-NL" sz="2000" noProof="0" dirty="0" err="1"/>
              <a:t>Extensions</a:t>
            </a:r>
            <a:r>
              <a:rPr lang="nl-NL" sz="2000" noProof="0" dirty="0"/>
              <a:t> =&gt; Python.</a:t>
            </a:r>
          </a:p>
          <a:p>
            <a:pPr>
              <a:buFontTx/>
              <a:buChar char="-"/>
            </a:pPr>
            <a:r>
              <a:rPr lang="nl-NL" sz="2000" noProof="0" dirty="0"/>
              <a:t>Vaak sneller via de zoekbalk.</a:t>
            </a:r>
          </a:p>
          <a:p>
            <a:pPr>
              <a:buFontTx/>
              <a:buChar char="-"/>
            </a:pPr>
            <a:r>
              <a:rPr lang="nl-NL" sz="2000" noProof="0" dirty="0"/>
              <a:t>Per gebruiker of per </a:t>
            </a:r>
            <a:r>
              <a:rPr lang="nl-NL" sz="2000" noProof="0" dirty="0" err="1"/>
              <a:t>workspace</a:t>
            </a:r>
            <a:r>
              <a:rPr lang="nl-NL" sz="2000" noProof="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0C1439B-4D1C-D712-D5E9-6DCB3EE4157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 err="1"/>
              <a:t>Command</a:t>
            </a:r>
            <a:r>
              <a:rPr lang="nl-NL" sz="2000" b="1" dirty="0"/>
              <a:t> palette: CTRL + SHIFT + P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Zoekbalk voor commando's.</a:t>
            </a:r>
          </a:p>
          <a:p>
            <a:pPr>
              <a:buFontTx/>
              <a:buChar char="-"/>
            </a:pPr>
            <a:r>
              <a:rPr lang="nl-NL" sz="2000" dirty="0"/>
              <a:t>Voorbeeld: Format Document.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454" y="1882246"/>
            <a:ext cx="4715935" cy="196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45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1233</TotalTime>
  <Words>1994</Words>
  <Application>Microsoft Office PowerPoint</Application>
  <PresentationFormat>Widescreen</PresentationFormat>
  <Paragraphs>568</Paragraphs>
  <Slides>40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Calibri</vt:lpstr>
      <vt:lpstr>Calibri Light</vt:lpstr>
      <vt:lpstr>Corbel Light</vt:lpstr>
      <vt:lpstr>Courier New</vt:lpstr>
      <vt:lpstr>Office Theme</vt:lpstr>
      <vt:lpstr>Python - Cursus</vt:lpstr>
      <vt:lpstr>Agenda</vt:lpstr>
      <vt:lpstr>Python</vt:lpstr>
      <vt:lpstr>Sterke en zwakke punten</vt:lpstr>
      <vt:lpstr>Sterke en zwakke punten</vt:lpstr>
      <vt:lpstr>Hoe werkt Python?</vt:lpstr>
      <vt:lpstr>Hoe werkt Python?</vt:lpstr>
      <vt:lpstr>Hoe werkt Python?</vt:lpstr>
      <vt:lpstr>Standaard packages</vt:lpstr>
      <vt:lpstr>Externe packages</vt:lpstr>
      <vt:lpstr>Werken met packages</vt:lpstr>
      <vt:lpstr>Conflicterende packages</vt:lpstr>
      <vt:lpstr>Virtuele omgevingen</vt:lpstr>
      <vt:lpstr>Beheer omgevingen met uv</vt:lpstr>
      <vt:lpstr>Commando’s</vt:lpstr>
      <vt:lpstr>Commando’s</vt:lpstr>
      <vt:lpstr>Commando’s</vt:lpstr>
      <vt:lpstr>Oefeningen 1</vt:lpstr>
      <vt:lpstr>Persoonlijke experimenten</vt:lpstr>
      <vt:lpstr>Project opzetten</vt:lpstr>
      <vt:lpstr>Project aanmaken</vt:lpstr>
      <vt:lpstr>Project aanmaken</vt:lpstr>
      <vt:lpstr>Afhankelijkheden</vt:lpstr>
      <vt:lpstr>Afhankelijkheden</vt:lpstr>
      <vt:lpstr>Versies opgeven</vt:lpstr>
      <vt:lpstr>Oefeningen 2</vt:lpstr>
      <vt:lpstr>Het uv.lock bestand</vt:lpstr>
      <vt:lpstr>Beheer van uv.lock</vt:lpstr>
      <vt:lpstr>Package maken</vt:lpstr>
      <vt:lpstr>Project vs package</vt:lpstr>
      <vt:lpstr>Package aanmaken</vt:lpstr>
      <vt:lpstr>Package aanmaken</vt:lpstr>
      <vt:lpstr>Ontwikkel omgevingen</vt:lpstr>
      <vt:lpstr>Keuze voor IDE</vt:lpstr>
      <vt:lpstr>Jupyter Notebook</vt:lpstr>
      <vt:lpstr>Virtual Studio Code</vt:lpstr>
      <vt:lpstr>VS Code: Overzicht interface</vt:lpstr>
      <vt:lpstr>VS Code: Linker menu</vt:lpstr>
      <vt:lpstr>Setting voor de cursus</vt:lpstr>
      <vt:lpstr>VS Code interface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841</cp:revision>
  <dcterms:created xsi:type="dcterms:W3CDTF">2022-11-09T07:34:24Z</dcterms:created>
  <dcterms:modified xsi:type="dcterms:W3CDTF">2026-09-16T13:41:06Z</dcterms:modified>
</cp:coreProperties>
</file>