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338" r:id="rId10"/>
    <p:sldId id="350" r:id="rId11"/>
    <p:sldId id="296" r:id="rId12"/>
    <p:sldId id="259" r:id="rId13"/>
    <p:sldId id="268" r:id="rId14"/>
    <p:sldId id="354" r:id="rId15"/>
    <p:sldId id="355" r:id="rId16"/>
    <p:sldId id="356" r:id="rId17"/>
    <p:sldId id="357" r:id="rId18"/>
    <p:sldId id="358" r:id="rId19"/>
    <p:sldId id="361" r:id="rId20"/>
    <p:sldId id="353" r:id="rId21"/>
    <p:sldId id="360" r:id="rId22"/>
    <p:sldId id="363" r:id="rId23"/>
    <p:sldId id="364" r:id="rId24"/>
    <p:sldId id="366" r:id="rId25"/>
    <p:sldId id="369" r:id="rId26"/>
    <p:sldId id="368" r:id="rId27"/>
    <p:sldId id="371" r:id="rId28"/>
    <p:sldId id="372" r:id="rId29"/>
    <p:sldId id="370" r:id="rId30"/>
    <p:sldId id="374" r:id="rId31"/>
    <p:sldId id="362" r:id="rId32"/>
    <p:sldId id="375" r:id="rId33"/>
    <p:sldId id="381" r:id="rId34"/>
    <p:sldId id="378" r:id="rId35"/>
    <p:sldId id="379" r:id="rId36"/>
    <p:sldId id="380" r:id="rId37"/>
    <p:sldId id="359" r:id="rId38"/>
    <p:sldId id="383" r:id="rId39"/>
    <p:sldId id="384" r:id="rId40"/>
    <p:sldId id="385" r:id="rId41"/>
    <p:sldId id="387" r:id="rId42"/>
    <p:sldId id="382" r:id="rId43"/>
    <p:sldId id="388" r:id="rId44"/>
    <p:sldId id="389" r:id="rId45"/>
    <p:sldId id="386" r:id="rId46"/>
    <p:sldId id="266" r:id="rId47"/>
    <p:sldId id="278" r:id="rId48"/>
    <p:sldId id="279" r:id="rId49"/>
    <p:sldId id="281" r:id="rId50"/>
    <p:sldId id="282" r:id="rId51"/>
    <p:sldId id="351" r:id="rId5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1" autoAdjust="0"/>
    <p:restoredTop sz="85404" autoAdjust="0"/>
  </p:normalViewPr>
  <p:slideViewPr>
    <p:cSldViewPr snapToGrid="0">
      <p:cViewPr varScale="1">
        <p:scale>
          <a:sx n="106" d="100"/>
          <a:sy n="106" d="100"/>
        </p:scale>
        <p:origin x="1037" y="72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A4752-B38B-2BB9-26FB-40F84317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19A2E-6D5D-E6A8-C7A8-96D5CB2A7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1B5AF-DEAF-4853-E8B9-EF0BA050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A4B97-91BD-62EA-DBA0-06B6DE37F2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0999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Package </a:t>
            </a:r>
            <a:r>
              <a:rPr lang="en-US" dirty="0" err="1"/>
              <a:t>maken</a:t>
            </a:r>
            <a:r>
              <a:rPr lang="en-US" dirty="0"/>
              <a:t> met </a:t>
            </a:r>
            <a:r>
              <a:rPr lang="en-US" dirty="0" err="1"/>
              <a:t>uv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3521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AF00C-45DB-1018-4C9A-40B3856B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512F4-2C36-5FD3-46A7-B1E588934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3D847-0E6E-C722-A0C3-70E4F6A0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E28C5-F857-DACC-A818-A81D8E108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49802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01CA9-D0D2-E678-717B-FBE066355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BA553-125A-BF5F-BD92-559CBBEC3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7B3C3-07A4-9341-F8D9-B79C24FF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	py3, py27, cp33</a:t>
            </a:r>
          </a:p>
          <a:p>
            <a:r>
              <a:rPr lang="en-US" dirty="0" err="1"/>
              <a:t>abi</a:t>
            </a:r>
            <a:r>
              <a:rPr lang="en-US" dirty="0"/>
              <a:t>:	none, abi3, cp33m</a:t>
            </a:r>
          </a:p>
          <a:p>
            <a:r>
              <a:rPr lang="en-US" dirty="0"/>
              <a:t>platform:	linux_x86_64, win32, any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77218-3AEB-557D-486B-FA22C33AC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2529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4278-44F6-28B1-F559-A6CEE265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841E9-93A6-0F45-3B30-D38C51AAB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21A4D-D19D-2B1A-8352-A186D454B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Upload to local </a:t>
            </a:r>
            <a:r>
              <a:rPr lang="en-US" dirty="0" err="1"/>
              <a:t>pypiserver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CE839-4E9B-D741-BEE0-7462634D1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172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80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.9/libra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2026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Python</a:t>
            </a:r>
            <a:endParaRPr lang="nl-NL" sz="2000" dirty="0"/>
          </a:p>
          <a:p>
            <a:pPr lvl="1">
              <a:spcAft>
                <a:spcPts val="600"/>
              </a:spcAft>
            </a:pPr>
            <a:r>
              <a:rPr lang="nl-NL" sz="1600" noProof="0" dirty="0"/>
              <a:t>Hoe werkt Python?</a:t>
            </a:r>
          </a:p>
          <a:p>
            <a:pPr lvl="1">
              <a:spcAft>
                <a:spcPts val="600"/>
              </a:spcAft>
            </a:pPr>
            <a:r>
              <a:rPr lang="nl-NL" sz="1600" noProof="0" dirty="0"/>
              <a:t>Virtuele omgevingen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Projecten en packages</a:t>
            </a:r>
            <a:endParaRPr lang="nl-NL" sz="16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IDE's</a:t>
            </a:r>
            <a:endParaRPr lang="nl-NL" sz="1600" dirty="0"/>
          </a:p>
          <a:p>
            <a:pPr lvl="1">
              <a:spcAft>
                <a:spcPts val="600"/>
              </a:spcAft>
            </a:pPr>
            <a:r>
              <a:rPr lang="nl-NL" sz="1600" noProof="0" dirty="0" err="1"/>
              <a:t>Marimo</a:t>
            </a:r>
            <a:r>
              <a:rPr lang="nl-NL" sz="1600" noProof="0" dirty="0"/>
              <a:t> Notebook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Visual Studio Code</a:t>
            </a:r>
            <a:endParaRPr lang="nl-NL" sz="16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Sterke punten: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online informatie.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Uitgebreid ecosysteem van uitbreidingen.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Breed inzetbaar.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Zwakke punten: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Relatief traag  (vgl. C, C++, Scala, Rust).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in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int)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!= 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065" y="3974574"/>
            <a:ext cx="6891867" cy="1215492"/>
          </a:xfrm>
        </p:spPr>
        <p:txBody>
          <a:bodyPr>
            <a:normAutofit/>
          </a:bodyPr>
          <a:lstStyle/>
          <a:p>
            <a:r>
              <a:rPr lang="nl-NL" sz="2000" noProof="0" dirty="0"/>
              <a:t>Python code wordt geïnterpreteerd (vs. gecompileerd).</a:t>
            </a:r>
          </a:p>
          <a:p>
            <a:r>
              <a:rPr lang="nl-NL" sz="2000" dirty="0" err="1"/>
              <a:t>CPython</a:t>
            </a:r>
            <a:r>
              <a:rPr lang="nl-NL" sz="2000" dirty="0"/>
              <a:t>: Python code wordt omgezet naar C instructies.</a:t>
            </a:r>
            <a:endParaRPr lang="nl-NL" sz="2000" noProof="0" dirty="0"/>
          </a:p>
          <a:p>
            <a:r>
              <a:rPr lang="nl-NL" sz="20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4878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breiden standaard functionaliteit uit.</a:t>
            </a:r>
          </a:p>
          <a:p>
            <a:r>
              <a:rPr lang="nl-NL" sz="2000" dirty="0"/>
              <a:t>Sommige packages zijn geschreven in Python.</a:t>
            </a:r>
          </a:p>
          <a:p>
            <a:r>
              <a:rPr lang="nl-NL" sz="20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5513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kunnen ook geschreven zijn in C / C++ / Rust.</a:t>
            </a:r>
          </a:p>
          <a:p>
            <a:r>
              <a:rPr lang="nl-NL" sz="2000" dirty="0"/>
              <a:t>Ze bieden dan alleen Python instructies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Met Python komen veel </a:t>
            </a:r>
            <a:r>
              <a:rPr lang="nl-NL" sz="1800" dirty="0">
                <a:cs typeface="Courier New" panose="02070309020205020404" pitchFamily="49" charset="0"/>
              </a:rPr>
              <a:t>packages mee.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 zelf.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zipfile</a:t>
            </a:r>
            <a:r>
              <a:rPr lang="nl-NL" sz="1600" dirty="0">
                <a:cs typeface="Courier New" panose="02070309020205020404" pitchFamily="49" charset="0"/>
              </a:rPr>
              <a:t>		Functies voor zip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b="1" noProof="0" dirty="0"/>
              <a:t>: download package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Download code van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r>
              <a:rPr lang="nl-NL" sz="1800" b="1" noProof="0" dirty="0"/>
              <a:t>: installeer package</a:t>
            </a:r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>
                <a:cs typeface="Courier New" panose="02070309020205020404" pitchFamily="49" charset="0"/>
              </a:rPr>
              <a:t>uit en kopieert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1 en 2 voor afhankelijkheden</a:t>
            </a:r>
          </a:p>
          <a:p>
            <a:pPr marL="0" indent="0">
              <a:buNone/>
            </a:pPr>
            <a:r>
              <a:rPr lang="nl-NL" sz="1800" dirty="0"/>
              <a:t>Als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pyproject.toml</a:t>
            </a:r>
            <a:endParaRPr lang="en-NL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./.</a:t>
            </a:r>
            <a:r>
              <a:rPr lang="en-US" dirty="0" err="1"/>
              <a:t>venv</a:t>
            </a:r>
            <a:r>
              <a:rPr lang="en-US" dirty="0"/>
              <a:t>/lib/site-packages/</a:t>
            </a:r>
            <a:endParaRPr lang="en-NL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</a:t>
            </a:r>
            <a:r>
              <a:rPr lang="nl-NL" dirty="0" err="1"/>
              <a:t>pandas</a:t>
            </a:r>
            <a:endParaRPr lang="nl-NL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Packages zijn bouwstenen die je kunt gebruiken in je eigen code door ze te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Tot slot doorzoekt Python de systeem locaties:</a:t>
            </a:r>
          </a:p>
          <a:p>
            <a:pPr marL="0" indent="0">
              <a:buNone/>
            </a:pPr>
            <a:r>
              <a:rPr lang="nl-NL" sz="2000" dirty="0"/>
              <a:t>Zie </a:t>
            </a:r>
            <a:r>
              <a:rPr lang="nl-NL" sz="2000" dirty="0" err="1">
                <a:latin typeface="Corbel Light" panose="020B0303020204020204" pitchFamily="34" charset="0"/>
              </a:rPr>
              <a:t>sys.path</a:t>
            </a:r>
            <a:r>
              <a:rPr lang="nl-NL" sz="2000" dirty="0"/>
              <a:t> voor een overzicht.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Daarna doorzoekt Python de standaard bibliotheek:</a:t>
            </a:r>
          </a:p>
          <a:p>
            <a:pPr marL="0" indent="0">
              <a:buNone/>
            </a:pPr>
            <a:r>
              <a:rPr lang="nl-NL" sz="2000" dirty="0">
                <a:hlinkClick r:id="rId2"/>
              </a:rPr>
              <a:t>https://docs.python.org/3.9/library/</a:t>
            </a:r>
            <a:endParaRPr lang="nl-NL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Eerst doorzoekt Python huidige directory (werk directory).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packages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beheer je: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Python interpreter</a:t>
            </a:r>
          </a:p>
          <a:p>
            <a:pPr>
              <a:buFontTx/>
              <a:buChar char="-"/>
            </a:pPr>
            <a:r>
              <a:rPr lang="nl-NL" sz="2000" noProof="0" dirty="0"/>
              <a:t>Externe packages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een aparte installatie voor iedere omgeving.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Helpt bij opzetten van projecten inclusief afhankelijkheden.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python.exe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main.py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Aanmaken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Installeren packages: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Packages updaten: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Packages bekijken: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Packages verwijderen: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Omgeving activeren / deactiveren: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hierin een nieuwe virtuele omgeving met Python 3.13.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het package </a:t>
            </a:r>
            <a:r>
              <a:rPr lang="nl-NL" sz="2000" dirty="0" err="1"/>
              <a:t>marimo</a:t>
            </a:r>
            <a:r>
              <a:rPr lang="nl-NL" sz="2000" dirty="0"/>
              <a:t> in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Het beheer van virtuele omgevingen op deze manier werkt voor persoonlijke experimenten.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Welke packages je gebruikt wordt nergens bijgehouden.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1F3-236A-370D-17B6-9388E56B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7D01-B72D-4884-4E41-5EECA5F16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9E4E0-BE6B-C82A-1C3F-3479FA7F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20376-6F53-DA36-4255-6FFC1837178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318899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Je kunt met </a:t>
            </a:r>
            <a:r>
              <a:rPr lang="nl-NL" sz="2000" noProof="0" dirty="0" err="1"/>
              <a:t>uv</a:t>
            </a:r>
            <a:r>
              <a:rPr lang="nl-NL" sz="2000" noProof="0" dirty="0"/>
              <a:t> eenvoudig packages toevoegen aan je project: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Voegt package toe aan dependencies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</a:t>
            </a:r>
            <a:r>
              <a:rPr lang="nl-NL" sz="2000" noProof="0" dirty="0" err="1"/>
              <a:t>add</a:t>
            </a:r>
            <a:r>
              <a:rPr lang="nl-NL" sz="2000" noProof="0" dirty="0"/>
              <a:t> kun je versies ook updaten: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update het package ook in de virtuele omgeving als dat nodig is.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packages verwijderen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2000" dirty="0"/>
              <a:t>major:      niet </a:t>
            </a:r>
            <a:r>
              <a:rPr lang="nl-NL" sz="2000" dirty="0" err="1"/>
              <a:t>backwards</a:t>
            </a:r>
            <a:r>
              <a:rPr lang="nl-NL" sz="2000" dirty="0"/>
              <a:t> compatible.</a:t>
            </a:r>
          </a:p>
          <a:p>
            <a:pPr>
              <a:buFontTx/>
              <a:buChar char="-"/>
            </a:pPr>
            <a:r>
              <a:rPr lang="nl-NL" sz="20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2000" dirty="0"/>
              <a:t>patch:       bug </a:t>
            </a:r>
            <a:r>
              <a:rPr lang="nl-NL" sz="2000" dirty="0" err="1"/>
              <a:t>fixes</a:t>
            </a:r>
            <a:r>
              <a:rPr lang="nl-NL" sz="2000" dirty="0"/>
              <a:t>, security patches.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2000" dirty="0"/>
              <a:t>exacte versie: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2000" dirty="0"/>
              <a:t>patch versie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2000" dirty="0"/>
              <a:t>versiebereik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&gt;=2.3,&lt;3</a:t>
            </a:r>
          </a:p>
          <a:p>
            <a:pPr>
              <a:buFontTx/>
              <a:buChar char="-"/>
            </a:pPr>
            <a:r>
              <a:rPr lang="nl-NL" sz="2000" dirty="0"/>
              <a:t>minimale versie: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2.3.1    #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2.31     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2.3,&lt;3   # 2.x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2.3      # 2.x + 3.x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nl-NL" sz="2000" dirty="0"/>
              <a:t>Start een nieuw project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het package </a:t>
            </a:r>
            <a:r>
              <a:rPr lang="nl-NL" sz="2000" dirty="0" err="1"/>
              <a:t>marimo</a:t>
            </a:r>
            <a:r>
              <a:rPr lang="nl-NL" sz="2000" dirty="0"/>
              <a:t> toe aan het project.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</a:t>
            </a:r>
            <a:r>
              <a:rPr lang="nl-NL" sz="2000" dirty="0" err="1"/>
              <a:t>pandas</a:t>
            </a:r>
            <a:r>
              <a:rPr lang="nl-NL" sz="20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Wat staat er in </a:t>
            </a:r>
            <a:r>
              <a:rPr lang="nl-NL" sz="1600" dirty="0" err="1"/>
              <a:t>pyproject.toml</a:t>
            </a:r>
            <a:r>
              <a:rPr lang="nl-NL" sz="1600" dirty="0"/>
              <a:t>?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Welk package werd geïnstalleerd?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Verander nu de versie van </a:t>
            </a:r>
            <a:r>
              <a:rPr lang="nl-NL" sz="2000" dirty="0" err="1"/>
              <a:t>pandas</a:t>
            </a:r>
            <a:r>
              <a:rPr lang="nl-NL" sz="2000" dirty="0"/>
              <a:t> naar 2.3.1, wat gebeurt er?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</a:t>
            </a:r>
            <a:r>
              <a:rPr lang="nl-NL" sz="2000" dirty="0" err="1"/>
              <a:t>sklearn</a:t>
            </a:r>
            <a:r>
              <a:rPr lang="nl-NL" sz="2000" dirty="0"/>
              <a:t> in het Notebook.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Versie specificaties laten meestal ruimte voor verschillende versies.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 bestand bevat de precieze versies in de virtuele omgeving.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Met dit bestand probeert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 de omgeving te recreëren.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Als dit niet lukt, worden alternatieven gezocht.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Updaten </a:t>
            </a:r>
            <a:r>
              <a:rPr lang="nl-NL" sz="2000" dirty="0" err="1"/>
              <a:t>lock</a:t>
            </a:r>
            <a:r>
              <a:rPr lang="nl-NL" sz="2000" dirty="0"/>
              <a:t> file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Gelijktrekken omgeving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DAD0D8-BCAD-2099-7471-B0D8926255BD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</a:t>
            </a:r>
            <a:r>
              <a:rPr lang="nl-NL" sz="3600" dirty="0" err="1"/>
              <a:t>vs</a:t>
            </a:r>
            <a:r>
              <a:rPr lang="nl-NL" sz="3600" dirty="0"/>
              <a:t>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Project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dirty="0"/>
              <a:t>Eindgebruiker werkt direct met de scripts.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noProof="0" dirty="0" err="1"/>
              <a:t>Expl</a:t>
            </a:r>
            <a:r>
              <a:rPr lang="nl-NL" sz="2000" dirty="0" err="1"/>
              <a:t>oratieve</a:t>
            </a:r>
            <a:r>
              <a:rPr lang="nl-NL" sz="2000" dirty="0"/>
              <a:t> analyse</a:t>
            </a:r>
          </a:p>
          <a:p>
            <a:pPr lvl="1">
              <a:buFontTx/>
              <a:buChar char="-"/>
            </a:pPr>
            <a:r>
              <a:rPr lang="nl-NL" sz="2000" noProof="0" dirty="0"/>
              <a:t>We</a:t>
            </a:r>
            <a:r>
              <a:rPr lang="nl-NL" sz="2000" dirty="0"/>
              <a:t>b applicatie</a:t>
            </a:r>
            <a:endParaRPr lang="nl-NL" sz="20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/>
              <a:t>Package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dirty="0"/>
          </a:p>
          <a:p>
            <a:pPr>
              <a:buFontTx/>
              <a:buChar char="-"/>
            </a:pPr>
            <a:r>
              <a:rPr lang="nl-NL" sz="2000" dirty="0"/>
              <a:t>Eindgebruiker importeert code in eigen scripts.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dirty="0" err="1"/>
              <a:t>pandas</a:t>
            </a:r>
            <a:endParaRPr lang="nl-NL" sz="2000" dirty="0"/>
          </a:p>
          <a:p>
            <a:pPr lvl="1">
              <a:buFontTx/>
              <a:buChar char="-"/>
            </a:pPr>
            <a:r>
              <a:rPr lang="nl-NL" sz="2000" dirty="0" err="1"/>
              <a:t>scikit-learn</a:t>
            </a: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853944"/>
            <a:ext cx="4715935" cy="5323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here"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"Lukas Koning"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-system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&gt;=0.11"]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AC40-0CCD-694E-5EB8-28486C6D9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61A70-A25B-3837-ECA5-6E52837F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__init__.py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C34B6-73FE-8D2C-821A-E3F2717FA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Door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2000" dirty="0"/>
              <a:t> kun je scripts (modules) uit de folder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Meestal leeg bestand, maar kan code bevatten.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Deze code wordt geladen als de module geïmporteerd wordt.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Vaak om functionaliteit direct onder het package beschikbaar te maken.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32A8D-4525-DFAF-8266-055AF170105E}"/>
              </a:ext>
            </a:extLst>
          </p:cNvPr>
          <p:cNvSpPr txBox="1">
            <a:spLocks/>
          </p:cNvSpPr>
          <p:nvPr/>
        </p:nvSpPr>
        <p:spPr>
          <a:xfrm>
            <a:off x="6637869" y="853944"/>
            <a:ext cx="4715935" cy="5323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72153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7F77-C68C-0836-50D7-EEB08DB8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2E1F-7244-7A5F-0C33-4C22BC03D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structuur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1B784-42DE-766F-0FEF-50C835D7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In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2000" dirty="0"/>
              <a:t> maakt </a:t>
            </a:r>
            <a:r>
              <a:rPr lang="nl-NL" sz="2000" dirty="0" err="1"/>
              <a:t>uv</a:t>
            </a:r>
            <a:r>
              <a:rPr lang="nl-NL" sz="2000" dirty="0"/>
              <a:t> een voorbeeld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/>
              <a:t> functie aan.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Deze </a:t>
            </a:r>
            <a:r>
              <a:rPr lang="nl-NL" sz="2000" dirty="0" err="1"/>
              <a:t>main</a:t>
            </a:r>
            <a:r>
              <a:rPr lang="nl-NL" sz="2000" dirty="0"/>
              <a:t> functie is direct beschikbaar onder het package: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 wordt hier een script / commando aan gekoppeld.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</a:t>
            </a:r>
            <a:r>
              <a:rPr lang="nl-NL" sz="2000" dirty="0"/>
              <a:t> commando roept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2000" dirty="0">
                <a:cs typeface="Courier New" panose="02070309020205020404" pitchFamily="49" charset="0"/>
              </a:rPr>
              <a:t> aan.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5D9107-F97F-7E2E-AF47-6EAC772B856F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__init__.py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def main() -&gt; None: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print("Hello from my-package!")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3AE07B-E011-2848-660B-ED976D4EF4DB}"/>
              </a:ext>
            </a:extLst>
          </p:cNvPr>
          <p:cNvCxnSpPr/>
          <p:nvPr/>
        </p:nvCxnSpPr>
        <p:spPr>
          <a:xfrm>
            <a:off x="6755980" y="3740727"/>
            <a:ext cx="440574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CDE28A-DF4E-55A0-2B30-B92E34119025}"/>
              </a:ext>
            </a:extLst>
          </p:cNvPr>
          <p:cNvCxnSpPr/>
          <p:nvPr/>
        </p:nvCxnSpPr>
        <p:spPr>
          <a:xfrm>
            <a:off x="6755980" y="5109808"/>
            <a:ext cx="440574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4252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A839-8353-5874-5566-9C4519C4E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1C2D7AC-E3A1-91EF-AAAA-1D62429C1B3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728364" y="2307337"/>
            <a:ext cx="0" cy="24715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649A6F-1C27-17A8-349D-097CCCF0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ontwikkelen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D8557-B4B0-4AB3-6D7F-EB4A14A4F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Bedoeling van een package is gebruik in een *ander* project.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Draai de code niet in de folder van het package zelf!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 een andere virtuele omgeving aan en installeer het package daarin.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gebruik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editable</a:t>
            </a:r>
            <a:r>
              <a:rPr lang="nl-NL" sz="2000" dirty="0"/>
              <a:t> installatie.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0C9AAE-523A-F1C2-BA44-0125F02209A6}"/>
              </a:ext>
            </a:extLst>
          </p:cNvPr>
          <p:cNvSpPr/>
          <p:nvPr/>
        </p:nvSpPr>
        <p:spPr>
          <a:xfrm>
            <a:off x="7133831" y="1456267"/>
            <a:ext cx="3189065" cy="851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my-package/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C312A6-5F98-D8CD-33DC-3F562FE715C9}"/>
              </a:ext>
            </a:extLst>
          </p:cNvPr>
          <p:cNvSpPr/>
          <p:nvPr/>
        </p:nvSpPr>
        <p:spPr>
          <a:xfrm>
            <a:off x="7133831" y="4778913"/>
            <a:ext cx="3189065" cy="85107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develop/.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8CE65A-F0B5-4EFF-0D98-5F7362C9BBBD}"/>
              </a:ext>
            </a:extLst>
          </p:cNvPr>
          <p:cNvSpPr/>
          <p:nvPr/>
        </p:nvSpPr>
        <p:spPr>
          <a:xfrm>
            <a:off x="6502820" y="3297522"/>
            <a:ext cx="4451086" cy="4912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pip install --editable ../my-package</a:t>
            </a:r>
          </a:p>
        </p:txBody>
      </p:sp>
    </p:spTree>
    <p:extLst>
      <p:ext uri="{BB962C8B-B14F-4D97-AF65-F5344CB8AC3E}">
        <p14:creationId xmlns:p14="http://schemas.microsoft.com/office/powerpoint/2010/main" val="1551584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B8F7-07CD-6469-2DE3-1D233FBA4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99B4D-18D1-74CA-3912-95130F7BB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4D4B-5806-5B58-E67F-2C5199CC8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nieuw package aan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math.py</a:t>
            </a:r>
            <a:r>
              <a:rPr lang="nl-NL" sz="2000" dirty="0"/>
              <a:t> aan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/package/</a:t>
            </a:r>
            <a:r>
              <a:rPr lang="nl-NL" sz="2000" dirty="0"/>
              <a:t> 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Definieer hierin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(zie rechts).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elders een virtuele omgeving en installeer daarin je package.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in de nieuwe virtuele omgeving.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F93B-3F21-72C9-B345-35AFF6C7FE2C}"/>
              </a:ext>
            </a:extLst>
          </p:cNvPr>
          <p:cNvSpPr txBox="1">
            <a:spLocks/>
          </p:cNvSpPr>
          <p:nvPr/>
        </p:nvSpPr>
        <p:spPr>
          <a:xfrm>
            <a:off x="7136981" y="1456267"/>
            <a:ext cx="4085201" cy="1294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7075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distribueren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FD8F-A03A-58F2-4CB9-57D4B5FB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473E8-5653-8689-3228-526A1CA2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Broncode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6F454-E47E-96CC-CF07-0712BAE4E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Je kunt broncode direct installeren: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Download de code en installeert het package.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Maar… versiebeheer afhankelijk van git: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&gt;@main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&gt;@v2.34.2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&gt;@6e83187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1A6922-D845-ECE8-6318-E12615476DA8}"/>
              </a:ext>
            </a:extLst>
          </p:cNvPr>
          <p:cNvGrpSpPr/>
          <p:nvPr/>
        </p:nvGrpSpPr>
        <p:grpSpPr>
          <a:xfrm>
            <a:off x="6502820" y="1729757"/>
            <a:ext cx="4451087" cy="4173716"/>
            <a:chOff x="6502820" y="1456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A648842-EC7E-EE81-A33F-5CC734E912DF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8728364" y="2307337"/>
              <a:ext cx="0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562140A-ADC5-83ED-1E1A-D2C5249441E4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https://github.com/psf/requests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F74266-7C29-C295-07F3-6A797C8E2093}"/>
                </a:ext>
              </a:extLst>
            </p:cNvPr>
            <p:cNvSpPr/>
            <p:nvPr/>
          </p:nvSpPr>
          <p:spPr>
            <a:xfrm>
              <a:off x="7133831" y="4778913"/>
              <a:ext cx="318906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17265F-1CAB-BB0D-452E-6D884CBC670C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git+&lt;repo&gt;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37018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5CD8-9F0E-92CE-39CE-33C0A880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5A75-3D07-D716-ECB2-C304BA62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Converteren naar binair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065DE-4B5C-D310-0F17-74CD0268E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Converteer je code naar binair formaat met een </a:t>
            </a:r>
            <a:r>
              <a:rPr lang="nl-NL" sz="2000" dirty="0" err="1"/>
              <a:t>build</a:t>
            </a:r>
            <a:r>
              <a:rPr lang="nl-NL" sz="2000" dirty="0"/>
              <a:t>-system: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maakt een </a:t>
            </a:r>
            <a:r>
              <a:rPr lang="nl-NL" sz="2000" dirty="0" err="1"/>
              <a:t>wheel</a:t>
            </a:r>
            <a:r>
              <a:rPr lang="nl-NL" sz="2000" dirty="0"/>
              <a:t> bestand met in de naam: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het package: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0.1.0</a:t>
            </a:r>
          </a:p>
          <a:p>
            <a:pPr>
              <a:buFontTx/>
              <a:buChar char="-"/>
            </a:pPr>
            <a:r>
              <a:rPr lang="nl-NL" sz="2000" dirty="0"/>
              <a:t>versie van Python: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py3</a:t>
            </a:r>
          </a:p>
          <a:p>
            <a:pPr>
              <a:buFontTx/>
              <a:buChar char="-"/>
            </a:pPr>
            <a:r>
              <a:rPr lang="nl-NL" sz="2000" dirty="0"/>
              <a:t>Python ABI:	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>
              <a:buFontTx/>
              <a:buChar char="-"/>
            </a:pPr>
            <a:r>
              <a:rPr lang="nl-NL" sz="2000" dirty="0"/>
              <a:t>operating system: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7AFEAF-AD63-64A7-1B9D-FD2273BE6AE9}"/>
              </a:ext>
            </a:extLst>
          </p:cNvPr>
          <p:cNvGrpSpPr/>
          <p:nvPr/>
        </p:nvGrpSpPr>
        <p:grpSpPr>
          <a:xfrm>
            <a:off x="6524420" y="1729757"/>
            <a:ext cx="4451087" cy="4173716"/>
            <a:chOff x="6524420" y="1528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A85FC4C-A36E-D872-2870-86D7F9F7153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49963" y="2379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5628CB-806A-5663-1981-2DBB6482CAA6}"/>
                </a:ext>
              </a:extLst>
            </p:cNvPr>
            <p:cNvSpPr/>
            <p:nvPr/>
          </p:nvSpPr>
          <p:spPr>
            <a:xfrm>
              <a:off x="6524421" y="1528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869D36-B1C6-20C0-9D57-35D764893D2F}"/>
                </a:ext>
              </a:extLst>
            </p:cNvPr>
            <p:cNvSpPr/>
            <p:nvPr/>
          </p:nvSpPr>
          <p:spPr>
            <a:xfrm>
              <a:off x="6524420" y="4850913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my_package-0.1.0-py3-none-any.whl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FD7DE79-C42C-A7B4-D406-799063FBD85F}"/>
                </a:ext>
              </a:extLst>
            </p:cNvPr>
            <p:cNvSpPr/>
            <p:nvPr/>
          </p:nvSpPr>
          <p:spPr>
            <a:xfrm>
              <a:off x="6524420" y="28363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.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E0ACE9B-9639-1F15-6C26-0B54030B1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421" y="3816505"/>
              <a:ext cx="4451084" cy="5774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930485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FA1FD-549C-9666-BA43-A2579694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576C-E2A8-433A-EC2F-91DC1EB67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Binaire 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01D55-F67E-F32F-B691-5AAA3008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Upload binaire code naar een index server: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publish-url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 server&gt;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de code beschikbaar voor pip, inclusief versie, platform, et cetera.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--index-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 server&gt;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D9A45AE-8BEF-5F37-0781-4957DDD51EA6}"/>
              </a:ext>
            </a:extLst>
          </p:cNvPr>
          <p:cNvGrpSpPr/>
          <p:nvPr/>
        </p:nvGrpSpPr>
        <p:grpSpPr>
          <a:xfrm>
            <a:off x="6502820" y="962419"/>
            <a:ext cx="4451087" cy="4933162"/>
            <a:chOff x="6502820" y="696821"/>
            <a:chExt cx="4451087" cy="493316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68131C4-B0C9-7E6D-C1C3-D1C431FE1FB8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8728364" y="3588937"/>
              <a:ext cx="0" cy="11899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0000CB-E155-F059-078A-5DE49CF80954}"/>
                </a:ext>
              </a:extLst>
            </p:cNvPr>
            <p:cNvSpPr/>
            <p:nvPr/>
          </p:nvSpPr>
          <p:spPr>
            <a:xfrm>
              <a:off x="6502821" y="2737867"/>
              <a:ext cx="4451086" cy="851070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Index Server</a:t>
              </a: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PyPI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21764A-0E67-0457-73EC-ABC40DE07B9B}"/>
                </a:ext>
              </a:extLst>
            </p:cNvPr>
            <p:cNvSpPr/>
            <p:nvPr/>
          </p:nvSpPr>
          <p:spPr>
            <a:xfrm>
              <a:off x="7133831" y="4778913"/>
              <a:ext cx="318906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2E8DF65-FD55-7298-A153-F6C95A705902}"/>
                </a:ext>
              </a:extLst>
            </p:cNvPr>
            <p:cNvSpPr/>
            <p:nvPr/>
          </p:nvSpPr>
          <p:spPr>
            <a:xfrm>
              <a:off x="6502820" y="39383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my-package==0.1.0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0CA29D2-23B6-22D2-4C8A-4A21FA28CE39}"/>
                </a:ext>
              </a:extLst>
            </p:cNvPr>
            <p:cNvSpPr/>
            <p:nvPr/>
          </p:nvSpPr>
          <p:spPr>
            <a:xfrm>
              <a:off x="6502820" y="1897276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publish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64E7FC8-1A28-1890-7479-718F68B387C0}"/>
                </a:ext>
              </a:extLst>
            </p:cNvPr>
            <p:cNvSpPr/>
            <p:nvPr/>
          </p:nvSpPr>
          <p:spPr>
            <a:xfrm>
              <a:off x="7133831" y="696821"/>
              <a:ext cx="3189065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93753A-E6E0-87A6-CB71-F3A1C9A1EDC9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>
              <a:off x="8728364" y="1547891"/>
              <a:ext cx="0" cy="11899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108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973CD-B7DD-8608-BFE6-0A22348A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A396B-EB46-9406-7CBC-6569422F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02B2-8E1C-F184-CDD1-48666B4E6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Ga naar de folder van je package uit de vorige opdracht.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Converteer het package naar binair met </a:t>
            </a:r>
            <a:r>
              <a:rPr lang="nl-NL" sz="2000" dirty="0" err="1"/>
              <a:t>uv</a:t>
            </a:r>
            <a:r>
              <a:rPr lang="nl-NL" sz="2000" dirty="0"/>
              <a:t> </a:t>
            </a:r>
            <a:r>
              <a:rPr lang="nl-NL" sz="2000" dirty="0" err="1"/>
              <a:t>build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Open 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tar.gz</a:t>
            </a:r>
            <a:r>
              <a:rPr lang="nl-NL" sz="2000" dirty="0"/>
              <a:t> bestand; wat zit hierin?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Kun je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/>
              <a:t> installeren via git?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0437867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FF924-F7F6-8A4F-23F7-CCFB08CA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08656-8266-CA23-72A0-4248BAA73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Samenvatting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54083-19DA-61E6-4479-3881631FA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4695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ACF26-CDDB-9E30-EAFF-DC4A0596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F0A2-42C2-CB16-67AB-4E41F988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Python &amp; virtuele omgevingen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A9B36-8AE1-6631-2007-24A3AFCBB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Python is een geïnterpreteerde taal.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Ecosysteem is kracht van Python; veel packages beschikbaar.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Python projecten hebben eigen afhankelijkheden (inclusief versies).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Virtuele omgevingen vereenvoudigen beheer hiervan.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5336853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3694F-674D-E339-09F0-64A91A0B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843F1-5DA6-BB5D-84DF-3E3A5AA2C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DB66D-093F-B7DF-44CE-ACB5BCD3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6520202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Beheer van virtuele omgevingen eenvoudig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Handmatig beheer van persoonlijke omgevingen.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Beheer van Python projecten en packages: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lvl="1"/>
            <a:r>
              <a:rPr lang="nl-NL" sz="1800" noProof="0" dirty="0"/>
              <a:t>Opzet project of package structuur.</a:t>
            </a:r>
          </a:p>
          <a:p>
            <a:pPr lvl="1"/>
            <a:r>
              <a:rPr lang="nl-NL" sz="1800" dirty="0"/>
              <a:t>Voorzet voor installatiebestand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).</a:t>
            </a:r>
          </a:p>
          <a:p>
            <a:pPr lvl="1"/>
            <a:r>
              <a:rPr lang="nl-NL" sz="1800" noProof="0" dirty="0"/>
              <a:t>Eenvoudig beheer van afhankelijkheden.</a:t>
            </a:r>
          </a:p>
          <a:p>
            <a:pPr marL="457200" indent="-457200">
              <a:buFont typeface="+mj-lt"/>
              <a:buAutoNum type="arabicPeriod"/>
            </a:pPr>
            <a:endParaRPr lang="nl-NL" sz="2200" dirty="0"/>
          </a:p>
          <a:p>
            <a:pPr marL="457200" indent="-457200">
              <a:buFont typeface="+mj-lt"/>
              <a:buAutoNum type="arabicPeriod"/>
            </a:pPr>
            <a:r>
              <a:rPr lang="nl-NL" sz="2000" noProof="0" dirty="0"/>
              <a:t>Broncode distribueren via repository of als binair package via index.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475F1C-7AE3-0113-4FC4-077F0EDB9202}"/>
              </a:ext>
            </a:extLst>
          </p:cNvPr>
          <p:cNvSpPr txBox="1">
            <a:spLocks/>
          </p:cNvSpPr>
          <p:nvPr/>
        </p:nvSpPr>
        <p:spPr>
          <a:xfrm>
            <a:off x="7826400" y="1456267"/>
            <a:ext cx="35274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run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C09FAF-7102-3D5C-56E7-19FB5AB952F3}"/>
              </a:ext>
            </a:extLst>
          </p:cNvPr>
          <p:cNvCxnSpPr/>
          <p:nvPr/>
        </p:nvCxnSpPr>
        <p:spPr>
          <a:xfrm>
            <a:off x="7228800" y="1267200"/>
            <a:ext cx="0" cy="4780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79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A546B-FB76-B9EE-8C66-D103BAA5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54707D-C12B-74B9-0C76-A3B4E0F8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IDE's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9D839-E993-F785-769D-29219C4E8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75932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Marimo</a:t>
            </a:r>
            <a:r>
              <a:rPr lang="nl-NL" sz="2000" b="1" noProof="0" dirty="0"/>
              <a:t> / </a:t>
            </a:r>
            <a:r>
              <a:rPr lang="nl-NL" sz="2000" b="1" noProof="0" dirty="0" err="1"/>
              <a:t>Jupyter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interactief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 Qua functionaliteit vrij beperkt.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Foutgevoelig, snel onoverzichtelijk.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+    Zowel scripts als Notebooks.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-     Kost wat moeite om op te zetten.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Overzicht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98" y="1069986"/>
            <a:ext cx="8615099" cy="511639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EE54AB-CA0C-A167-4903-C9487ECFD50D}"/>
              </a:ext>
            </a:extLst>
          </p:cNvPr>
          <p:cNvSpPr/>
          <p:nvPr/>
        </p:nvSpPr>
        <p:spPr>
          <a:xfrm>
            <a:off x="1834364" y="1276770"/>
            <a:ext cx="2192866" cy="47413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 panel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41963B-E95A-15EE-12BF-B0F5169BED67}"/>
              </a:ext>
            </a:extLst>
          </p:cNvPr>
          <p:cNvSpPr/>
          <p:nvPr/>
        </p:nvSpPr>
        <p:spPr>
          <a:xfrm>
            <a:off x="4086497" y="1284708"/>
            <a:ext cx="6062133" cy="33533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editor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F7756-F566-137A-8C0D-709A9B9BBBE4}"/>
              </a:ext>
            </a:extLst>
          </p:cNvPr>
          <p:cNvSpPr/>
          <p:nvPr/>
        </p:nvSpPr>
        <p:spPr>
          <a:xfrm>
            <a:off x="4088614" y="4682493"/>
            <a:ext cx="6062133" cy="1335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output / terminal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383199-6ED0-9DFE-0315-0D7DEC7AB311}"/>
              </a:ext>
            </a:extLst>
          </p:cNvPr>
          <p:cNvSpPr/>
          <p:nvPr/>
        </p:nvSpPr>
        <p:spPr>
          <a:xfrm>
            <a:off x="7824650" y="6018103"/>
            <a:ext cx="2323979" cy="47477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Python </a:t>
            </a:r>
            <a:r>
              <a:rPr lang="en-US" dirty="0" err="1">
                <a:solidFill>
                  <a:srgbClr val="FF0000"/>
                </a:solidFill>
              </a:rPr>
              <a:t>omgeving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4975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8126E4-E480-0C54-1EB2-215BFBEC0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4"/>
            <a:ext cx="8615099" cy="5099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Linker menu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947FF2-D85D-CA54-14DE-BCA195B13522}"/>
              </a:ext>
            </a:extLst>
          </p:cNvPr>
          <p:cNvSpPr/>
          <p:nvPr/>
        </p:nvSpPr>
        <p:spPr>
          <a:xfrm>
            <a:off x="1989667" y="1422400"/>
            <a:ext cx="2201333" cy="46736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700"/>
              </a:spcAft>
            </a:pPr>
            <a:r>
              <a:rPr lang="en-US" dirty="0"/>
              <a:t>Files</a:t>
            </a:r>
          </a:p>
          <a:p>
            <a:pPr>
              <a:spcAft>
                <a:spcPts val="700"/>
              </a:spcAft>
            </a:pPr>
            <a:r>
              <a:rPr lang="en-US" dirty="0"/>
              <a:t>Search</a:t>
            </a:r>
          </a:p>
          <a:p>
            <a:pPr>
              <a:spcAft>
                <a:spcPts val="700"/>
              </a:spcAft>
            </a:pPr>
            <a:r>
              <a:rPr lang="en-US" dirty="0"/>
              <a:t>Unit testing</a:t>
            </a:r>
          </a:p>
          <a:p>
            <a:pPr>
              <a:spcAft>
                <a:spcPts val="700"/>
              </a:spcAft>
            </a:pPr>
            <a:r>
              <a:rPr lang="en-US" dirty="0"/>
              <a:t>Debugger</a:t>
            </a:r>
          </a:p>
          <a:p>
            <a:pPr>
              <a:spcAft>
                <a:spcPts val="700"/>
              </a:spcAft>
            </a:pPr>
            <a:r>
              <a:rPr lang="en-US" dirty="0"/>
              <a:t>Version control</a:t>
            </a:r>
          </a:p>
          <a:p>
            <a:pPr>
              <a:spcAft>
                <a:spcPts val="700"/>
              </a:spcAft>
            </a:pPr>
            <a:r>
              <a:rPr lang="en-US" dirty="0"/>
              <a:t>Plugins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r>
              <a:rPr lang="en-US" dirty="0"/>
              <a:t>Accounts</a:t>
            </a:r>
          </a:p>
          <a:p>
            <a:pPr>
              <a:spcAft>
                <a:spcPts val="700"/>
              </a:spcAft>
            </a:pPr>
            <a:r>
              <a:rPr lang="en-US" dirty="0"/>
              <a:t>Settings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813DE5-CB72-48F8-08CE-236C8E7361EB}"/>
              </a:ext>
            </a:extLst>
          </p:cNvPr>
          <p:cNvSpPr/>
          <p:nvPr/>
        </p:nvSpPr>
        <p:spPr>
          <a:xfrm>
            <a:off x="1176866" y="1422400"/>
            <a:ext cx="3031067" cy="4705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sidebar menu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7080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85DCBE-F97F-45FA-1C33-E1AAE19C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9" y="1882246"/>
            <a:ext cx="4716677" cy="239342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Settings</a:t>
            </a:r>
            <a:r>
              <a:rPr lang="nl-NL" sz="2000" b="1" noProof="0" dirty="0"/>
              <a:t>: CTRL + ,</a:t>
            </a:r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noProof="0" dirty="0"/>
              <a:t>Georganiseerd per sectie.</a:t>
            </a:r>
          </a:p>
          <a:p>
            <a:pPr>
              <a:buFontTx/>
              <a:buChar char="-"/>
            </a:pPr>
            <a:r>
              <a:rPr lang="nl-NL" sz="2000" noProof="0" dirty="0"/>
              <a:t>Bijvoorbeeld: </a:t>
            </a:r>
            <a:r>
              <a:rPr lang="nl-NL" sz="2000" noProof="0" dirty="0" err="1"/>
              <a:t>Extensions</a:t>
            </a:r>
            <a:r>
              <a:rPr lang="nl-NL" sz="2000" noProof="0" dirty="0"/>
              <a:t> =&gt; Python.</a:t>
            </a:r>
          </a:p>
          <a:p>
            <a:pPr>
              <a:buFontTx/>
              <a:buChar char="-"/>
            </a:pPr>
            <a:r>
              <a:rPr lang="nl-NL" sz="2000" noProof="0" dirty="0"/>
              <a:t>Vaak sneller via de zoekbalk.</a:t>
            </a:r>
          </a:p>
          <a:p>
            <a:pPr>
              <a:buFontTx/>
              <a:buChar char="-"/>
            </a:pPr>
            <a:r>
              <a:rPr lang="nl-NL" sz="2000" noProof="0" dirty="0"/>
              <a:t>Per gebruiker of per </a:t>
            </a:r>
            <a:r>
              <a:rPr lang="nl-NL" sz="2000" noProof="0" dirty="0" err="1"/>
              <a:t>workspace</a:t>
            </a:r>
            <a:r>
              <a:rPr lang="nl-NL" sz="2000" noProof="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C1439B-4D1C-D712-D5E9-6DCB3EE4157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/>
              <a:t>Command</a:t>
            </a:r>
            <a:r>
              <a:rPr lang="nl-NL" sz="2000" b="1" dirty="0"/>
              <a:t> palette: CTRL + SHIFT + P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Zoekbalk voor commando's.</a:t>
            </a:r>
          </a:p>
          <a:p>
            <a:pPr>
              <a:buFontTx/>
              <a:buChar char="-"/>
            </a:pPr>
            <a:r>
              <a:rPr lang="nl-NL" sz="2000" dirty="0"/>
              <a:t>Voorbeeld: Format Document.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54" y="1882246"/>
            <a:ext cx="4715935" cy="196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5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785</TotalTime>
  <Words>2698</Words>
  <Application>Microsoft Office PowerPoint</Application>
  <PresentationFormat>Widescreen</PresentationFormat>
  <Paragraphs>734</Paragraphs>
  <Slides>51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Python</vt:lpstr>
      <vt:lpstr>Sterke en zwakke punten</vt:lpstr>
      <vt:lpstr>Sterke en zwakke punten</vt:lpstr>
      <vt:lpstr>Hoe werkt Python?</vt:lpstr>
      <vt:lpstr>Hoe werkt Python?</vt:lpstr>
      <vt:lpstr>Hoe werkt Python?</vt:lpstr>
      <vt:lpstr>Standaard packages</vt:lpstr>
      <vt:lpstr>Externe packages</vt:lpstr>
      <vt:lpstr>Werken met packages</vt:lpstr>
      <vt:lpstr>Conflicterende packages</vt:lpstr>
      <vt:lpstr>Virtuele omgevingen</vt:lpstr>
      <vt:lpstr>Beheer omgevingen met uv</vt:lpstr>
      <vt:lpstr>Commando’s</vt:lpstr>
      <vt:lpstr>Commando’s</vt:lpstr>
      <vt:lpstr>Commando’s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Beheer van uv.lock</vt:lpstr>
      <vt:lpstr>Package maken</vt:lpstr>
      <vt:lpstr>Project vs package</vt:lpstr>
      <vt:lpstr>Package aanmaken</vt:lpstr>
      <vt:lpstr>Package aanmaken</vt:lpstr>
      <vt:lpstr>__init__.py</vt:lpstr>
      <vt:lpstr>Package structuur</vt:lpstr>
      <vt:lpstr>Package ontwikkelen</vt:lpstr>
      <vt:lpstr>Oefeningen 3</vt:lpstr>
      <vt:lpstr>Code distribueren</vt:lpstr>
      <vt:lpstr>Broncode distribueren</vt:lpstr>
      <vt:lpstr>Converteren naar binair</vt:lpstr>
      <vt:lpstr>Binaire code distribueren</vt:lpstr>
      <vt:lpstr>Oefeningen 4</vt:lpstr>
      <vt:lpstr>Samenvatting</vt:lpstr>
      <vt:lpstr>Python &amp; virtuele omgevingen</vt:lpstr>
      <vt:lpstr>uv</vt:lpstr>
      <vt:lpstr>IDE's</vt:lpstr>
      <vt:lpstr>Keuze voor IDE</vt:lpstr>
      <vt:lpstr>Virtual Studio Code</vt:lpstr>
      <vt:lpstr>VS Code: Overzicht interface</vt:lpstr>
      <vt:lpstr>VS Code: Linker menu</vt:lpstr>
      <vt:lpstr>Setting voor de cursus</vt:lpstr>
      <vt:lpstr>VS Code interface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925</cp:revision>
  <dcterms:created xsi:type="dcterms:W3CDTF">2022-11-09T07:34:24Z</dcterms:created>
  <dcterms:modified xsi:type="dcterms:W3CDTF">2026-09-22T12:49:37Z</dcterms:modified>
</cp:coreProperties>
</file>