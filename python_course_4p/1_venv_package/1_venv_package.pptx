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67" r:id="rId4"/>
    <p:sldId id="258" r:id="rId5"/>
    <p:sldId id="352" r:id="rId6"/>
    <p:sldId id="261" r:id="rId7"/>
    <p:sldId id="262" r:id="rId8"/>
    <p:sldId id="349" r:id="rId9"/>
    <p:sldId id="296" r:id="rId10"/>
    <p:sldId id="338" r:id="rId11"/>
    <p:sldId id="350" r:id="rId12"/>
    <p:sldId id="392" r:id="rId13"/>
    <p:sldId id="259" r:id="rId14"/>
    <p:sldId id="268" r:id="rId15"/>
    <p:sldId id="395" r:id="rId16"/>
    <p:sldId id="396" r:id="rId17"/>
    <p:sldId id="354" r:id="rId18"/>
    <p:sldId id="394" r:id="rId19"/>
    <p:sldId id="398" r:id="rId20"/>
    <p:sldId id="393" r:id="rId21"/>
    <p:sldId id="355" r:id="rId22"/>
    <p:sldId id="356" r:id="rId23"/>
    <p:sldId id="357" r:id="rId24"/>
    <p:sldId id="358" r:id="rId25"/>
    <p:sldId id="361" r:id="rId26"/>
    <p:sldId id="353" r:id="rId27"/>
    <p:sldId id="360" r:id="rId28"/>
    <p:sldId id="390" r:id="rId29"/>
    <p:sldId id="364" r:id="rId30"/>
    <p:sldId id="366" r:id="rId31"/>
    <p:sldId id="369" r:id="rId32"/>
    <p:sldId id="368" r:id="rId33"/>
    <p:sldId id="371" r:id="rId34"/>
    <p:sldId id="391" r:id="rId35"/>
    <p:sldId id="372" r:id="rId36"/>
    <p:sldId id="370" r:id="rId37"/>
    <p:sldId id="374" r:id="rId38"/>
    <p:sldId id="362" r:id="rId39"/>
    <p:sldId id="375" r:id="rId40"/>
    <p:sldId id="381" r:id="rId41"/>
    <p:sldId id="397" r:id="rId42"/>
    <p:sldId id="378" r:id="rId43"/>
    <p:sldId id="379" r:id="rId44"/>
    <p:sldId id="380" r:id="rId45"/>
    <p:sldId id="359" r:id="rId46"/>
    <p:sldId id="383" r:id="rId47"/>
    <p:sldId id="384" r:id="rId48"/>
    <p:sldId id="385" r:id="rId49"/>
    <p:sldId id="387" r:id="rId50"/>
    <p:sldId id="382" r:id="rId51"/>
    <p:sldId id="388" r:id="rId52"/>
    <p:sldId id="389" r:id="rId53"/>
    <p:sldId id="386" r:id="rId54"/>
    <p:sldId id="266" r:id="rId55"/>
    <p:sldId id="278" r:id="rId56"/>
    <p:sldId id="282" r:id="rId5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61" autoAdjust="0"/>
    <p:restoredTop sz="96699" autoAdjust="0"/>
  </p:normalViewPr>
  <p:slideViewPr>
    <p:cSldViewPr snapToGrid="0">
      <p:cViewPr varScale="1">
        <p:scale>
          <a:sx n="124" d="100"/>
          <a:sy n="124" d="100"/>
        </p:scale>
        <p:origin x="365" y="101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07172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34375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 op: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opgezet</a:t>
            </a:r>
            <a:r>
              <a:rPr lang="en-US"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59820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F530C-C2F6-B25E-4513-23855E908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E7F222-0A46-56B7-39CD-EF5D578A3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3FDD4-1B7D-FCBB-6A37-915E1A2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2505E-3F8B-EC2F-92D4-B962278F2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88076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A4752-B38B-2BB9-26FB-40F84317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819A2E-6D5D-E6A8-C7A8-96D5CB2A7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1B5AF-DEAF-4853-E8B9-EF0BA050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A4B97-91BD-62EA-DBA0-06B6DE37F2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0999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Package </a:t>
            </a:r>
            <a:r>
              <a:rPr lang="en-US" dirty="0" err="1"/>
              <a:t>maken</a:t>
            </a:r>
            <a:r>
              <a:rPr lang="en-US" dirty="0"/>
              <a:t> met </a:t>
            </a:r>
            <a:r>
              <a:rPr lang="en-US" dirty="0" err="1"/>
              <a:t>uv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35214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AF00C-45DB-1018-4C9A-40B3856B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512F4-2C36-5FD3-46A7-B1E588934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3D847-0E6E-C722-A0C3-70E4F6A0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E28C5-F857-DACC-A818-A81D8E108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14980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01CA9-D0D2-E678-717B-FBE066355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BA553-125A-BF5F-BD92-559CBBEC3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7B3C3-07A4-9341-F8D9-B79C24FF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	py3, py27, cp33</a:t>
            </a:r>
          </a:p>
          <a:p>
            <a:r>
              <a:rPr lang="en-US" dirty="0" err="1"/>
              <a:t>abi</a:t>
            </a:r>
            <a:r>
              <a:rPr lang="en-US" dirty="0"/>
              <a:t>:	none, abi3, cp33m</a:t>
            </a:r>
          </a:p>
          <a:p>
            <a:r>
              <a:rPr lang="en-US" dirty="0"/>
              <a:t>platform:	linux_x86_64, win32, any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77218-3AEB-557D-486B-FA22C33AC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2529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4278-44F6-28B1-F559-A6CEE265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841E9-93A6-0F45-3B30-D38C51AAB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21A4D-D19D-2B1A-8352-A186D454B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Upload to local </a:t>
            </a:r>
            <a:r>
              <a:rPr lang="en-US" dirty="0" err="1"/>
              <a:t>pypiserver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CE839-4E9B-D741-BEE0-7462634D14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94172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ndex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2026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nl-NL" sz="2000" noProof="0" dirty="0"/>
              <a:t>Python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Introductie Python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Virtuele omgevingen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Projecten en packages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Code distribueren</a:t>
            </a:r>
          </a:p>
          <a:p>
            <a:pPr marL="0" indent="0">
              <a:spcAft>
                <a:spcPts val="600"/>
              </a:spcAft>
              <a:buNone/>
            </a:pPr>
            <a:endParaRPr lang="nl-NL" sz="2000" noProof="0" dirty="0"/>
          </a:p>
          <a:p>
            <a:pPr marL="0" indent="0">
              <a:spcAft>
                <a:spcPts val="600"/>
              </a:spcAft>
              <a:buNone/>
            </a:pPr>
            <a:r>
              <a:rPr lang="nl-NL" sz="2000" noProof="0" dirty="0" err="1"/>
              <a:t>IDE's</a:t>
            </a:r>
            <a:endParaRPr lang="nl-NL" sz="160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Marimo</a:t>
            </a:r>
            <a:r>
              <a:rPr lang="nl-NL" sz="2000" noProof="0" dirty="0"/>
              <a:t> Notebook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Visual Studio Code</a:t>
            </a:r>
            <a:endParaRPr lang="nl-NL" sz="20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Introductie Python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">
            <a:extLst>
              <a:ext uri="{FF2B5EF4-FFF2-40B4-BE49-F238E27FC236}">
                <a16:creationId xmlns:a16="http://schemas.microsoft.com/office/drawing/2014/main" id="{2604CCD1-B710-B7B3-3C01-61B36162D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0227" y="1098853"/>
            <a:ext cx="4473573" cy="5078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/>
              <a:t>Makkelijk te leren, flexibele syntax.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Veel ontwikkelaars en gebruikers.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Veel online informatie.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Uitgebreid ecosysteem van uitbreidingen.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Breed inzetbaar.</a:t>
            </a:r>
          </a:p>
        </p:txBody>
      </p:sp>
    </p:spTree>
    <p:extLst>
      <p:ext uri="{BB962C8B-B14F-4D97-AF65-F5344CB8AC3E}">
        <p14:creationId xmlns:p14="http://schemas.microsoft.com/office/powerpoint/2010/main" val="34442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37BD-A938-DAF3-FEF2-1B5E3A6E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4E2EF-C0A7-A70B-04F1-1E24BD18D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9D57C-00B8-1248-107F-AA6E5F085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dirty="0"/>
              <a:t>Makkelijk om “slechte” code te schrijven.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Relatief traag  (vgl. C, C++, Scala, Rust).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Distributie code niet eenduidig.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10A4AD-7C19-5184-ECB4-77EDD34F6402}"/>
              </a:ext>
            </a:extLst>
          </p:cNvPr>
          <p:cNvSpPr txBox="1">
            <a:spLocks/>
          </p:cNvSpPr>
          <p:nvPr/>
        </p:nvSpPr>
        <p:spPr>
          <a:xfrm>
            <a:off x="6409267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4D819A-A65A-B849-482E-28A9AA671928}"/>
              </a:ext>
            </a:extLst>
          </p:cNvPr>
          <p:cNvSpPr txBox="1">
            <a:spLocks/>
          </p:cNvSpPr>
          <p:nvPr/>
        </p:nvSpPr>
        <p:spPr>
          <a:xfrm>
            <a:off x="6604000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_ ** 2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_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type(_)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nl-NL" sz="160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_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_ !=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630EC8-816A-E473-7194-8B2BB5384102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871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79043AF-CAAF-445D-CBBE-67C45DBAB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8743" y="3974574"/>
            <a:ext cx="5754512" cy="1215492"/>
          </a:xfrm>
        </p:spPr>
        <p:txBody>
          <a:bodyPr>
            <a:normAutofit/>
          </a:bodyPr>
          <a:lstStyle/>
          <a:p>
            <a:r>
              <a:rPr lang="nl-NL" sz="1800" noProof="0" dirty="0"/>
              <a:t>Python code wordt geïnterpreteerd (vs. gecompileerd).</a:t>
            </a:r>
          </a:p>
          <a:p>
            <a:r>
              <a:rPr lang="nl-NL" sz="1800" dirty="0" err="1"/>
              <a:t>CPython</a:t>
            </a:r>
            <a:r>
              <a:rPr lang="nl-NL" sz="1800" dirty="0"/>
              <a:t>: Python code wordt omgezet naar C instructies.</a:t>
            </a:r>
            <a:endParaRPr lang="nl-NL" sz="1800" noProof="0" dirty="0"/>
          </a:p>
          <a:p>
            <a:r>
              <a:rPr lang="nl-NL" sz="1800" noProof="0" dirty="0"/>
              <a:t>Interpreter is vereist om de code uit te kunnen voeren.</a:t>
            </a:r>
          </a:p>
        </p:txBody>
      </p:sp>
    </p:spTree>
    <p:extLst>
      <p:ext uri="{BB962C8B-B14F-4D97-AF65-F5344CB8AC3E}">
        <p14:creationId xmlns:p14="http://schemas.microsoft.com/office/powerpoint/2010/main" val="440605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Package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3631349" y="4377268"/>
            <a:ext cx="4929299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800" dirty="0"/>
              <a:t>Packages breiden standaard functionaliteit uit.</a:t>
            </a:r>
          </a:p>
          <a:p>
            <a:r>
              <a:rPr lang="nl-NL" sz="1800" dirty="0"/>
              <a:t>Sommige packages zijn geschreven in Python.</a:t>
            </a:r>
          </a:p>
          <a:p>
            <a:r>
              <a:rPr lang="nl-NL" sz="1800" dirty="0"/>
              <a:t>Je importeert deze code in je eigen code.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81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API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3347144" y="5048954"/>
            <a:ext cx="5497709" cy="863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800" dirty="0"/>
              <a:t>Packages kunnen ook geschreven zijn in C / C++ / Rust.</a:t>
            </a:r>
          </a:p>
          <a:p>
            <a:r>
              <a:rPr lang="nl-NL" sz="1800" dirty="0"/>
              <a:t>Ze bieden dan alleen een Python API aan.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149287B-DA34-8FB5-1538-ADC9C7A3A3D3}"/>
              </a:ext>
            </a:extLst>
          </p:cNvPr>
          <p:cNvSpPr/>
          <p:nvPr/>
        </p:nvSpPr>
        <p:spPr>
          <a:xfrm>
            <a:off x="6736643" y="33951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F6AC21-2E86-1126-DD5E-0604773AC96E}"/>
              </a:ext>
            </a:extLst>
          </p:cNvPr>
          <p:cNvCxnSpPr>
            <a:stCxn id="19" idx="1"/>
            <a:endCxn id="3" idx="3"/>
          </p:cNvCxnSpPr>
          <p:nvPr/>
        </p:nvCxnSpPr>
        <p:spPr>
          <a:xfrm flipH="1">
            <a:off x="2506132" y="3886201"/>
            <a:ext cx="423051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A3F80B6-BD67-038A-9247-EC0DC28112AD}"/>
              </a:ext>
            </a:extLst>
          </p:cNvPr>
          <p:cNvCxnSpPr>
            <a:stCxn id="19" idx="3"/>
            <a:endCxn id="11" idx="1"/>
          </p:cNvCxnSpPr>
          <p:nvPr/>
        </p:nvCxnSpPr>
        <p:spPr>
          <a:xfrm flipV="1">
            <a:off x="8404576" y="2159001"/>
            <a:ext cx="1281291" cy="172720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Werken met packages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1955800" y="3860801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standaard bibliotheek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38200" y="1354667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import &lt;package&gt;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1955800" y="26077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huidige 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2571F-1EE4-C4EB-CDB7-E1400BFEDC6C}"/>
              </a:ext>
            </a:extLst>
          </p:cNvPr>
          <p:cNvSpPr/>
          <p:nvPr/>
        </p:nvSpPr>
        <p:spPr>
          <a:xfrm>
            <a:off x="1955800" y="5113868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site-packages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FABBBF3-EE16-E39A-9A8E-8A9412AD6C71}"/>
              </a:ext>
            </a:extLst>
          </p:cNvPr>
          <p:cNvCxnSpPr>
            <a:stCxn id="9" idx="2"/>
            <a:endCxn id="3" idx="1"/>
          </p:cNvCxnSpPr>
          <p:nvPr/>
        </p:nvCxnSpPr>
        <p:spPr>
          <a:xfrm rot="16200000" flipH="1">
            <a:off x="1432983" y="2575984"/>
            <a:ext cx="762000" cy="2836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8AF714E-536B-1149-319F-11FF50468B33}"/>
              </a:ext>
            </a:extLst>
          </p:cNvPr>
          <p:cNvCxnSpPr>
            <a:stCxn id="9" idx="2"/>
            <a:endCxn id="8" idx="1"/>
          </p:cNvCxnSpPr>
          <p:nvPr/>
        </p:nvCxnSpPr>
        <p:spPr>
          <a:xfrm rot="16200000" flipH="1">
            <a:off x="806450" y="3202517"/>
            <a:ext cx="2015067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3859A33-2FDB-CD9F-C7D7-6890B0672AF3}"/>
              </a:ext>
            </a:extLst>
          </p:cNvPr>
          <p:cNvCxnSpPr>
            <a:stCxn id="9" idx="2"/>
            <a:endCxn id="7" idx="1"/>
          </p:cNvCxnSpPr>
          <p:nvPr/>
        </p:nvCxnSpPr>
        <p:spPr>
          <a:xfrm rot="16200000" flipH="1">
            <a:off x="179916" y="3829051"/>
            <a:ext cx="3268134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7AAA918-2F62-7346-9993-AD00B7347624}"/>
              </a:ext>
            </a:extLst>
          </p:cNvPr>
          <p:cNvSpPr txBox="1">
            <a:spLocks/>
          </p:cNvSpPr>
          <p:nvPr/>
        </p:nvSpPr>
        <p:spPr>
          <a:xfrm>
            <a:off x="4364566" y="1354667"/>
            <a:ext cx="6223000" cy="982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800" dirty="0"/>
              <a:t>Packages importeer je in je code, waarna hun functionaliteit beschikbaar komt.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B4073E-2723-4DF7-A3EE-70B4CE15ED42}"/>
              </a:ext>
            </a:extLst>
          </p:cNvPr>
          <p:cNvSpPr txBox="1"/>
          <p:nvPr/>
        </p:nvSpPr>
        <p:spPr>
          <a:xfrm>
            <a:off x="4364567" y="5113868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dirty="0"/>
              <a:t>Tot slot zoekt Python in systeem locaties (zie </a:t>
            </a:r>
            <a:r>
              <a:rPr lang="nl-NL" dirty="0" err="1">
                <a:latin typeface="Corbel Light" panose="020B0303020204020204" pitchFamily="34" charset="0"/>
              </a:rPr>
              <a:t>sys.path</a:t>
            </a:r>
            <a:r>
              <a:rPr lang="nl-NL" dirty="0"/>
              <a:t>).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2FAB39-B8E8-C6DD-542A-FEE5072318CA}"/>
              </a:ext>
            </a:extLst>
          </p:cNvPr>
          <p:cNvSpPr txBox="1"/>
          <p:nvPr/>
        </p:nvSpPr>
        <p:spPr>
          <a:xfrm>
            <a:off x="4364567" y="3860800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dirty="0"/>
              <a:t>Daarna zoekt Python in de standaard bibliotheek.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CC6992-5FD5-2CF8-4F03-AC313DB0D39C}"/>
              </a:ext>
            </a:extLst>
          </p:cNvPr>
          <p:cNvSpPr txBox="1"/>
          <p:nvPr/>
        </p:nvSpPr>
        <p:spPr>
          <a:xfrm>
            <a:off x="4364567" y="2607732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dirty="0"/>
              <a:t>Eerst zoekt Python in de werkdirectory.</a:t>
            </a:r>
          </a:p>
        </p:txBody>
      </p:sp>
    </p:spTree>
    <p:extLst>
      <p:ext uri="{BB962C8B-B14F-4D97-AF65-F5344CB8AC3E}">
        <p14:creationId xmlns:p14="http://schemas.microsoft.com/office/powerpoint/2010/main" val="1615583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Python heeft zelf veel </a:t>
            </a:r>
            <a:r>
              <a:rPr lang="nl-NL" sz="1800" dirty="0">
                <a:cs typeface="Courier New" panose="02070309020205020404" pitchFamily="49" charset="0"/>
              </a:rPr>
              <a:t>packages aan boord.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Deze packages zijn onderdeel van de zogenaamde "standard </a:t>
            </a:r>
            <a:r>
              <a:rPr lang="nl-NL" sz="1800" dirty="0" err="1">
                <a:cs typeface="Courier New" panose="02070309020205020404" pitchFamily="49" charset="0"/>
              </a:rPr>
              <a:t>library</a:t>
            </a:r>
            <a:r>
              <a:rPr lang="nl-NL" sz="1800" dirty="0">
                <a:cs typeface="Courier New" panose="02070309020205020404" pitchFamily="49" charset="0"/>
              </a:rPr>
              <a:t>".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Ze worden geïnstalleerd met Python.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Overzicht: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  <a:hlinkClick r:id="rId2"/>
              </a:rPr>
              <a:t>https://docs.python.org/3/library/index.html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16F8C6-A449-4CBB-DB98-A9213C453A21}"/>
              </a:ext>
            </a:extLst>
          </p:cNvPr>
          <p:cNvSpPr txBox="1">
            <a:spLocks/>
          </p:cNvSpPr>
          <p:nvPr/>
        </p:nvSpPr>
        <p:spPr>
          <a:xfrm>
            <a:off x="6231468" y="1456267"/>
            <a:ext cx="51223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nl-NL" sz="1600" dirty="0">
                <a:cs typeface="Courier New" panose="02070309020205020404" pitchFamily="49" charset="0"/>
              </a:rPr>
              <a:t>		Omgang met Operating System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nl-NL" sz="1600" dirty="0">
                <a:cs typeface="Courier New" panose="02070309020205020404" pitchFamily="49" charset="0"/>
              </a:rPr>
              <a:t>		Systeem functies / informatie.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pathlib</a:t>
            </a:r>
            <a:r>
              <a:rPr lang="nl-NL" sz="1600" dirty="0">
                <a:cs typeface="Courier New" panose="02070309020205020404" pitchFamily="49" charset="0"/>
              </a:rPr>
              <a:t>		Werken met bestandspaden.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nl-NL" sz="1600" dirty="0">
                <a:cs typeface="Courier New" panose="02070309020205020404" pitchFamily="49" charset="0"/>
              </a:rPr>
              <a:t>		Functies voor CSV bestanden.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nl-NL" sz="1600" dirty="0">
                <a:cs typeface="Courier New" panose="02070309020205020404" pitchFamily="49" charset="0"/>
              </a:rPr>
              <a:t>		Functies voor JSON bestanden.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nl-NL" sz="1600" dirty="0">
                <a:cs typeface="Courier New" panose="02070309020205020404" pitchFamily="49" charset="0"/>
              </a:rPr>
              <a:t>	Functies voor datum en tijd.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1600" dirty="0">
                <a:cs typeface="Courier New" panose="02070309020205020404" pitchFamily="49" charset="0"/>
              </a:rPr>
              <a:t>	Handige data structuren.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</a:t>
            </a:r>
            <a:r>
              <a:rPr lang="nl-NL" sz="1600" dirty="0">
                <a:cs typeface="Courier New" panose="02070309020205020404" pitchFamily="49" charset="0"/>
              </a:rPr>
              <a:t>	Functies voor itereren.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nl-NL" sz="1600" dirty="0">
                <a:cs typeface="Courier New" panose="02070309020205020404" pitchFamily="49" charset="0"/>
              </a:rPr>
              <a:t>		Relationele database.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2874982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Externe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1.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b="1" noProof="0" dirty="0"/>
              <a:t>: zoek en download package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Zoek en download package van een index server, zoals de Python Package Index (</a:t>
            </a:r>
            <a:r>
              <a:rPr lang="nl-NL" sz="1800" noProof="0" dirty="0" err="1">
                <a:cs typeface="Courier New" panose="02070309020205020404" pitchFamily="49" charset="0"/>
              </a:rPr>
              <a:t>PyPI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2.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setuptools</a:t>
            </a:r>
            <a:r>
              <a:rPr lang="nl-NL" sz="1800" b="1" noProof="0" dirty="0"/>
              <a:t>: installeer package</a:t>
            </a:r>
          </a:p>
          <a:p>
            <a:pPr marL="0" indent="0">
              <a:buNone/>
            </a:pPr>
            <a:r>
              <a:rPr lang="nl-NL" sz="1800" noProof="0" dirty="0"/>
              <a:t>Voert setup </a:t>
            </a:r>
            <a:r>
              <a:rPr lang="nl-NL" sz="1800" dirty="0"/>
              <a:t>uit en k</a:t>
            </a:r>
            <a:r>
              <a:rPr lang="nl-NL" sz="1800" dirty="0">
                <a:cs typeface="Courier New" panose="02070309020205020404" pitchFamily="49" charset="0"/>
              </a:rPr>
              <a:t>opieert bestanden naar je Python omgeving.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b="1" dirty="0"/>
              <a:t>3.   Herhaal 1 en 2 voor afhankelijkheden</a:t>
            </a:r>
          </a:p>
          <a:p>
            <a:pPr marL="0" indent="0">
              <a:buNone/>
            </a:pPr>
            <a:r>
              <a:rPr lang="nl-NL" sz="1800" dirty="0"/>
              <a:t>Als een package afhankelijk is van andere</a:t>
            </a:r>
            <a:r>
              <a:rPr lang="nl-NL" sz="1800" noProof="0" dirty="0"/>
              <a:t> packages worden deze ook geïnstalleerd.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4B952DD-657A-F90B-C98C-15EB93E1A9FE}"/>
              </a:ext>
            </a:extLst>
          </p:cNvPr>
          <p:cNvSpPr/>
          <p:nvPr/>
        </p:nvSpPr>
        <p:spPr>
          <a:xfrm>
            <a:off x="6604000" y="1456267"/>
            <a:ext cx="4749791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pip install pandas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F8CDF-EDA0-AEFA-678C-C6B88000B456}"/>
              </a:ext>
            </a:extLst>
          </p:cNvPr>
          <p:cNvSpPr/>
          <p:nvPr/>
        </p:nvSpPr>
        <p:spPr>
          <a:xfrm>
            <a:off x="6604000" y="2896153"/>
            <a:ext cx="4749797" cy="42333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pandas-2.1.0-cp39-cp39-win_amd64.whl</a:t>
            </a:r>
            <a:endParaRPr lang="en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EBC5E51-1B2F-2F0A-3610-1BD9FA18439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8978896" y="1879600"/>
            <a:ext cx="3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AE431AF-9734-C304-20AB-3E86AFFD6A19}"/>
              </a:ext>
            </a:extLst>
          </p:cNvPr>
          <p:cNvSpPr/>
          <p:nvPr/>
        </p:nvSpPr>
        <p:spPr>
          <a:xfrm>
            <a:off x="6603994" y="4336039"/>
            <a:ext cx="4749797" cy="4233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en-NL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1E2D9D-B1EA-CAB3-5065-3CD0A9685119}"/>
              </a:ext>
            </a:extLst>
          </p:cNvPr>
          <p:cNvSpPr/>
          <p:nvPr/>
        </p:nvSpPr>
        <p:spPr>
          <a:xfrm>
            <a:off x="6604000" y="5775926"/>
            <a:ext cx="4749797" cy="4233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lib/site-packages/</a:t>
            </a:r>
            <a:endParaRPr lang="en-NL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E2265C-8FFC-FA95-A755-D4937EFE892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 flipH="1">
            <a:off x="8978893" y="3319486"/>
            <a:ext cx="6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9FFCEB-AD0B-E81A-1172-BC64F2F995A1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8978893" y="4759372"/>
            <a:ext cx="6" cy="1016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553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827D9-3FB1-F87A-1D48-668FFE1E2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10D0E-C100-942F-3223-5EBBD319D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Afhankelijkheden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AF8B8-6F6B-77A0-95F8-6469215CC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Packages hebben vaak afhankelijkheden met eigen versie vereis</a:t>
            </a:r>
            <a:r>
              <a:rPr lang="nl-NL" sz="1800" dirty="0">
                <a:cs typeface="Courier New" panose="02070309020205020404" pitchFamily="49" charset="0"/>
              </a:rPr>
              <a:t>t</a:t>
            </a:r>
            <a:r>
              <a:rPr lang="nl-NL" sz="1800" noProof="0" dirty="0">
                <a:cs typeface="Courier New" panose="02070309020205020404" pitchFamily="49" charset="0"/>
              </a:rPr>
              <a:t>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Er ontstaat een boom structuur van packages die op elkaar doorbouwen.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noProof="0" dirty="0">
                <a:cs typeface="Courier New" panose="02070309020205020404" pitchFamily="49" charset="0"/>
              </a:rPr>
              <a:t> probeert een oplossing te vinden die aan alle eisen voldoet…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F1C55D-BCBD-D06B-6D22-E43FFE5AEFCC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0" name="Picture 299">
            <a:extLst>
              <a:ext uri="{FF2B5EF4-FFF2-40B4-BE49-F238E27FC236}">
                <a16:creationId xmlns:a16="http://schemas.microsoft.com/office/drawing/2014/main" id="{E57EBC68-A083-F49B-8B4F-B828E264C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518" y="1795907"/>
            <a:ext cx="5172277" cy="382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314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Conflicterende versies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26F608-6EC7-1CCF-D446-DA9A456EBECC}"/>
              </a:ext>
            </a:extLst>
          </p:cNvPr>
          <p:cNvSpPr/>
          <p:nvPr/>
        </p:nvSpPr>
        <p:spPr>
          <a:xfrm>
            <a:off x="1222043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2.0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D403AA-F806-9074-1669-B7F509DBC271}"/>
              </a:ext>
            </a:extLst>
          </p:cNvPr>
          <p:cNvSpPr/>
          <p:nvPr/>
        </p:nvSpPr>
        <p:spPr>
          <a:xfrm>
            <a:off x="4819366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3.0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044D0-6AEF-0308-0651-FA373D7B7E0E}"/>
              </a:ext>
            </a:extLst>
          </p:cNvPr>
          <p:cNvSpPr/>
          <p:nvPr/>
        </p:nvSpPr>
        <p:spPr>
          <a:xfrm>
            <a:off x="8416689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3.13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polars == 1.0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requests == 2.4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08DFB4DA-1DE4-0444-3004-CDAC17FED73D}"/>
              </a:ext>
            </a:extLst>
          </p:cNvPr>
          <p:cNvSpPr/>
          <p:nvPr/>
        </p:nvSpPr>
        <p:spPr>
          <a:xfrm>
            <a:off x="6967181" y="3500651"/>
            <a:ext cx="2053989" cy="143302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60272E3C-5DE7-5F9C-9792-8D116DBFC1B5}"/>
              </a:ext>
            </a:extLst>
          </p:cNvPr>
          <p:cNvSpPr/>
          <p:nvPr/>
        </p:nvSpPr>
        <p:spPr>
          <a:xfrm>
            <a:off x="3480179" y="4471916"/>
            <a:ext cx="1665026" cy="161500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917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Virtuele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A0B-07D2-AE4C-451D-4834E48FE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D7C01-674E-7BA8-CA3E-07C162D35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Opzet virtuele omgevingen</a:t>
            </a:r>
            <a:endParaRPr lang="nl-NL" sz="3600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7832AD-2204-60D9-B427-C39BB77D0321}"/>
              </a:ext>
            </a:extLst>
          </p:cNvPr>
          <p:cNvSpPr/>
          <p:nvPr/>
        </p:nvSpPr>
        <p:spPr>
          <a:xfrm>
            <a:off x="1222043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CFEEB-C911-D626-7C91-7B5E9A37233F}"/>
              </a:ext>
            </a:extLst>
          </p:cNvPr>
          <p:cNvSpPr/>
          <p:nvPr/>
        </p:nvSpPr>
        <p:spPr>
          <a:xfrm>
            <a:off x="4819366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F29B40-2907-C47D-F10C-43CF67351C00}"/>
              </a:ext>
            </a:extLst>
          </p:cNvPr>
          <p:cNvSpPr/>
          <p:nvPr/>
        </p:nvSpPr>
        <p:spPr>
          <a:xfrm>
            <a:off x="8416689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0590E8-FD6A-A97B-5018-6CB2668ED5D7}"/>
              </a:ext>
            </a:extLst>
          </p:cNvPr>
          <p:cNvSpPr/>
          <p:nvPr/>
        </p:nvSpPr>
        <p:spPr>
          <a:xfrm>
            <a:off x="1414371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project_a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2.0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720108-F23C-F61C-449E-28718CA4E293}"/>
              </a:ext>
            </a:extLst>
          </p:cNvPr>
          <p:cNvSpPr/>
          <p:nvPr/>
        </p:nvSpPr>
        <p:spPr>
          <a:xfrm>
            <a:off x="5011694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project_b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3.0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F8A397-A029-A1A2-DE66-E60D56562FCD}"/>
              </a:ext>
            </a:extLst>
          </p:cNvPr>
          <p:cNvSpPr/>
          <p:nvPr/>
        </p:nvSpPr>
        <p:spPr>
          <a:xfrm>
            <a:off x="8609018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project_c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polars   1.0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requests 2.4</a:t>
            </a:r>
          </a:p>
        </p:txBody>
      </p:sp>
    </p:spTree>
    <p:extLst>
      <p:ext uri="{BB962C8B-B14F-4D97-AF65-F5344CB8AC3E}">
        <p14:creationId xmlns:p14="http://schemas.microsoft.com/office/powerpoint/2010/main" val="176836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DE4F4-375D-28F5-F226-BD9BFF7AA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3DF1-35C4-938B-823E-4C4015C52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Opzet virtuele omgevingen</a:t>
            </a:r>
            <a:endParaRPr lang="nl-NL" sz="3600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0F63F5-C950-4590-DB63-5536E677C846}"/>
              </a:ext>
            </a:extLst>
          </p:cNvPr>
          <p:cNvSpPr/>
          <p:nvPr/>
        </p:nvSpPr>
        <p:spPr>
          <a:xfrm>
            <a:off x="1222043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2A1608-1BBE-7BE0-CD8D-17E76F9DA589}"/>
              </a:ext>
            </a:extLst>
          </p:cNvPr>
          <p:cNvSpPr/>
          <p:nvPr/>
        </p:nvSpPr>
        <p:spPr>
          <a:xfrm>
            <a:off x="4819366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77E2C8-B9A0-F06B-8EE5-7BACDA30C421}"/>
              </a:ext>
            </a:extLst>
          </p:cNvPr>
          <p:cNvSpPr/>
          <p:nvPr/>
        </p:nvSpPr>
        <p:spPr>
          <a:xfrm>
            <a:off x="8416689" y="1336896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455C8C-3C49-7A03-7E5E-C48044A14266}"/>
              </a:ext>
            </a:extLst>
          </p:cNvPr>
          <p:cNvSpPr/>
          <p:nvPr/>
        </p:nvSpPr>
        <p:spPr>
          <a:xfrm>
            <a:off x="1414371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project_a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2.0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16F9C3-C5E5-1AA6-A5E7-378D44C4EA44}"/>
              </a:ext>
            </a:extLst>
          </p:cNvPr>
          <p:cNvSpPr/>
          <p:nvPr/>
        </p:nvSpPr>
        <p:spPr>
          <a:xfrm>
            <a:off x="5011694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project_b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pandas  3.0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2F1E47-863C-0139-145A-11153B4E5842}"/>
              </a:ext>
            </a:extLst>
          </p:cNvPr>
          <p:cNvSpPr/>
          <p:nvPr/>
        </p:nvSpPr>
        <p:spPr>
          <a:xfrm>
            <a:off x="8609018" y="2025186"/>
            <a:ext cx="2168611" cy="25022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project_c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python.exe</a:t>
            </a: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site-packages: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polars   1.0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requests 2.4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A480C1-5680-8F83-F79B-D922B358AADA}"/>
              </a:ext>
            </a:extLst>
          </p:cNvPr>
          <p:cNvSpPr/>
          <p:nvPr/>
        </p:nvSpPr>
        <p:spPr>
          <a:xfrm>
            <a:off x="1222043" y="5382536"/>
            <a:ext cx="9747915" cy="9071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chemeClr val="tx1"/>
                </a:solidFill>
              </a:rPr>
              <a:t>systeem</a:t>
            </a:r>
            <a:endParaRPr lang="en-US" b="1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python.exe / </a:t>
            </a:r>
            <a:r>
              <a:rPr lang="en-US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endParaRPr 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A6458E9-B202-2E75-EA58-9CCD9601045B}"/>
              </a:ext>
            </a:extLst>
          </p:cNvPr>
          <p:cNvCxnSpPr>
            <a:stCxn id="7" idx="0"/>
            <a:endCxn id="4" idx="2"/>
          </p:cNvCxnSpPr>
          <p:nvPr/>
        </p:nvCxnSpPr>
        <p:spPr>
          <a:xfrm rot="16200000" flipV="1">
            <a:off x="3953194" y="3239729"/>
            <a:ext cx="688290" cy="35973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761FF0DF-D1A4-E633-8476-6A09FCDF3A2D}"/>
              </a:ext>
            </a:extLst>
          </p:cNvPr>
          <p:cNvCxnSpPr>
            <a:stCxn id="7" idx="0"/>
            <a:endCxn id="6" idx="2"/>
          </p:cNvCxnSpPr>
          <p:nvPr/>
        </p:nvCxnSpPr>
        <p:spPr>
          <a:xfrm rot="5400000" flipH="1" flipV="1">
            <a:off x="7550517" y="3239730"/>
            <a:ext cx="688290" cy="359732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1C3EFC-A5D1-FAAF-1A9A-0751A3E75577}"/>
              </a:ext>
            </a:extLst>
          </p:cNvPr>
          <p:cNvCxnSpPr>
            <a:stCxn id="7" idx="0"/>
            <a:endCxn id="5" idx="2"/>
          </p:cNvCxnSpPr>
          <p:nvPr/>
        </p:nvCxnSpPr>
        <p:spPr>
          <a:xfrm flipH="1" flipV="1">
            <a:off x="6096000" y="4694246"/>
            <a:ext cx="1" cy="688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3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AFD3-2BBD-C911-F727-1345C09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18F3-6E42-9694-6E01-81C68F2E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venv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B70B3-7708-E6F1-AF8D-037AA4627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Met het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/>
              <a:t> package maak je virtuele omgevingen aan: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Maakt 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/>
              <a:t> folder met een kopie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pip.exe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Maakt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/site-packages</a:t>
            </a:r>
            <a:r>
              <a:rPr lang="nl-NL" sz="1800" noProof="0" dirty="0"/>
              <a:t> folder aan voor externe packages.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3D0DF6-03D4-59AA-0BB6-EE2368B72B3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activate.bat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pip.exe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python.exe</a:t>
            </a:r>
          </a:p>
        </p:txBody>
      </p:sp>
    </p:spTree>
    <p:extLst>
      <p:ext uri="{BB962C8B-B14F-4D97-AF65-F5344CB8AC3E}">
        <p14:creationId xmlns:p14="http://schemas.microsoft.com/office/powerpoint/2010/main" val="1453608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97F58-B80C-EF55-C1B2-E3836BAF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815A-95F0-EA47-3D79-A40666084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venv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27D5F-F5CC-F7EF-CFC5-F80E8773A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Activeer de omgeving voor gebruik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Scripts/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/>
              <a:t>Daarna kun je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python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noProof="0" dirty="0"/>
              <a:t> gebruiken zoals je gewend bent.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/>
              <a:t>Gebruik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r>
              <a:rPr lang="nl-NL" sz="1800" noProof="0" dirty="0"/>
              <a:t> om de omgeving te deactiveren.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57231F-FC0D-9016-2810-A84A110701C8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activate.bat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pip.exe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python.exe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EC373-1FA7-008A-04F8-F8882BC4E0F3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python </a:t>
            </a:r>
            <a:r>
              <a:rPr lang="en-US" sz="1400" dirty="0" err="1"/>
              <a:t>venv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1797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1DB96-05E3-6287-8C9A-810C28D7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757502-304A-1117-1E7A-12FD00EA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uv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5BE6E4-F97C-67ED-473B-067C5B5EB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300289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85CA5-5C41-9A42-0DDE-CE8D68087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68E2C-F55B-A199-789C-D2BF6CE48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3F789-F9CA-A36E-4A8D-019704DD4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 beheer je: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Python versie.</a:t>
            </a:r>
          </a:p>
          <a:p>
            <a:pPr>
              <a:buFontTx/>
              <a:buChar char="-"/>
            </a:pPr>
            <a:r>
              <a:rPr lang="nl-NL" sz="1800" noProof="0" dirty="0"/>
              <a:t>Externe packages.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Helpt ook bij opzetten van projecten en beheer van afhankelijkheden.</a:t>
            </a: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142B4B-596C-A6AB-E6F9-252463EB9BD5}"/>
              </a:ext>
            </a:extLst>
          </p:cNvPr>
          <p:cNvSpPr txBox="1">
            <a:spLocks/>
          </p:cNvSpPr>
          <p:nvPr/>
        </p:nvSpPr>
        <p:spPr>
          <a:xfrm>
            <a:off x="6637869" y="1456266"/>
            <a:ext cx="4715935" cy="497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├─ activate.bat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python.exe</a:t>
            </a:r>
          </a:p>
        </p:txBody>
      </p:sp>
    </p:spTree>
    <p:extLst>
      <p:ext uri="{BB962C8B-B14F-4D97-AF65-F5344CB8AC3E}">
        <p14:creationId xmlns:p14="http://schemas.microsoft.com/office/powerpoint/2010/main" val="2635883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0CC8A-9864-6A63-8EA9-433B5ED38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B8003-CE44-B652-C4E0-5EE62496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E8B4-F838-20A4-4A98-8B9D57852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Aanmaken virtuele omgeving: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Packages installeren in de omgeving: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/>
              <a:t>Noot: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</a:t>
            </a:r>
            <a:r>
              <a:rPr lang="nl-NL" sz="1800" dirty="0"/>
              <a:t> is niet dezelfde tool als </a:t>
            </a:r>
            <a:r>
              <a:rPr lang="nl-NL" sz="1800" dirty="0" err="1"/>
              <a:t>Python's</a:t>
            </a:r>
            <a:r>
              <a:rPr lang="nl-NL" sz="1800" dirty="0"/>
              <a:t>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4AB0D-4645-0A26-898E-03E86A3A1B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3"/>
          <a:stretch>
            <a:fillRect/>
          </a:stretch>
        </p:blipFill>
        <p:spPr>
          <a:xfrm>
            <a:off x="8525751" y="1456266"/>
            <a:ext cx="2828047" cy="472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179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19ED3-6BE7-D4BB-E587-358373C9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D113A-C3D8-3CFC-5423-8C24EDC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A198-59F7-22FD-B6A5-3FA149231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Packages updaten: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&lt;package&gt;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/>
              <a:t>Packages bekijken: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list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Packages verwijderen: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201730-8A5C-52DE-9824-F01142961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691" y="1456266"/>
            <a:ext cx="2508107" cy="472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1433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C4B3B-8D11-18DD-366F-BBB79ADC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D7FFC-6338-3514-9AF4-ADD31531B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D9982-5E42-B3C8-CF33-8BBFBD5B0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Een script of commando draaien in de virtuele omgeving: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run &lt;script.py&gt;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 python</a:t>
            </a: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 black 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Omgeving activeren / deactiveren: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/Scripts/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</p:spTree>
    <p:extLst>
      <p:ext uri="{BB962C8B-B14F-4D97-AF65-F5344CB8AC3E}">
        <p14:creationId xmlns:p14="http://schemas.microsoft.com/office/powerpoint/2010/main" val="3508840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1215E-980C-3A00-40F7-A8AAB0C3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3E22-2F93-EC51-8F65-282755D43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759D4-C85C-6B11-1EBA-D4715DF05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Maak een map aan met de naam exploratie.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Maak hierin een virtuele omgeving aan </a:t>
            </a:r>
            <a:r>
              <a:rPr lang="nl-NL" sz="1800"/>
              <a:t>met Python </a:t>
            </a:r>
            <a:r>
              <a:rPr lang="nl-NL" sz="1800" dirty="0"/>
              <a:t>versie 3.13.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Installeer het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nl-NL" sz="1800" dirty="0"/>
              <a:t> package in de virtuele omgeving.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Start </a:t>
            </a:r>
            <a:r>
              <a:rPr lang="nl-NL" sz="1800" dirty="0" err="1"/>
              <a:t>marimo</a:t>
            </a:r>
            <a:r>
              <a:rPr lang="nl-NL" sz="1800" dirty="0"/>
              <a:t> op in de virtuele omgeving: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notebook.py</a:t>
            </a:r>
            <a:r>
              <a:rPr lang="nl-NL" sz="1800" dirty="0"/>
              <a:t>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</p:spTree>
    <p:extLst>
      <p:ext uri="{BB962C8B-B14F-4D97-AF65-F5344CB8AC3E}">
        <p14:creationId xmlns:p14="http://schemas.microsoft.com/office/powerpoint/2010/main" val="1450091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3CED-4B84-298E-002A-1E5FA996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2BD2-BB52-5487-FDD5-33D43D80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Persoonlijke experimenten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634A-BCD5-9E95-80CA-85E47472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Het beheer van virtuele omgevingen op deze manier is geschikt voor experimenten…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Maar: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Versie van python is nergens opgeslagen.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Welke packages je gebruikt wordt nergens bijgehouden.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Je kunt de omgeving niet eenvoudig opnieuw optuigen…</a:t>
            </a:r>
          </a:p>
        </p:txBody>
      </p:sp>
    </p:spTree>
    <p:extLst>
      <p:ext uri="{BB962C8B-B14F-4D97-AF65-F5344CB8AC3E}">
        <p14:creationId xmlns:p14="http://schemas.microsoft.com/office/powerpoint/2010/main" val="31240630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B4A3-A11D-6A47-4CDD-D1FBDA0D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49817-B2C5-0D71-1E75-E1C498D99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Project opzetten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EF5EA-3923-D53E-06A5-CF56FBCF9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4162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89FDD-5A28-F95A-B44B-8BB2E0F24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7372-BB49-CE36-7314-6054D342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82EEF-9095-114B-2E9C-2B83F1054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1800" noProof="0" dirty="0"/>
              <a:t>Eenvoudig project opzetten 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--no-package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&lt;f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older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&lt;--python=3.13&gt;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Maakt het o.a. volgende aan: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Git repository 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Voorbeeld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Setup bestand: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Documentatie: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86D434-CE5D-BD83-D5D2-A7A8140E03F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main.py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835670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071EF-C544-E572-57F7-3D0622F8B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E56E-10CB-09BD-E405-0971E8086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13EB8-92CF-373A-C187-DB8E9C7A1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Eenvoudig project opzetten 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--no-package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&lt;folder&gt;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&lt;--python=3.13&gt;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Inhoud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Omschrijving van het project</a:t>
            </a:r>
          </a:p>
          <a:p>
            <a:pPr>
              <a:buFontTx/>
              <a:buChar char="-"/>
            </a:pPr>
            <a:r>
              <a:rPr lang="nl-NL" sz="1800" dirty="0"/>
              <a:t>Minimale versie van Python</a:t>
            </a:r>
          </a:p>
          <a:p>
            <a:pPr>
              <a:buFontTx/>
              <a:buChar char="-"/>
            </a:pPr>
            <a:r>
              <a:rPr lang="nl-NL" sz="1800" dirty="0"/>
              <a:t>Afhankelijkheden en versies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FFA02B-CEF0-3191-F970-9557AF7E9E3E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5B17C9D-59B3-BF15-EA4A-4D9C5F96EE4C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4012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29D4-D901-F3FF-C97E-547342F0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CAC3D-10A9-080C-E818-4FA0B956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4759A-6720-15CE-F96E-546C716A8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Je kunt 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/>
              <a:t> eenvoudig afhankelijkheden toevoegen aan je project: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Voegt het package toe aan dependencies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Installeert het package in de virtuele omgeving.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0725D3-16CA-E2D5-94A7-60A3544B603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0.24.2"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954C70-2BC5-DCBB-7242-059EB3E75951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74863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31B-CD77-8B0C-F464-97043D9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55AD-FDB1-0689-1895-A8015E58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8AB73-081D-B81A-C563-829A0ED4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Met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/>
              <a:t> kun je ook versies updaten: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==2.3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==3.0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Update het package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 en in de virtuele omgeving.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Packages verwijderen kan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endParaRPr lang="nl-NL" sz="1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68E9040-9954-D4E3-6B44-08DF892DF220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"pandas == 3.0",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23D091E-CB64-DE64-1A69-D7E0394877E6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401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D17E-60EA-B9C3-423A-049658E8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A8121-4031-E815-BDDD-0C6FCE3F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Versies opgeven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DC5C-BC6B-6697-28CC-21B1B52AA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Semantische versienummers:</a:t>
            </a:r>
          </a:p>
          <a:p>
            <a:pPr>
              <a:buFontTx/>
              <a:buChar char="-"/>
            </a:pPr>
            <a:r>
              <a:rPr lang="nl-NL" sz="1800" dirty="0"/>
              <a:t>major:      niet backward compatible.</a:t>
            </a:r>
          </a:p>
          <a:p>
            <a:pPr>
              <a:buFontTx/>
              <a:buChar char="-"/>
            </a:pPr>
            <a:r>
              <a:rPr lang="nl-NL" sz="1800" dirty="0"/>
              <a:t>minor:      nieuwe functionaliteit.</a:t>
            </a:r>
          </a:p>
          <a:p>
            <a:pPr>
              <a:buFontTx/>
              <a:buChar char="-"/>
            </a:pPr>
            <a:r>
              <a:rPr lang="nl-NL" sz="1800" dirty="0"/>
              <a:t>patch:       bug </a:t>
            </a:r>
            <a:r>
              <a:rPr lang="nl-NL" sz="1800" dirty="0" err="1"/>
              <a:t>fixes</a:t>
            </a:r>
            <a:r>
              <a:rPr lang="nl-NL" sz="1800" dirty="0"/>
              <a:t>, security patches.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Manieren om versies op te geven:</a:t>
            </a:r>
          </a:p>
          <a:p>
            <a:pPr>
              <a:buFontTx/>
              <a:buChar char="-"/>
            </a:pPr>
            <a:r>
              <a:rPr lang="nl-NL" sz="1800" dirty="0"/>
              <a:t>exacte versie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</a:p>
          <a:p>
            <a:pPr>
              <a:buFontTx/>
              <a:buChar char="-"/>
            </a:pPr>
            <a:r>
              <a:rPr lang="nl-NL" sz="1800" dirty="0"/>
              <a:t>patch versie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~=</a:t>
            </a:r>
          </a:p>
          <a:p>
            <a:pPr>
              <a:buFontTx/>
              <a:buChar char="-"/>
            </a:pPr>
            <a:r>
              <a:rPr lang="nl-NL" sz="1800" dirty="0"/>
              <a:t>minimale versie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>
              <a:buFontTx/>
              <a:buChar char="-"/>
            </a:pPr>
            <a:r>
              <a:rPr lang="nl-NL" sz="1800" dirty="0"/>
              <a:t>versiebereik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&gt;=X, &lt;Y</a:t>
            </a:r>
          </a:p>
          <a:p>
            <a:pPr marL="0" indent="0">
              <a:buNone/>
            </a:pPr>
            <a:endParaRPr lang="nl-NL" sz="1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869381-1F27-5D78-7255-5DB9F4F7A6F3}"/>
              </a:ext>
            </a:extLst>
          </p:cNvPr>
          <p:cNvSpPr txBox="1">
            <a:spLocks/>
          </p:cNvSpPr>
          <p:nvPr/>
        </p:nvSpPr>
        <p:spPr>
          <a:xfrm>
            <a:off x="6637869" y="1463824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: 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major:  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minor:  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patch:   1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== 2.3.0    </a:t>
            </a:r>
            <a:r>
              <a:rPr lang="nl-NL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2.3.0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~= 2.3.0   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2.3.x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&gt;= 2.0      </a:t>
            </a:r>
            <a:r>
              <a:rPr lang="nl-NL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3.x</a:t>
            </a:r>
            <a:endParaRPr lang="en-US" sz="18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&gt;= 2.0, &lt;3 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2.x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EB986ED-0006-1D9D-BF2A-87F0F1CDDF4C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178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B8268-2043-BFCE-BD33-FB5E1907B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635C-F1AF-D3C3-38BF-0C76BBEB9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98FDE-C544-1CC2-7F01-4640E77DE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Start een nieuw project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Voeg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/>
              <a:t> toe aan het project, geef geen versie op:</a:t>
            </a:r>
          </a:p>
          <a:p>
            <a:pPr marL="914400" lvl="1" indent="-457200">
              <a:buAutoNum type="arabicPeriod"/>
            </a:pPr>
            <a:endParaRPr lang="nl-NL" sz="1800" dirty="0"/>
          </a:p>
          <a:p>
            <a:pPr lvl="1"/>
            <a:r>
              <a:rPr lang="nl-NL" sz="1800" dirty="0"/>
              <a:t>Welke versie werd geïnstalleerd?</a:t>
            </a:r>
          </a:p>
          <a:p>
            <a:pPr lvl="1"/>
            <a:r>
              <a:rPr lang="nl-NL" sz="1800" dirty="0"/>
              <a:t>Wat staat er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?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Verander nu de exacte versie naar 2.3.1, wat gebeurt er?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Voeg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nl-NL" sz="1800" dirty="0"/>
              <a:t> toe en open een nieuw Notebook.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Importeer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sklearn</a:t>
            </a:r>
            <a:r>
              <a:rPr lang="nl-NL" sz="1800" dirty="0"/>
              <a:t> in het Notebook; wat gebeurt er?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457200" indent="-457200">
              <a:buAutoNum type="arabicPeriod"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</p:spTree>
    <p:extLst>
      <p:ext uri="{BB962C8B-B14F-4D97-AF65-F5344CB8AC3E}">
        <p14:creationId xmlns:p14="http://schemas.microsoft.com/office/powerpoint/2010/main" val="39778290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EBAB7-3235-4663-4FA7-BB2FA622A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1C2B5-46CA-1CF2-3FD4-6CE6974C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7D104-144F-E411-77B6-9B8137E15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Versie specificaties laten vaak ruimte voor meerdere versies.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Zelfs als je zelf versies pint (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nl-NL" sz="1800" dirty="0"/>
              <a:t>) kunnen afhankelijkheden ruimte laten.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De opbouw van je omgeving kan daarom morgen anders uitpakken dan vandaag…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37EF78-F0D6-D5A9-3E59-86D562B13FE7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82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==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"python-</a:t>
            </a:r>
            <a:r>
              <a:rPr lang="en-US" sz="18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dateutil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2.8.2"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pytz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2020.1"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tzdata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&gt;= 2022.7"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6A2E80B-8462-4FE6-2CAC-1871043A36A6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98461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FDB43-1F10-E7EB-0AFA-1C423CAB0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CE93A-6C5A-B473-9AB1-6910F251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1E3BA-8183-4B30-8D19-68FB912DE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bevat de exacte versies van alle packages bij verwerken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kun je een virtuele omgeving exact reproduceren!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Maar: wijzigingen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 zullen update van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veroorzaken.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7715E9-1B15-6F8F-5184-356488E58119}"/>
              </a:ext>
            </a:extLst>
          </p:cNvPr>
          <p:cNvSpPr txBox="1">
            <a:spLocks/>
          </p:cNvSpPr>
          <p:nvPr/>
        </p:nvSpPr>
        <p:spPr>
          <a:xfrm>
            <a:off x="6637869" y="1388533"/>
            <a:ext cx="4715935" cy="47884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"pandas"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"2.3.1"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"https://pypi.org/simple"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"python-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dateutil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pytz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tzdata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 ]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0FDA2E1-2FE5-05F8-476B-025A8D9D164D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63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882A2-CE8B-F4EA-98A8-DBD2E590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78E-BCAA-2EDA-FC0E-E32BE225A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Beheer van </a:t>
            </a:r>
            <a:r>
              <a:rPr lang="nl-NL" sz="3600" dirty="0" err="1"/>
              <a:t>uv.lock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D6F03-E003-DFC5-BE3C-EA0A5D124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Update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 handmatig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Synchroniseren omgeving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sync --check</a:t>
            </a: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/>
              <a:t>-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Noot: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  <a:r>
              <a:rPr lang="nl-NL" sz="1800" dirty="0"/>
              <a:t> is exact,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run</a:t>
            </a:r>
            <a:r>
              <a:rPr lang="nl-NL" sz="1800" dirty="0"/>
              <a:t> niet.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C9F77A-0228-C9E5-58AE-CFEB18443A9E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9FEA287-4924-8893-2935-E2D57499DCD0}"/>
              </a:ext>
            </a:extLst>
          </p:cNvPr>
          <p:cNvSpPr txBox="1">
            <a:spLocks/>
          </p:cNvSpPr>
          <p:nvPr/>
        </p:nvSpPr>
        <p:spPr>
          <a:xfrm>
            <a:off x="6637869" y="1388533"/>
            <a:ext cx="4715935" cy="47884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"pandas"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"2.3.1"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"https://pypi.org/simple"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"python-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dateutil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pytz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{ name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tzdata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 {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} ]</a:t>
            </a:r>
          </a:p>
        </p:txBody>
      </p:sp>
    </p:spTree>
    <p:extLst>
      <p:ext uri="{BB962C8B-B14F-4D97-AF65-F5344CB8AC3E}">
        <p14:creationId xmlns:p14="http://schemas.microsoft.com/office/powerpoint/2010/main" val="30199831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09A3-99EC-A18B-7CE2-4A05569F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8BF3EB-11DE-EB68-ACE3-AFB603E12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Package maken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06D4F-E101-4332-DA66-985969D82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042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C2708-94FA-8F43-E08A-168861230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759-D5E1-AB81-7F75-4F13B1097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</a:t>
            </a:r>
            <a:r>
              <a:rPr lang="nl-NL" sz="3600" dirty="0" err="1"/>
              <a:t>vs</a:t>
            </a:r>
            <a:r>
              <a:rPr lang="nl-NL" sz="3600" dirty="0"/>
              <a:t> package</a:t>
            </a:r>
            <a:endParaRPr lang="nl-NL" sz="3600" noProof="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53EE70-7562-9CEE-3BE4-5D238D492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dirty="0"/>
              <a:t>Project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dirty="0"/>
              <a:t>Verzameling Python scripts.</a:t>
            </a:r>
          </a:p>
          <a:p>
            <a:pPr>
              <a:buFontTx/>
              <a:buChar char="-"/>
            </a:pPr>
            <a:endParaRPr lang="nl-NL" sz="1800" b="1" noProof="0" dirty="0"/>
          </a:p>
          <a:p>
            <a:pPr>
              <a:buFontTx/>
              <a:buChar char="-"/>
            </a:pPr>
            <a:r>
              <a:rPr lang="nl-NL" sz="1800" dirty="0"/>
              <a:t>Eindgebruiker werkt direct met de aangeleverde scripts.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dirty="0"/>
              <a:t>Voorbeelden:</a:t>
            </a:r>
          </a:p>
          <a:p>
            <a:pPr lvl="1">
              <a:buFontTx/>
              <a:buChar char="-"/>
            </a:pPr>
            <a:r>
              <a:rPr lang="nl-NL" sz="1800" noProof="0" dirty="0" err="1"/>
              <a:t>expl</a:t>
            </a:r>
            <a:r>
              <a:rPr lang="nl-NL" sz="1800" dirty="0" err="1"/>
              <a:t>oratieve</a:t>
            </a:r>
            <a:r>
              <a:rPr lang="nl-NL" sz="1800" dirty="0"/>
              <a:t> notebooks.</a:t>
            </a:r>
          </a:p>
          <a:p>
            <a:pPr lvl="1">
              <a:buFontTx/>
              <a:buChar char="-"/>
            </a:pPr>
            <a:r>
              <a:rPr lang="nl-NL" sz="1800" dirty="0"/>
              <a:t>w</a:t>
            </a:r>
            <a:r>
              <a:rPr lang="nl-NL" sz="1800" noProof="0" dirty="0"/>
              <a:t>e</a:t>
            </a:r>
            <a:r>
              <a:rPr lang="nl-NL" sz="1800" dirty="0"/>
              <a:t>b applicatie.</a:t>
            </a:r>
            <a:endParaRPr lang="nl-NL" sz="1800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E391D7-CCA7-A9C3-CBE7-571AF45B2F4B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AC17-1289-F6E5-FD36-C8546C3967B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800" b="1" dirty="0"/>
              <a:t>Package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Verzameling Python scripts.</a:t>
            </a:r>
          </a:p>
          <a:p>
            <a:pPr>
              <a:buFontTx/>
              <a:buChar char="-"/>
            </a:pPr>
            <a:endParaRPr lang="nl-NL" sz="1800" b="1" dirty="0"/>
          </a:p>
          <a:p>
            <a:pPr>
              <a:buFontTx/>
              <a:buChar char="-"/>
            </a:pPr>
            <a:r>
              <a:rPr lang="nl-NL" sz="1800" dirty="0"/>
              <a:t>Eindgebruiker importeert package in eigen scripts.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Voorbeelden:</a:t>
            </a:r>
          </a:p>
          <a:p>
            <a:pPr lvl="1">
              <a:buFontTx/>
              <a:buChar char="-"/>
            </a:pPr>
            <a:r>
              <a:rPr lang="nl-NL" sz="1800" dirty="0" err="1"/>
              <a:t>pandas</a:t>
            </a:r>
            <a:r>
              <a:rPr lang="nl-NL" sz="1800" dirty="0"/>
              <a:t>.</a:t>
            </a:r>
          </a:p>
          <a:p>
            <a:pPr lvl="1">
              <a:buFontTx/>
              <a:buChar char="-"/>
            </a:pPr>
            <a:r>
              <a:rPr lang="nl-NL" sz="1800" dirty="0" err="1"/>
              <a:t>scikit-learn</a:t>
            </a:r>
            <a:r>
              <a:rPr lang="nl-NL" sz="180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800" b="1" dirty="0"/>
          </a:p>
        </p:txBody>
      </p:sp>
    </p:spTree>
    <p:extLst>
      <p:ext uri="{BB962C8B-B14F-4D97-AF65-F5344CB8AC3E}">
        <p14:creationId xmlns:p14="http://schemas.microsoft.com/office/powerpoint/2010/main" val="2909681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4E86-FAC2-307A-D6C6-6DA31D006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04A7D-3308-CE26-91D4-AB2A5BE11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C1221-641C-518B-47F3-AA276E540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Package opzetten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hi-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Maakt het volgende aan: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Een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800" dirty="0"/>
              <a:t> folder</a:t>
            </a:r>
          </a:p>
          <a:p>
            <a:pPr>
              <a:buFontTx/>
              <a:buChar char="-"/>
            </a:pPr>
            <a:r>
              <a:rPr lang="nl-NL" sz="1800" dirty="0"/>
              <a:t>Git repository 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Python versie bestand</a:t>
            </a:r>
          </a:p>
          <a:p>
            <a:pPr>
              <a:buFontTx/>
              <a:buChar char="-"/>
            </a:pPr>
            <a:r>
              <a:rPr lang="nl-NL" sz="1800" dirty="0"/>
              <a:t>Setup bestand: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dirty="0"/>
              <a:t>Documentatie: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65E4DB-2F84-BC73-5EF4-62BC378EC829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827919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BB9F-A6A0-AFED-2171-8A442D80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163D-DDD0-E8EF-8D44-9E5368D8D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882A7-CA06-1555-4175-CA300E8E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Package opzetten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hi-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Extra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Auteurs in de metadata</a:t>
            </a:r>
          </a:p>
          <a:p>
            <a:pPr>
              <a:buFontTx/>
              <a:buChar char="-"/>
            </a:pPr>
            <a:r>
              <a:rPr lang="nl-NL" sz="1800" dirty="0"/>
              <a:t>Voorbeeld van project scripts</a:t>
            </a:r>
          </a:p>
          <a:p>
            <a:pPr>
              <a:buFontTx/>
              <a:buChar char="-"/>
            </a:pPr>
            <a:r>
              <a:rPr lang="nl-NL" sz="1800" dirty="0" err="1"/>
              <a:t>Build</a:t>
            </a:r>
            <a:r>
              <a:rPr lang="nl-NL" sz="1800" dirty="0"/>
              <a:t> systeem voor publiceren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5A19D6-CB96-C5FC-6379-1EF45F3F0A83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"hi-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"0.1.0"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"README.md"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{name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email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"..."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-python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"&gt;=3.13"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hi_world:main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-system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&gt;=0.11"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-backend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2A2D4A-9DCB-CA25-1499-9A2C30FDDC77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19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AC40-0CCD-694E-5EB8-28486C6D9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61A70-A25B-3837-ECA5-6E52837F8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van __init__.py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C34B6-73FE-8D2C-821A-E3F2717FA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Door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1800" dirty="0"/>
              <a:t> kun je scripts uit een folder importeren.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Vaak leeg bestand, maar kan code bevatten.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Code 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1800" dirty="0"/>
              <a:t> wordt uitgevoerd bij importeren package.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832A8D-4525-DFAF-8266-055AF170105E}"/>
              </a:ext>
            </a:extLst>
          </p:cNvPr>
          <p:cNvSpPr txBox="1">
            <a:spLocks/>
          </p:cNvSpPr>
          <p:nvPr/>
        </p:nvSpPr>
        <p:spPr>
          <a:xfrm>
            <a:off x="6637869" y="1550773"/>
            <a:ext cx="4715935" cy="46261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21539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1DC82-B61A-BFC5-B538-7B3C6917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5081B-69BF-FB96-2B06-B5187C5C1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Functie van __init__.py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3D080-831C-D6F8-F21E-78125CD6E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3632885"/>
            <a:ext cx="4715935" cy="25440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dirty="0">
                <a:cs typeface="Courier New" panose="02070309020205020404" pitchFamily="49" charset="0"/>
              </a:rPr>
              <a:t>Inhoud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__init__.py: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&lt;leeg&gt;</a:t>
            </a: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dirty="0">
                <a:cs typeface="Courier New" panose="02070309020205020404" pitchFamily="49" charset="0"/>
              </a:rPr>
              <a:t>Importeren:</a:t>
            </a:r>
          </a:p>
          <a:p>
            <a:pPr marL="0" indent="0">
              <a:buNone/>
            </a:pPr>
            <a:r>
              <a:rPr lang="nl-NL" sz="18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hi_world.greet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4402707-3B5E-3D4E-880B-81EE7166113B}"/>
              </a:ext>
            </a:extLst>
          </p:cNvPr>
          <p:cNvSpPr txBox="1">
            <a:spLocks/>
          </p:cNvSpPr>
          <p:nvPr/>
        </p:nvSpPr>
        <p:spPr>
          <a:xfrm>
            <a:off x="6637869" y="3719383"/>
            <a:ext cx="4715935" cy="2457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600" b="1" dirty="0">
                <a:cs typeface="Courier New" panose="02070309020205020404" pitchFamily="49" charset="0"/>
              </a:rPr>
              <a:t>Inhoud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__init__.py:</a:t>
            </a:r>
          </a:p>
          <a:p>
            <a:pPr marL="0" indent="0">
              <a:buNone/>
            </a:pP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greet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b="1" dirty="0">
                <a:cs typeface="Courier New" panose="02070309020205020404" pitchFamily="49" charset="0"/>
              </a:rPr>
              <a:t>Importeren:</a:t>
            </a:r>
          </a:p>
          <a:p>
            <a:pPr marL="0" indent="0">
              <a:buNone/>
            </a:pPr>
            <a:r>
              <a:rPr lang="nl-NL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3C33AF-342F-C740-ACFD-62CAB82B7580}"/>
              </a:ext>
            </a:extLst>
          </p:cNvPr>
          <p:cNvCxnSpPr>
            <a:cxnSpLocks/>
          </p:cNvCxnSpPr>
          <p:nvPr/>
        </p:nvCxnSpPr>
        <p:spPr>
          <a:xfrm>
            <a:off x="5960533" y="3632885"/>
            <a:ext cx="0" cy="25440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A33588-7257-AFA3-2116-EE339FD4C232}"/>
              </a:ext>
            </a:extLst>
          </p:cNvPr>
          <p:cNvSpPr txBox="1">
            <a:spLocks/>
          </p:cNvSpPr>
          <p:nvPr/>
        </p:nvSpPr>
        <p:spPr>
          <a:xfrm>
            <a:off x="4760239" y="1377779"/>
            <a:ext cx="2400587" cy="17052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├─ 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greet.py</a:t>
            </a:r>
          </a:p>
        </p:txBody>
      </p:sp>
    </p:spTree>
    <p:extLst>
      <p:ext uri="{BB962C8B-B14F-4D97-AF65-F5344CB8AC3E}">
        <p14:creationId xmlns:p14="http://schemas.microsoft.com/office/powerpoint/2010/main" val="12098358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07F77-C68C-0836-50D7-EEB08DB8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5D9107-F97F-7E2E-AF47-6EAC772B856F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/hi_world/__init__.py: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9C1212-14D7-62DC-86F0-DABB71C8A129}"/>
              </a:ext>
            </a:extLst>
          </p:cNvPr>
          <p:cNvSpPr/>
          <p:nvPr/>
        </p:nvSpPr>
        <p:spPr>
          <a:xfrm>
            <a:off x="6637864" y="1859692"/>
            <a:ext cx="4715935" cy="9205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nl-NL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hi_world:main</a:t>
            </a:r>
            <a:r>
              <a:rPr lang="nl-NL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6E2E1F-7244-7A5F-0C33-4C22BC03D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1B784-42DE-766F-0FEF-50C835D7E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Scripts zijn CLI commando's die je package kan uitvoeren.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Het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hi-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cs typeface="Courier New" panose="02070309020205020404" pitchFamily="49" charset="0"/>
              </a:rPr>
              <a:t> commando voert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cs typeface="Courier New" panose="02070309020205020404" pitchFamily="49" charset="0"/>
              </a:rPr>
              <a:t>uit van 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r>
              <a:rPr lang="nl-NL" sz="2000" dirty="0">
                <a:cs typeface="Courier New" panose="02070309020205020404" pitchFamily="49" charset="0"/>
              </a:rPr>
              <a:t> package.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Deze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2000" dirty="0">
                <a:cs typeface="Courier New" panose="02070309020205020404" pitchFamily="49" charset="0"/>
              </a:rPr>
              <a:t>-functie is gedefinieerd in: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src/hi_world/__init__.py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E00F40-5ECC-3AB6-6EA2-E48E8EAA026A}"/>
              </a:ext>
            </a:extLst>
          </p:cNvPr>
          <p:cNvSpPr/>
          <p:nvPr/>
        </p:nvSpPr>
        <p:spPr>
          <a:xfrm>
            <a:off x="6637863" y="4366699"/>
            <a:ext cx="4715935" cy="92057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main() -&gt;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print(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 from hi-world!"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B5D991-25A9-C1DC-37DC-BD5D2CC5F642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</a:t>
            </a:r>
            <a:r>
              <a:rPr lang="en-US" sz="1400" dirty="0" err="1"/>
              <a:t>uv</a:t>
            </a:r>
            <a:r>
              <a:rPr lang="en-US" sz="1400" dirty="0"/>
              <a:t> hi-world.</a:t>
            </a:r>
          </a:p>
        </p:txBody>
      </p:sp>
    </p:spTree>
    <p:extLst>
      <p:ext uri="{BB962C8B-B14F-4D97-AF65-F5344CB8AC3E}">
        <p14:creationId xmlns:p14="http://schemas.microsoft.com/office/powerpoint/2010/main" val="39142520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6A839-8353-5874-5566-9C4519C4E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49A6F-1C27-17A8-349D-097CCCF0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ontwikkelen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D8557-B4B0-4AB3-6D7F-EB4A14A4F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Bedoeling package is geïmporteerd worden in een *ander* project.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Maak een tweede virtuele omgeving aan en installeer het package daarin.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Gebruik die tweede omgeving om het package te testen.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Tip: gebruik een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editable</a:t>
            </a:r>
            <a:r>
              <a:rPr lang="nl-NL" sz="1800" dirty="0"/>
              <a:t> installatie.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0C9AAE-523A-F1C2-BA44-0125F02209A6}"/>
              </a:ext>
            </a:extLst>
          </p:cNvPr>
          <p:cNvSpPr/>
          <p:nvPr/>
        </p:nvSpPr>
        <p:spPr>
          <a:xfrm>
            <a:off x="6157647" y="1896822"/>
            <a:ext cx="2269661" cy="147039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hi-world/</a:t>
            </a:r>
          </a:p>
          <a:p>
            <a:pPr algn="ctr"/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hi_world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C312A6-5F98-D8CD-33DC-3F562FE715C9}"/>
              </a:ext>
            </a:extLst>
          </p:cNvPr>
          <p:cNvSpPr/>
          <p:nvPr/>
        </p:nvSpPr>
        <p:spPr>
          <a:xfrm>
            <a:off x="9083254" y="1896822"/>
            <a:ext cx="2365281" cy="14703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develop/</a:t>
            </a:r>
          </a:p>
          <a:p>
            <a:pPr algn="ctr"/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notebook.py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8CE65A-F0B5-4EFF-0D98-5F7362C9BBBD}"/>
              </a:ext>
            </a:extLst>
          </p:cNvPr>
          <p:cNvSpPr/>
          <p:nvPr/>
        </p:nvSpPr>
        <p:spPr>
          <a:xfrm>
            <a:off x="6157647" y="4661463"/>
            <a:ext cx="5290888" cy="4912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pip install --editable ../hi-world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12066804-EEEB-25B0-B1A4-766EB98B5598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16200000" flipH="1">
            <a:off x="8779186" y="1880507"/>
            <a:ext cx="12700" cy="2973417"/>
          </a:xfrm>
          <a:prstGeom prst="curvedConnector3">
            <a:avLst>
              <a:gd name="adj1" fmla="val 724863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5847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B8F7-07CD-6469-2DE3-1D233FBA4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99B4D-18D1-74CA-3912-95130F7BB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24D4B-5806-5B58-E67F-2C5199CC8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my-math</a:t>
            </a:r>
            <a:r>
              <a:rPr lang="nl-NL" sz="2000" dirty="0"/>
              <a:t> package aan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math.py</a:t>
            </a:r>
            <a:r>
              <a:rPr lang="nl-NL" sz="2000" dirty="0"/>
              <a:t> aan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my_math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000" dirty="0"/>
              <a:t> 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Definieer hierin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(zie rechts).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Installeer je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my-math</a:t>
            </a:r>
            <a:r>
              <a:rPr lang="nl-NL" sz="2000" dirty="0"/>
              <a:t> package in een tweede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in deze tweede omgeving.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FF93B-3F21-72C9-B345-35AFF6C7FE2C}"/>
              </a:ext>
            </a:extLst>
          </p:cNvPr>
          <p:cNvSpPr txBox="1">
            <a:spLocks/>
          </p:cNvSpPr>
          <p:nvPr/>
        </p:nvSpPr>
        <p:spPr>
          <a:xfrm>
            <a:off x="7136981" y="1456267"/>
            <a:ext cx="4216817" cy="12944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180000" tIns="180000" rIns="180000" bIns="18000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/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16707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39F0-2D02-907F-DBB6-BF47FCD5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BCF02F-7B24-4473-0E35-AB6BB6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distribueren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13D7BD-12C8-6930-C8E5-AA40930CC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45139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7FD8F-A03A-58F2-4CB9-57D4B5FB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473E8-5653-8689-3228-526A1CA25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Broncode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6F454-E47E-96CC-CF07-0712BAE4E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Je kunt code direct uit een repository installeren met: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Download de code en installeert het package.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Maar:</a:t>
            </a:r>
          </a:p>
          <a:p>
            <a:pPr>
              <a:buFontTx/>
              <a:buChar char="-"/>
            </a:pPr>
            <a:r>
              <a:rPr lang="nl-NL" sz="1800" dirty="0"/>
              <a:t>Geen versies, alleen branches / tags / commit.</a:t>
            </a:r>
          </a:p>
          <a:p>
            <a:pPr>
              <a:buFontTx/>
              <a:buChar char="-"/>
            </a:pPr>
            <a:r>
              <a:rPr lang="nl-NL" sz="1800" dirty="0"/>
              <a:t>Niet voor packages geschreven in C of Rust.</a:t>
            </a:r>
          </a:p>
          <a:p>
            <a:pPr marL="0" indent="0">
              <a:buNone/>
            </a:pPr>
            <a:endParaRPr lang="nl-NL" sz="1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1A6922-D845-ECE8-6318-E12615476DA8}"/>
              </a:ext>
            </a:extLst>
          </p:cNvPr>
          <p:cNvGrpSpPr/>
          <p:nvPr/>
        </p:nvGrpSpPr>
        <p:grpSpPr>
          <a:xfrm>
            <a:off x="6902713" y="1729757"/>
            <a:ext cx="4451087" cy="4173716"/>
            <a:chOff x="6502820" y="1456267"/>
            <a:chExt cx="4451087" cy="417371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A648842-EC7E-EE81-A33F-5CC734E912DF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8728363" y="2307337"/>
              <a:ext cx="1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562140A-ADC5-83ED-1E1A-D2C5249441E4}"/>
                </a:ext>
              </a:extLst>
            </p:cNvPr>
            <p:cNvSpPr/>
            <p:nvPr/>
          </p:nvSpPr>
          <p:spPr>
            <a:xfrm>
              <a:off x="6502821" y="1456267"/>
              <a:ext cx="4451086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https://github.com/psf/requests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F74266-7C29-C295-07F3-6A797C8E2093}"/>
                </a:ext>
              </a:extLst>
            </p:cNvPr>
            <p:cNvSpPr/>
            <p:nvPr/>
          </p:nvSpPr>
          <p:spPr>
            <a:xfrm>
              <a:off x="6502820" y="4778913"/>
              <a:ext cx="445108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develop/.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A17265F-1CAB-BB0D-452E-6D884CBC670C}"/>
                </a:ext>
              </a:extLst>
            </p:cNvPr>
            <p:cNvSpPr/>
            <p:nvPr/>
          </p:nvSpPr>
          <p:spPr>
            <a:xfrm>
              <a:off x="6502820" y="32975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pip install git+&lt;repo&gt;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37018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A5CD8-9F0E-92CE-39CE-33C0A8804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5A75-3D07-D716-ECB2-C304BA62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Binaire 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065DE-4B5C-D310-0F17-74CD0268E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Het </a:t>
            </a:r>
            <a:r>
              <a:rPr lang="nl-NL" sz="1800" dirty="0" err="1"/>
              <a:t>build</a:t>
            </a:r>
            <a:r>
              <a:rPr lang="nl-NL" sz="1800" dirty="0"/>
              <a:t>-systeem verpakt code als binair formaat:</a:t>
            </a: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Het systeem maakt een </a:t>
            </a:r>
            <a:r>
              <a:rPr lang="nl-NL" sz="1800" dirty="0" err="1"/>
              <a:t>wheel</a:t>
            </a:r>
            <a:r>
              <a:rPr lang="nl-NL" sz="1800" dirty="0"/>
              <a:t>-bestand aan: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my_math-0.1.0-py3-none-any.whl</a:t>
            </a:r>
          </a:p>
          <a:p>
            <a:pPr>
              <a:buFontTx/>
              <a:buChar char="-"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versie van het package: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0.1.0</a:t>
            </a:r>
          </a:p>
          <a:p>
            <a:pPr>
              <a:buFontTx/>
              <a:buChar char="-"/>
            </a:pPr>
            <a:r>
              <a:rPr lang="nl-NL" sz="1800" dirty="0"/>
              <a:t>versie van Python: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py3</a:t>
            </a:r>
          </a:p>
          <a:p>
            <a:pPr>
              <a:buFontTx/>
              <a:buChar char="-"/>
            </a:pPr>
            <a:r>
              <a:rPr lang="nl-NL" sz="1800" dirty="0"/>
              <a:t>Python ABI:			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pPr>
              <a:buFontTx/>
              <a:buChar char="-"/>
            </a:pPr>
            <a:r>
              <a:rPr lang="nl-NL" sz="1800" dirty="0"/>
              <a:t>operating system: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178601E-D078-3A89-E9F4-7F4E5DE59841}"/>
              </a:ext>
            </a:extLst>
          </p:cNvPr>
          <p:cNvGrpSpPr/>
          <p:nvPr/>
        </p:nvGrpSpPr>
        <p:grpSpPr>
          <a:xfrm>
            <a:off x="6902710" y="1675590"/>
            <a:ext cx="4451090" cy="4282049"/>
            <a:chOff x="6524417" y="1729757"/>
            <a:chExt cx="4451090" cy="4282049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A85FC4C-A36E-D872-2870-86D7F9F71535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8749960" y="2580827"/>
              <a:ext cx="4" cy="2579909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5628CB-806A-5663-1981-2DBB6482CAA6}"/>
                </a:ext>
              </a:extLst>
            </p:cNvPr>
            <p:cNvSpPr/>
            <p:nvPr/>
          </p:nvSpPr>
          <p:spPr>
            <a:xfrm>
              <a:off x="6524421" y="1729757"/>
              <a:ext cx="4451086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my-math/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869D36-B1C6-20C0-9D57-35D764893D2F}"/>
                </a:ext>
              </a:extLst>
            </p:cNvPr>
            <p:cNvSpPr/>
            <p:nvPr/>
          </p:nvSpPr>
          <p:spPr>
            <a:xfrm>
              <a:off x="6524417" y="5160736"/>
              <a:ext cx="445108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my-math/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FD7DE79-C42C-A7B4-D406-799063FBD85F}"/>
                </a:ext>
              </a:extLst>
            </p:cNvPr>
            <p:cNvSpPr/>
            <p:nvPr/>
          </p:nvSpPr>
          <p:spPr>
            <a:xfrm>
              <a:off x="6524420" y="303781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7C57495-7076-B239-7103-8C895E912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815" b="2"/>
            <a:stretch>
              <a:fillRect/>
            </a:stretch>
          </p:blipFill>
          <p:spPr>
            <a:xfrm>
              <a:off x="6524420" y="3986003"/>
              <a:ext cx="4451082" cy="7177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930485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FA1FD-549C-9666-BA43-A2579694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576C-E2A8-433A-EC2F-91DC1EB67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Binair</a:t>
            </a:r>
            <a:r>
              <a:rPr lang="nl-NL" sz="3600" dirty="0"/>
              <a:t>e code </a:t>
            </a:r>
            <a:r>
              <a:rPr lang="nl-NL" sz="3600" noProof="0" dirty="0"/>
              <a:t>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01D55-F67E-F32F-B691-5AAA3008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Upload binaire code naar een index server: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--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publish-url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&lt;index&gt;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Index server maakt package beschikbaar voor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dirty="0"/>
              <a:t>: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--index-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&lt;index&gt;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8F997DA-F96D-43FC-45F4-A3D4CD2F9652}"/>
              </a:ext>
            </a:extLst>
          </p:cNvPr>
          <p:cNvGrpSpPr/>
          <p:nvPr/>
        </p:nvGrpSpPr>
        <p:grpSpPr>
          <a:xfrm>
            <a:off x="6902713" y="1729757"/>
            <a:ext cx="4451087" cy="4173716"/>
            <a:chOff x="6502820" y="1456267"/>
            <a:chExt cx="4451087" cy="4173716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0CD9BA-3907-D0AE-1520-7686E134FF86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 flipH="1">
              <a:off x="8728363" y="2307337"/>
              <a:ext cx="1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F6056C3-1202-7D4A-05C2-7F6B5113DF90}"/>
                </a:ext>
              </a:extLst>
            </p:cNvPr>
            <p:cNvSpPr/>
            <p:nvPr/>
          </p:nvSpPr>
          <p:spPr>
            <a:xfrm>
              <a:off x="6502821" y="1456267"/>
              <a:ext cx="4451086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my-math/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E15192-7E18-48F7-E7FB-2595E031F57E}"/>
                </a:ext>
              </a:extLst>
            </p:cNvPr>
            <p:cNvSpPr/>
            <p:nvPr/>
          </p:nvSpPr>
          <p:spPr>
            <a:xfrm>
              <a:off x="6502820" y="4778913"/>
              <a:ext cx="4451085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PyPI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https://pypi.org./simple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D1513-9168-E194-0C95-BCD59FE9ACFB}"/>
                </a:ext>
              </a:extLst>
            </p:cNvPr>
            <p:cNvSpPr/>
            <p:nvPr/>
          </p:nvSpPr>
          <p:spPr>
            <a:xfrm>
              <a:off x="6502820" y="32975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publish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108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973CD-B7DD-8608-BFE6-0A22348A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A396B-EB46-9406-7CBC-6569422F0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B02B2-8E1C-F184-CDD1-48666B4E6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Ga naar 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my-math</a:t>
            </a:r>
            <a:r>
              <a:rPr lang="nl-NL" sz="2000" dirty="0"/>
              <a:t> package uit de vorige opdracht.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Converteer het package naar binair formaat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Open het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tar.gz</a:t>
            </a:r>
            <a:r>
              <a:rPr lang="nl-NL" sz="2000" dirty="0"/>
              <a:t> bestand; wat zit hierin?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noProof="0" dirty="0"/>
              <a:t>Kun je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noProof="0" dirty="0"/>
              <a:t> installeren via git?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0437867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FF924-F7F6-8A4F-23F7-CCFB08CA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08656-8266-CA23-72A0-4248BAA73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Samenvatting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54083-19DA-61E6-4479-3881631FA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246955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ACF26-CDDB-9E30-EAFF-DC4A0596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EF0A2-42C2-CB16-67AB-4E41F988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Python &amp; virtuele omgevingen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A9B36-8AE1-6631-2007-24A3AFCBB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2939"/>
            <a:ext cx="5457570" cy="305211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Flexibele, eenvoudige syntax.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Groot ecosysteem; veel packages beschikbaar.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Geïnterpreteerde taal; vereist beheer van packages en versies.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Gebruik virtuele omgevingen voor ieder project.</a:t>
            </a:r>
            <a:endParaRPr lang="nl-NL" sz="1800" noProof="0" dirty="0"/>
          </a:p>
        </p:txBody>
      </p:sp>
      <p:pic>
        <p:nvPicPr>
          <p:cNvPr id="4" name="Picture 2" descr="Python">
            <a:extLst>
              <a:ext uri="{FF2B5EF4-FFF2-40B4-BE49-F238E27FC236}">
                <a16:creationId xmlns:a16="http://schemas.microsoft.com/office/drawing/2014/main" id="{8A3C8C68-B170-2F60-2EF4-A40C44FC37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984"/>
          <a:stretch>
            <a:fillRect/>
          </a:stretch>
        </p:blipFill>
        <p:spPr bwMode="auto">
          <a:xfrm>
            <a:off x="7174412" y="2147694"/>
            <a:ext cx="4179388" cy="256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6853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3694F-674D-E339-09F0-64A91A0B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843F1-5DA6-BB5D-84DF-3E3A5AA2C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DB66D-093F-B7DF-44CE-ACB5BCD3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6520202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Beheer virtuele omgevingen eenvoudig met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800" dirty="0"/>
              <a:t>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Zet projecten en packages op:</a:t>
            </a:r>
          </a:p>
          <a:p>
            <a:pPr lvl="1"/>
            <a:r>
              <a:rPr lang="nl-NL" sz="1800" noProof="0" dirty="0"/>
              <a:t>Aanmaken folder structuur.</a:t>
            </a:r>
          </a:p>
          <a:p>
            <a:pPr lvl="1"/>
            <a:r>
              <a:rPr lang="nl-NL" sz="1800" dirty="0"/>
              <a:t>Voorbeeldbestanden zoals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.</a:t>
            </a:r>
          </a:p>
          <a:p>
            <a:pPr lvl="1"/>
            <a:r>
              <a:rPr lang="nl-NL" sz="1800" noProof="0" dirty="0"/>
              <a:t>Beheer van afhankelijkheden.</a:t>
            </a:r>
          </a:p>
          <a:p>
            <a:pPr marL="457200" indent="-457200">
              <a:buFont typeface="+mj-lt"/>
              <a:buAutoNum type="arabicPeriod"/>
            </a:pPr>
            <a:endParaRPr lang="nl-NL" sz="1800" dirty="0"/>
          </a:p>
          <a:p>
            <a:pPr marL="457200" indent="-457200">
              <a:buFont typeface="+mj-lt"/>
              <a:buAutoNum type="arabicPeriod"/>
            </a:pPr>
            <a:endParaRPr lang="nl-NL" sz="1800" dirty="0"/>
          </a:p>
          <a:p>
            <a:pPr marL="457200" indent="-457200">
              <a:buFont typeface="+mj-lt"/>
              <a:buAutoNum type="arabicPeriod"/>
            </a:pPr>
            <a:r>
              <a:rPr lang="nl-NL" sz="1800" noProof="0" dirty="0"/>
              <a:t>Distribueer code via git of als </a:t>
            </a:r>
            <a:r>
              <a:rPr lang="nl-NL" sz="1800" noProof="0" dirty="0" err="1"/>
              <a:t>wheel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5475F1C-7AE3-0113-4FC4-077F0EDB9202}"/>
              </a:ext>
            </a:extLst>
          </p:cNvPr>
          <p:cNvSpPr txBox="1">
            <a:spLocks/>
          </p:cNvSpPr>
          <p:nvPr/>
        </p:nvSpPr>
        <p:spPr>
          <a:xfrm>
            <a:off x="7826400" y="1456267"/>
            <a:ext cx="35274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run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C09FAF-7102-3D5C-56E7-19FB5AB952F3}"/>
              </a:ext>
            </a:extLst>
          </p:cNvPr>
          <p:cNvCxnSpPr/>
          <p:nvPr/>
        </p:nvCxnSpPr>
        <p:spPr>
          <a:xfrm>
            <a:off x="7228800" y="1267200"/>
            <a:ext cx="0" cy="4780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0794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A546B-FB76-B9EE-8C66-D103BAA55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54707D-C12B-74B9-0C76-A3B4E0F8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IDE's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9D839-E993-F785-769D-29219C4E8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75932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Keuze voor </a:t>
            </a:r>
            <a:r>
              <a:rPr lang="nl-NL" sz="3600" noProof="0" dirty="0" err="1"/>
              <a:t>IDE's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Marimo</a:t>
            </a:r>
            <a:r>
              <a:rPr lang="nl-NL" sz="2000" b="1" noProof="0" dirty="0"/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interactief werken.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demo’s, directe feedback.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Opslag als python script.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Volgorde cellen maakt niet uit.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6E87A0-1070-48CA-27A1-259B2400F9C1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Visual Studio Code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Goed voor gestructureerd 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Veel functionaliteit en plug-ins.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 Modulair, minder </a:t>
            </a:r>
            <a:r>
              <a:rPr lang="nl-NL" sz="2000" dirty="0" err="1"/>
              <a:t>bloat</a:t>
            </a:r>
            <a:r>
              <a:rPr lang="nl-NL" sz="2000" dirty="0"/>
              <a:t>...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7852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Virtual Studio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3"/>
            <a:ext cx="8615099" cy="5116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47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Setting voor de cursus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Open </a:t>
            </a:r>
            <a:r>
              <a:rPr lang="nl-NL" sz="2000" b="1" noProof="0" dirty="0" err="1"/>
              <a:t>Settings</a:t>
            </a:r>
            <a:r>
              <a:rPr lang="nl-NL" sz="2000" noProof="0" dirty="0"/>
              <a:t> (tandwiel of CTRL + ,)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Klik op </a:t>
            </a:r>
            <a:r>
              <a:rPr lang="nl-NL" sz="2000" b="1" noProof="0" dirty="0" err="1"/>
              <a:t>Extensions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Zoek naar </a:t>
            </a:r>
            <a:r>
              <a:rPr lang="nl-NL" sz="2000" b="1" noProof="0" dirty="0"/>
              <a:t>Python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Vink deze setting aan:</a:t>
            </a:r>
          </a:p>
          <a:p>
            <a:pPr marL="0" indent="0">
              <a:buNone/>
            </a:pPr>
            <a:r>
              <a:rPr lang="nl-NL" sz="2000" noProof="0" dirty="0"/>
              <a:t>    </a:t>
            </a:r>
            <a:r>
              <a:rPr lang="nl-NL" sz="2000" b="1" noProof="0" dirty="0"/>
              <a:t>Terminal: </a:t>
            </a:r>
            <a:r>
              <a:rPr lang="nl-NL" sz="2000" b="1" noProof="0" dirty="0" err="1"/>
              <a:t>Execute</a:t>
            </a:r>
            <a:r>
              <a:rPr lang="nl-NL" sz="2000" b="1" noProof="0" dirty="0"/>
              <a:t> In File Dir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5" y="1460763"/>
            <a:ext cx="4715935" cy="19682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715DFF-473D-EF2F-A10B-8B92AC29B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865" y="4287478"/>
            <a:ext cx="4715932" cy="68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5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807</TotalTime>
  <Words>2995</Words>
  <Application>Microsoft Office PowerPoint</Application>
  <PresentationFormat>Widescreen</PresentationFormat>
  <Paragraphs>838</Paragraphs>
  <Slides>56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Arial</vt:lpstr>
      <vt:lpstr>Calibri</vt:lpstr>
      <vt:lpstr>Calibri Light</vt:lpstr>
      <vt:lpstr>Corbel Light</vt:lpstr>
      <vt:lpstr>Courier New</vt:lpstr>
      <vt:lpstr>Office Theme</vt:lpstr>
      <vt:lpstr>Python - Cursus</vt:lpstr>
      <vt:lpstr>Agenda</vt:lpstr>
      <vt:lpstr>Introductie Python</vt:lpstr>
      <vt:lpstr>Sterke punten</vt:lpstr>
      <vt:lpstr>Zwakke punten</vt:lpstr>
      <vt:lpstr>Hoe werkt Python?</vt:lpstr>
      <vt:lpstr>Hoe werkt Python?</vt:lpstr>
      <vt:lpstr>Hoe werkt Python?</vt:lpstr>
      <vt:lpstr>Werken met packages</vt:lpstr>
      <vt:lpstr>Standaard packages</vt:lpstr>
      <vt:lpstr>Externe packages</vt:lpstr>
      <vt:lpstr>Afhankelijkheden</vt:lpstr>
      <vt:lpstr>Conflicterende versies</vt:lpstr>
      <vt:lpstr>Virtuele omgevingen</vt:lpstr>
      <vt:lpstr>Opzet virtuele omgevingen</vt:lpstr>
      <vt:lpstr>Opzet virtuele omgevingen</vt:lpstr>
      <vt:lpstr>Beheer omgevingen met venv</vt:lpstr>
      <vt:lpstr>Beheer omgevingen met venv</vt:lpstr>
      <vt:lpstr>uv</vt:lpstr>
      <vt:lpstr>Beheer omgevingen met uv</vt:lpstr>
      <vt:lpstr>Commando’s uv</vt:lpstr>
      <vt:lpstr>Commando’s uv</vt:lpstr>
      <vt:lpstr>Commando’s uv</vt:lpstr>
      <vt:lpstr>Oefeningen 1</vt:lpstr>
      <vt:lpstr>Persoonlijke experimenten</vt:lpstr>
      <vt:lpstr>Project opzetten</vt:lpstr>
      <vt:lpstr>Project aanmaken</vt:lpstr>
      <vt:lpstr>Project aanmaken</vt:lpstr>
      <vt:lpstr>Afhankelijkheden</vt:lpstr>
      <vt:lpstr>Afhankelijkheden</vt:lpstr>
      <vt:lpstr>Versies opgeven</vt:lpstr>
      <vt:lpstr>Oefeningen 2</vt:lpstr>
      <vt:lpstr>Het uv.lock bestand</vt:lpstr>
      <vt:lpstr>Het uv.lock bestand</vt:lpstr>
      <vt:lpstr>Beheer van uv.lock</vt:lpstr>
      <vt:lpstr>Package maken</vt:lpstr>
      <vt:lpstr>Project vs package</vt:lpstr>
      <vt:lpstr>Package aanmaken</vt:lpstr>
      <vt:lpstr>Package aanmaken</vt:lpstr>
      <vt:lpstr>Functie van __init__.py</vt:lpstr>
      <vt:lpstr>Functie van __init__.py</vt:lpstr>
      <vt:lpstr>Project scripts</vt:lpstr>
      <vt:lpstr>Package ontwikkelen</vt:lpstr>
      <vt:lpstr>Oefeningen 3</vt:lpstr>
      <vt:lpstr>Code distribueren</vt:lpstr>
      <vt:lpstr>Broncode distribueren</vt:lpstr>
      <vt:lpstr>Binaire code distribueren</vt:lpstr>
      <vt:lpstr>Binaire code distribueren</vt:lpstr>
      <vt:lpstr>Oefeningen 4</vt:lpstr>
      <vt:lpstr>Samenvatting</vt:lpstr>
      <vt:lpstr>Python &amp; virtuele omgevingen</vt:lpstr>
      <vt:lpstr>uv</vt:lpstr>
      <vt:lpstr>IDE's</vt:lpstr>
      <vt:lpstr>Keuze voor IDE's</vt:lpstr>
      <vt:lpstr>Virtual Studio Code</vt:lpstr>
      <vt:lpstr>Setting voor de cursus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1231</cp:revision>
  <dcterms:created xsi:type="dcterms:W3CDTF">2022-11-09T07:34:24Z</dcterms:created>
  <dcterms:modified xsi:type="dcterms:W3CDTF">2026-10-23T13:50:27Z</dcterms:modified>
</cp:coreProperties>
</file>