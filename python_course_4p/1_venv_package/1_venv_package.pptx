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67" r:id="rId4"/>
    <p:sldId id="258" r:id="rId5"/>
    <p:sldId id="352" r:id="rId6"/>
    <p:sldId id="261" r:id="rId7"/>
    <p:sldId id="262" r:id="rId8"/>
    <p:sldId id="349" r:id="rId9"/>
    <p:sldId id="338" r:id="rId10"/>
    <p:sldId id="350" r:id="rId11"/>
    <p:sldId id="296" r:id="rId12"/>
    <p:sldId id="259" r:id="rId13"/>
    <p:sldId id="268" r:id="rId14"/>
    <p:sldId id="354" r:id="rId15"/>
    <p:sldId id="355" r:id="rId16"/>
    <p:sldId id="356" r:id="rId17"/>
    <p:sldId id="357" r:id="rId18"/>
    <p:sldId id="358" r:id="rId19"/>
    <p:sldId id="361" r:id="rId20"/>
    <p:sldId id="353" r:id="rId21"/>
    <p:sldId id="360" r:id="rId22"/>
    <p:sldId id="390" r:id="rId23"/>
    <p:sldId id="364" r:id="rId24"/>
    <p:sldId id="366" r:id="rId25"/>
    <p:sldId id="369" r:id="rId26"/>
    <p:sldId id="368" r:id="rId27"/>
    <p:sldId id="371" r:id="rId28"/>
    <p:sldId id="391" r:id="rId29"/>
    <p:sldId id="372" r:id="rId30"/>
    <p:sldId id="370" r:id="rId31"/>
    <p:sldId id="374" r:id="rId32"/>
    <p:sldId id="362" r:id="rId33"/>
    <p:sldId id="375" r:id="rId34"/>
    <p:sldId id="381" r:id="rId35"/>
    <p:sldId id="378" r:id="rId36"/>
    <p:sldId id="379" r:id="rId37"/>
    <p:sldId id="380" r:id="rId38"/>
    <p:sldId id="359" r:id="rId39"/>
    <p:sldId id="383" r:id="rId40"/>
    <p:sldId id="384" r:id="rId41"/>
    <p:sldId id="385" r:id="rId42"/>
    <p:sldId id="387" r:id="rId43"/>
    <p:sldId id="382" r:id="rId44"/>
    <p:sldId id="388" r:id="rId45"/>
    <p:sldId id="389" r:id="rId46"/>
    <p:sldId id="386" r:id="rId47"/>
    <p:sldId id="266" r:id="rId48"/>
    <p:sldId id="278" r:id="rId49"/>
    <p:sldId id="279" r:id="rId50"/>
    <p:sldId id="281" r:id="rId51"/>
    <p:sldId id="282" r:id="rId52"/>
    <p:sldId id="351" r:id="rId5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1" autoAdjust="0"/>
    <p:restoredTop sz="93571" autoAdjust="0"/>
  </p:normalViewPr>
  <p:slideViewPr>
    <p:cSldViewPr snapToGrid="0">
      <p:cViewPr varScale="1">
        <p:scale>
          <a:sx n="116" d="100"/>
          <a:sy n="116" d="100"/>
        </p:scale>
        <p:origin x="653" y="82"/>
      </p:cViewPr>
      <p:guideLst/>
    </p:cSldViewPr>
  </p:slideViewPr>
  <p:outlineViewPr>
    <p:cViewPr>
      <p:scale>
        <a:sx n="33" d="100"/>
        <a:sy n="33" d="100"/>
      </p:scale>
      <p:origin x="0" y="-2828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DDCAA-88FC-44D4-A91A-DD0530AB88E0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F0DEA-1372-46C0-8FC9-2869E9CCF7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19274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07172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 op: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opgezet</a:t>
            </a:r>
            <a:r>
              <a:rPr lang="en-US"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9820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F530C-C2F6-B25E-4513-23855E908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7F222-0A46-56B7-39CD-EF5D578A3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3FDD4-1B7D-FCBB-6A37-915E1A25C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2505E-3F8B-EC2F-92D4-B962278F2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68807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A4752-B38B-2BB9-26FB-40F84317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19A2E-6D5D-E6A8-C7A8-96D5CB2A7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1B5AF-DEAF-4853-E8B9-EF0BA050B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A4B97-91BD-62EA-DBA0-06B6DE37F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40999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Package </a:t>
            </a:r>
            <a:r>
              <a:rPr lang="en-US" dirty="0" err="1"/>
              <a:t>maken</a:t>
            </a:r>
            <a:r>
              <a:rPr lang="en-US" dirty="0"/>
              <a:t> met </a:t>
            </a:r>
            <a:r>
              <a:rPr lang="en-US" dirty="0" err="1"/>
              <a:t>uv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3521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F00C-45DB-1018-4C9A-40B3856B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512F4-2C36-5FD3-46A7-B1E588934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3D847-0E6E-C722-A0C3-70E4F6A0A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E28C5-F857-DACC-A818-A81D8E108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4980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01CA9-D0D2-E678-717B-FBE066355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BA553-125A-BF5F-BD92-559CBBEC3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7B3C3-07A4-9341-F8D9-B79C24FF3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python:	py3, py27, cp33</a:t>
            </a:r>
          </a:p>
          <a:p>
            <a:r>
              <a:rPr lang="en-US" dirty="0" err="1"/>
              <a:t>abi</a:t>
            </a:r>
            <a:r>
              <a:rPr lang="en-US" dirty="0"/>
              <a:t>:	none, abi3, cp33m</a:t>
            </a:r>
          </a:p>
          <a:p>
            <a:r>
              <a:rPr lang="en-US" dirty="0"/>
              <a:t>platform:	linux_x86_64, win32, any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77218-3AEB-557D-486B-FA22C33AC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40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252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4278-44F6-28B1-F559-A6CEE265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841E9-93A6-0F45-3B30-D38C51AAB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21A4D-D19D-2B1A-8352-A186D454B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Upload to local </a:t>
            </a:r>
            <a:r>
              <a:rPr lang="en-US" dirty="0" err="1"/>
              <a:t>pypiserver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CE839-4E9B-D741-BEE0-7462634D1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41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94172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49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980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D241-03CD-F66B-8F73-3CAC55B1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64D1B-A973-3847-3E91-0CE7E7C59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A73F5-F8B5-5710-2DC5-696AA5BD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AD8F-D1F0-0013-98B0-5F53C9B8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D6E6-6577-2A62-3786-BC160042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353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5ECB-AB54-0283-C544-060853BD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98C7-A144-C045-760E-8D2BEB73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AA8C3-D460-5FB9-BEF1-4B107863B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DD8C9-981B-68A4-FA03-2E7EC742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4EE09-D031-B162-312B-D84AC359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848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68FD-4B23-D1C5-8A98-7C7573C0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42FD3-F45B-693C-BC8C-EE583529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744C2-DC03-51D7-C490-EE7480C2E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2BAD9-9E13-E0C5-C044-050D1692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03286-1DED-EEE0-200D-D463623B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869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C716-70B1-4956-623D-BB1884FB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3637C-9700-5EA7-E708-8CC7EA1D5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E7191-85E9-7180-A8B2-CE05EB3C6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04500-E98B-0B65-AE0E-8E3A5313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E4F7-D675-8CE5-5297-5CE8654F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6D77-2113-B755-D825-9AC10085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696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4435-6EC5-C8F0-1458-0FD42497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B50F0-90F4-8EBF-85FA-FB50BA5BD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B29FF-E988-BCD5-26D3-72A2542B2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6E652-0A53-1F5E-A2D3-63A4829CA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DAE7B-8EF7-730B-6526-C0162F6B3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CAA4C-A4F1-5723-0770-713EDAE1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70581-1047-FE84-D78E-3E62A523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D558D-55C7-4C10-BFE2-7612C556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7484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256D-09B3-F7B7-3173-21876185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71C5F-4EB8-173F-B4D2-8CF23E47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F32B3-AEF3-EAA2-F854-680DC9C7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8300D-6F27-4617-C0A7-0BD7921D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41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6FE86-8AAD-B43A-134E-4B68B5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01974-8F8A-3BD8-1A3B-53C39BCA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705B2-0628-7719-E328-C7019F7F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03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B594A-DFC2-B5D8-B0E4-F44F47CE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0292-87DF-858D-1FA8-C1EE927D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D80CC-4D84-3AE9-0B35-C27E33FD8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5B28C-33D6-8039-630D-B9F1EC3A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A531E-5FFA-D204-5F1B-37806AD2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6CC9B-46C4-60CC-D35A-59F9F306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516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0F88-70DD-AD9F-4E44-45D44087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D932A-9C26-05B4-32D0-3FE165A33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1F30C-3886-DE65-EDE4-8C37F631F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7D30D-18AE-1F87-AFA5-484D8C3D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578AF-A060-D3BD-F2EA-5E48BF0D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776DD-8DE5-1525-C107-C6B823E8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74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9CCA-8BA8-9DF4-C382-292734AB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E17F0-E053-74A1-912D-AF910B21B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F8707-6C42-1B5F-68D0-01EB4C4E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32ADD-8AA1-44C7-10D2-16EEC8BB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55E38-9898-8533-EEE4-5769BECC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692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C3836-BD47-52DC-6880-ED7139D79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849A1-250C-AC54-45CF-1F7269E9D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7E283-D917-456A-9C51-03B2561D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48697-F252-3A77-2A44-80949825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20A23-9480-351A-8CC9-D41184BE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074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1D996F-28E0-EE48-1A60-DD6C87C2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3049-5EA4-FE91-AD3D-3E8221A58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FFAA-1188-E7B0-B675-622693A11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B069A-003F-4FC0-8534-236B0C5C7B5F}" type="datetimeFigureOut">
              <a:rPr lang="en-NL" smtClean="0"/>
              <a:t>20/10/2026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55ACD-263D-BC57-40AE-29769CF91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62DF2-3BF7-0A3B-2578-57CA00478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935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index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596B-E8A7-AF6B-F232-B6BEDDB43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Python - Cursus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6EAA2-FB69-19A9-52CE-B06A78AAE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/>
              <a:t>2026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847969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2000" noProof="0" dirty="0"/>
              <a:t>Python</a:t>
            </a:r>
            <a:endParaRPr lang="nl-NL" sz="2000" dirty="0"/>
          </a:p>
          <a:p>
            <a:pPr>
              <a:spcAft>
                <a:spcPts val="600"/>
              </a:spcAft>
            </a:pPr>
            <a:r>
              <a:rPr lang="nl-NL" sz="2000" noProof="0" dirty="0"/>
              <a:t>Hoe werkt Python?</a:t>
            </a:r>
          </a:p>
          <a:p>
            <a:pPr>
              <a:spcAft>
                <a:spcPts val="600"/>
              </a:spcAft>
            </a:pPr>
            <a:r>
              <a:rPr lang="nl-NL" sz="2000" noProof="0" dirty="0"/>
              <a:t>Virtuele omgevingen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Projecten en packages</a:t>
            </a:r>
            <a:endParaRPr lang="nl-NL" sz="2000" noProof="0" dirty="0"/>
          </a:p>
          <a:p>
            <a:pPr marL="0" indent="0">
              <a:spcAft>
                <a:spcPts val="600"/>
              </a:spcAft>
              <a:buNone/>
            </a:pPr>
            <a:endParaRPr lang="nl-NL" sz="20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2000" noProof="0" dirty="0" err="1"/>
              <a:t>IDE's</a:t>
            </a:r>
            <a:endParaRPr lang="nl-NL" sz="1600" dirty="0"/>
          </a:p>
          <a:p>
            <a:pPr>
              <a:spcAft>
                <a:spcPts val="600"/>
              </a:spcAft>
            </a:pPr>
            <a:r>
              <a:rPr lang="nl-NL" sz="2000" noProof="0" dirty="0" err="1"/>
              <a:t>Marimo</a:t>
            </a:r>
            <a:r>
              <a:rPr lang="nl-NL" sz="2000" noProof="0" dirty="0"/>
              <a:t> Notebook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Visual Studio Code</a:t>
            </a:r>
            <a:endParaRPr lang="nl-NL" sz="20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F1785D-DBAB-C34E-4C20-A2078BA9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17736">
            <a:off x="8321964" y="3685187"/>
            <a:ext cx="2694468" cy="24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1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Python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31C95-91AF-DF13-FB58-0DA5F2D9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6640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ython">
            <a:extLst>
              <a:ext uri="{FF2B5EF4-FFF2-40B4-BE49-F238E27FC236}">
                <a16:creationId xmlns:a16="http://schemas.microsoft.com/office/drawing/2014/main" id="{2604CCD1-B710-B7B3-3C01-61B36162D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227" y="1098853"/>
            <a:ext cx="4473573" cy="507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Sterke punten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749800" cy="472069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nl-NL" sz="2000" noProof="0" dirty="0"/>
              <a:t>Makkelijk te leren, flexibele syntax.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Veel ontwikkelaars en gebruikers.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Veel online informatie.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Uitgebreid ecosysteem van uitbreidingen.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Breed inzetbaar.</a:t>
            </a:r>
          </a:p>
        </p:txBody>
      </p:sp>
    </p:spTree>
    <p:extLst>
      <p:ext uri="{BB962C8B-B14F-4D97-AF65-F5344CB8AC3E}">
        <p14:creationId xmlns:p14="http://schemas.microsoft.com/office/powerpoint/2010/main" val="34442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37BD-A938-DAF3-FEF2-1B5E3A6E1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E2EF-C0A7-A70B-04F1-1E24BD18D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Zwakke punten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9D57C-00B8-1248-107F-AA6E5F085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749800" cy="472069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nl-NL" sz="2000" dirty="0"/>
              <a:t>Makkelijk om “slechte” code te schrijven.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Relatief traag  (vgl. C, C++, Scala, Rust).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Distributie code niet eenduidig.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10A4AD-7C19-5184-ECB4-77EDD34F6402}"/>
              </a:ext>
            </a:extLst>
          </p:cNvPr>
          <p:cNvSpPr txBox="1">
            <a:spLocks/>
          </p:cNvSpPr>
          <p:nvPr/>
        </p:nvSpPr>
        <p:spPr>
          <a:xfrm>
            <a:off x="6409267" y="1456267"/>
            <a:ext cx="474980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4D819A-A65A-B849-482E-28A9AA671928}"/>
              </a:ext>
            </a:extLst>
          </p:cNvPr>
          <p:cNvSpPr txBox="1">
            <a:spLocks/>
          </p:cNvSpPr>
          <p:nvPr/>
        </p:nvSpPr>
        <p:spPr>
          <a:xfrm>
            <a:off x="6604000" y="1456267"/>
            <a:ext cx="474980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_ ** 2 </a:t>
            </a:r>
            <a:r>
              <a:rPr lang="nl-NL" sz="18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_ </a:t>
            </a:r>
            <a:r>
              <a:rPr lang="nl-NL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18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type(_) </a:t>
            </a:r>
            <a:r>
              <a:rPr lang="nl-NL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nl-NL" sz="18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sz="18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_ </a:t>
            </a:r>
            <a:r>
              <a:rPr lang="nl-NL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nl-NL" sz="18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sz="18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_ !=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370871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Hoe werkt Python?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A90BB-468A-6D0A-002C-262602B18B4B}"/>
              </a:ext>
            </a:extLst>
          </p:cNvPr>
          <p:cNvSpPr/>
          <p:nvPr/>
        </p:nvSpPr>
        <p:spPr>
          <a:xfrm>
            <a:off x="838200" y="1667934"/>
            <a:ext cx="1667933" cy="982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Python 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0F36A3-E63F-438C-664E-6CCFFF26537D}"/>
              </a:ext>
            </a:extLst>
          </p:cNvPr>
          <p:cNvSpPr/>
          <p:nvPr/>
        </p:nvSpPr>
        <p:spPr>
          <a:xfrm>
            <a:off x="3787422" y="1667934"/>
            <a:ext cx="1667933" cy="982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Python interpreter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76E6D8-DC0A-C2D6-09E4-B96454281B96}"/>
              </a:ext>
            </a:extLst>
          </p:cNvPr>
          <p:cNvSpPr/>
          <p:nvPr/>
        </p:nvSpPr>
        <p:spPr>
          <a:xfrm>
            <a:off x="6736644" y="1667934"/>
            <a:ext cx="1667933" cy="9821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C instructies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FD3C67-D8CC-C794-10C4-88ED519F20DB}"/>
              </a:ext>
            </a:extLst>
          </p:cNvPr>
          <p:cNvSpPr/>
          <p:nvPr/>
        </p:nvSpPr>
        <p:spPr>
          <a:xfrm>
            <a:off x="9685867" y="1667934"/>
            <a:ext cx="1667933" cy="98213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Operating System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65E0D1-D7B2-8FC7-CB34-5F6DF972F3A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506133" y="2159001"/>
            <a:ext cx="12812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3C5DD2-A631-1618-C932-ECFF2819726D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455355" y="2159001"/>
            <a:ext cx="12812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89E14B-226F-6202-8A59-1853118CADB2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404577" y="2159001"/>
            <a:ext cx="12812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79043AF-CAAF-445D-CBBE-67C45DBAB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065" y="3974574"/>
            <a:ext cx="6891867" cy="1215492"/>
          </a:xfrm>
        </p:spPr>
        <p:txBody>
          <a:bodyPr>
            <a:normAutofit/>
          </a:bodyPr>
          <a:lstStyle/>
          <a:p>
            <a:r>
              <a:rPr lang="nl-NL" sz="2000" noProof="0" dirty="0"/>
              <a:t>Python code wordt geïnterpreteerd (vs. gecompileerd).</a:t>
            </a:r>
          </a:p>
          <a:p>
            <a:r>
              <a:rPr lang="nl-NL" sz="2000" dirty="0" err="1"/>
              <a:t>CPython</a:t>
            </a:r>
            <a:r>
              <a:rPr lang="nl-NL" sz="2000" dirty="0"/>
              <a:t>: Python code wordt omgezet naar C instructies.</a:t>
            </a:r>
            <a:endParaRPr lang="nl-NL" sz="2000" noProof="0" dirty="0"/>
          </a:p>
          <a:p>
            <a:r>
              <a:rPr lang="nl-NL" sz="2000" noProof="0" dirty="0"/>
              <a:t>Interpreter is vereist om de code uit te kunnen voeren.</a:t>
            </a:r>
          </a:p>
        </p:txBody>
      </p:sp>
    </p:spTree>
    <p:extLst>
      <p:ext uri="{BB962C8B-B14F-4D97-AF65-F5344CB8AC3E}">
        <p14:creationId xmlns:p14="http://schemas.microsoft.com/office/powerpoint/2010/main" val="44060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Hoe werkt Python?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A90BB-468A-6D0A-002C-262602B18B4B}"/>
              </a:ext>
            </a:extLst>
          </p:cNvPr>
          <p:cNvSpPr/>
          <p:nvPr/>
        </p:nvSpPr>
        <p:spPr>
          <a:xfrm>
            <a:off x="838200" y="1667934"/>
            <a:ext cx="1667933" cy="982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Python 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0F36A3-E63F-438C-664E-6CCFFF26537D}"/>
              </a:ext>
            </a:extLst>
          </p:cNvPr>
          <p:cNvSpPr/>
          <p:nvPr/>
        </p:nvSpPr>
        <p:spPr>
          <a:xfrm>
            <a:off x="3787422" y="1667934"/>
            <a:ext cx="1667933" cy="982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Python interpreter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76E6D8-DC0A-C2D6-09E4-B96454281B96}"/>
              </a:ext>
            </a:extLst>
          </p:cNvPr>
          <p:cNvSpPr/>
          <p:nvPr/>
        </p:nvSpPr>
        <p:spPr>
          <a:xfrm>
            <a:off x="6736644" y="1667934"/>
            <a:ext cx="1667933" cy="9821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C instructies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FD3C67-D8CC-C794-10C4-88ED519F20DB}"/>
              </a:ext>
            </a:extLst>
          </p:cNvPr>
          <p:cNvSpPr/>
          <p:nvPr/>
        </p:nvSpPr>
        <p:spPr>
          <a:xfrm>
            <a:off x="9685867" y="1667934"/>
            <a:ext cx="1667933" cy="98213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Operating System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65E0D1-D7B2-8FC7-CB34-5F6DF972F3A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506133" y="2159001"/>
            <a:ext cx="12812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3C5DD2-A631-1618-C932-ECFF2819726D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455355" y="2159001"/>
            <a:ext cx="12812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89E14B-226F-6202-8A59-1853118CADB2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404577" y="2159001"/>
            <a:ext cx="12812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DD939DE-3A79-680C-74E8-7589283CD40E}"/>
              </a:ext>
            </a:extLst>
          </p:cNvPr>
          <p:cNvSpPr/>
          <p:nvPr/>
        </p:nvSpPr>
        <p:spPr>
          <a:xfrm>
            <a:off x="838199" y="3395134"/>
            <a:ext cx="1667933" cy="982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Package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E4CEB5-53DF-2237-C16A-735DEEE017FD}"/>
              </a:ext>
            </a:extLst>
          </p:cNvPr>
          <p:cNvSpPr txBox="1">
            <a:spLocks/>
          </p:cNvSpPr>
          <p:nvPr/>
        </p:nvSpPr>
        <p:spPr>
          <a:xfrm>
            <a:off x="2756604" y="5048782"/>
            <a:ext cx="6678790" cy="1215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/>
              <a:t>Packages breiden standaard functionaliteit uit.</a:t>
            </a:r>
          </a:p>
          <a:p>
            <a:r>
              <a:rPr lang="nl-NL" sz="2000" dirty="0"/>
              <a:t>Sommige packages zijn geschreven in Python.</a:t>
            </a:r>
          </a:p>
          <a:p>
            <a:r>
              <a:rPr lang="nl-NL" sz="2000" dirty="0"/>
              <a:t>Je importeert deze code in je eigen code.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FF9E4B-0CF8-ECF1-BF3E-B7A867CA60BA}"/>
              </a:ext>
            </a:extLst>
          </p:cNvPr>
          <p:cNvCxnSpPr>
            <a:stCxn id="3" idx="0"/>
            <a:endCxn id="8" idx="2"/>
          </p:cNvCxnSpPr>
          <p:nvPr/>
        </p:nvCxnSpPr>
        <p:spPr>
          <a:xfrm flipV="1">
            <a:off x="1672166" y="2650068"/>
            <a:ext cx="1" cy="7450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811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Hoe werkt Python?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A90BB-468A-6D0A-002C-262602B18B4B}"/>
              </a:ext>
            </a:extLst>
          </p:cNvPr>
          <p:cNvSpPr/>
          <p:nvPr/>
        </p:nvSpPr>
        <p:spPr>
          <a:xfrm>
            <a:off x="838200" y="1667934"/>
            <a:ext cx="1667933" cy="982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Python 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0F36A3-E63F-438C-664E-6CCFFF26537D}"/>
              </a:ext>
            </a:extLst>
          </p:cNvPr>
          <p:cNvSpPr/>
          <p:nvPr/>
        </p:nvSpPr>
        <p:spPr>
          <a:xfrm>
            <a:off x="3787422" y="1667934"/>
            <a:ext cx="1667933" cy="982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Python interpreter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76E6D8-DC0A-C2D6-09E4-B96454281B96}"/>
              </a:ext>
            </a:extLst>
          </p:cNvPr>
          <p:cNvSpPr/>
          <p:nvPr/>
        </p:nvSpPr>
        <p:spPr>
          <a:xfrm>
            <a:off x="6736644" y="1667934"/>
            <a:ext cx="1667933" cy="9821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C instructies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FD3C67-D8CC-C794-10C4-88ED519F20DB}"/>
              </a:ext>
            </a:extLst>
          </p:cNvPr>
          <p:cNvSpPr/>
          <p:nvPr/>
        </p:nvSpPr>
        <p:spPr>
          <a:xfrm>
            <a:off x="9685867" y="1667934"/>
            <a:ext cx="1667933" cy="98213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Operating System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65E0D1-D7B2-8FC7-CB34-5F6DF972F3A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506133" y="2159001"/>
            <a:ext cx="12812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3C5DD2-A631-1618-C932-ECFF2819726D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455355" y="2159001"/>
            <a:ext cx="12812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89E14B-226F-6202-8A59-1853118CADB2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404577" y="2159001"/>
            <a:ext cx="12812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DD939DE-3A79-680C-74E8-7589283CD40E}"/>
              </a:ext>
            </a:extLst>
          </p:cNvPr>
          <p:cNvSpPr/>
          <p:nvPr/>
        </p:nvSpPr>
        <p:spPr>
          <a:xfrm>
            <a:off x="838199" y="3395134"/>
            <a:ext cx="1667933" cy="982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Python API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E4CEB5-53DF-2237-C16A-735DEEE017FD}"/>
              </a:ext>
            </a:extLst>
          </p:cNvPr>
          <p:cNvSpPr txBox="1">
            <a:spLocks/>
          </p:cNvSpPr>
          <p:nvPr/>
        </p:nvSpPr>
        <p:spPr>
          <a:xfrm>
            <a:off x="2756604" y="5055132"/>
            <a:ext cx="6678790" cy="1215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dirty="0"/>
              <a:t>Packages kunnen ook geschreven zijn in C / C++ / Rust.</a:t>
            </a:r>
          </a:p>
          <a:p>
            <a:r>
              <a:rPr lang="nl-NL" sz="2000" dirty="0"/>
              <a:t>Ze bieden dan alleen een Python API aan.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FF9E4B-0CF8-ECF1-BF3E-B7A867CA60BA}"/>
              </a:ext>
            </a:extLst>
          </p:cNvPr>
          <p:cNvCxnSpPr>
            <a:stCxn id="3" idx="0"/>
            <a:endCxn id="8" idx="2"/>
          </p:cNvCxnSpPr>
          <p:nvPr/>
        </p:nvCxnSpPr>
        <p:spPr>
          <a:xfrm flipV="1">
            <a:off x="1672166" y="2650068"/>
            <a:ext cx="1" cy="7450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149287B-DA34-8FB5-1538-ADC9C7A3A3D3}"/>
              </a:ext>
            </a:extLst>
          </p:cNvPr>
          <p:cNvSpPr/>
          <p:nvPr/>
        </p:nvSpPr>
        <p:spPr>
          <a:xfrm>
            <a:off x="6736643" y="3395134"/>
            <a:ext cx="1667933" cy="9821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C instructies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F6AC21-2E86-1126-DD5E-0604773AC96E}"/>
              </a:ext>
            </a:extLst>
          </p:cNvPr>
          <p:cNvCxnSpPr>
            <a:stCxn id="19" idx="1"/>
            <a:endCxn id="3" idx="3"/>
          </p:cNvCxnSpPr>
          <p:nvPr/>
        </p:nvCxnSpPr>
        <p:spPr>
          <a:xfrm flipH="1">
            <a:off x="2506132" y="3886201"/>
            <a:ext cx="4230511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A3F80B6-BD67-038A-9247-EC0DC28112AD}"/>
              </a:ext>
            </a:extLst>
          </p:cNvPr>
          <p:cNvCxnSpPr>
            <a:stCxn id="19" idx="3"/>
            <a:endCxn id="11" idx="1"/>
          </p:cNvCxnSpPr>
          <p:nvPr/>
        </p:nvCxnSpPr>
        <p:spPr>
          <a:xfrm flipV="1">
            <a:off x="8404576" y="2159001"/>
            <a:ext cx="1281291" cy="172720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352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Standaard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Python heeft veel </a:t>
            </a:r>
            <a:r>
              <a:rPr lang="nl-NL" sz="1800" dirty="0">
                <a:cs typeface="Courier New" panose="02070309020205020404" pitchFamily="49" charset="0"/>
              </a:rPr>
              <a:t>packages aan boord.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Deze packages zijn onderdeel van de zogenaamde "standard </a:t>
            </a:r>
            <a:r>
              <a:rPr lang="nl-NL" sz="1800" dirty="0" err="1">
                <a:cs typeface="Courier New" panose="02070309020205020404" pitchFamily="49" charset="0"/>
              </a:rPr>
              <a:t>library</a:t>
            </a:r>
            <a:r>
              <a:rPr lang="nl-NL" sz="1800" dirty="0">
                <a:cs typeface="Courier New" panose="02070309020205020404" pitchFamily="49" charset="0"/>
              </a:rPr>
              <a:t>".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Ze worden geïnstalleerd met Python.</a:t>
            </a: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Overzicht:</a:t>
            </a: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  <a:hlinkClick r:id="rId2"/>
              </a:rPr>
              <a:t>https://docs.python.org/3/library/index.html</a:t>
            </a: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609FA9-4DB0-58A8-2365-E958D9DDB463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16F8C6-A449-4CBB-DB98-A9213C453A21}"/>
              </a:ext>
            </a:extLst>
          </p:cNvPr>
          <p:cNvSpPr txBox="1">
            <a:spLocks/>
          </p:cNvSpPr>
          <p:nvPr/>
        </p:nvSpPr>
        <p:spPr>
          <a:xfrm>
            <a:off x="6231468" y="1456267"/>
            <a:ext cx="512233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nl-NL" sz="1600" dirty="0">
                <a:cs typeface="Courier New" panose="02070309020205020404" pitchFamily="49" charset="0"/>
              </a:rPr>
              <a:t>		Omgang met Operating System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lang="nl-NL" sz="1600" dirty="0">
                <a:cs typeface="Courier New" panose="02070309020205020404" pitchFamily="49" charset="0"/>
              </a:rPr>
              <a:t>		Systeem functies / informatie.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pathlib</a:t>
            </a:r>
            <a:r>
              <a:rPr lang="nl-NL" sz="1600" dirty="0">
                <a:cs typeface="Courier New" panose="02070309020205020404" pitchFamily="49" charset="0"/>
              </a:rPr>
              <a:t>		Werken met bestandspaden.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16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nl-NL" sz="1600" dirty="0">
                <a:cs typeface="Courier New" panose="02070309020205020404" pitchFamily="49" charset="0"/>
              </a:rPr>
              <a:t>		Functies voor CSV bestanden.</a:t>
            </a:r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nl-NL" sz="1600" dirty="0">
                <a:cs typeface="Courier New" panose="02070309020205020404" pitchFamily="49" charset="0"/>
              </a:rPr>
              <a:t>		Functies voor JSON bestanden.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16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nl-NL" sz="1600" dirty="0">
                <a:cs typeface="Courier New" panose="02070309020205020404" pitchFamily="49" charset="0"/>
              </a:rPr>
              <a:t>	Functies voor datum en tijd.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</a:t>
            </a:r>
            <a:r>
              <a:rPr lang="nl-NL" sz="1600" dirty="0">
                <a:cs typeface="Courier New" panose="02070309020205020404" pitchFamily="49" charset="0"/>
              </a:rPr>
              <a:t>	Handige data structuren.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itertools</a:t>
            </a:r>
            <a:r>
              <a:rPr lang="nl-NL" sz="1600" dirty="0">
                <a:cs typeface="Courier New" panose="02070309020205020404" pitchFamily="49" charset="0"/>
              </a:rPr>
              <a:t>	Functies voor itereren.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16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  <a:r>
              <a:rPr lang="nl-NL" sz="1600" dirty="0">
                <a:cs typeface="Courier New" panose="02070309020205020404" pitchFamily="49" charset="0"/>
              </a:rPr>
              <a:t>		Relationele database.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16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2874982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Externe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1.   </a:t>
            </a: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nl-NL" sz="1800" b="1" noProof="0" dirty="0"/>
              <a:t>: zoek en download package</a:t>
            </a: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Zoek en download code van een index server, zoals de Python Package Index (</a:t>
            </a:r>
            <a:r>
              <a:rPr lang="nl-NL" sz="1800" noProof="0" dirty="0" err="1">
                <a:cs typeface="Courier New" panose="02070309020205020404" pitchFamily="49" charset="0"/>
              </a:rPr>
              <a:t>PyPI</a:t>
            </a:r>
            <a:r>
              <a:rPr lang="nl-NL" sz="1800" noProof="0" dirty="0">
                <a:cs typeface="Courier New" panose="02070309020205020404" pitchFamily="49" charset="0"/>
              </a:rPr>
              <a:t>).</a:t>
            </a: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b="1" noProof="0" dirty="0">
                <a:cs typeface="Courier New" panose="02070309020205020404" pitchFamily="49" charset="0"/>
              </a:rPr>
              <a:t>2.   </a:t>
            </a:r>
            <a:r>
              <a:rPr lang="nl-NL" sz="18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setuptools</a:t>
            </a:r>
            <a:r>
              <a:rPr lang="nl-NL" sz="1800" b="1" noProof="0" dirty="0"/>
              <a:t>: installeer package</a:t>
            </a:r>
          </a:p>
          <a:p>
            <a:pPr marL="0" indent="0">
              <a:buNone/>
            </a:pPr>
            <a:r>
              <a:rPr lang="nl-NL" sz="1800" noProof="0" dirty="0"/>
              <a:t>Voert setup </a:t>
            </a:r>
            <a:r>
              <a:rPr lang="nl-NL" sz="1800" dirty="0">
                <a:cs typeface="Courier New" panose="02070309020205020404" pitchFamily="49" charset="0"/>
              </a:rPr>
              <a:t>uit en kopieert bestanden naar je Python omgeving.</a:t>
            </a:r>
            <a:endParaRPr lang="nl-NL" sz="1800" noProof="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b="1" dirty="0"/>
              <a:t>3.   Herhaal 1 en 2 voor afhankelijkheden</a:t>
            </a:r>
          </a:p>
          <a:p>
            <a:pPr marL="0" indent="0">
              <a:buNone/>
            </a:pPr>
            <a:r>
              <a:rPr lang="nl-NL" sz="1800" dirty="0"/>
              <a:t>Als package afhankelijk is van andere</a:t>
            </a:r>
            <a:r>
              <a:rPr lang="nl-NL" sz="1800" noProof="0" dirty="0"/>
              <a:t> packages worden deze ook geïnstalleerd.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609FA9-4DB0-58A8-2365-E958D9DDB463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4B952DD-657A-F90B-C98C-15EB93E1A9FE}"/>
              </a:ext>
            </a:extLst>
          </p:cNvPr>
          <p:cNvSpPr/>
          <p:nvPr/>
        </p:nvSpPr>
        <p:spPr>
          <a:xfrm>
            <a:off x="6604000" y="1456267"/>
            <a:ext cx="4749791" cy="4233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pip install pandas</a:t>
            </a:r>
            <a:endParaRPr lang="en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9F8CDF-EDA0-AEFA-678C-C6B88000B456}"/>
              </a:ext>
            </a:extLst>
          </p:cNvPr>
          <p:cNvSpPr/>
          <p:nvPr/>
        </p:nvSpPr>
        <p:spPr>
          <a:xfrm>
            <a:off x="6604000" y="2896153"/>
            <a:ext cx="4749797" cy="42333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pandas-2.1.0-cp39-cp39-win_amd64.whl</a:t>
            </a:r>
            <a:endParaRPr lang="en-N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EBC5E51-1B2F-2F0A-3610-1BD9FA18439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8978896" y="1879600"/>
            <a:ext cx="3" cy="10165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AE431AF-9734-C304-20AB-3E86AFFD6A19}"/>
              </a:ext>
            </a:extLst>
          </p:cNvPr>
          <p:cNvSpPr/>
          <p:nvPr/>
        </p:nvSpPr>
        <p:spPr>
          <a:xfrm>
            <a:off x="6603994" y="4336039"/>
            <a:ext cx="4749797" cy="4233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pyproject.toml</a:t>
            </a:r>
            <a:endParaRPr lang="en-N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1E2D9D-B1EA-CAB3-5065-3CD0A9685119}"/>
              </a:ext>
            </a:extLst>
          </p:cNvPr>
          <p:cNvSpPr/>
          <p:nvPr/>
        </p:nvSpPr>
        <p:spPr>
          <a:xfrm>
            <a:off x="6604000" y="5775926"/>
            <a:ext cx="4749797" cy="42333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./.</a:t>
            </a:r>
            <a:r>
              <a:rPr lang="en-US" dirty="0" err="1"/>
              <a:t>venv</a:t>
            </a:r>
            <a:r>
              <a:rPr lang="en-US" dirty="0"/>
              <a:t>/lib/site-packages/</a:t>
            </a:r>
            <a:endParaRPr lang="en-NL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E2265C-8FFC-FA95-A755-D4937EFE8928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8978893" y="3319486"/>
            <a:ext cx="6" cy="10165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9FFCEB-AD0B-E81A-1172-BC64F2F995A1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8978893" y="4759372"/>
            <a:ext cx="6" cy="10165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553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Werken met packages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A90BB-468A-6D0A-002C-262602B18B4B}"/>
              </a:ext>
            </a:extLst>
          </p:cNvPr>
          <p:cNvSpPr/>
          <p:nvPr/>
        </p:nvSpPr>
        <p:spPr>
          <a:xfrm>
            <a:off x="1955800" y="3860801"/>
            <a:ext cx="1667933" cy="982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Standaard bibliotheek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0F36A3-E63F-438C-664E-6CCFFF26537D}"/>
              </a:ext>
            </a:extLst>
          </p:cNvPr>
          <p:cNvSpPr/>
          <p:nvPr/>
        </p:nvSpPr>
        <p:spPr>
          <a:xfrm>
            <a:off x="838200" y="1354667"/>
            <a:ext cx="1667933" cy="98213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import </a:t>
            </a:r>
            <a:r>
              <a:rPr lang="nl-NL" dirty="0" err="1"/>
              <a:t>pandas</a:t>
            </a:r>
            <a:endParaRPr lang="nl-N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D939DE-3A79-680C-74E8-7589283CD40E}"/>
              </a:ext>
            </a:extLst>
          </p:cNvPr>
          <p:cNvSpPr/>
          <p:nvPr/>
        </p:nvSpPr>
        <p:spPr>
          <a:xfrm>
            <a:off x="1955800" y="2607734"/>
            <a:ext cx="1667933" cy="982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Huidige 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F2571F-1EE4-C4EB-CDB7-E1400BFEDC6C}"/>
              </a:ext>
            </a:extLst>
          </p:cNvPr>
          <p:cNvSpPr/>
          <p:nvPr/>
        </p:nvSpPr>
        <p:spPr>
          <a:xfrm>
            <a:off x="1955800" y="5113868"/>
            <a:ext cx="1667933" cy="9821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site-packages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FABBBF3-EE16-E39A-9A8E-8A9412AD6C71}"/>
              </a:ext>
            </a:extLst>
          </p:cNvPr>
          <p:cNvCxnSpPr>
            <a:stCxn id="9" idx="2"/>
            <a:endCxn id="3" idx="1"/>
          </p:cNvCxnSpPr>
          <p:nvPr/>
        </p:nvCxnSpPr>
        <p:spPr>
          <a:xfrm rot="16200000" flipH="1">
            <a:off x="1432983" y="2575984"/>
            <a:ext cx="762000" cy="2836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8AF714E-536B-1149-319F-11FF50468B33}"/>
              </a:ext>
            </a:extLst>
          </p:cNvPr>
          <p:cNvCxnSpPr>
            <a:stCxn id="9" idx="2"/>
            <a:endCxn id="8" idx="1"/>
          </p:cNvCxnSpPr>
          <p:nvPr/>
        </p:nvCxnSpPr>
        <p:spPr>
          <a:xfrm rot="16200000" flipH="1">
            <a:off x="806450" y="3202517"/>
            <a:ext cx="2015067" cy="28363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3859A33-2FDB-CD9F-C7D7-6890B0672AF3}"/>
              </a:ext>
            </a:extLst>
          </p:cNvPr>
          <p:cNvCxnSpPr>
            <a:stCxn id="9" idx="2"/>
            <a:endCxn id="7" idx="1"/>
          </p:cNvCxnSpPr>
          <p:nvPr/>
        </p:nvCxnSpPr>
        <p:spPr>
          <a:xfrm rot="16200000" flipH="1">
            <a:off x="179916" y="3829051"/>
            <a:ext cx="3268134" cy="28363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7AAA918-2F62-7346-9993-AD00B7347624}"/>
              </a:ext>
            </a:extLst>
          </p:cNvPr>
          <p:cNvSpPr txBox="1">
            <a:spLocks/>
          </p:cNvSpPr>
          <p:nvPr/>
        </p:nvSpPr>
        <p:spPr>
          <a:xfrm>
            <a:off x="4364566" y="1354667"/>
            <a:ext cx="6223000" cy="982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/>
              <a:t>Packages importeer je in je eigen code, zodat hun functionaliteit beschikbaar komt.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B4073E-2723-4DF7-A3EE-70B4CE15ED42}"/>
              </a:ext>
            </a:extLst>
          </p:cNvPr>
          <p:cNvSpPr txBox="1"/>
          <p:nvPr/>
        </p:nvSpPr>
        <p:spPr>
          <a:xfrm>
            <a:off x="4364567" y="5113868"/>
            <a:ext cx="6794500" cy="98213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nl-NL" sz="2000" dirty="0"/>
              <a:t>Tot slot doorzoekt Python de systeem locaties:</a:t>
            </a:r>
          </a:p>
          <a:p>
            <a:pPr marL="0" indent="0">
              <a:buNone/>
            </a:pPr>
            <a:r>
              <a:rPr lang="nl-NL" sz="2000" dirty="0"/>
              <a:t>Zie </a:t>
            </a:r>
            <a:r>
              <a:rPr lang="nl-NL" sz="2000" dirty="0" err="1">
                <a:latin typeface="Corbel Light" panose="020B0303020204020204" pitchFamily="34" charset="0"/>
              </a:rPr>
              <a:t>sys.path</a:t>
            </a:r>
            <a:r>
              <a:rPr lang="nl-NL" sz="2000" dirty="0"/>
              <a:t> voor een overzicht.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2FAB39-B8E8-C6DD-542A-FEE5072318CA}"/>
              </a:ext>
            </a:extLst>
          </p:cNvPr>
          <p:cNvSpPr txBox="1"/>
          <p:nvPr/>
        </p:nvSpPr>
        <p:spPr>
          <a:xfrm>
            <a:off x="4364567" y="3860800"/>
            <a:ext cx="6794500" cy="98213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nl-NL" sz="2000" dirty="0"/>
              <a:t>Daarna doorzoekt Python de standaard bibliotheek.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CC6992-5FD5-2CF8-4F03-AC313DB0D39C}"/>
              </a:ext>
            </a:extLst>
          </p:cNvPr>
          <p:cNvSpPr txBox="1"/>
          <p:nvPr/>
        </p:nvSpPr>
        <p:spPr>
          <a:xfrm>
            <a:off x="4364567" y="2607732"/>
            <a:ext cx="6794500" cy="98213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nl-NL" sz="2000" dirty="0"/>
              <a:t>Eerst doorzoekt Python de werkdirectory.</a:t>
            </a:r>
          </a:p>
        </p:txBody>
      </p:sp>
    </p:spTree>
    <p:extLst>
      <p:ext uri="{BB962C8B-B14F-4D97-AF65-F5344CB8AC3E}">
        <p14:creationId xmlns:p14="http://schemas.microsoft.com/office/powerpoint/2010/main" val="1615583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Conflicterende versies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6F608-6EC7-1CCF-D446-DA9A456EBECC}"/>
              </a:ext>
            </a:extLst>
          </p:cNvPr>
          <p:cNvSpPr/>
          <p:nvPr/>
        </p:nvSpPr>
        <p:spPr>
          <a:xfrm>
            <a:off x="1222043" y="2158620"/>
            <a:ext cx="2553268" cy="33573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Project A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Python == 3.12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pandas == 2.0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scikit-learn == 1.5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D403AA-F806-9074-1669-B7F509DBC271}"/>
              </a:ext>
            </a:extLst>
          </p:cNvPr>
          <p:cNvSpPr/>
          <p:nvPr/>
        </p:nvSpPr>
        <p:spPr>
          <a:xfrm>
            <a:off x="4819366" y="2158620"/>
            <a:ext cx="2553268" cy="33573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Project B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Python == 3.12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pandas == 3.0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scikit-learn == 1.9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044D0-6AEF-0308-0651-FA373D7B7E0E}"/>
              </a:ext>
            </a:extLst>
          </p:cNvPr>
          <p:cNvSpPr/>
          <p:nvPr/>
        </p:nvSpPr>
        <p:spPr>
          <a:xfrm>
            <a:off x="8416689" y="2158620"/>
            <a:ext cx="2553268" cy="33573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Project C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Python 3.13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polars == 1.0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requests == 2.4</a:t>
            </a: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08DFB4DA-1DE4-0444-3004-CDAC17FED73D}"/>
              </a:ext>
            </a:extLst>
          </p:cNvPr>
          <p:cNvSpPr/>
          <p:nvPr/>
        </p:nvSpPr>
        <p:spPr>
          <a:xfrm>
            <a:off x="6967181" y="3500651"/>
            <a:ext cx="2053989" cy="143302"/>
          </a:xfrm>
          <a:prstGeom prst="left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60272E3C-5DE7-5F9C-9792-8D116DBFC1B5}"/>
              </a:ext>
            </a:extLst>
          </p:cNvPr>
          <p:cNvSpPr/>
          <p:nvPr/>
        </p:nvSpPr>
        <p:spPr>
          <a:xfrm>
            <a:off x="3480179" y="4471916"/>
            <a:ext cx="1665026" cy="161500"/>
          </a:xfrm>
          <a:prstGeom prst="left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91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Virtuele omgevingen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31C95-91AF-DF13-FB58-0DA5F2D9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45594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CAFD3-2BBD-C911-F727-1345C090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18F3-6E42-9694-6E01-81C68F2E1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Beheer omgevingen met </a:t>
            </a:r>
            <a:r>
              <a:rPr lang="nl-NL" sz="3600" noProof="0" dirty="0" err="1"/>
              <a:t>uv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70B3-7708-E6F1-AF8D-037AA4627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Met </a:t>
            </a:r>
            <a:r>
              <a:rPr lang="nl-NL" sz="2000" noProof="0" dirty="0" err="1"/>
              <a:t>uv</a:t>
            </a:r>
            <a:r>
              <a:rPr lang="nl-NL" sz="2000" noProof="0" dirty="0"/>
              <a:t> beheer je: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Python interpreter</a:t>
            </a:r>
          </a:p>
          <a:p>
            <a:pPr>
              <a:buFontTx/>
              <a:buChar char="-"/>
            </a:pPr>
            <a:r>
              <a:rPr lang="nl-NL" sz="2000" noProof="0" dirty="0"/>
              <a:t>Externe packages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Maakt een aparte installatie voor iedere omgeving.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Helpt bij opzetten van projecten en </a:t>
            </a:r>
            <a:r>
              <a:rPr lang="nl-NL" sz="2000" dirty="0" err="1"/>
              <a:t>beher</a:t>
            </a:r>
            <a:r>
              <a:rPr lang="nl-NL" sz="2000" dirty="0"/>
              <a:t> van afhankelijkheden.</a:t>
            </a: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3D0DF6-03D4-59AA-0BB6-EE2368B72B34}"/>
              </a:ext>
            </a:extLst>
          </p:cNvPr>
          <p:cNvSpPr txBox="1">
            <a:spLocks/>
          </p:cNvSpPr>
          <p:nvPr/>
        </p:nvSpPr>
        <p:spPr>
          <a:xfrm>
            <a:off x="6637869" y="1456267"/>
            <a:ext cx="471593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project/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.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│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├─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│  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│  └─ site-packages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└─ scripts/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└─ python.exe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└─ main.py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1453608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0CC8A-9864-6A63-8EA9-433B5ED3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B8003-CE44-B652-C4E0-5EE624968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Commando’s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2E8B4-F838-20A4-4A98-8B9D57852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Aanmaken virtuele omgeving: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--python=3.13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Packages installeren in de omgeving: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pip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&lt;package&gt;</a:t>
            </a:r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pip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&lt;package&gt;==&lt;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4108179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19ED3-6BE7-D4BB-E587-358373C9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113A-C3D8-3CFC-5423-8C24EDCC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Commando’s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A198-59F7-22FD-B6A5-3FA149231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Packages updaten: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pip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--upgrade &lt;package&gt;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dirty="0"/>
              <a:t>Packages bekijken: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pip list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Packages verwijderen:</a:t>
            </a: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pip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uninstall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&lt;package&gt;</a:t>
            </a: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1628143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C4B3B-8D11-18DD-366F-BBB79ADC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D7FFC-6338-3514-9AF4-ADD31531B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Commando’s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D9982-5E42-B3C8-CF33-8BBFBD5B0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Een script of commando draaien in de virtuele omgeving: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run &lt;script.py&gt;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run python</a:t>
            </a:r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run black 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Omgeving activeren / deactiveren: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/Scripts/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deactivate</a:t>
            </a: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3508840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1215E-980C-3A00-40F7-A8AAB0C3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3E22-2F93-EC51-8F65-282755D43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59D4-C85C-6B11-1EBA-D4715DF05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10515600" cy="4720696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nl-NL" sz="2000" dirty="0"/>
              <a:t>Maak een map aan met de naam exploratie.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Maak hierin een virtuele omgeving aan met Python versie 3.13.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Installeer het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marimo</a:t>
            </a:r>
            <a:r>
              <a:rPr lang="nl-NL" sz="2000" dirty="0"/>
              <a:t> package in de virtuele omgeving.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Start </a:t>
            </a:r>
            <a:r>
              <a:rPr lang="nl-NL" sz="2000" dirty="0" err="1"/>
              <a:t>marimo</a:t>
            </a:r>
            <a:r>
              <a:rPr lang="nl-NL" sz="2000" dirty="0"/>
              <a:t> op in de virtuele omgeving:</a:t>
            </a:r>
          </a:p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run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marimo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notebook.py</a:t>
            </a:r>
            <a:r>
              <a:rPr lang="nl-NL" sz="2000" dirty="0"/>
              <a:t>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endParaRPr lang="nl-NL" sz="2000" noProof="0" dirty="0"/>
          </a:p>
          <a:p>
            <a:pPr marL="457200" indent="-457200">
              <a:buAutoNum type="arabicPeriod"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1450091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3CED-4B84-298E-002A-1E5FA9968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2BD2-BB52-5487-FDD5-33D43D80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Persoonlijke experimenten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634A-BCD5-9E95-80CA-85E47472C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Het beheer van virtuele omgevingen op deze manier is </a:t>
            </a:r>
            <a:r>
              <a:rPr lang="nl-NL" sz="2000" dirty="0" err="1"/>
              <a:t>geschickt</a:t>
            </a:r>
            <a:r>
              <a:rPr lang="nl-NL" sz="2000" dirty="0"/>
              <a:t> voor experimenten…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Maar:</a:t>
            </a:r>
          </a:p>
          <a:p>
            <a:pPr marL="0" indent="0">
              <a:buNone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Versie van python is nergens opgeslagen.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Welke packages je gebruikt wordt nergens bijgehouden.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Je kunt de omgeving niet eenvoudig opnieuw optuigen…</a:t>
            </a:r>
          </a:p>
        </p:txBody>
      </p:sp>
    </p:spTree>
    <p:extLst>
      <p:ext uri="{BB962C8B-B14F-4D97-AF65-F5344CB8AC3E}">
        <p14:creationId xmlns:p14="http://schemas.microsoft.com/office/powerpoint/2010/main" val="3124063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8B4A3-A11D-6A47-4CDD-D1FBDA0D8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249817-B2C5-0D71-1E75-E1C498D9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Project opzetten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9EF5EA-3923-D53E-06A5-CF56FBCF9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44162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89FDD-5A28-F95A-B44B-8BB2E0F24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7372-BB49-CE36-7314-6054D342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Project aanmaken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82EEF-9095-114B-2E9C-2B83F1054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sz="2000" noProof="0" dirty="0"/>
              <a:t>Eenvoudig project opzetten met </a:t>
            </a:r>
            <a:r>
              <a:rPr lang="nl-NL" sz="2000" noProof="0" dirty="0" err="1"/>
              <a:t>uv</a:t>
            </a:r>
            <a:r>
              <a:rPr lang="nl-NL" sz="2000" noProof="0" dirty="0"/>
              <a:t>: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--no-package</a:t>
            </a:r>
          </a:p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&lt;f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older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&lt;--python=3.13&gt;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Maakt het volgende aan:</a:t>
            </a:r>
          </a:p>
          <a:p>
            <a:pPr marL="0" indent="0">
              <a:buNone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Git repository 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/>
              <a:t>Python versie bestand</a:t>
            </a:r>
          </a:p>
          <a:p>
            <a:pPr>
              <a:buFontTx/>
              <a:buChar char="-"/>
            </a:pPr>
            <a:r>
              <a:rPr lang="nl-NL" sz="2000" dirty="0"/>
              <a:t>Voorbeeld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Setup bestand: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/>
              <a:t>Documentatie: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86D434-CE5D-BD83-D5D2-A7A8140E03FD}"/>
              </a:ext>
            </a:extLst>
          </p:cNvPr>
          <p:cNvSpPr txBox="1">
            <a:spLocks/>
          </p:cNvSpPr>
          <p:nvPr/>
        </p:nvSpPr>
        <p:spPr>
          <a:xfrm>
            <a:off x="6637869" y="1456267"/>
            <a:ext cx="471593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-project/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.git/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.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.python-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main.py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└─ README.md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3835670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071EF-C544-E572-57F7-3D0622F8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E56E-10CB-09BD-E405-0971E8086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Project aanmaken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13EB8-92CF-373A-C187-DB8E9C7A1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Eenvoudig project opzetten met </a:t>
            </a:r>
            <a:r>
              <a:rPr lang="nl-NL" sz="2000" noProof="0" dirty="0" err="1"/>
              <a:t>uv</a:t>
            </a:r>
            <a:r>
              <a:rPr lang="nl-NL" sz="2000" noProof="0" dirty="0"/>
              <a:t>: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--no-package</a:t>
            </a:r>
          </a:p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&lt;folder&gt;</a:t>
            </a:r>
          </a:p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&lt;--python=3.13&gt;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Inhoud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r>
              <a:rPr lang="nl-NL" sz="2000" dirty="0"/>
              <a:t>:</a:t>
            </a:r>
          </a:p>
          <a:p>
            <a:pPr marL="0" indent="0">
              <a:buNone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Omschrijving van het project</a:t>
            </a:r>
          </a:p>
          <a:p>
            <a:pPr>
              <a:buFontTx/>
              <a:buChar char="-"/>
            </a:pPr>
            <a:r>
              <a:rPr lang="nl-NL" sz="2000" dirty="0"/>
              <a:t>Minimale versie van Python</a:t>
            </a:r>
          </a:p>
          <a:p>
            <a:pPr>
              <a:buFontTx/>
              <a:buChar char="-"/>
            </a:pPr>
            <a:r>
              <a:rPr lang="nl-NL" sz="2000" dirty="0"/>
              <a:t>Afhankelijkheden en versies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FFA02B-CEF0-3191-F970-9557AF7E9E3E}"/>
              </a:ext>
            </a:extLst>
          </p:cNvPr>
          <p:cNvSpPr txBox="1">
            <a:spLocks/>
          </p:cNvSpPr>
          <p:nvPr/>
        </p:nvSpPr>
        <p:spPr>
          <a:xfrm>
            <a:off x="6637869" y="1456267"/>
            <a:ext cx="471593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[project]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name = "my-project"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version = "0.1.0"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 = "..."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readme = "README.md"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requires-python = "&gt;=3.13"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dependencies = []</a:t>
            </a:r>
            <a:endParaRPr lang="nl-NL" sz="2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B17C9D-59B3-BF15-EA4A-4D9C5F96EE4C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012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829D4-D901-F3FF-C97E-547342F0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CAC3D-10A9-080C-E818-4FA0B956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Afhankelijkheden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4759A-6720-15CE-F96E-546C716A8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Je kunt met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noProof="0" dirty="0"/>
              <a:t> eenvoudig afhankelijkheden toevoegen aan je project: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&lt;package&gt;</a:t>
            </a:r>
          </a:p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&lt;package&gt;==&lt;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Voegt package toe aan dependencies in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r>
              <a:rPr lang="nl-NL" sz="2000" dirty="0"/>
              <a:t>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0725D3-16CA-E2D5-94A7-60A3544B603B}"/>
              </a:ext>
            </a:extLst>
          </p:cNvPr>
          <p:cNvSpPr txBox="1">
            <a:spLocks/>
          </p:cNvSpPr>
          <p:nvPr/>
        </p:nvSpPr>
        <p:spPr>
          <a:xfrm>
            <a:off x="6637869" y="1456267"/>
            <a:ext cx="471593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[project]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name = "my-project"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version = "0.1.0"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 = "Description here"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readme = "README.md"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requires-python = "&gt;=3.13"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dependencies =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marimo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&gt;=0.24.2",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nl-NL" sz="1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954C70-2BC5-DCBB-7242-059EB3E75951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486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F31B-CD77-8B0C-F464-97043D97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55AD-FDB1-0689-1895-A8015E58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Afhankelijkheden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8AB73-081D-B81A-C563-829A0ED40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Met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2000" noProof="0" dirty="0"/>
              <a:t> kun je ook versies updaten: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==2.3</a:t>
            </a:r>
          </a:p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==3.0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Dit update het package ook in de virtuele omgeving als dat nodig is.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Packages verwijderen kan met: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&lt;package&gt;</a:t>
            </a:r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8E9040-9954-D4E3-6B44-08DF892DF220}"/>
              </a:ext>
            </a:extLst>
          </p:cNvPr>
          <p:cNvSpPr txBox="1">
            <a:spLocks/>
          </p:cNvSpPr>
          <p:nvPr/>
        </p:nvSpPr>
        <p:spPr>
          <a:xfrm>
            <a:off x="6637869" y="1456267"/>
            <a:ext cx="471593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[project]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name = "my-project"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version = "0.1.0"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 = "Description here"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readme = "README.md"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requires-python = "&gt;=3.13"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dependencies =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marimo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&gt;=0.24.2",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nl-NL" sz="1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3D091E-CB64-DE64-1A69-D7E0394877E6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240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DD17E-60EA-B9C3-423A-049658E83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A8121-4031-E815-BDDD-0C6FCE3F7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Versies opgeven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2DC5C-BC6B-6697-28CC-21B1B52AA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Semantische versienummers:</a:t>
            </a:r>
          </a:p>
          <a:p>
            <a:pPr>
              <a:buFontTx/>
              <a:buChar char="-"/>
            </a:pPr>
            <a:r>
              <a:rPr lang="nl-NL" sz="2000" dirty="0"/>
              <a:t>major:      niet backward compatible.</a:t>
            </a:r>
          </a:p>
          <a:p>
            <a:pPr>
              <a:buFontTx/>
              <a:buChar char="-"/>
            </a:pPr>
            <a:r>
              <a:rPr lang="nl-NL" sz="2000" dirty="0"/>
              <a:t>minor:      nieuwe functionaliteit.</a:t>
            </a:r>
          </a:p>
          <a:p>
            <a:pPr>
              <a:buFontTx/>
              <a:buChar char="-"/>
            </a:pPr>
            <a:r>
              <a:rPr lang="nl-NL" sz="2000" dirty="0"/>
              <a:t>patch:       bug </a:t>
            </a:r>
            <a:r>
              <a:rPr lang="nl-NL" sz="2000" dirty="0" err="1"/>
              <a:t>fixes</a:t>
            </a:r>
            <a:r>
              <a:rPr lang="nl-NL" sz="2000" dirty="0"/>
              <a:t>, security patches.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Manieren om versies op te geven:</a:t>
            </a:r>
          </a:p>
          <a:p>
            <a:pPr>
              <a:buFontTx/>
              <a:buChar char="-"/>
            </a:pPr>
            <a:r>
              <a:rPr lang="nl-NL" sz="2000" dirty="0"/>
              <a:t>exacte versie		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</a:p>
          <a:p>
            <a:pPr>
              <a:buFontTx/>
              <a:buChar char="-"/>
            </a:pPr>
            <a:r>
              <a:rPr lang="nl-NL" sz="2000" dirty="0"/>
              <a:t>patch versie		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~=</a:t>
            </a:r>
          </a:p>
          <a:p>
            <a:pPr>
              <a:buFontTx/>
              <a:buChar char="-"/>
            </a:pPr>
            <a:r>
              <a:rPr lang="nl-NL" sz="2000" dirty="0"/>
              <a:t>minimale versie	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</a:p>
          <a:p>
            <a:pPr>
              <a:buFontTx/>
              <a:buChar char="-"/>
            </a:pPr>
            <a:r>
              <a:rPr lang="nl-NL" sz="2000" dirty="0"/>
              <a:t>versiebereik		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&gt;=X, &lt;Y</a:t>
            </a:r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869381-1F27-5D78-7255-5DB9F4F7A6F3}"/>
              </a:ext>
            </a:extLst>
          </p:cNvPr>
          <p:cNvSpPr txBox="1">
            <a:spLocks/>
          </p:cNvSpPr>
          <p:nvPr/>
        </p:nvSpPr>
        <p:spPr>
          <a:xfrm>
            <a:off x="6637869" y="1463824"/>
            <a:ext cx="471593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 2.3.1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major:  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minor:  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patch:   1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== 2.3.0    # 2.3.0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pandas ~= 2.3.0    # 2.3.x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2.0      # 3.x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pandas &gt;= 2.0, &lt;3  # 2.x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986ED-0006-1D9D-BF2A-87F0F1CDDF4C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178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B8268-2043-BFCE-BD33-FB5E1907B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635C-F1AF-D3C3-38BF-0C76BBEB9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98FDE-C544-1CC2-7F01-4640E77DE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10515600" cy="4720696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nl-NL" sz="2000" dirty="0"/>
              <a:t>Start een nieuw project met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/>
              <a:t>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Voeg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nl-NL" sz="2000" dirty="0"/>
              <a:t> toe aan het project, geef geen versie op:</a:t>
            </a:r>
          </a:p>
          <a:p>
            <a:pPr marL="914400" lvl="1" indent="-457200">
              <a:buAutoNum type="arabicPeriod"/>
            </a:pPr>
            <a:endParaRPr lang="nl-NL" sz="2000" dirty="0"/>
          </a:p>
          <a:p>
            <a:pPr lvl="1"/>
            <a:r>
              <a:rPr lang="nl-NL" sz="2000" dirty="0"/>
              <a:t>Welke versie werd geïnstalleerd?</a:t>
            </a:r>
          </a:p>
          <a:p>
            <a:pPr lvl="1"/>
            <a:endParaRPr lang="nl-NL" sz="2000" dirty="0"/>
          </a:p>
          <a:p>
            <a:pPr lvl="1"/>
            <a:r>
              <a:rPr lang="nl-NL" sz="2000" dirty="0"/>
              <a:t>Wat staat er in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r>
              <a:rPr lang="nl-NL" sz="2000" dirty="0"/>
              <a:t>?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Verander nu de versie naar 2.3.1, wat gebeurt er?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Voeg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marimo</a:t>
            </a:r>
            <a:r>
              <a:rPr lang="nl-NL" sz="2000" dirty="0"/>
              <a:t> toe en open een nieuw Notebook.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Importeer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</a:t>
            </a:r>
            <a:r>
              <a:rPr lang="nl-NL" sz="2000" dirty="0"/>
              <a:t> in het Notebook; wat gebeurt er?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endParaRPr lang="nl-NL" sz="2000" noProof="0" dirty="0"/>
          </a:p>
          <a:p>
            <a:pPr marL="457200" indent="-457200">
              <a:buAutoNum type="arabicPeriod"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3977829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BAB7-3235-4663-4FA7-BB2FA622A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C2B5-46CA-1CF2-3FD4-6CE6974C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Het </a:t>
            </a:r>
            <a:r>
              <a:rPr lang="nl-NL" sz="3600" dirty="0" err="1"/>
              <a:t>uv.lock</a:t>
            </a:r>
            <a:r>
              <a:rPr lang="nl-NL" sz="3600" dirty="0"/>
              <a:t> bestand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7D104-144F-E411-77B6-9B8137E15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Versie specificaties laten vaak ruimte voor meerdere versies.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Zelfs als je zelf versies pint (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nl-NL" sz="2000" dirty="0"/>
              <a:t>) kunnen afhankelijkheden ruimte geven.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De opbouw van je omgeving kan daarom morgen anders uitpakken dan vandaag…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37EF78-F0D6-D5A9-3E59-86D562B13FE7}"/>
              </a:ext>
            </a:extLst>
          </p:cNvPr>
          <p:cNvSpPr txBox="1">
            <a:spLocks/>
          </p:cNvSpPr>
          <p:nvPr/>
        </p:nvSpPr>
        <p:spPr>
          <a:xfrm>
            <a:off x="6637869" y="1456267"/>
            <a:ext cx="4715935" cy="47282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pandas == 2.3.1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dependencies =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1.22.4;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python_version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'3.11'",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1.23.2;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python_version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== '3.11'",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1.26.0;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python_version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'3.12'",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"python-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dateutil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2.8.2",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pytz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2020.1",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tzdata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&gt;= 2022.7"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A2E80B-8462-4FE6-2CAC-1871043A36A6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846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FDB43-1F10-E7EB-0AFA-1C423CAB0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E93A-6C5A-B473-9AB1-6910F251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Het </a:t>
            </a:r>
            <a:r>
              <a:rPr lang="nl-NL" sz="3600" dirty="0" err="1"/>
              <a:t>uv.lock</a:t>
            </a:r>
            <a:r>
              <a:rPr lang="nl-NL" sz="3600" dirty="0"/>
              <a:t> bestand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1E3BA-8183-4B30-8D19-68FB912DE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uv.lock</a:t>
            </a:r>
            <a:r>
              <a:rPr lang="nl-NL" sz="2000" dirty="0"/>
              <a:t> legt de exacte versies van alle packages in de virtuele omgeving vast.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Met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uv.lock</a:t>
            </a:r>
            <a:r>
              <a:rPr lang="nl-NL" sz="2000" dirty="0"/>
              <a:t> kun je een virtuele omgeving exact reproduceren!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Maar: wijzigingen in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r>
              <a:rPr lang="nl-NL" sz="2000" dirty="0"/>
              <a:t> kunnen update van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uv.lock</a:t>
            </a:r>
            <a:r>
              <a:rPr lang="nl-NL" sz="2000" dirty="0"/>
              <a:t> veroorzaken.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7715E9-1B15-6F8F-5184-356488E58119}"/>
              </a:ext>
            </a:extLst>
          </p:cNvPr>
          <p:cNvSpPr txBox="1">
            <a:spLocks/>
          </p:cNvSpPr>
          <p:nvPr/>
        </p:nvSpPr>
        <p:spPr>
          <a:xfrm>
            <a:off x="6637869" y="1141110"/>
            <a:ext cx="4715935" cy="50434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version =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revision =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requires-python = "&gt;=3.13"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[[package]]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name = "scikit-learn"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version = "1.9.1"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source = { registry = "https://pypi.org/simple"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dependencies =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name = "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joblib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"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name = "narwhals"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name = "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"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name = "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"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name = "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threadpoolctl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"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sdist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= {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= "..."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wheels =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= "..."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FDA2E1-2FE5-05F8-476B-025A8D9D164D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6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82A2-CE8B-F4EA-98A8-DBD2E590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B78E-BCAA-2EDA-FC0E-E32BE225A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Beheer van </a:t>
            </a:r>
            <a:r>
              <a:rPr lang="nl-NL" sz="3600" dirty="0" err="1"/>
              <a:t>uv.lock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D6F03-E003-DFC5-BE3C-EA0A5D124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Update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uv.lock</a:t>
            </a:r>
            <a:r>
              <a:rPr lang="nl-NL" sz="2000" dirty="0"/>
              <a:t> handmatig met: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--upgrade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Synchroniseren omgeving en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uv.lock</a:t>
            </a:r>
            <a:r>
              <a:rPr lang="nl-NL" sz="2000" dirty="0"/>
              <a:t>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sync</a:t>
            </a:r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sync --check</a:t>
            </a:r>
          </a:p>
          <a:p>
            <a:pPr marL="0" indent="0"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DAD0D8-BCAD-2099-7471-B0D8926255BD}"/>
              </a:ext>
            </a:extLst>
          </p:cNvPr>
          <p:cNvSpPr txBox="1">
            <a:spLocks/>
          </p:cNvSpPr>
          <p:nvPr/>
        </p:nvSpPr>
        <p:spPr>
          <a:xfrm>
            <a:off x="6637869" y="1141110"/>
            <a:ext cx="4715935" cy="50434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version =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revision =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requires-python = "&gt;=3.13"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[[package]]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name = "scikit-learn"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version = "1.9.1"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source = { registry = "https://pypi.org/simple"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dependencies =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name = "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joblib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"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name = "narwhals"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name = "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"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name = "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"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name = "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threadpoolctl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"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sdist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= {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= "..."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wheels =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{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= "..."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C9F77A-0228-C9E5-58AE-CFEB18443A9E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983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09A3-99EC-A18B-7CE2-4A05569F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8BF3EB-11DE-EB68-ACE3-AFB603E12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Package maken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A06D4F-E101-4332-DA66-985969D82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6042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2708-94FA-8F43-E08A-16886123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9759-D5E1-AB81-7F75-4F13B1097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Project </a:t>
            </a:r>
            <a:r>
              <a:rPr lang="nl-NL" sz="3600" dirty="0" err="1"/>
              <a:t>vs</a:t>
            </a:r>
            <a:r>
              <a:rPr lang="nl-NL" sz="3600" dirty="0"/>
              <a:t> package</a:t>
            </a:r>
            <a:endParaRPr lang="nl-NL" sz="3600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153EE70-7562-9CEE-3BE4-5D238D492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/>
              <a:t>Project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dirty="0"/>
              <a:t>Verzameling Python scripts.</a:t>
            </a:r>
          </a:p>
          <a:p>
            <a:pPr>
              <a:buFontTx/>
              <a:buChar char="-"/>
            </a:pPr>
            <a:endParaRPr lang="nl-NL" sz="2000" b="1" noProof="0" dirty="0"/>
          </a:p>
          <a:p>
            <a:pPr>
              <a:buFontTx/>
              <a:buChar char="-"/>
            </a:pPr>
            <a:r>
              <a:rPr lang="nl-NL" sz="2000" dirty="0"/>
              <a:t>Eindgebruiker werkt zelf met de scripts.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dirty="0"/>
              <a:t>Voorbeelden:</a:t>
            </a:r>
          </a:p>
          <a:p>
            <a:pPr lvl="1">
              <a:buFontTx/>
              <a:buChar char="-"/>
            </a:pPr>
            <a:r>
              <a:rPr lang="nl-NL" sz="2000" noProof="0" dirty="0" err="1"/>
              <a:t>Expl</a:t>
            </a:r>
            <a:r>
              <a:rPr lang="nl-NL" sz="2000" dirty="0" err="1"/>
              <a:t>oratieve</a:t>
            </a:r>
            <a:r>
              <a:rPr lang="nl-NL" sz="2000" dirty="0"/>
              <a:t> notebooks</a:t>
            </a:r>
          </a:p>
          <a:p>
            <a:pPr lvl="1">
              <a:buFontTx/>
              <a:buChar char="-"/>
            </a:pPr>
            <a:r>
              <a:rPr lang="nl-NL" sz="2000" noProof="0" dirty="0"/>
              <a:t>We</a:t>
            </a:r>
            <a:r>
              <a:rPr lang="nl-NL" sz="2000" dirty="0"/>
              <a:t>b applicatie</a:t>
            </a:r>
            <a:endParaRPr lang="nl-NL" sz="2000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E391D7-CCA7-A9C3-CBE7-571AF45B2F4B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7AC17-1289-F6E5-FD36-C8546C3967BB}"/>
              </a:ext>
            </a:extLst>
          </p:cNvPr>
          <p:cNvSpPr txBox="1">
            <a:spLocks/>
          </p:cNvSpPr>
          <p:nvPr/>
        </p:nvSpPr>
        <p:spPr>
          <a:xfrm>
            <a:off x="6637869" y="1456267"/>
            <a:ext cx="471593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b="1" dirty="0"/>
              <a:t>Package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Verzameling Python scripts.</a:t>
            </a:r>
          </a:p>
          <a:p>
            <a:pPr>
              <a:buFontTx/>
              <a:buChar char="-"/>
            </a:pPr>
            <a:endParaRPr lang="nl-NL" sz="2000" b="1" dirty="0"/>
          </a:p>
          <a:p>
            <a:pPr>
              <a:buFontTx/>
              <a:buChar char="-"/>
            </a:pPr>
            <a:r>
              <a:rPr lang="nl-NL" sz="2000" dirty="0"/>
              <a:t>Eindgebruiker importeert package in eigen scripts.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Voorbeelden:</a:t>
            </a:r>
          </a:p>
          <a:p>
            <a:pPr lvl="1">
              <a:buFontTx/>
              <a:buChar char="-"/>
            </a:pPr>
            <a:r>
              <a:rPr lang="nl-NL" sz="2000" dirty="0" err="1"/>
              <a:t>pandas</a:t>
            </a:r>
            <a:endParaRPr lang="nl-NL" sz="2000" dirty="0"/>
          </a:p>
          <a:p>
            <a:pPr lvl="1">
              <a:buFontTx/>
              <a:buChar char="-"/>
            </a:pPr>
            <a:r>
              <a:rPr lang="nl-NL" sz="2000" dirty="0" err="1"/>
              <a:t>scikit-learn</a:t>
            </a:r>
            <a:endParaRPr lang="nl-NL" sz="200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b="1" dirty="0"/>
          </a:p>
        </p:txBody>
      </p:sp>
    </p:spTree>
    <p:extLst>
      <p:ext uri="{BB962C8B-B14F-4D97-AF65-F5344CB8AC3E}">
        <p14:creationId xmlns:p14="http://schemas.microsoft.com/office/powerpoint/2010/main" val="2909681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4E86-FAC2-307A-D6C6-6DA31D006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4A7D-3308-CE26-91D4-AB2A5BE1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Package aanmaken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C1221-641C-518B-47F3-AA276E540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Package opzetten met </a:t>
            </a:r>
            <a:r>
              <a:rPr lang="nl-NL" sz="2000" dirty="0" err="1"/>
              <a:t>uv</a:t>
            </a:r>
            <a:r>
              <a:rPr lang="nl-NL" sz="2000" dirty="0"/>
              <a:t>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--package &lt;folder&gt;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Maakt het volgende aan:</a:t>
            </a:r>
          </a:p>
          <a:p>
            <a:pPr marL="0" indent="0">
              <a:buNone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Een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/&lt;package&gt;</a:t>
            </a:r>
            <a:r>
              <a:rPr lang="nl-NL" sz="2000" dirty="0"/>
              <a:t> folder</a:t>
            </a:r>
          </a:p>
          <a:p>
            <a:pPr>
              <a:buFontTx/>
              <a:buChar char="-"/>
            </a:pPr>
            <a:r>
              <a:rPr lang="nl-NL" sz="2000" dirty="0"/>
              <a:t>Git repository 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/>
              <a:t>Python versie bestand</a:t>
            </a:r>
          </a:p>
          <a:p>
            <a:pPr>
              <a:buFontTx/>
              <a:buChar char="-"/>
            </a:pPr>
            <a:r>
              <a:rPr lang="nl-NL" sz="2000" dirty="0"/>
              <a:t>Setup bestand: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/>
              <a:t>Documentatie: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65E4DB-2F84-BC73-5EF4-62BC378EC829}"/>
              </a:ext>
            </a:extLst>
          </p:cNvPr>
          <p:cNvSpPr txBox="1">
            <a:spLocks/>
          </p:cNvSpPr>
          <p:nvPr/>
        </p:nvSpPr>
        <p:spPr>
          <a:xfrm>
            <a:off x="6637869" y="853944"/>
            <a:ext cx="4715935" cy="532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-package/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</a:t>
            </a:r>
            <a:r>
              <a:rPr lang="nl-N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└─ </a:t>
            </a:r>
            <a:r>
              <a:rPr lang="nl-N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my_package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│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└─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__init__.py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.git/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.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.python-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└─ README.md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182791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4BB9F-A6A0-AFED-2171-8A442D80D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B163D-DDD0-E8EF-8D44-9E5368D8D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Package aanmaken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882A7-CA06-1555-4175-CA300E8EC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Package opzetten met </a:t>
            </a:r>
            <a:r>
              <a:rPr lang="nl-NL" sz="2000" dirty="0" err="1"/>
              <a:t>uv</a:t>
            </a:r>
            <a:r>
              <a:rPr lang="nl-NL" sz="2000" dirty="0"/>
              <a:t>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--package &lt;folder&gt;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Maakt het volgende aan:</a:t>
            </a:r>
          </a:p>
          <a:p>
            <a:pPr marL="0" indent="0">
              <a:buNone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Een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/&lt;package&gt;</a:t>
            </a:r>
            <a:r>
              <a:rPr lang="nl-NL" sz="2000" dirty="0"/>
              <a:t> folder</a:t>
            </a:r>
          </a:p>
          <a:p>
            <a:pPr>
              <a:buFontTx/>
              <a:buChar char="-"/>
            </a:pPr>
            <a:r>
              <a:rPr lang="nl-NL" sz="2000" dirty="0"/>
              <a:t>Git repository 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/>
              <a:t>Python versie bestand</a:t>
            </a:r>
          </a:p>
          <a:p>
            <a:pPr>
              <a:buFontTx/>
              <a:buChar char="-"/>
            </a:pPr>
            <a:r>
              <a:rPr lang="nl-NL" sz="2000" dirty="0"/>
              <a:t>Setup bestand: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/>
              <a:t>Documentatie: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5A19D6-CB96-C5FC-6379-1EF45F3F0A83}"/>
              </a:ext>
            </a:extLst>
          </p:cNvPr>
          <p:cNvSpPr txBox="1">
            <a:spLocks/>
          </p:cNvSpPr>
          <p:nvPr/>
        </p:nvSpPr>
        <p:spPr>
          <a:xfrm>
            <a:off x="6637869" y="1456267"/>
            <a:ext cx="471593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[project]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name = "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-package"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"0.1.0"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"..."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"README.md"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{name = "..."}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-python = "&gt;=3.13"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dependencies = []</a:t>
            </a:r>
          </a:p>
          <a:p>
            <a:pPr marL="0" indent="0">
              <a:spcBef>
                <a:spcPts val="0"/>
              </a:spcBef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project.scripts</a:t>
            </a: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-package = "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my_package:main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spcBef>
                <a:spcPts val="0"/>
              </a:spcBef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-system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requires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["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uv_build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&gt;=0.11"]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-backend = "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uv_build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F2A2D4A-9DCB-CA25-1499-9A2C30FDDC77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511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EAC40-0CCD-694E-5EB8-28486C6D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1A70-A25B-3837-ECA5-6E52837F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__init__.py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C34B6-73FE-8D2C-821A-E3F2717FA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Door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__init__.py</a:t>
            </a:r>
            <a:r>
              <a:rPr lang="nl-NL" sz="2000" dirty="0"/>
              <a:t> kun je scripts uit de folder importeren als modules.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Kan code bevatten, meestal leeg bestand.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/>
              <a:t>De </a:t>
            </a:r>
            <a:r>
              <a:rPr lang="nl-NL" sz="2000" dirty="0"/>
              <a:t>code wordt geladen als de module geïmporteerd wordt.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Vaak om functionaliteit direct onder het package beschikbaar te maken.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832A8D-4525-DFAF-8266-055AF170105E}"/>
              </a:ext>
            </a:extLst>
          </p:cNvPr>
          <p:cNvSpPr txBox="1">
            <a:spLocks/>
          </p:cNvSpPr>
          <p:nvPr/>
        </p:nvSpPr>
        <p:spPr>
          <a:xfrm>
            <a:off x="6637869" y="853944"/>
            <a:ext cx="4715935" cy="532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-package/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</a:t>
            </a:r>
            <a:r>
              <a:rPr lang="nl-N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└─ </a:t>
            </a:r>
            <a:r>
              <a:rPr lang="nl-N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my_package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│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└─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__init__.py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.git/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.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.python-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├─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└─ README.md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39721539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07F77-C68C-0836-50D7-EEB08DB8A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2E1F-7244-7A5F-0C33-4C22BC03D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Package structuur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1B784-42DE-766F-0FEF-50C835D7E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In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__init__.py</a:t>
            </a:r>
            <a:r>
              <a:rPr lang="nl-NL" sz="2000" dirty="0"/>
              <a:t> maakt </a:t>
            </a:r>
            <a:r>
              <a:rPr lang="nl-NL" sz="2000" dirty="0" err="1"/>
              <a:t>uv</a:t>
            </a:r>
            <a:r>
              <a:rPr lang="nl-NL" sz="2000" dirty="0"/>
              <a:t> een voorbeeld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nl-NL" sz="2000" dirty="0"/>
              <a:t> functie aan.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Deze </a:t>
            </a:r>
            <a:r>
              <a:rPr lang="nl-NL" sz="2000" dirty="0" err="1"/>
              <a:t>main</a:t>
            </a:r>
            <a:r>
              <a:rPr lang="nl-NL" sz="2000" dirty="0"/>
              <a:t> functie is direct beschikbaar onder het package:</a:t>
            </a:r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my_package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In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r>
              <a:rPr lang="nl-NL" sz="2000" dirty="0"/>
              <a:t> wordt hier een script / commando aan gekoppeld.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Het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-package</a:t>
            </a:r>
            <a:r>
              <a:rPr lang="nl-NL" sz="2000" dirty="0"/>
              <a:t> commando roept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my_package:main</a:t>
            </a:r>
            <a:r>
              <a:rPr lang="nl-NL" sz="2000" dirty="0">
                <a:cs typeface="Courier New" panose="02070309020205020404" pitchFamily="49" charset="0"/>
              </a:rPr>
              <a:t> aan.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5D9107-F97F-7E2E-AF47-6EAC772B856F}"/>
              </a:ext>
            </a:extLst>
          </p:cNvPr>
          <p:cNvSpPr txBox="1">
            <a:spLocks/>
          </p:cNvSpPr>
          <p:nvPr/>
        </p:nvSpPr>
        <p:spPr>
          <a:xfrm>
            <a:off x="6637869" y="1456267"/>
            <a:ext cx="471593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-package/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└─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└─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my_package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└─ __init__.py</a:t>
            </a:r>
          </a:p>
          <a:p>
            <a:pPr marL="0" indent="0">
              <a:spcBef>
                <a:spcPts val="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def main() -&gt; None: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print("Hello from my-package!")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project.scripts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-package =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my_package:main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AE07B-E011-2848-660B-ED976D4EF4DB}"/>
              </a:ext>
            </a:extLst>
          </p:cNvPr>
          <p:cNvCxnSpPr/>
          <p:nvPr/>
        </p:nvCxnSpPr>
        <p:spPr>
          <a:xfrm>
            <a:off x="6755980" y="3740727"/>
            <a:ext cx="44057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CDE28A-DF4E-55A0-2B30-B92E34119025}"/>
              </a:ext>
            </a:extLst>
          </p:cNvPr>
          <p:cNvCxnSpPr/>
          <p:nvPr/>
        </p:nvCxnSpPr>
        <p:spPr>
          <a:xfrm>
            <a:off x="6755980" y="5109808"/>
            <a:ext cx="44057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252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6A839-8353-5874-5566-9C4519C4E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C2D7AC-E3A1-91EF-AAAA-1D62429C1B3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8728364" y="2307337"/>
            <a:ext cx="0" cy="24715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4649A6F-1C27-17A8-349D-097CCCF0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Package ontwikkelen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D8557-B4B0-4AB3-6D7F-EB4A14A4F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Bedoeling van een package is gebruik in een *ander* project.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Draai de code niet in de folder van het package zelf!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Maak een andere virtuele omgeving aan en installeer het package daarin.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Tip: gebruik een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editable</a:t>
            </a:r>
            <a:r>
              <a:rPr lang="nl-NL" sz="2000" dirty="0"/>
              <a:t> installatie.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0C9AAE-523A-F1C2-BA44-0125F02209A6}"/>
              </a:ext>
            </a:extLst>
          </p:cNvPr>
          <p:cNvSpPr/>
          <p:nvPr/>
        </p:nvSpPr>
        <p:spPr>
          <a:xfrm>
            <a:off x="7133831" y="1456267"/>
            <a:ext cx="3189065" cy="8510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my-package/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C312A6-5F98-D8CD-33DC-3F562FE715C9}"/>
              </a:ext>
            </a:extLst>
          </p:cNvPr>
          <p:cNvSpPr/>
          <p:nvPr/>
        </p:nvSpPr>
        <p:spPr>
          <a:xfrm>
            <a:off x="7133831" y="4778913"/>
            <a:ext cx="3189065" cy="85107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develop/.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8CE65A-F0B5-4EFF-0D98-5F7362C9BBBD}"/>
              </a:ext>
            </a:extLst>
          </p:cNvPr>
          <p:cNvSpPr/>
          <p:nvPr/>
        </p:nvSpPr>
        <p:spPr>
          <a:xfrm>
            <a:off x="6502820" y="3297522"/>
            <a:ext cx="4451086" cy="4912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pip install --editable ../my-package</a:t>
            </a:r>
          </a:p>
        </p:txBody>
      </p:sp>
    </p:spTree>
    <p:extLst>
      <p:ext uri="{BB962C8B-B14F-4D97-AF65-F5344CB8AC3E}">
        <p14:creationId xmlns:p14="http://schemas.microsoft.com/office/powerpoint/2010/main" val="1551584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B8F7-07CD-6469-2DE3-1D233FBA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9B4D-18D1-74CA-3912-95130F7B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24D4B-5806-5B58-E67F-2C5199CC8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10515600" cy="4720696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nl-NL" sz="2000" dirty="0"/>
              <a:t>Maak een nieuw package aan met </a:t>
            </a:r>
            <a:r>
              <a:rPr lang="nl-NL" sz="2000" dirty="0" err="1"/>
              <a:t>uv</a:t>
            </a:r>
            <a:r>
              <a:rPr lang="nl-NL" sz="2000" dirty="0"/>
              <a:t>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Maak een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math.py</a:t>
            </a:r>
            <a:r>
              <a:rPr lang="nl-NL" sz="2000" dirty="0"/>
              <a:t> aan in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/package/</a:t>
            </a:r>
            <a:r>
              <a:rPr lang="nl-NL" sz="2000" dirty="0"/>
              <a:t> .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Definieer hierin een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nl-NL" sz="2000" dirty="0"/>
              <a:t> functie (zie rechts).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Maak elders een virtuele omgeving en installeer daarin je package.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Importeer de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nl-NL" sz="2000" dirty="0"/>
              <a:t> functie in de nieuwe virtuele omgeving.</a:t>
            </a:r>
          </a:p>
          <a:p>
            <a:pPr marL="457200" indent="-457200">
              <a:buAutoNum type="arabicPeriod"/>
            </a:pPr>
            <a:endParaRPr lang="nl-NL" sz="2000" noProof="0" dirty="0"/>
          </a:p>
          <a:p>
            <a:pPr marL="457200" indent="-457200">
              <a:buAutoNum type="arabicPeriod"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FFF93B-3F21-72C9-B345-35AFF6C7FE2C}"/>
              </a:ext>
            </a:extLst>
          </p:cNvPr>
          <p:cNvSpPr txBox="1">
            <a:spLocks/>
          </p:cNvSpPr>
          <p:nvPr/>
        </p:nvSpPr>
        <p:spPr>
          <a:xfrm>
            <a:off x="7136981" y="1456267"/>
            <a:ext cx="4085201" cy="1294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/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7075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339F0-2D02-907F-DBB6-BF47FCD5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BCF02F-7B24-4473-0E35-AB6BB6AF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Code distribueren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3D7BD-12C8-6930-C8E5-AA40930CC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45139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7FD8F-A03A-58F2-4CB9-57D4B5FB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73E8-5653-8689-3228-526A1CA2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Broncode distribueren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6F454-E47E-96CC-CF07-0712BAE4E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5396347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Je kunt broncode direct installeren: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pip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git+&lt;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Download de code en installeert het package.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Maar… versiebeheer afhankelijk van git:</a:t>
            </a:r>
          </a:p>
          <a:p>
            <a:pPr marL="0" indent="0">
              <a:buNone/>
            </a:pP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pip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git+&lt;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&gt;@main</a:t>
            </a:r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pip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git+&lt;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&gt;@v2.34.2</a:t>
            </a:r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pip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git+&lt;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&gt;@6e83187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C1A6922-D845-ECE8-6318-E12615476DA8}"/>
              </a:ext>
            </a:extLst>
          </p:cNvPr>
          <p:cNvGrpSpPr/>
          <p:nvPr/>
        </p:nvGrpSpPr>
        <p:grpSpPr>
          <a:xfrm>
            <a:off x="6502820" y="1729757"/>
            <a:ext cx="4451087" cy="4173716"/>
            <a:chOff x="6502820" y="1456267"/>
            <a:chExt cx="4451087" cy="4173716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A648842-EC7E-EE81-A33F-5CC734E912DF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8728364" y="2307337"/>
              <a:ext cx="0" cy="247157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562140A-ADC5-83ED-1E1A-D2C5249441E4}"/>
                </a:ext>
              </a:extLst>
            </p:cNvPr>
            <p:cNvSpPr/>
            <p:nvPr/>
          </p:nvSpPr>
          <p:spPr>
            <a:xfrm>
              <a:off x="6502821" y="1456267"/>
              <a:ext cx="4451086" cy="85107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https://github.com/psf/requests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F74266-7C29-C295-07F3-6A797C8E2093}"/>
                </a:ext>
              </a:extLst>
            </p:cNvPr>
            <p:cNvSpPr/>
            <p:nvPr/>
          </p:nvSpPr>
          <p:spPr>
            <a:xfrm>
              <a:off x="7133831" y="4778913"/>
              <a:ext cx="3189065" cy="85107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develop/.</a:t>
              </a:r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venv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17265F-1CAB-BB0D-452E-6D884CBC670C}"/>
                </a:ext>
              </a:extLst>
            </p:cNvPr>
            <p:cNvSpPr/>
            <p:nvPr/>
          </p:nvSpPr>
          <p:spPr>
            <a:xfrm>
              <a:off x="6502820" y="3297522"/>
              <a:ext cx="4451086" cy="4912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pip install git+&lt;repo&gt;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37018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A5CD8-9F0E-92CE-39CE-33C0A880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85A75-3D07-D716-ECB2-C304BA626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Converteren naar binair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065DE-4B5C-D310-0F17-74CD0268E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5396347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Converteer je code naar binair formaat met een </a:t>
            </a:r>
            <a:r>
              <a:rPr lang="nl-NL" sz="2000" dirty="0" err="1"/>
              <a:t>build</a:t>
            </a:r>
            <a:r>
              <a:rPr lang="nl-NL" sz="2000" dirty="0"/>
              <a:t>-system: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-package&gt;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Dit maakt een </a:t>
            </a:r>
            <a:r>
              <a:rPr lang="nl-NL" sz="2000" dirty="0" err="1"/>
              <a:t>wheel</a:t>
            </a:r>
            <a:r>
              <a:rPr lang="nl-NL" sz="2000" dirty="0"/>
              <a:t> bestand met in de naam: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versie van het package:		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0.1.0</a:t>
            </a:r>
          </a:p>
          <a:p>
            <a:pPr>
              <a:buFontTx/>
              <a:buChar char="-"/>
            </a:pPr>
            <a:r>
              <a:rPr lang="nl-NL" sz="2000" dirty="0"/>
              <a:t>versie van Python:		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py3</a:t>
            </a:r>
          </a:p>
          <a:p>
            <a:pPr>
              <a:buFontTx/>
              <a:buChar char="-"/>
            </a:pPr>
            <a:r>
              <a:rPr lang="nl-NL" sz="2000" dirty="0"/>
              <a:t>Python ABI:			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pPr>
              <a:buFontTx/>
              <a:buChar char="-"/>
            </a:pPr>
            <a:r>
              <a:rPr lang="nl-NL" sz="2000" dirty="0"/>
              <a:t>operating system:		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7AFEAF-AD63-64A7-1B9D-FD2273BE6AE9}"/>
              </a:ext>
            </a:extLst>
          </p:cNvPr>
          <p:cNvGrpSpPr/>
          <p:nvPr/>
        </p:nvGrpSpPr>
        <p:grpSpPr>
          <a:xfrm>
            <a:off x="6524420" y="1729757"/>
            <a:ext cx="4451087" cy="4173716"/>
            <a:chOff x="6524420" y="1528267"/>
            <a:chExt cx="4451087" cy="4173716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A85FC4C-A36E-D872-2870-86D7F9F71535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8749963" y="2379337"/>
              <a:ext cx="1" cy="247157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5628CB-806A-5663-1981-2DBB6482CAA6}"/>
                </a:ext>
              </a:extLst>
            </p:cNvPr>
            <p:cNvSpPr/>
            <p:nvPr/>
          </p:nvSpPr>
          <p:spPr>
            <a:xfrm>
              <a:off x="6524421" y="1528267"/>
              <a:ext cx="4451086" cy="85107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my-package/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869D36-B1C6-20C0-9D57-35D764893D2F}"/>
                </a:ext>
              </a:extLst>
            </p:cNvPr>
            <p:cNvSpPr/>
            <p:nvPr/>
          </p:nvSpPr>
          <p:spPr>
            <a:xfrm>
              <a:off x="6524420" y="4850913"/>
              <a:ext cx="4451085" cy="85107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my-package/</a:t>
              </a:r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dist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</a:p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my_package-0.1.0-py3-none-any.whl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FD7DE79-C42C-A7B4-D406-799063FBD85F}"/>
                </a:ext>
              </a:extLst>
            </p:cNvPr>
            <p:cNvSpPr/>
            <p:nvPr/>
          </p:nvSpPr>
          <p:spPr>
            <a:xfrm>
              <a:off x="6524420" y="2836322"/>
              <a:ext cx="4451086" cy="4912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build .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E0ACE9B-9639-1F15-6C26-0B54030B1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4421" y="3816505"/>
              <a:ext cx="4451084" cy="5774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30485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FA1FD-549C-9666-BA43-A2579694E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576C-E2A8-433A-EC2F-91DC1EB6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Binaire code distribueren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01D55-F67E-F32F-B691-5AAA30081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5396347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Upload binaire code naar een index server: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publish</a:t>
            </a: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publish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publish-url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&lt;index server&gt;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Maakt de code beschikbaar voor pip, inclusief versie, platform, et cetera.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pip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&lt;package&gt;</a:t>
            </a:r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pip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&lt;package&gt;</a:t>
            </a:r>
          </a:p>
          <a:p>
            <a:pPr marL="0" indent="0"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--index-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&lt;index server&gt;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D9A45AE-8BEF-5F37-0781-4957DDD51EA6}"/>
              </a:ext>
            </a:extLst>
          </p:cNvPr>
          <p:cNvGrpSpPr/>
          <p:nvPr/>
        </p:nvGrpSpPr>
        <p:grpSpPr>
          <a:xfrm>
            <a:off x="6502820" y="962419"/>
            <a:ext cx="4451087" cy="4933162"/>
            <a:chOff x="6502820" y="696821"/>
            <a:chExt cx="4451087" cy="493316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68131C4-B0C9-7E6D-C1C3-D1C431FE1FB8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8728364" y="3588937"/>
              <a:ext cx="0" cy="118997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0000CB-E155-F059-078A-5DE49CF80954}"/>
                </a:ext>
              </a:extLst>
            </p:cNvPr>
            <p:cNvSpPr/>
            <p:nvPr/>
          </p:nvSpPr>
          <p:spPr>
            <a:xfrm>
              <a:off x="6502821" y="2737867"/>
              <a:ext cx="4451086" cy="85107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Index Server</a:t>
              </a:r>
            </a:p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PyPI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A21764A-0E67-0457-73EC-ABC40DE07B9B}"/>
                </a:ext>
              </a:extLst>
            </p:cNvPr>
            <p:cNvSpPr/>
            <p:nvPr/>
          </p:nvSpPr>
          <p:spPr>
            <a:xfrm>
              <a:off x="7133831" y="4778913"/>
              <a:ext cx="3189065" cy="85107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develop/.</a:t>
              </a:r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venv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E8DF65-FD55-7298-A153-F6C95A705902}"/>
                </a:ext>
              </a:extLst>
            </p:cNvPr>
            <p:cNvSpPr/>
            <p:nvPr/>
          </p:nvSpPr>
          <p:spPr>
            <a:xfrm>
              <a:off x="6502820" y="3938322"/>
              <a:ext cx="4451086" cy="4912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pip install my-package==0.1.0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0CA29D2-23B6-22D2-4C8A-4A21FA28CE39}"/>
                </a:ext>
              </a:extLst>
            </p:cNvPr>
            <p:cNvSpPr/>
            <p:nvPr/>
          </p:nvSpPr>
          <p:spPr>
            <a:xfrm>
              <a:off x="6502820" y="1897276"/>
              <a:ext cx="4451086" cy="4912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build + </a:t>
              </a:r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uv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publish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4E7FC8-1A28-1890-7479-718F68B387C0}"/>
                </a:ext>
              </a:extLst>
            </p:cNvPr>
            <p:cNvSpPr/>
            <p:nvPr/>
          </p:nvSpPr>
          <p:spPr>
            <a:xfrm>
              <a:off x="7133831" y="696821"/>
              <a:ext cx="3189065" cy="85107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my-package/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193753A-E6E0-87A6-CB71-F3A1C9A1EDC9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8728364" y="1547891"/>
              <a:ext cx="0" cy="11899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1088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973CD-B7DD-8608-BFE6-0A22348AC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396B-EB46-9406-7CBC-6569422F0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B02B2-8E1C-F184-CDD1-48666B4E6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10515600" cy="4720696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nl-NL" sz="2000" dirty="0"/>
              <a:t>Ga naar de folder van je package uit de vorige opdracht.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Converteer het package naar binair met </a:t>
            </a:r>
            <a:r>
              <a:rPr lang="nl-NL" sz="2000" dirty="0" err="1"/>
              <a:t>uv</a:t>
            </a:r>
            <a:r>
              <a:rPr lang="nl-NL" sz="2000" dirty="0"/>
              <a:t> </a:t>
            </a:r>
            <a:r>
              <a:rPr lang="nl-NL" sz="2000" dirty="0" err="1"/>
              <a:t>build</a:t>
            </a:r>
            <a:r>
              <a:rPr lang="nl-NL" sz="2000" dirty="0"/>
              <a:t>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Open het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tar.gz</a:t>
            </a:r>
            <a:r>
              <a:rPr lang="nl-NL" sz="2000" dirty="0"/>
              <a:t> bestand; wat zit hierin?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noProof="0" dirty="0"/>
              <a:t>Kun je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nl-NL" sz="2000" noProof="0" dirty="0"/>
              <a:t> installeren via git?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10437867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F924-F7F6-8A4F-23F7-CCFB08CA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608656-8266-CA23-72A0-4248BAA73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Samenvatting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54083-19DA-61E6-4479-3881631FA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46955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ACF26-CDDB-9E30-EAFF-DC4A0596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EF0A2-42C2-CB16-67AB-4E41F9887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Python &amp; virtuele omgevingen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A9B36-8AE1-6631-2007-24A3AFCBB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10515600" cy="4720696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nl-NL" sz="2000" dirty="0"/>
              <a:t>Python is een geïnterpreteerde taal.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Ecosysteem is kracht van Python; veel packages beschikbaar.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Python projecten hebben eigen afhankelijkheden (inclusief versies).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Virtuele omgevingen vereenvoudigen beheer hiervan.</a:t>
            </a: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25336853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3694F-674D-E339-09F0-64A91A0B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843F1-5DA6-BB5D-84DF-3E3A5AA2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uv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DB66D-093F-B7DF-44CE-ACB5BCD37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6520202" cy="4720696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nl-NL" sz="2000" dirty="0"/>
              <a:t>Beheer van virtuele omgevingen eenvoudig met </a:t>
            </a:r>
            <a:r>
              <a:rPr lang="nl-NL" sz="2000" dirty="0" err="1"/>
              <a:t>uv</a:t>
            </a:r>
            <a:r>
              <a:rPr lang="nl-NL" sz="2000" dirty="0"/>
              <a:t>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Handmatig beheer van persoonlijke omgevingen.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Beheer van Python projecten en packages: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lvl="1"/>
            <a:r>
              <a:rPr lang="nl-NL" sz="1800" noProof="0" dirty="0"/>
              <a:t>Opzet project of package structuur.</a:t>
            </a:r>
          </a:p>
          <a:p>
            <a:pPr lvl="1"/>
            <a:r>
              <a:rPr lang="nl-NL" sz="1800" dirty="0"/>
              <a:t>Voorzet voor installatiebestand (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r>
              <a:rPr lang="nl-NL" sz="1800" dirty="0"/>
              <a:t>).</a:t>
            </a:r>
          </a:p>
          <a:p>
            <a:pPr lvl="1"/>
            <a:r>
              <a:rPr lang="nl-NL" sz="1800" noProof="0" dirty="0"/>
              <a:t>Eenvoudig beheer van afhankelijkheden.</a:t>
            </a:r>
          </a:p>
          <a:p>
            <a:pPr marL="457200" indent="-457200">
              <a:buFont typeface="+mj-lt"/>
              <a:buAutoNum type="arabicPeriod"/>
            </a:pPr>
            <a:endParaRPr lang="nl-NL" sz="2200" dirty="0"/>
          </a:p>
          <a:p>
            <a:pPr marL="457200" indent="-457200">
              <a:buFont typeface="+mj-lt"/>
              <a:buAutoNum type="arabicPeriod"/>
            </a:pPr>
            <a:r>
              <a:rPr lang="nl-NL" sz="2000" noProof="0" dirty="0"/>
              <a:t>Broncode distribueren via repository of als binair package via index.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475F1C-7AE3-0113-4FC4-077F0EDB9202}"/>
              </a:ext>
            </a:extLst>
          </p:cNvPr>
          <p:cNvSpPr txBox="1">
            <a:spLocks/>
          </p:cNvSpPr>
          <p:nvPr/>
        </p:nvSpPr>
        <p:spPr>
          <a:xfrm>
            <a:off x="7826400" y="1456267"/>
            <a:ext cx="352740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--python=3.13</a:t>
            </a:r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pip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run …</a:t>
            </a:r>
          </a:p>
          <a:p>
            <a:pPr marL="0" indent="0"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--package</a:t>
            </a:r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  <a:p>
            <a:pPr marL="0" indent="0"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publish</a:t>
            </a: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C09FAF-7102-3D5C-56E7-19FB5AB952F3}"/>
              </a:ext>
            </a:extLst>
          </p:cNvPr>
          <p:cNvCxnSpPr/>
          <p:nvPr/>
        </p:nvCxnSpPr>
        <p:spPr>
          <a:xfrm>
            <a:off x="7228800" y="1267200"/>
            <a:ext cx="0" cy="4780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0794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A546B-FB76-B9EE-8C66-D103BAA5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54707D-C12B-74B9-0C76-A3B4E0F88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IDE's</a:t>
            </a:r>
            <a:endParaRPr lang="nl-NL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9D839-E993-F785-769D-29219C4E8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75932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Keuze voor 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noProof="0" dirty="0" err="1"/>
              <a:t>Marimo</a:t>
            </a:r>
            <a:r>
              <a:rPr lang="nl-NL" sz="2000" b="1" noProof="0" dirty="0"/>
              <a:t> / </a:t>
            </a:r>
            <a:r>
              <a:rPr lang="nl-NL" sz="2000" b="1" noProof="0" dirty="0" err="1"/>
              <a:t>Jupyter</a:t>
            </a:r>
            <a:r>
              <a:rPr lang="nl-NL" sz="2000" b="1" noProof="0" dirty="0"/>
              <a:t> Notebook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+    Goed voor interactief werken.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+    Goed voor demo’s, directe feedback.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-     Qua functionaliteit vrij beperkt.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-    Foutgevoelig, snel onoverzichtelijk.</a:t>
            </a:r>
          </a:p>
          <a:p>
            <a:pPr marL="0" indent="0">
              <a:buNone/>
            </a:pPr>
            <a:endParaRPr lang="nl-NL" sz="2000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6E87A0-1070-48CA-27A1-259B2400F9C1}"/>
              </a:ext>
            </a:extLst>
          </p:cNvPr>
          <p:cNvSpPr txBox="1">
            <a:spLocks/>
          </p:cNvSpPr>
          <p:nvPr/>
        </p:nvSpPr>
        <p:spPr>
          <a:xfrm>
            <a:off x="6637869" y="1456267"/>
            <a:ext cx="471593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b="1" dirty="0"/>
              <a:t>Visual Studio Code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dirty="0"/>
              <a:t>+    Goed voor gestructureerd werken.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+    Zowel scripts als Notebooks.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dirty="0"/>
              <a:t>+    Veel functionaliteit en plug-ins.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dirty="0"/>
              <a:t>-     Kost wat moeite om op te zetten.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609FA9-4DB0-58A8-2365-E958D9DDB463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7852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Virtual Studio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9B6C2-CAA9-705D-0DD1-019A0D374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501" y="1207143"/>
            <a:ext cx="8615099" cy="511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47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VS Code: Overzicht interface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9B6C2-CAA9-705D-0DD1-019A0D374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998" y="1069986"/>
            <a:ext cx="8615099" cy="51163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3EE54AB-CA0C-A167-4903-C9487ECFD50D}"/>
              </a:ext>
            </a:extLst>
          </p:cNvPr>
          <p:cNvSpPr/>
          <p:nvPr/>
        </p:nvSpPr>
        <p:spPr>
          <a:xfrm>
            <a:off x="1834364" y="1276770"/>
            <a:ext cx="2192866" cy="47413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side panel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41963B-E95A-15EE-12BF-B0F5169BED67}"/>
              </a:ext>
            </a:extLst>
          </p:cNvPr>
          <p:cNvSpPr/>
          <p:nvPr/>
        </p:nvSpPr>
        <p:spPr>
          <a:xfrm>
            <a:off x="4086497" y="1284708"/>
            <a:ext cx="6062133" cy="33533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editor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FF7756-F566-137A-8C0D-709A9B9BBBE4}"/>
              </a:ext>
            </a:extLst>
          </p:cNvPr>
          <p:cNvSpPr/>
          <p:nvPr/>
        </p:nvSpPr>
        <p:spPr>
          <a:xfrm>
            <a:off x="4088614" y="4682493"/>
            <a:ext cx="6062133" cy="13356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output / terminal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383199-6ED0-9DFE-0315-0D7DEC7AB311}"/>
              </a:ext>
            </a:extLst>
          </p:cNvPr>
          <p:cNvSpPr/>
          <p:nvPr/>
        </p:nvSpPr>
        <p:spPr>
          <a:xfrm>
            <a:off x="7824650" y="6018103"/>
            <a:ext cx="2323979" cy="4747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</a:t>
            </a:r>
            <a:r>
              <a:rPr lang="en-US" dirty="0" err="1">
                <a:solidFill>
                  <a:srgbClr val="FF0000"/>
                </a:solidFill>
              </a:rPr>
              <a:t>omgeving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4975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8126E4-E480-0C54-1EB2-215BFBEC0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501" y="1207144"/>
            <a:ext cx="8615099" cy="5099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VS Code: Linker menu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947FF2-D85D-CA54-14DE-BCA195B13522}"/>
              </a:ext>
            </a:extLst>
          </p:cNvPr>
          <p:cNvSpPr/>
          <p:nvPr/>
        </p:nvSpPr>
        <p:spPr>
          <a:xfrm>
            <a:off x="1989667" y="1422400"/>
            <a:ext cx="2201333" cy="46736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700"/>
              </a:spcAft>
            </a:pPr>
            <a:r>
              <a:rPr lang="en-US" dirty="0"/>
              <a:t>Files</a:t>
            </a:r>
          </a:p>
          <a:p>
            <a:pPr>
              <a:spcAft>
                <a:spcPts val="700"/>
              </a:spcAft>
            </a:pPr>
            <a:r>
              <a:rPr lang="en-US" dirty="0"/>
              <a:t>Search</a:t>
            </a:r>
          </a:p>
          <a:p>
            <a:pPr>
              <a:spcAft>
                <a:spcPts val="700"/>
              </a:spcAft>
            </a:pPr>
            <a:r>
              <a:rPr lang="en-US" dirty="0"/>
              <a:t>Unit testing</a:t>
            </a:r>
          </a:p>
          <a:p>
            <a:pPr>
              <a:spcAft>
                <a:spcPts val="700"/>
              </a:spcAft>
            </a:pPr>
            <a:r>
              <a:rPr lang="en-US" dirty="0"/>
              <a:t>Debugger</a:t>
            </a:r>
          </a:p>
          <a:p>
            <a:pPr>
              <a:spcAft>
                <a:spcPts val="700"/>
              </a:spcAft>
            </a:pPr>
            <a:r>
              <a:rPr lang="en-US" dirty="0"/>
              <a:t>Version control</a:t>
            </a:r>
          </a:p>
          <a:p>
            <a:pPr>
              <a:spcAft>
                <a:spcPts val="700"/>
              </a:spcAft>
            </a:pPr>
            <a:r>
              <a:rPr lang="en-US" dirty="0"/>
              <a:t>Plugins</a:t>
            </a:r>
          </a:p>
          <a:p>
            <a:pPr>
              <a:spcAft>
                <a:spcPts val="700"/>
              </a:spcAft>
            </a:pPr>
            <a:endParaRPr lang="en-US" dirty="0"/>
          </a:p>
          <a:p>
            <a:pPr>
              <a:spcAft>
                <a:spcPts val="700"/>
              </a:spcAft>
            </a:pPr>
            <a:endParaRPr lang="en-US" dirty="0"/>
          </a:p>
          <a:p>
            <a:pPr>
              <a:spcAft>
                <a:spcPts val="700"/>
              </a:spcAft>
            </a:pPr>
            <a:endParaRPr lang="en-US" dirty="0"/>
          </a:p>
          <a:p>
            <a:pPr>
              <a:spcAft>
                <a:spcPts val="700"/>
              </a:spcAft>
            </a:pPr>
            <a:endParaRPr lang="en-US" dirty="0"/>
          </a:p>
          <a:p>
            <a:pPr>
              <a:spcAft>
                <a:spcPts val="700"/>
              </a:spcAft>
            </a:pPr>
            <a:endParaRPr lang="en-US" dirty="0"/>
          </a:p>
          <a:p>
            <a:pPr>
              <a:spcAft>
                <a:spcPts val="700"/>
              </a:spcAft>
            </a:pPr>
            <a:r>
              <a:rPr lang="en-US" dirty="0"/>
              <a:t>Accounts</a:t>
            </a:r>
          </a:p>
          <a:p>
            <a:pPr>
              <a:spcAft>
                <a:spcPts val="700"/>
              </a:spcAft>
            </a:pPr>
            <a:r>
              <a:rPr lang="en-US" dirty="0"/>
              <a:t>Settings</a:t>
            </a:r>
          </a:p>
          <a:p>
            <a:pPr>
              <a:spcAft>
                <a:spcPts val="700"/>
              </a:spcAft>
            </a:pPr>
            <a:endParaRPr lang="en-US" dirty="0"/>
          </a:p>
          <a:p>
            <a:pPr>
              <a:spcAft>
                <a:spcPts val="700"/>
              </a:spcAft>
            </a:pPr>
            <a:endParaRPr lang="en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813DE5-CB72-48F8-08CE-236C8E7361EB}"/>
              </a:ext>
            </a:extLst>
          </p:cNvPr>
          <p:cNvSpPr/>
          <p:nvPr/>
        </p:nvSpPr>
        <p:spPr>
          <a:xfrm>
            <a:off x="1176866" y="1422400"/>
            <a:ext cx="3031067" cy="47053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sidebar menu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7080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Setting voor de cursus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CB56300-B71C-E0A2-3CDD-95E0FC58A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nl-NL" sz="2000" noProof="0" dirty="0"/>
              <a:t>Open </a:t>
            </a:r>
            <a:r>
              <a:rPr lang="nl-NL" sz="2000" b="1" noProof="0" dirty="0" err="1"/>
              <a:t>Settings</a:t>
            </a:r>
            <a:r>
              <a:rPr lang="nl-NL" sz="2000" noProof="0" dirty="0"/>
              <a:t> (tandwiel of CTRL + ,)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noProof="0" dirty="0"/>
              <a:t>Klik op </a:t>
            </a:r>
            <a:r>
              <a:rPr lang="nl-NL" sz="2000" b="1" noProof="0" dirty="0" err="1"/>
              <a:t>Extensions</a:t>
            </a:r>
            <a:r>
              <a:rPr lang="nl-NL" sz="2000" noProof="0" dirty="0"/>
              <a:t>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noProof="0" dirty="0"/>
              <a:t>Zoek naar </a:t>
            </a:r>
            <a:r>
              <a:rPr lang="nl-NL" sz="2000" b="1" noProof="0" dirty="0"/>
              <a:t>Python</a:t>
            </a:r>
            <a:r>
              <a:rPr lang="nl-NL" sz="2000" noProof="0" dirty="0"/>
              <a:t>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Vink deze setting aan:</a:t>
            </a:r>
          </a:p>
          <a:p>
            <a:pPr marL="0" indent="0">
              <a:buNone/>
            </a:pPr>
            <a:r>
              <a:rPr lang="nl-NL" sz="2000" noProof="0" dirty="0"/>
              <a:t>    </a:t>
            </a:r>
            <a:r>
              <a:rPr lang="nl-NL" sz="2000" b="1" noProof="0" dirty="0"/>
              <a:t>Terminal: </a:t>
            </a:r>
            <a:r>
              <a:rPr lang="nl-NL" sz="2000" b="1" noProof="0" dirty="0" err="1"/>
              <a:t>Execute</a:t>
            </a:r>
            <a:r>
              <a:rPr lang="nl-NL" sz="2000" b="1" noProof="0" dirty="0"/>
              <a:t> In File Dir</a:t>
            </a:r>
          </a:p>
          <a:p>
            <a:pPr marL="0" indent="0">
              <a:buNone/>
            </a:pPr>
            <a:endParaRPr lang="nl-NL" sz="2000" b="1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0116F5-B096-EC38-813F-DC39357156BF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FA8CDDB-E523-539D-4070-25CA90DAE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865" y="1460763"/>
            <a:ext cx="4715935" cy="196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715DFF-473D-EF2F-A10B-8B92AC29B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865" y="4287478"/>
            <a:ext cx="4715932" cy="68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58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VS Code interface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85DCBE-F97F-45FA-1C33-E1AAE19C3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869" y="1882246"/>
            <a:ext cx="4716677" cy="239342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CB56300-B71C-E0A2-3CDD-95E0FC58A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56267"/>
            <a:ext cx="4715935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noProof="0" dirty="0" err="1"/>
              <a:t>Settings</a:t>
            </a:r>
            <a:r>
              <a:rPr lang="nl-NL" sz="2000" b="1" noProof="0" dirty="0"/>
              <a:t>: CTRL + ,</a:t>
            </a:r>
          </a:p>
          <a:p>
            <a:pPr marL="0" indent="0">
              <a:buNone/>
            </a:pPr>
            <a:endParaRPr lang="nl-NL" sz="2000" b="1" noProof="0" dirty="0"/>
          </a:p>
          <a:p>
            <a:pPr marL="0" indent="0">
              <a:buNone/>
            </a:pPr>
            <a:endParaRPr lang="nl-NL" sz="2000" b="1" noProof="0" dirty="0"/>
          </a:p>
          <a:p>
            <a:pPr marL="0" indent="0">
              <a:buNone/>
            </a:pPr>
            <a:endParaRPr lang="nl-NL" sz="2000" b="1" noProof="0" dirty="0"/>
          </a:p>
          <a:p>
            <a:pPr marL="0" indent="0">
              <a:buNone/>
            </a:pPr>
            <a:endParaRPr lang="nl-NL" sz="2000" b="1" noProof="0" dirty="0"/>
          </a:p>
          <a:p>
            <a:pPr marL="0" indent="0">
              <a:buNone/>
            </a:pPr>
            <a:endParaRPr lang="nl-NL" sz="2000" b="1" noProof="0" dirty="0"/>
          </a:p>
          <a:p>
            <a:pPr marL="0" indent="0">
              <a:buNone/>
            </a:pPr>
            <a:endParaRPr lang="nl-NL" sz="2000" b="1" noProof="0" dirty="0"/>
          </a:p>
          <a:p>
            <a:pPr>
              <a:buFontTx/>
              <a:buChar char="-"/>
            </a:pPr>
            <a:r>
              <a:rPr lang="nl-NL" sz="2000" noProof="0" dirty="0"/>
              <a:t>Georganiseerd per sectie.</a:t>
            </a:r>
          </a:p>
          <a:p>
            <a:pPr>
              <a:buFontTx/>
              <a:buChar char="-"/>
            </a:pPr>
            <a:r>
              <a:rPr lang="nl-NL" sz="2000" noProof="0" dirty="0"/>
              <a:t>Bijvoorbeeld: </a:t>
            </a:r>
            <a:r>
              <a:rPr lang="nl-NL" sz="2000" noProof="0" dirty="0" err="1"/>
              <a:t>Extensions</a:t>
            </a:r>
            <a:r>
              <a:rPr lang="nl-NL" sz="2000" noProof="0" dirty="0"/>
              <a:t> =&gt; Python.</a:t>
            </a:r>
          </a:p>
          <a:p>
            <a:pPr>
              <a:buFontTx/>
              <a:buChar char="-"/>
            </a:pPr>
            <a:r>
              <a:rPr lang="nl-NL" sz="2000" noProof="0" dirty="0"/>
              <a:t>Vaak sneller via de zoekbalk.</a:t>
            </a:r>
          </a:p>
          <a:p>
            <a:pPr>
              <a:buFontTx/>
              <a:buChar char="-"/>
            </a:pPr>
            <a:r>
              <a:rPr lang="nl-NL" sz="2000" noProof="0" dirty="0"/>
              <a:t>Per gebruiker of per </a:t>
            </a:r>
            <a:r>
              <a:rPr lang="nl-NL" sz="2000" noProof="0" dirty="0" err="1"/>
              <a:t>workspace</a:t>
            </a:r>
            <a:r>
              <a:rPr lang="nl-NL" sz="2000" noProof="0" dirty="0"/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C1439B-4D1C-D712-D5E9-6DCB3EE41574}"/>
              </a:ext>
            </a:extLst>
          </p:cNvPr>
          <p:cNvSpPr txBox="1">
            <a:spLocks/>
          </p:cNvSpPr>
          <p:nvPr/>
        </p:nvSpPr>
        <p:spPr>
          <a:xfrm>
            <a:off x="6637869" y="1456267"/>
            <a:ext cx="4715935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b="1" dirty="0" err="1"/>
              <a:t>Command</a:t>
            </a:r>
            <a:r>
              <a:rPr lang="nl-NL" sz="2000" b="1" dirty="0"/>
              <a:t> palette: CTRL + SHIFT + 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2000" b="1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b="1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b="1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b="1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b="1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b="1" dirty="0"/>
          </a:p>
          <a:p>
            <a:pPr marL="0" indent="0">
              <a:buFont typeface="Arial" panose="020B0604020202020204" pitchFamily="34" charset="0"/>
              <a:buNone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Zoekbalk voor commando's.</a:t>
            </a:r>
          </a:p>
          <a:p>
            <a:pPr>
              <a:buFontTx/>
              <a:buChar char="-"/>
            </a:pPr>
            <a:r>
              <a:rPr lang="nl-NL" sz="2000" dirty="0"/>
              <a:t>Voorbeeld: Format Document.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0116F5-B096-EC38-813F-DC39357156BF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FA8CDDB-E523-539D-4070-25CA90DA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54" y="1882246"/>
            <a:ext cx="4715935" cy="196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5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2795</Words>
  <Application>Microsoft Office PowerPoint</Application>
  <PresentationFormat>Widescreen</PresentationFormat>
  <Paragraphs>752</Paragraphs>
  <Slides>52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Calibri Light</vt:lpstr>
      <vt:lpstr>Corbel Light</vt:lpstr>
      <vt:lpstr>Courier New</vt:lpstr>
      <vt:lpstr>Office Theme</vt:lpstr>
      <vt:lpstr>Python - Cursus</vt:lpstr>
      <vt:lpstr>Agenda</vt:lpstr>
      <vt:lpstr>Python</vt:lpstr>
      <vt:lpstr>Sterke punten</vt:lpstr>
      <vt:lpstr>Zwakke punten</vt:lpstr>
      <vt:lpstr>Hoe werkt Python?</vt:lpstr>
      <vt:lpstr>Hoe werkt Python?</vt:lpstr>
      <vt:lpstr>Hoe werkt Python?</vt:lpstr>
      <vt:lpstr>Standaard packages</vt:lpstr>
      <vt:lpstr>Externe packages</vt:lpstr>
      <vt:lpstr>Werken met packages</vt:lpstr>
      <vt:lpstr>Conflicterende versies</vt:lpstr>
      <vt:lpstr>Virtuele omgevingen</vt:lpstr>
      <vt:lpstr>Beheer omgevingen met uv</vt:lpstr>
      <vt:lpstr>Commando’s</vt:lpstr>
      <vt:lpstr>Commando’s</vt:lpstr>
      <vt:lpstr>Commando’s</vt:lpstr>
      <vt:lpstr>Oefeningen 1</vt:lpstr>
      <vt:lpstr>Persoonlijke experimenten</vt:lpstr>
      <vt:lpstr>Project opzetten</vt:lpstr>
      <vt:lpstr>Project aanmaken</vt:lpstr>
      <vt:lpstr>Project aanmaken</vt:lpstr>
      <vt:lpstr>Afhankelijkheden</vt:lpstr>
      <vt:lpstr>Afhankelijkheden</vt:lpstr>
      <vt:lpstr>Versies opgeven</vt:lpstr>
      <vt:lpstr>Oefeningen 2</vt:lpstr>
      <vt:lpstr>Het uv.lock bestand</vt:lpstr>
      <vt:lpstr>Het uv.lock bestand</vt:lpstr>
      <vt:lpstr>Beheer van uv.lock</vt:lpstr>
      <vt:lpstr>Package maken</vt:lpstr>
      <vt:lpstr>Project vs package</vt:lpstr>
      <vt:lpstr>Package aanmaken</vt:lpstr>
      <vt:lpstr>Package aanmaken</vt:lpstr>
      <vt:lpstr>__init__.py</vt:lpstr>
      <vt:lpstr>Package structuur</vt:lpstr>
      <vt:lpstr>Package ontwikkelen</vt:lpstr>
      <vt:lpstr>Oefeningen 3</vt:lpstr>
      <vt:lpstr>Code distribueren</vt:lpstr>
      <vt:lpstr>Broncode distribueren</vt:lpstr>
      <vt:lpstr>Converteren naar binair</vt:lpstr>
      <vt:lpstr>Binaire code distribueren</vt:lpstr>
      <vt:lpstr>Oefeningen 4</vt:lpstr>
      <vt:lpstr>Samenvatting</vt:lpstr>
      <vt:lpstr>Python &amp; virtuele omgevingen</vt:lpstr>
      <vt:lpstr>uv</vt:lpstr>
      <vt:lpstr>IDE's</vt:lpstr>
      <vt:lpstr>Keuze voor IDE</vt:lpstr>
      <vt:lpstr>Virtual Studio Code</vt:lpstr>
      <vt:lpstr>VS Code: Overzicht interface</vt:lpstr>
      <vt:lpstr>VS Code: Linker menu</vt:lpstr>
      <vt:lpstr>Setting voor de cursus</vt:lpstr>
      <vt:lpstr>VS Code interface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voor Engineers</dc:title>
  <dc:creator>Lukas Koning</dc:creator>
  <cp:lastModifiedBy>Lukas Koning</cp:lastModifiedBy>
  <cp:revision>1020</cp:revision>
  <dcterms:created xsi:type="dcterms:W3CDTF">2022-11-09T07:34:24Z</dcterms:created>
  <dcterms:modified xsi:type="dcterms:W3CDTF">2026-10-20T17:51:40Z</dcterms:modified>
</cp:coreProperties>
</file>