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22" r:id="rId2"/>
    <p:sldId id="257" r:id="rId3"/>
    <p:sldId id="323" r:id="rId4"/>
    <p:sldId id="324" r:id="rId5"/>
    <p:sldId id="325" r:id="rId6"/>
    <p:sldId id="300" r:id="rId7"/>
    <p:sldId id="326" r:id="rId8"/>
    <p:sldId id="327" r:id="rId9"/>
    <p:sldId id="329" r:id="rId10"/>
    <p:sldId id="330" r:id="rId11"/>
    <p:sldId id="328" r:id="rId12"/>
    <p:sldId id="332" r:id="rId13"/>
    <p:sldId id="350" r:id="rId14"/>
    <p:sldId id="351" r:id="rId15"/>
    <p:sldId id="349" r:id="rId16"/>
    <p:sldId id="348" r:id="rId17"/>
    <p:sldId id="352" r:id="rId18"/>
    <p:sldId id="353" r:id="rId19"/>
    <p:sldId id="355" r:id="rId20"/>
    <p:sldId id="356" r:id="rId21"/>
    <p:sldId id="357" r:id="rId22"/>
    <p:sldId id="358" r:id="rId23"/>
    <p:sldId id="359" r:id="rId24"/>
    <p:sldId id="360" r:id="rId2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kas Koning" initials="LK" lastIdx="1" clrIdx="0">
    <p:extLst>
      <p:ext uri="{19B8F6BF-5375-455C-9EA6-DF929625EA0E}">
        <p15:presenceInfo xmlns:p15="http://schemas.microsoft.com/office/powerpoint/2012/main" userId="27d520ca6d017ce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0" autoAdjust="0"/>
    <p:restoredTop sz="96699" autoAdjust="0"/>
  </p:normalViewPr>
  <p:slideViewPr>
    <p:cSldViewPr snapToGrid="0">
      <p:cViewPr varScale="1">
        <p:scale>
          <a:sx n="120" d="100"/>
          <a:sy n="120" d="100"/>
        </p:scale>
        <p:origin x="480" y="82"/>
      </p:cViewPr>
      <p:guideLst/>
    </p:cSldViewPr>
  </p:slideViewPr>
  <p:outlineViewPr>
    <p:cViewPr>
      <p:scale>
        <a:sx n="33" d="100"/>
        <a:sy n="33" d="100"/>
      </p:scale>
      <p:origin x="0" y="-63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83437-14DE-4969-B062-63D9C4A2E219}" type="datetimeFigureOut">
              <a:rPr lang="nl-NL" smtClean="0"/>
              <a:t>28-10-2026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3DEA5-E342-4DB2-B087-D0B9C490B19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086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28/10/2026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Python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01848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1800" noProof="0" dirty="0"/>
              <a:t>Applicatie voor TO DO list .</a:t>
            </a:r>
          </a:p>
          <a:p>
            <a:pPr>
              <a:spcAft>
                <a:spcPts val="600"/>
              </a:spcAft>
            </a:pPr>
            <a:endParaRPr lang="nl-NL" sz="1800" noProof="0" dirty="0"/>
          </a:p>
          <a:p>
            <a:pPr>
              <a:spcAft>
                <a:spcPts val="600"/>
              </a:spcAft>
            </a:pPr>
            <a:r>
              <a:rPr lang="nl-NL" sz="1800" noProof="0" dirty="0"/>
              <a:t>Bouw een API:</a:t>
            </a:r>
          </a:p>
          <a:p>
            <a:pPr lvl="1">
              <a:spcAft>
                <a:spcPts val="600"/>
              </a:spcAft>
            </a:pPr>
            <a:r>
              <a:rPr lang="nl-NL" sz="1800" noProof="0" dirty="0"/>
              <a:t>Validatie met </a:t>
            </a:r>
            <a:r>
              <a:rPr lang="nl-NL" sz="1800" noProof="0" dirty="0" err="1"/>
              <a:t>Pydantic</a:t>
            </a:r>
            <a:endParaRPr lang="nl-NL" sz="1800" noProof="0" dirty="0"/>
          </a:p>
          <a:p>
            <a:pPr lvl="1">
              <a:spcAft>
                <a:spcPts val="600"/>
              </a:spcAft>
            </a:pPr>
            <a:r>
              <a:rPr lang="nl-NL" sz="1800" noProof="0" dirty="0" err="1"/>
              <a:t>FastAPI</a:t>
            </a:r>
            <a:endParaRPr lang="nl-NL" sz="1800" noProof="0" dirty="0"/>
          </a:p>
          <a:p>
            <a:pPr>
              <a:spcAft>
                <a:spcPts val="600"/>
              </a:spcAft>
            </a:pPr>
            <a:endParaRPr lang="nl-NL" sz="1800" dirty="0"/>
          </a:p>
          <a:p>
            <a:pPr>
              <a:spcAft>
                <a:spcPts val="600"/>
              </a:spcAft>
            </a:pPr>
            <a:r>
              <a:rPr lang="nl-NL" sz="1800" dirty="0"/>
              <a:t>Bouw een App:</a:t>
            </a:r>
          </a:p>
          <a:p>
            <a:pPr lvl="1">
              <a:spcAft>
                <a:spcPts val="600"/>
              </a:spcAft>
            </a:pPr>
            <a:r>
              <a:rPr lang="nl-NL" sz="1800" dirty="0" err="1"/>
              <a:t>StreamLit</a:t>
            </a:r>
            <a:endParaRPr lang="nl-NL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F1785D-DBAB-C34E-4C20-A2078BA9D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17736">
            <a:off x="8321964" y="3685187"/>
            <a:ext cx="2694468" cy="24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41FAF-96CA-F74C-CE8F-ACF3D52F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5A31-8C9A-36F2-2DAA-018D45C9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Opzet App en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9AE63A-EB30-53BF-9FFD-C6D2F71702B9}"/>
              </a:ext>
            </a:extLst>
          </p:cNvPr>
          <p:cNvSpPr/>
          <p:nvPr/>
        </p:nvSpPr>
        <p:spPr>
          <a:xfrm>
            <a:off x="1816099" y="2403430"/>
            <a:ext cx="2628900" cy="21780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FastAPI</a:t>
            </a:r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Opslag</a:t>
            </a:r>
            <a:r>
              <a:rPr lang="en-US" dirty="0"/>
              <a:t> van data.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62A38E-093E-FD8F-CB17-ECBCE80F22FE}"/>
              </a:ext>
            </a:extLst>
          </p:cNvPr>
          <p:cNvSpPr/>
          <p:nvPr/>
        </p:nvSpPr>
        <p:spPr>
          <a:xfrm>
            <a:off x="7747002" y="2403430"/>
            <a:ext cx="2628900" cy="2178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Streamlit</a:t>
            </a:r>
            <a:endParaRPr lang="en-US" b="1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Gebruikersinterface</a:t>
            </a:r>
            <a:r>
              <a:rPr lang="en-US" dirty="0"/>
              <a:t>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B4A192-ED03-D767-3780-EC9D4D55CBF3}"/>
              </a:ext>
            </a:extLst>
          </p:cNvPr>
          <p:cNvCxnSpPr>
            <a:cxnSpLocks/>
          </p:cNvCxnSpPr>
          <p:nvPr/>
        </p:nvCxnSpPr>
        <p:spPr>
          <a:xfrm>
            <a:off x="4444999" y="3267267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CAE07BD-38FD-B14D-ABB2-2D0D950E217B}"/>
              </a:ext>
            </a:extLst>
          </p:cNvPr>
          <p:cNvSpPr txBox="1"/>
          <p:nvPr/>
        </p:nvSpPr>
        <p:spPr>
          <a:xfrm>
            <a:off x="5374103" y="2745114"/>
            <a:ext cx="1443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request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0DF304-4512-D9EA-F80D-8D8B76CEFD55}"/>
              </a:ext>
            </a:extLst>
          </p:cNvPr>
          <p:cNvCxnSpPr>
            <a:cxnSpLocks/>
          </p:cNvCxnSpPr>
          <p:nvPr/>
        </p:nvCxnSpPr>
        <p:spPr>
          <a:xfrm flipH="1">
            <a:off x="4444998" y="3685798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33D4B2A-C9A0-E144-8DE5-ED8339282B9C}"/>
              </a:ext>
            </a:extLst>
          </p:cNvPr>
          <p:cNvSpPr txBox="1"/>
          <p:nvPr/>
        </p:nvSpPr>
        <p:spPr>
          <a:xfrm>
            <a:off x="5374103" y="3838620"/>
            <a:ext cx="1581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response</a:t>
            </a:r>
          </a:p>
        </p:txBody>
      </p:sp>
    </p:spTree>
    <p:extLst>
      <p:ext uri="{BB962C8B-B14F-4D97-AF65-F5344CB8AC3E}">
        <p14:creationId xmlns:p14="http://schemas.microsoft.com/office/powerpoint/2010/main" val="1182174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8905E-3142-D774-0EF0-4F86EF86A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9F2F-410D-6A68-083E-6C005C44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Opzet App en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7585FC-C4DC-A90F-67BA-1488338ACFBC}"/>
              </a:ext>
            </a:extLst>
          </p:cNvPr>
          <p:cNvSpPr/>
          <p:nvPr/>
        </p:nvSpPr>
        <p:spPr>
          <a:xfrm>
            <a:off x="1816099" y="2403430"/>
            <a:ext cx="2628900" cy="21780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b="1" dirty="0"/>
          </a:p>
          <a:p>
            <a:pPr algn="ctr"/>
            <a:r>
              <a:rPr lang="en-US" b="1" dirty="0" err="1"/>
              <a:t>FastAPI</a:t>
            </a:r>
            <a:endParaRPr lang="en-US" b="1" dirty="0"/>
          </a:p>
          <a:p>
            <a:pPr algn="ctr"/>
            <a:endParaRPr lang="en-US" b="1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@app.post("add")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store_item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(item):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03C979-0FFF-76A8-6B80-5E837DA193C0}"/>
              </a:ext>
            </a:extLst>
          </p:cNvPr>
          <p:cNvSpPr/>
          <p:nvPr/>
        </p:nvSpPr>
        <p:spPr>
          <a:xfrm>
            <a:off x="7747002" y="2403430"/>
            <a:ext cx="2628900" cy="2178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b="1" dirty="0"/>
          </a:p>
          <a:p>
            <a:pPr algn="ctr"/>
            <a:r>
              <a:rPr lang="en-US" b="1" dirty="0" err="1"/>
              <a:t>Streamlit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011B01-090C-1B8B-49E2-4194F2C3FFAB}"/>
              </a:ext>
            </a:extLst>
          </p:cNvPr>
          <p:cNvCxnSpPr>
            <a:cxnSpLocks/>
          </p:cNvCxnSpPr>
          <p:nvPr/>
        </p:nvCxnSpPr>
        <p:spPr>
          <a:xfrm>
            <a:off x="4444999" y="3267267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B77086-BED8-D065-2B94-105A5D840FF8}"/>
              </a:ext>
            </a:extLst>
          </p:cNvPr>
          <p:cNvSpPr txBox="1"/>
          <p:nvPr/>
        </p:nvSpPr>
        <p:spPr>
          <a:xfrm>
            <a:off x="4661150" y="2800504"/>
            <a:ext cx="286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POST http://localhost/add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B0D049-DB62-F38F-6B13-2A1CE2C438B2}"/>
              </a:ext>
            </a:extLst>
          </p:cNvPr>
          <p:cNvCxnSpPr>
            <a:cxnSpLocks/>
          </p:cNvCxnSpPr>
          <p:nvPr/>
        </p:nvCxnSpPr>
        <p:spPr>
          <a:xfrm flipH="1">
            <a:off x="4444998" y="3685798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3F549D1-BC4D-2A07-A170-9C6095BCFA31}"/>
              </a:ext>
            </a:extLst>
          </p:cNvPr>
          <p:cNvSpPr txBox="1"/>
          <p:nvPr/>
        </p:nvSpPr>
        <p:spPr>
          <a:xfrm>
            <a:off x="5245445" y="3844785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 200 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B98E0C-BD76-737F-6304-BAE4B56D3715}"/>
              </a:ext>
            </a:extLst>
          </p:cNvPr>
          <p:cNvSpPr/>
          <p:nvPr/>
        </p:nvSpPr>
        <p:spPr>
          <a:xfrm>
            <a:off x="8495070" y="3445588"/>
            <a:ext cx="1331318" cy="399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227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B40B1-1CEC-A39F-4361-35249ECD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92154B-DBFD-8886-D658-2870F3F00D80}"/>
              </a:ext>
            </a:extLst>
          </p:cNvPr>
          <p:cNvSpPr/>
          <p:nvPr/>
        </p:nvSpPr>
        <p:spPr>
          <a:xfrm>
            <a:off x="1257866" y="1496470"/>
            <a:ext cx="9676263" cy="35415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/>
              <a:t>jouw</a:t>
            </a:r>
            <a:r>
              <a:rPr lang="en-US" dirty="0"/>
              <a:t> machine: localhost / 127.0.0.1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09560-D780-D23D-5A56-8E612F16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Opzet App en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588A3-4214-1146-1281-1729193A8B27}"/>
              </a:ext>
            </a:extLst>
          </p:cNvPr>
          <p:cNvSpPr/>
          <p:nvPr/>
        </p:nvSpPr>
        <p:spPr>
          <a:xfrm>
            <a:off x="1816099" y="2403430"/>
            <a:ext cx="2628900" cy="21780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b="1" dirty="0"/>
          </a:p>
          <a:p>
            <a:pPr algn="ctr"/>
            <a:r>
              <a:rPr lang="en-US" b="1" dirty="0" err="1"/>
              <a:t>FastAPI</a:t>
            </a:r>
            <a:endParaRPr lang="en-US" b="1" dirty="0"/>
          </a:p>
          <a:p>
            <a:pPr algn="ctr"/>
            <a:endParaRPr lang="en-US" b="1" dirty="0"/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@app.post("add")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def </a:t>
            </a: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store_item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(item):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6FDF73-D139-63AE-3AA2-01801FFED602}"/>
              </a:ext>
            </a:extLst>
          </p:cNvPr>
          <p:cNvSpPr/>
          <p:nvPr/>
        </p:nvSpPr>
        <p:spPr>
          <a:xfrm>
            <a:off x="7747002" y="2403430"/>
            <a:ext cx="2628900" cy="21780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b="1" dirty="0"/>
          </a:p>
          <a:p>
            <a:pPr algn="ctr"/>
            <a:r>
              <a:rPr lang="en-US" b="1" dirty="0" err="1"/>
              <a:t>Streamlit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1A7E01-3416-A30E-21D9-25CFBE58A2F5}"/>
              </a:ext>
            </a:extLst>
          </p:cNvPr>
          <p:cNvCxnSpPr>
            <a:cxnSpLocks/>
          </p:cNvCxnSpPr>
          <p:nvPr/>
        </p:nvCxnSpPr>
        <p:spPr>
          <a:xfrm>
            <a:off x="4444999" y="3267267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54746D2-20CC-D6B1-E913-B24073CF3BB2}"/>
              </a:ext>
            </a:extLst>
          </p:cNvPr>
          <p:cNvSpPr txBox="1"/>
          <p:nvPr/>
        </p:nvSpPr>
        <p:spPr>
          <a:xfrm>
            <a:off x="4661150" y="2800504"/>
            <a:ext cx="28696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POST http://localhost/add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7C7EBE-05C3-19F2-CD0C-67CC09600D05}"/>
              </a:ext>
            </a:extLst>
          </p:cNvPr>
          <p:cNvCxnSpPr>
            <a:cxnSpLocks/>
          </p:cNvCxnSpPr>
          <p:nvPr/>
        </p:nvCxnSpPr>
        <p:spPr>
          <a:xfrm flipH="1">
            <a:off x="4444998" y="3685798"/>
            <a:ext cx="3302003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CEC21AE-EEC7-628A-7AA8-C710714FF952}"/>
              </a:ext>
            </a:extLst>
          </p:cNvPr>
          <p:cNvSpPr txBox="1"/>
          <p:nvPr/>
        </p:nvSpPr>
        <p:spPr>
          <a:xfrm>
            <a:off x="5245445" y="3844785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 200 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9ADE51-3622-137D-5505-E6F7156D4B66}"/>
              </a:ext>
            </a:extLst>
          </p:cNvPr>
          <p:cNvSpPr/>
          <p:nvPr/>
        </p:nvSpPr>
        <p:spPr>
          <a:xfrm>
            <a:off x="8495070" y="3445588"/>
            <a:ext cx="1331318" cy="3991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0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C925CA-BCA3-3701-E08E-95652380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Validatie met </a:t>
            </a:r>
            <a:r>
              <a:rPr lang="nl-NL" dirty="0" err="1"/>
              <a:t>Pydantic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31C95-91AF-DF13-FB58-0DA5F2D9F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044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CF254-2901-438A-7C11-0ED13366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9A1E-7650-AF1B-AD9F-D37C3634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Waarom valideren?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B4626-4389-F263-2BE2-747CD9544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b="1" dirty="0"/>
              <a:t>Goede gewoonte: Vertrouw invoer nooit!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Inlezen van bestanden, invoer van een gebruiker, data uit </a:t>
            </a:r>
            <a:r>
              <a:rPr lang="nl-NL" sz="1800" dirty="0" err="1"/>
              <a:t>API's</a:t>
            </a:r>
            <a:r>
              <a:rPr lang="nl-NL" sz="1800" dirty="0"/>
              <a:t>, et cetera.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b="1" dirty="0"/>
              <a:t>Volledigheid van gegevens: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Ontbrekende waardes kunnen voor verrassingen zorgen.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Extra informatie kan verloren gaan.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b="1" dirty="0"/>
              <a:t>Veiligheidsrisico's: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Extreem grote invoer kan systemen kwetsbaar of onbruikbaar maken.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Commando's in de invoer worden per ongeluk uitgevoerd.</a:t>
            </a:r>
          </a:p>
        </p:txBody>
      </p:sp>
    </p:spTree>
    <p:extLst>
      <p:ext uri="{BB962C8B-B14F-4D97-AF65-F5344CB8AC3E}">
        <p14:creationId xmlns:p14="http://schemas.microsoft.com/office/powerpoint/2010/main" val="581014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83C16-9844-33F2-7BBB-13EAD478B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386B-4B02-A3C1-C73D-CD3200ACC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Voorbeelden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89BBA-5F7B-E9EA-AA18-9F6EC0CB2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b="1" dirty="0"/>
              <a:t>SQL </a:t>
            </a:r>
            <a:r>
              <a:rPr lang="nl-NL" sz="1800" b="1" dirty="0" err="1"/>
              <a:t>injection</a:t>
            </a:r>
            <a:endParaRPr lang="nl-NL" sz="1800" b="1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Invoer doorgegeven aan SQL zonder controle.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De invoer kan een commando bevatten.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b="1" dirty="0" err="1"/>
              <a:t>Pickle</a:t>
            </a:r>
            <a:r>
              <a:rPr lang="nl-NL" sz="1800" b="1" dirty="0"/>
              <a:t> bestanden</a:t>
            </a: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Inhoud van </a:t>
            </a:r>
            <a:r>
              <a:rPr lang="nl-NL" sz="1800" dirty="0" err="1"/>
              <a:t>pickle</a:t>
            </a:r>
            <a:r>
              <a:rPr lang="nl-NL" sz="1800" dirty="0"/>
              <a:t> bestand wordt met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eval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nl-NL" sz="1800" dirty="0">
                <a:cs typeface="Courier New" panose="02070309020205020404" pitchFamily="49" charset="0"/>
              </a:rPr>
              <a:t>uitgevoerd als Python code.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364EF6-AB28-812E-8B86-45B6F9521651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query = </a:t>
            </a:r>
            <a:r>
              <a:rPr lang="nl-NL" sz="14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INSERT INTO 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ToDo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VALUES('</a:t>
            </a:r>
            <a:r>
              <a:rPr lang="nl-NL" sz="14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nl-NL" sz="1400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4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conn.execute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(query)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"'); DROP TABLE Users; --"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Resulting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query: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''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r>
              <a:rPr lang="nl-NL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 TABLE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Users; </a:t>
            </a:r>
            <a:r>
              <a:rPr lang="nl-NL" sz="1400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--')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E4760D-CFEC-95CC-738C-2EC35290EC06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20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38BE-3CD3-A008-69F5-28B34D06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76D29-E46C-DEA3-ABD7-17BAFB441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Pydantic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FD849-B174-AE80-C585-66EF081BE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Valideer Python data structuren met classes en type hints.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Definieer data structuur als een class.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Valideer data als: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argumenten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 err="1"/>
              <a:t>dict</a:t>
            </a:r>
            <a:endParaRPr lang="nl-NL" sz="1800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JSON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009560-65FF-CC91-0136-4CF03B57C6FF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validation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User(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email: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validation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User(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name=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 Doe"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		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Raises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error!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email=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"john@doe.com"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775F3B-ABEA-786E-86B0-BAB7B0DFDD4B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431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93258-918A-E031-0B92-E5FB67EEF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EEE9-CE10-933A-38D7-FA7B9C75D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Pydantic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231A-B5F8-CF8A-7EEE-CF23CE2B4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Valideer Python data structuren met classes en type hints.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Definieer data structuur als een class.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Valideer data als: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argumenten</a:t>
            </a:r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 err="1"/>
              <a:t>dict</a:t>
            </a:r>
            <a:endParaRPr lang="nl-NL" sz="1800" dirty="0"/>
          </a:p>
          <a:p>
            <a:pPr>
              <a:spcAft>
                <a:spcPts val="600"/>
              </a:spcAft>
              <a:buFontTx/>
              <a:buChar char="-"/>
            </a:pPr>
            <a:r>
              <a:rPr lang="nl-NL" sz="1800" dirty="0"/>
              <a:t>JSON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CB599A-3F29-CB1C-966D-AAD50BC56F35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Define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validation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User(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email: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Initialize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JSON string.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User.model_validate_json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{"name": "John Doe", "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": </a:t>
            </a:r>
            <a:r>
              <a:rPr lang="nl-NL" sz="1400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"email": "john@doe.com"}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A31386-CC57-7638-2D5E-2B4FDC459ED3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15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A72D7-0980-0682-A149-1B4DF7FC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33BA-19C8-8A08-48A8-54422148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Type hints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F822F-EA85-8115-2286-B99CE6BC3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718608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Type hints standaard in Python, wel verschillen tussen versies!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		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0D3031-E65B-1407-28D3-09FBEC36FECB}"/>
              </a:ext>
            </a:extLst>
          </p:cNvPr>
          <p:cNvSpPr/>
          <p:nvPr/>
        </p:nvSpPr>
        <p:spPr>
          <a:xfrm>
            <a:off x="838200" y="2174875"/>
            <a:ext cx="2311400" cy="3700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err="1"/>
              <a:t>enkelvoudig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95A085-DB36-3176-8F24-D2DD9922A9F9}"/>
              </a:ext>
            </a:extLst>
          </p:cNvPr>
          <p:cNvSpPr/>
          <p:nvPr/>
        </p:nvSpPr>
        <p:spPr>
          <a:xfrm>
            <a:off x="3572933" y="2174875"/>
            <a:ext cx="2311400" cy="3700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err="1"/>
              <a:t>meervoudig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tuple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5A83CC-FFCC-391C-C380-40D77A3EDF69}"/>
              </a:ext>
            </a:extLst>
          </p:cNvPr>
          <p:cNvSpPr/>
          <p:nvPr/>
        </p:nvSpPr>
        <p:spPr>
          <a:xfrm>
            <a:off x="6307666" y="2174875"/>
            <a:ext cx="2311400" cy="3700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 err="1"/>
              <a:t>combinaties</a:t>
            </a:r>
            <a:endParaRPr lang="en-US" b="1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| float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 | None 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list[int]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list[object]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[str, int]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2C7F85-7057-844E-B4B3-2950F299B955}"/>
              </a:ext>
            </a:extLst>
          </p:cNvPr>
          <p:cNvSpPr/>
          <p:nvPr/>
        </p:nvSpPr>
        <p:spPr>
          <a:xfrm>
            <a:off x="9042400" y="2174875"/>
            <a:ext cx="2311400" cy="3700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b="1" dirty="0"/>
              <a:t>typing module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Any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Literal["a"]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Iterable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Callable</a:t>
            </a:r>
          </a:p>
          <a:p>
            <a:pPr algn="ctr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Annotated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16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14DF-42BD-E336-E7F8-7318643B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4D95-0201-B30C-BCAF-83BBBF360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Standaard waardes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47368-D185-A9D8-0A1C-53B297654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Geef met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1800" dirty="0"/>
              <a:t> een standaard waarde op voor attributen.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Attribuut niet meer verplicht bij initialisatie of validatie.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4A0A99-1916-2689-36E9-3C61BDACE992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User(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John Doe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= None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D14FC6-B1B8-D6B3-2F43-1C510BE2A3B5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993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057E-E05E-A3B2-AADF-43F725EA3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C279F-5C6C-2F89-6C3A-9BE0EA36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Standaard waardes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552FB-8DE6-7CA3-9057-FF74BBF9D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1601"/>
            <a:ext cx="5257800" cy="3535362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De standaard waarde is constant en wordt vastgesteld met de definitie…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101E2-5E7C-EC12-9EEC-869642C04533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Field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LotteryTicket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(1, 100)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F113C5-0635-C17A-2180-A3494D337D11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753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FA7DF-6D3D-903A-89DD-C80864B6C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94AD-2B90-27AE-205C-FC0E99BF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Standaard waardes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2BE4FF-0D5E-1A3F-C156-D74235A0B086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7688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Field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LotteryTicket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(1, 100)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LotteryTicket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Field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nl-N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default_factory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(1, 100)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1726A7-802D-44A2-F08A-A6FEC7861D36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EA8E2AF-6975-A163-06FD-B4D4A4F2859B}"/>
              </a:ext>
            </a:extLst>
          </p:cNvPr>
          <p:cNvSpPr txBox="1">
            <a:spLocks/>
          </p:cNvSpPr>
          <p:nvPr/>
        </p:nvSpPr>
        <p:spPr>
          <a:xfrm>
            <a:off x="838200" y="2641601"/>
            <a:ext cx="5257800" cy="3535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800" dirty="0"/>
              <a:t>De standaard waarde is constant en wordt vastgesteld met de definitie…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Maar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default_factory</a:t>
            </a:r>
            <a:r>
              <a:rPr lang="nl-NL" sz="1800" dirty="0"/>
              <a:t> wordt bij elke initialisatie uitgevoerd!</a:t>
            </a:r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2979701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9F0A-EB72-A73E-8E7E-AC7EB55C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7212C-5356-24D9-C40E-566B429F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Waardes controleren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406F1-7740-2B99-F374-BF81C3B6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Een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Field</a:t>
            </a:r>
            <a:r>
              <a:rPr lang="nl-NL" sz="1800" dirty="0"/>
              <a:t> kan extra controles uitvoeren: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 err="1"/>
              <a:t>str</a:t>
            </a:r>
            <a:r>
              <a:rPr lang="nl-NL" sz="1800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min_length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 err="1"/>
              <a:t>dict</a:t>
            </a:r>
            <a:r>
              <a:rPr lang="nl-NL" sz="1800" dirty="0"/>
              <a:t> / list / </a:t>
            </a:r>
            <a:r>
              <a:rPr lang="nl-NL" sz="1800" dirty="0" err="1"/>
              <a:t>tuple</a:t>
            </a:r>
            <a:r>
              <a:rPr lang="nl-NL" sz="1800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min_length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int / </a:t>
            </a:r>
            <a:r>
              <a:rPr lang="nl-NL" sz="1800" dirty="0" err="1"/>
              <a:t>float</a:t>
            </a:r>
            <a:r>
              <a:rPr lang="nl-NL" sz="1800" dirty="0"/>
              <a:t>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ge,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multiple_of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7A605E-82CC-2DF9-F498-CE10EF1C1556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Field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User(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name: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Field(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=150)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mobile: </a:t>
            </a: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Field(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="06-\d{8}")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Field(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=0,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=120)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D7C04E-60F2-62B5-CD6A-5CBCD4B01BD5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429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</a:t>
            </a:r>
            <a:r>
              <a:rPr lang="nl-NL" sz="3600" dirty="0"/>
              <a:t>1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Maak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800" dirty="0"/>
              <a:t> voor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ToDoItem</a:t>
            </a:r>
            <a:r>
              <a:rPr lang="nl-NL" sz="1800" dirty="0"/>
              <a:t> met:</a:t>
            </a:r>
          </a:p>
          <a:p>
            <a:pPr lvl="1"/>
            <a:endParaRPr lang="nl-NL" sz="1800" dirty="0"/>
          </a:p>
          <a:p>
            <a:pPr lvl="1"/>
            <a:r>
              <a:rPr lang="nl-NL" sz="1800" dirty="0"/>
              <a:t>Een uniek ID gegenereerd met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uuid.uuid4()</a:t>
            </a:r>
            <a:r>
              <a:rPr lang="nl-NL" sz="1800" dirty="0"/>
              <a:t>.</a:t>
            </a:r>
          </a:p>
          <a:p>
            <a:pPr lvl="1"/>
            <a:r>
              <a:rPr lang="nl-NL" sz="1800" dirty="0"/>
              <a:t>Een verplichte omschrijving tussen de 3 en 250 karakters.</a:t>
            </a:r>
          </a:p>
          <a:p>
            <a:pPr lvl="1"/>
            <a:r>
              <a:rPr lang="nl-NL" sz="1800" dirty="0"/>
              <a:t>Een prioriteit met opties: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Low</a:t>
            </a:r>
            <a:r>
              <a:rPr lang="nl-NL" sz="1800" dirty="0"/>
              <a:t>,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Medium</a:t>
            </a:r>
            <a:r>
              <a:rPr lang="nl-NL" sz="1800" dirty="0"/>
              <a:t> (standaard) of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High</a:t>
            </a:r>
            <a:r>
              <a:rPr lang="nl-NL" sz="1800" dirty="0"/>
              <a:t>.</a:t>
            </a:r>
          </a:p>
          <a:p>
            <a:pPr lvl="1"/>
            <a:r>
              <a:rPr lang="nl-NL" sz="1800" dirty="0"/>
              <a:t>Een status: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Active</a:t>
            </a:r>
            <a:r>
              <a:rPr lang="nl-NL" sz="1800" dirty="0"/>
              <a:t> (standaard) of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nl-NL" sz="1800" dirty="0"/>
              <a:t>.</a:t>
            </a:r>
          </a:p>
          <a:p>
            <a:pPr lvl="1"/>
            <a:r>
              <a:rPr lang="nl-NL" sz="1800" dirty="0"/>
              <a:t>Een aanmaaktijdstip, standaard op huidige tijd.</a:t>
            </a:r>
          </a:p>
          <a:p>
            <a:pPr lvl="1"/>
            <a:r>
              <a:rPr lang="nl-NL" sz="1800" dirty="0"/>
              <a:t>Een afsluittijdstip, standaard niet ingevuld.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nl-NL" sz="1800" dirty="0"/>
              <a:t>Maak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r>
              <a:rPr lang="nl-NL" sz="1800" dirty="0"/>
              <a:t> voor een lijst van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ToDoItem</a:t>
            </a:r>
            <a:r>
              <a:rPr lang="nl-NL" sz="1800" dirty="0"/>
              <a:t> objecten.</a:t>
            </a:r>
          </a:p>
          <a:p>
            <a:pPr marL="0" indent="0">
              <a:buNone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421329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8153D-3EB3-D404-5179-1E3547FF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D8F30E-5864-2BDE-EA04-8E637558C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FastAPI</a:t>
            </a:r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B9FD7-21FF-09C7-B671-C81EB826F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42517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AD686-FD72-076E-00C2-ABDE0A03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38CC-E1E2-13C4-CAD7-FEF34119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API acties</a:t>
            </a:r>
            <a:endParaRPr lang="nl-NL" sz="3600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294E0-FF4F-410A-5427-B75C53AFB98B}"/>
              </a:ext>
            </a:extLst>
          </p:cNvPr>
          <p:cNvSpPr/>
          <p:nvPr/>
        </p:nvSpPr>
        <p:spPr>
          <a:xfrm>
            <a:off x="1428750" y="170180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Overzicht</a:t>
            </a:r>
            <a:r>
              <a:rPr lang="en-US" dirty="0"/>
              <a:t> TO DO 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EC12C5-8409-B1B7-ACD1-37F95B4D320F}"/>
              </a:ext>
            </a:extLst>
          </p:cNvPr>
          <p:cNvSpPr/>
          <p:nvPr/>
        </p:nvSpPr>
        <p:spPr>
          <a:xfrm>
            <a:off x="1428750" y="285115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DO item </a:t>
            </a:r>
            <a:r>
              <a:rPr lang="en-US" dirty="0" err="1"/>
              <a:t>maken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C4B974-DE34-9D97-C7FF-E0FF62797FB8}"/>
              </a:ext>
            </a:extLst>
          </p:cNvPr>
          <p:cNvSpPr/>
          <p:nvPr/>
        </p:nvSpPr>
        <p:spPr>
          <a:xfrm>
            <a:off x="1428750" y="400050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DO status update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AB83DE-DF4B-11C9-759C-4A03FF6CDE47}"/>
              </a:ext>
            </a:extLst>
          </p:cNvPr>
          <p:cNvSpPr/>
          <p:nvPr/>
        </p:nvSpPr>
        <p:spPr>
          <a:xfrm>
            <a:off x="1428750" y="514985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 DO </a:t>
            </a:r>
            <a:r>
              <a:rPr lang="en-US" dirty="0" err="1"/>
              <a:t>verwijderen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40103-F9C7-6ADA-89F6-5EA032426977}"/>
              </a:ext>
            </a:extLst>
          </p:cNvPr>
          <p:cNvSpPr/>
          <p:nvPr/>
        </p:nvSpPr>
        <p:spPr>
          <a:xfrm>
            <a:off x="7429502" y="170180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/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9C84B5-66D9-7D8B-EA18-F41B7471D56A}"/>
              </a:ext>
            </a:extLst>
          </p:cNvPr>
          <p:cNvSpPr/>
          <p:nvPr/>
        </p:nvSpPr>
        <p:spPr>
          <a:xfrm>
            <a:off x="7429502" y="285115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/add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2D062-30AF-3D35-8F8D-4DC9233A6BD5}"/>
              </a:ext>
            </a:extLst>
          </p:cNvPr>
          <p:cNvSpPr/>
          <p:nvPr/>
        </p:nvSpPr>
        <p:spPr>
          <a:xfrm>
            <a:off x="7429502" y="400050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/update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17FBF2-2B45-2FA2-82CC-035FFC5BEF77}"/>
              </a:ext>
            </a:extLst>
          </p:cNvPr>
          <p:cNvSpPr/>
          <p:nvPr/>
        </p:nvSpPr>
        <p:spPr>
          <a:xfrm>
            <a:off x="7429502" y="5149850"/>
            <a:ext cx="3009900" cy="7186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/delete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A74BD-1EEF-A4C8-0882-115FA70AEA1C}"/>
              </a:ext>
            </a:extLst>
          </p:cNvPr>
          <p:cNvSpPr txBox="1"/>
          <p:nvPr/>
        </p:nvSpPr>
        <p:spPr>
          <a:xfrm>
            <a:off x="1428750" y="1208101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Actie: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618935-B9DF-E3DA-B22A-1B9BE60A22CC}"/>
              </a:ext>
            </a:extLst>
          </p:cNvPr>
          <p:cNvSpPr txBox="1"/>
          <p:nvPr/>
        </p:nvSpPr>
        <p:spPr>
          <a:xfrm>
            <a:off x="7429502" y="1208101"/>
            <a:ext cx="300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 point: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BA5AF33-4993-5B7F-D0E5-97C8192DD1EB}"/>
              </a:ext>
            </a:extLst>
          </p:cNvPr>
          <p:cNvGrpSpPr/>
          <p:nvPr/>
        </p:nvGrpSpPr>
        <p:grpSpPr>
          <a:xfrm>
            <a:off x="4429126" y="1700398"/>
            <a:ext cx="2990852" cy="307777"/>
            <a:chOff x="4438650" y="1629860"/>
            <a:chExt cx="2990852" cy="307777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BD699BA-F2B9-16AC-5911-A1D70FFA2F2B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193410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80CD9D-5951-D760-737C-F8D8262F5F97}"/>
                </a:ext>
              </a:extLst>
            </p:cNvPr>
            <p:cNvSpPr txBox="1"/>
            <p:nvPr/>
          </p:nvSpPr>
          <p:spPr>
            <a:xfrm>
              <a:off x="4438650" y="1629860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 /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288604B-1083-E100-021F-38E0F9EB41C1}"/>
              </a:ext>
            </a:extLst>
          </p:cNvPr>
          <p:cNvGrpSpPr/>
          <p:nvPr/>
        </p:nvGrpSpPr>
        <p:grpSpPr>
          <a:xfrm>
            <a:off x="4429126" y="2851150"/>
            <a:ext cx="2990852" cy="307777"/>
            <a:chOff x="4438650" y="1629860"/>
            <a:chExt cx="2990852" cy="307777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22EFD58-915D-6E7D-D869-46765B03C7B1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193410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EBF75A-20A5-D264-3641-852DE8082F03}"/>
                </a:ext>
              </a:extLst>
            </p:cNvPr>
            <p:cNvSpPr txBox="1"/>
            <p:nvPr/>
          </p:nvSpPr>
          <p:spPr>
            <a:xfrm>
              <a:off x="4438650" y="1629860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 /add + description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133213A-53A1-B5A5-1E3E-139C6AE5A5D8}"/>
              </a:ext>
            </a:extLst>
          </p:cNvPr>
          <p:cNvGrpSpPr/>
          <p:nvPr/>
        </p:nvGrpSpPr>
        <p:grpSpPr>
          <a:xfrm>
            <a:off x="4429126" y="4000500"/>
            <a:ext cx="2990852" cy="307777"/>
            <a:chOff x="4438650" y="1629860"/>
            <a:chExt cx="2990852" cy="30777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8023126-5A92-1282-255F-5276F77E0DB7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193410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2A5A7E2-DE8A-987A-57B5-881DCCBC2035}"/>
                </a:ext>
              </a:extLst>
            </p:cNvPr>
            <p:cNvSpPr txBox="1"/>
            <p:nvPr/>
          </p:nvSpPr>
          <p:spPr>
            <a:xfrm>
              <a:off x="4438650" y="1629860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 /update + id + status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1D309B5-A8F5-12DA-F85B-BAB389BF1346}"/>
              </a:ext>
            </a:extLst>
          </p:cNvPr>
          <p:cNvGrpSpPr/>
          <p:nvPr/>
        </p:nvGrpSpPr>
        <p:grpSpPr>
          <a:xfrm>
            <a:off x="4429126" y="5149850"/>
            <a:ext cx="2990852" cy="307777"/>
            <a:chOff x="4438650" y="1629860"/>
            <a:chExt cx="2990852" cy="307777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F8128EF-C165-1AF8-1A4F-F8D7F564F417}"/>
                </a:ext>
              </a:extLst>
            </p:cNvPr>
            <p:cNvCxnSpPr>
              <a:cxnSpLocks/>
            </p:cNvCxnSpPr>
            <p:nvPr/>
          </p:nvCxnSpPr>
          <p:spPr>
            <a:xfrm>
              <a:off x="4438650" y="193410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66D6B9E-2232-ACB6-4863-5842804D0FA9}"/>
                </a:ext>
              </a:extLst>
            </p:cNvPr>
            <p:cNvSpPr txBox="1"/>
            <p:nvPr/>
          </p:nvSpPr>
          <p:spPr>
            <a:xfrm>
              <a:off x="4438650" y="1629860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GET /delete + id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517558D-1705-F847-0561-A6F528C2A8A8}"/>
              </a:ext>
            </a:extLst>
          </p:cNvPr>
          <p:cNvGrpSpPr/>
          <p:nvPr/>
        </p:nvGrpSpPr>
        <p:grpSpPr>
          <a:xfrm>
            <a:off x="4419602" y="2121184"/>
            <a:ext cx="3009900" cy="307777"/>
            <a:chOff x="4419602" y="2121184"/>
            <a:chExt cx="3009900" cy="30777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D14BDA-714A-084C-EB75-94726FA5FFF1}"/>
                </a:ext>
              </a:extLst>
            </p:cNvPr>
            <p:cNvSpPr txBox="1"/>
            <p:nvPr/>
          </p:nvSpPr>
          <p:spPr>
            <a:xfrm>
              <a:off x="4419602" y="2121184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ToDoList</a:t>
              </a:r>
              <a:endParaRPr 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5B08C84-40DF-4C22-F941-0F52547897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8650" y="212118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1666B32-E49E-3316-9D11-9AD0D9D1FDFD}"/>
              </a:ext>
            </a:extLst>
          </p:cNvPr>
          <p:cNvGrpSpPr/>
          <p:nvPr/>
        </p:nvGrpSpPr>
        <p:grpSpPr>
          <a:xfrm>
            <a:off x="4419602" y="3257403"/>
            <a:ext cx="3009900" cy="307777"/>
            <a:chOff x="4419602" y="2121184"/>
            <a:chExt cx="3009900" cy="30777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96E35E-3BE6-BDC9-4662-954C0C88E40A}"/>
                </a:ext>
              </a:extLst>
            </p:cNvPr>
            <p:cNvSpPr txBox="1"/>
            <p:nvPr/>
          </p:nvSpPr>
          <p:spPr>
            <a:xfrm>
              <a:off x="4419602" y="2121184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HTTP Response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C09D679-37C5-EDD3-8F71-100F5DC9B1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8650" y="212118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7EA796-333F-3C91-E9B5-713C0E91F317}"/>
              </a:ext>
            </a:extLst>
          </p:cNvPr>
          <p:cNvGrpSpPr/>
          <p:nvPr/>
        </p:nvGrpSpPr>
        <p:grpSpPr>
          <a:xfrm>
            <a:off x="4419602" y="4406753"/>
            <a:ext cx="3009900" cy="307777"/>
            <a:chOff x="4419602" y="2121184"/>
            <a:chExt cx="3009900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F2AF043-712C-B84F-4DA6-D56273C5E868}"/>
                </a:ext>
              </a:extLst>
            </p:cNvPr>
            <p:cNvSpPr txBox="1"/>
            <p:nvPr/>
          </p:nvSpPr>
          <p:spPr>
            <a:xfrm>
              <a:off x="4419602" y="2121184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HTTP Response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80EBC79-E5A3-02A3-2873-A35DAC811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8650" y="212118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0BDFD9-FBBD-D6E8-8231-3BECF754BA86}"/>
              </a:ext>
            </a:extLst>
          </p:cNvPr>
          <p:cNvGrpSpPr/>
          <p:nvPr/>
        </p:nvGrpSpPr>
        <p:grpSpPr>
          <a:xfrm>
            <a:off x="4419602" y="5560681"/>
            <a:ext cx="3009900" cy="307777"/>
            <a:chOff x="4419602" y="2121184"/>
            <a:chExt cx="3009900" cy="307777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D194478-51AD-D61A-0787-AF673CF8D5F6}"/>
                </a:ext>
              </a:extLst>
            </p:cNvPr>
            <p:cNvSpPr txBox="1"/>
            <p:nvPr/>
          </p:nvSpPr>
          <p:spPr>
            <a:xfrm>
              <a:off x="4419602" y="2121184"/>
              <a:ext cx="2990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HTTP Response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D3BFCA54-F82B-9A5A-7A30-E3FA59DDF0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38650" y="2121184"/>
              <a:ext cx="29908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7253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DDB8A-AA96-3C62-9F96-FC4A3FE74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A66A6-3F98-8C1A-DDC0-51AB3BE8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HTTP responses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548D-3D73-819B-4457-F098FBBDB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Status van HTTP server na doen van verzoek: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100-200	Informatief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200-300	Succesvol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300-400	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Redirect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400-500	Foutcodes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500		Server foutcodes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6256F1-999E-0375-0B02-B42FABF162A4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200 - OK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201 -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400 - Bad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404 - Page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found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422 -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Unprocessable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content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500 -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Internal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server error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08807A-F64C-1041-25C2-54F9B0D6CF41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850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87B1B-D402-58C5-97A4-8ECC4AE7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E9CF2-6A12-FE64-E518-B46D51075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FastAPI</a:t>
            </a:r>
            <a:r>
              <a:rPr lang="nl-NL" sz="3600" dirty="0"/>
              <a:t> end points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28A95-BDC5-8768-AC44-EC7D4863C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End points in </a:t>
            </a:r>
            <a:r>
              <a:rPr lang="nl-NL" sz="1800" dirty="0" err="1"/>
              <a:t>FastAPI</a:t>
            </a:r>
            <a:r>
              <a:rPr lang="nl-NL" sz="1800" dirty="0"/>
              <a:t> zijn gekoppeld aan functies.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Met </a:t>
            </a:r>
            <a:r>
              <a:rPr lang="nl-NL" sz="1800" dirty="0" err="1"/>
              <a:t>decorators</a:t>
            </a:r>
            <a:r>
              <a:rPr lang="nl-NL" sz="1800" dirty="0"/>
              <a:t> (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nl-NL" sz="1800" dirty="0"/>
              <a:t>) maak je van functies end points: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@app.get    </a:t>
            </a:r>
            <a:r>
              <a:rPr lang="nl-NL" sz="1800" dirty="0"/>
              <a:t>=&gt;    Voor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nl-NL" sz="1800" dirty="0"/>
              <a:t> </a:t>
            </a:r>
            <a:r>
              <a:rPr lang="nl-NL" sz="1800" dirty="0" err="1"/>
              <a:t>requests</a:t>
            </a:r>
            <a:r>
              <a:rPr lang="nl-NL" sz="1800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@app.post   </a:t>
            </a:r>
            <a:r>
              <a:rPr lang="nl-NL" sz="1800" dirty="0"/>
              <a:t>=&gt;    Voor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nl-NL" sz="1800" dirty="0"/>
              <a:t> </a:t>
            </a:r>
            <a:r>
              <a:rPr lang="nl-NL" sz="1800" dirty="0" err="1"/>
              <a:t>requests</a:t>
            </a:r>
            <a:r>
              <a:rPr lang="nl-NL" sz="1800" dirty="0"/>
              <a:t> met data.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8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800" dirty="0"/>
              <a:t>Een functie kan meerdere end points hebben.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BCCE54-75EA-67B6-E2A2-A55958866E43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Maak API app aan.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app =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Definieer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een</a:t>
            </a: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end point.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@app.get(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@app.get(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"/list"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read_items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-&gt; List[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ToDoItem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"""Return list of to do items."""</a:t>
            </a:r>
            <a:endParaRPr lang="nl-NL" sz="1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7D2127-3FB9-0A98-C359-95669693E885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8406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04DF-14A2-1CBA-6A2E-BFCA156B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FBA9-3DBE-3B27-DC48-23DC67748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Data versturen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5730-0ED3-A062-CA67-28ED1FF14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Drie manieren om data mee te geven: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/>
              <a:t>In het pad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http://localhost:8080/greet/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</a:rPr>
              <a:t>John/Doe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/>
              <a:t>Als query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http://localhost:8080/add</a:t>
            </a:r>
            <a:r>
              <a:rPr lang="nl-NL" sz="1600" b="1" dirty="0">
                <a:solidFill>
                  <a:schemeClr val="accent5">
                    <a:lumMod val="75000"/>
                  </a:schemeClr>
                </a:solidFill>
              </a:rPr>
              <a:t>?name=John&amp;last_name=Doe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b="1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b="1" dirty="0"/>
              <a:t>Als body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{"name": "John", "</a:t>
            </a:r>
            <a:r>
              <a:rPr lang="nl-NL" sz="1600" dirty="0" err="1">
                <a:solidFill>
                  <a:schemeClr val="accent5">
                    <a:lumMod val="75000"/>
                  </a:schemeClr>
                </a:solidFill>
              </a:rPr>
              <a:t>last_name</a:t>
            </a:r>
            <a:r>
              <a:rPr lang="nl-NL" sz="1600" dirty="0">
                <a:solidFill>
                  <a:schemeClr val="accent5">
                    <a:lumMod val="75000"/>
                  </a:schemeClr>
                </a:solidFill>
              </a:rPr>
              <a:t>": "Doe"}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700521-F1A6-525E-440F-914DE872C7C0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Parameter in path.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@app.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"/greet/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{name}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{last_name}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greet(name: str):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Parameter as query.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@app.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"/greet"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greet(name: str,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str):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solidFill>
                <a:schemeClr val="accent6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Parameter in body.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@app.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"/add"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add_user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(user: User):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  <a:endParaRPr lang="nl-NL" sz="1400" dirty="0">
              <a:solidFill>
                <a:schemeClr val="accent2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8BD9816-B16F-1218-E320-9C06838524DB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833D66C-9D05-F3F9-7F86-0744E090D6D0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params </a:t>
            </a:r>
            <a:r>
              <a:rPr lang="en-US" sz="1400" dirty="0" err="1"/>
              <a:t>api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525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3FBE-067F-1A0C-41D4-B6713A9B3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AD1FE-1192-D87C-68B1-6AA5BA816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C6F57-76E7-8BC4-EEC9-5B5E5DB63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1800" dirty="0"/>
              <a:t>Maak het end point om een nieuw </a:t>
            </a:r>
            <a:r>
              <a:rPr lang="nl-NL" sz="1800" dirty="0" err="1"/>
              <a:t>To</a:t>
            </a:r>
            <a:r>
              <a:rPr lang="nl-NL" sz="1800" dirty="0"/>
              <a:t> Do items te maken:</a:t>
            </a:r>
          </a:p>
          <a:p>
            <a:pPr marL="0" indent="0">
              <a:buNone/>
            </a:pPr>
            <a:endParaRPr lang="nl-NL" sz="1800" dirty="0"/>
          </a:p>
          <a:p>
            <a:r>
              <a:rPr lang="nl-NL" sz="1800" dirty="0"/>
              <a:t>Open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exercises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/1_api_create_endpoint.py</a:t>
            </a:r>
            <a:r>
              <a:rPr lang="nl-NL" sz="1800" dirty="0"/>
              <a:t>.</a:t>
            </a:r>
          </a:p>
          <a:p>
            <a:endParaRPr lang="nl-NL" sz="1800" dirty="0"/>
          </a:p>
          <a:p>
            <a:r>
              <a:rPr lang="nl-NL" sz="1800" dirty="0"/>
              <a:t>Haal de beschrijving uit de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nl-NL" sz="1800" dirty="0"/>
              <a:t> parameter van een GET </a:t>
            </a:r>
            <a:r>
              <a:rPr lang="nl-NL" sz="1800" dirty="0" err="1"/>
              <a:t>request</a:t>
            </a:r>
            <a:r>
              <a:rPr lang="nl-NL" sz="1800" dirty="0"/>
              <a:t>.</a:t>
            </a:r>
          </a:p>
          <a:p>
            <a:endParaRPr lang="nl-NL" sz="1800" dirty="0"/>
          </a:p>
          <a:p>
            <a:r>
              <a:rPr lang="nl-NL" sz="1800" dirty="0"/>
              <a:t>Maak een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ToDoItem</a:t>
            </a:r>
            <a:r>
              <a:rPr lang="nl-NL" sz="1800" dirty="0"/>
              <a:t> aan met het </a:t>
            </a:r>
            <a:r>
              <a:rPr lang="nl-NL" sz="1800" dirty="0" err="1"/>
              <a:t>pydantic</a:t>
            </a:r>
            <a:r>
              <a:rPr lang="nl-NL" sz="1800" dirty="0"/>
              <a:t> model van de vorige opdracht.</a:t>
            </a:r>
          </a:p>
          <a:p>
            <a:endParaRPr lang="nl-NL" sz="1800" dirty="0"/>
          </a:p>
          <a:p>
            <a:r>
              <a:rPr lang="nl-NL" sz="1800" dirty="0"/>
              <a:t>Schrijf het item naar een JSON-bestand in een </a:t>
            </a:r>
            <a:r>
              <a:rPr lang="nl-NL" sz="1800" dirty="0" err="1"/>
              <a:t>todo</a:t>
            </a:r>
            <a:r>
              <a:rPr lang="nl-NL" sz="1800" dirty="0"/>
              <a:t>-folder.</a:t>
            </a:r>
          </a:p>
          <a:p>
            <a:endParaRPr lang="nl-NL" sz="1800" dirty="0"/>
          </a:p>
          <a:p>
            <a:r>
              <a:rPr lang="nl-NL" sz="1800" dirty="0"/>
              <a:t>Gebruik  het ID van het item als bestandsnaam</a:t>
            </a:r>
          </a:p>
          <a:p>
            <a:pPr marL="0" indent="0">
              <a:buNone/>
            </a:pPr>
            <a:endParaRPr lang="nl-NL" sz="1800" dirty="0"/>
          </a:p>
        </p:txBody>
      </p:sp>
    </p:spTree>
    <p:extLst>
      <p:ext uri="{BB962C8B-B14F-4D97-AF65-F5344CB8AC3E}">
        <p14:creationId xmlns:p14="http://schemas.microsoft.com/office/powerpoint/2010/main" val="36967762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DEBF-0F09-811E-384B-EA6E0313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36D9-2C79-CA55-6142-247664AC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Oefeningen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DF745-2478-BB30-FBE4-CE7ED21C2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nl-NL" sz="1800" dirty="0"/>
              <a:t>Om je API op te starten gebruik: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uvx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[standaard] run .\api_create.py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Stoppen met CTRL + C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/>
              <a:t>Om een item in te voeren, open een browser en ga naar:</a:t>
            </a:r>
          </a:p>
          <a:p>
            <a:pPr marL="0" indent="0">
              <a:buNone/>
            </a:pPr>
            <a:endParaRPr lang="nl-NL" sz="1800" dirty="0"/>
          </a:p>
          <a:p>
            <a:pPr marL="0" indent="0"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http://127.0.0.1:8000/add?description=&lt;beschrijving hier&gt;</a:t>
            </a:r>
          </a:p>
        </p:txBody>
      </p:sp>
    </p:spTree>
    <p:extLst>
      <p:ext uri="{BB962C8B-B14F-4D97-AF65-F5344CB8AC3E}">
        <p14:creationId xmlns:p14="http://schemas.microsoft.com/office/powerpoint/2010/main" val="2547045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F6D58-3712-9EFD-1828-488751D1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DA2B-05C7-97B5-C30C-BAFE63E5E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De overige </a:t>
            </a:r>
            <a:r>
              <a:rPr lang="nl-NL" sz="3600" dirty="0" err="1"/>
              <a:t>endpoints</a:t>
            </a:r>
            <a:endParaRPr lang="nl-NL" sz="36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72C65-11DE-9ABE-AADF-90650C5B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5257800" cy="4720696"/>
          </a:xfrm>
        </p:spPr>
        <p:txBody>
          <a:bodyPr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Leest alle JSON files uit de </a:t>
            </a:r>
            <a:r>
              <a:rPr lang="nl-NL" sz="1600" dirty="0" err="1"/>
              <a:t>To</a:t>
            </a:r>
            <a:r>
              <a:rPr lang="nl-NL" sz="1600" dirty="0"/>
              <a:t> Do folder.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Geeft deze als lijst van </a:t>
            </a:r>
            <a:r>
              <a:rPr lang="nl-NL" sz="1600" dirty="0" err="1"/>
              <a:t>ToDoItems</a:t>
            </a:r>
            <a:r>
              <a:rPr lang="nl-NL" sz="1600" dirty="0"/>
              <a:t> terug.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update?id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=…&amp;status=…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Zet status van het </a:t>
            </a:r>
            <a:r>
              <a:rPr lang="nl-NL" sz="1600" dirty="0" err="1"/>
              <a:t>ToDoItem</a:t>
            </a:r>
            <a:r>
              <a:rPr lang="nl-NL" sz="1600" dirty="0"/>
              <a:t> op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Active</a:t>
            </a:r>
            <a:r>
              <a:rPr lang="nl-NL" sz="1600" dirty="0"/>
              <a:t> of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Done</a:t>
            </a:r>
            <a:r>
              <a:rPr lang="nl-NL" sz="1600" dirty="0"/>
              <a:t>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Overschrijf het JSON-bestand in de </a:t>
            </a:r>
            <a:r>
              <a:rPr lang="nl-NL" sz="1600" dirty="0" err="1"/>
              <a:t>To</a:t>
            </a:r>
            <a:r>
              <a:rPr lang="nl-NL" sz="1600" dirty="0"/>
              <a:t> Do folder.</a:t>
            </a:r>
          </a:p>
          <a:p>
            <a:pPr marL="0" indent="0">
              <a:spcAft>
                <a:spcPts val="600"/>
              </a:spcAft>
              <a:buNone/>
            </a:pP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delete?id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=…</a:t>
            </a:r>
            <a:endParaRPr lang="nl-NL" sz="1600" dirty="0"/>
          </a:p>
          <a:p>
            <a:pPr marL="0" indent="0">
              <a:spcAft>
                <a:spcPts val="600"/>
              </a:spcAft>
              <a:buNone/>
            </a:pPr>
            <a:r>
              <a:rPr lang="nl-NL" sz="1600" dirty="0"/>
              <a:t>Verwijderd het JSON bestand met het opgegeven </a:t>
            </a:r>
            <a:r>
              <a:rPr lang="nl-NL" sz="1600"/>
              <a:t>ID.</a:t>
            </a:r>
            <a:endParaRPr lang="nl-NL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BC0DFA-4E08-4F97-A95B-3820EE32F204}"/>
              </a:ext>
            </a:extLst>
          </p:cNvPr>
          <p:cNvSpPr txBox="1">
            <a:spLocks/>
          </p:cNvSpPr>
          <p:nvPr/>
        </p:nvSpPr>
        <p:spPr>
          <a:xfrm>
            <a:off x="6750050" y="1456267"/>
            <a:ext cx="4603750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todo_folder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").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("*.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open(…, </a:t>
            </a:r>
            <a:r>
              <a:rPr lang="nl-N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"w"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="utf8")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os.remove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filename.json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B5AC2C-6398-7F94-A224-CD0F301DA6D0}"/>
              </a:ext>
            </a:extLst>
          </p:cNvPr>
          <p:cNvCxnSpPr/>
          <p:nvPr/>
        </p:nvCxnSpPr>
        <p:spPr>
          <a:xfrm>
            <a:off x="6337300" y="1397000"/>
            <a:ext cx="0" cy="4838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DC51970-2AD7-A300-61EE-B6204FB4EB80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params </a:t>
            </a:r>
            <a:r>
              <a:rPr lang="en-US" sz="1400" dirty="0" err="1"/>
              <a:t>api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969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1403</Words>
  <Application>Microsoft Office PowerPoint</Application>
  <PresentationFormat>Widescreen</PresentationFormat>
  <Paragraphs>385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Office Theme</vt:lpstr>
      <vt:lpstr>Python - Cursus</vt:lpstr>
      <vt:lpstr>Agenda</vt:lpstr>
      <vt:lpstr>Opzet App en API</vt:lpstr>
      <vt:lpstr>Opzet App en API</vt:lpstr>
      <vt:lpstr>Opzet App en API</vt:lpstr>
      <vt:lpstr>Validatie met Pydantic</vt:lpstr>
      <vt:lpstr>Waarom valideren?</vt:lpstr>
      <vt:lpstr>Voorbeelden</vt:lpstr>
      <vt:lpstr>Pydantic</vt:lpstr>
      <vt:lpstr>Pydantic</vt:lpstr>
      <vt:lpstr>Type hints</vt:lpstr>
      <vt:lpstr>Standaard waardes</vt:lpstr>
      <vt:lpstr>Standaard waardes</vt:lpstr>
      <vt:lpstr>Standaard waardes</vt:lpstr>
      <vt:lpstr>Waardes controleren</vt:lpstr>
      <vt:lpstr>Oefeningen 1</vt:lpstr>
      <vt:lpstr>FastAPI</vt:lpstr>
      <vt:lpstr>API acties</vt:lpstr>
      <vt:lpstr>HTTP responses</vt:lpstr>
      <vt:lpstr>FastAPI end points</vt:lpstr>
      <vt:lpstr>Data versturen</vt:lpstr>
      <vt:lpstr>Oefeningen 2</vt:lpstr>
      <vt:lpstr>Oefeningen 2</vt:lpstr>
      <vt:lpstr>De overige endpoints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1007</cp:revision>
  <dcterms:created xsi:type="dcterms:W3CDTF">2022-11-09T07:34:24Z</dcterms:created>
  <dcterms:modified xsi:type="dcterms:W3CDTF">2026-10-28T09:04:39Z</dcterms:modified>
</cp:coreProperties>
</file>