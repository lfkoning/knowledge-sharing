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322" r:id="rId2"/>
    <p:sldId id="257" r:id="rId3"/>
    <p:sldId id="309" r:id="rId4"/>
    <p:sldId id="300" r:id="rId5"/>
    <p:sldId id="288" r:id="rId6"/>
    <p:sldId id="327" r:id="rId7"/>
    <p:sldId id="260" r:id="rId8"/>
    <p:sldId id="328" r:id="rId9"/>
    <p:sldId id="329" r:id="rId10"/>
    <p:sldId id="355" r:id="rId11"/>
    <p:sldId id="367" r:id="rId12"/>
    <p:sldId id="361" r:id="rId13"/>
    <p:sldId id="332" r:id="rId14"/>
    <p:sldId id="333" r:id="rId15"/>
    <p:sldId id="335" r:id="rId16"/>
    <p:sldId id="334" r:id="rId17"/>
    <p:sldId id="357" r:id="rId18"/>
    <p:sldId id="368" r:id="rId19"/>
    <p:sldId id="330" r:id="rId20"/>
    <p:sldId id="342" r:id="rId21"/>
    <p:sldId id="337" r:id="rId22"/>
    <p:sldId id="369" r:id="rId23"/>
    <p:sldId id="366" r:id="rId24"/>
    <p:sldId id="295" r:id="rId25"/>
    <p:sldId id="347" r:id="rId26"/>
    <p:sldId id="356" r:id="rId27"/>
    <p:sldId id="326" r:id="rId28"/>
    <p:sldId id="305" r:id="rId29"/>
    <p:sldId id="303" r:id="rId30"/>
    <p:sldId id="312" r:id="rId31"/>
    <p:sldId id="314" r:id="rId32"/>
    <p:sldId id="313" r:id="rId33"/>
    <p:sldId id="365" r:id="rId34"/>
    <p:sldId id="338" r:id="rId35"/>
    <p:sldId id="306" r:id="rId36"/>
    <p:sldId id="339" r:id="rId37"/>
    <p:sldId id="315" r:id="rId38"/>
    <p:sldId id="362" r:id="rId39"/>
    <p:sldId id="343" r:id="rId40"/>
    <p:sldId id="370" r:id="rId41"/>
    <p:sldId id="319" r:id="rId42"/>
    <p:sldId id="317" r:id="rId43"/>
    <p:sldId id="318" r:id="rId44"/>
    <p:sldId id="320" r:id="rId45"/>
    <p:sldId id="321" r:id="rId46"/>
    <p:sldId id="340" r:id="rId47"/>
    <p:sldId id="341" r:id="rId48"/>
    <p:sldId id="262" r:id="rId49"/>
    <p:sldId id="264" r:id="rId50"/>
    <p:sldId id="272" r:id="rId51"/>
    <p:sldId id="266" r:id="rId52"/>
    <p:sldId id="346" r:id="rId53"/>
    <p:sldId id="344" r:id="rId54"/>
    <p:sldId id="267" r:id="rId55"/>
    <p:sldId id="363" r:id="rId56"/>
    <p:sldId id="364" r:id="rId57"/>
    <p:sldId id="345" r:id="rId58"/>
    <p:sldId id="263" r:id="rId5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kas Koning" initials="LK" lastIdx="1" clrIdx="0">
    <p:extLst>
      <p:ext uri="{19B8F6BF-5375-455C-9EA6-DF929625EA0E}">
        <p15:presenceInfo xmlns:p15="http://schemas.microsoft.com/office/powerpoint/2012/main" userId="27d520ca6d017ce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10" autoAdjust="0"/>
    <p:restoredTop sz="96699" autoAdjust="0"/>
  </p:normalViewPr>
  <p:slideViewPr>
    <p:cSldViewPr snapToGrid="0">
      <p:cViewPr varScale="1">
        <p:scale>
          <a:sx n="73" d="100"/>
          <a:sy n="73" d="100"/>
        </p:scale>
        <p:origin x="356" y="44"/>
      </p:cViewPr>
      <p:guideLst/>
    </p:cSldViewPr>
  </p:slideViewPr>
  <p:outlineViewPr>
    <p:cViewPr>
      <p:scale>
        <a:sx n="33" d="100"/>
        <a:sy n="33" d="100"/>
      </p:scale>
      <p:origin x="0" y="-63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83437-14DE-4969-B062-63D9C4A2E219}" type="datetimeFigureOut">
              <a:rPr lang="nl-NL" smtClean="0"/>
              <a:t>24-9-2026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3DEA5-E342-4DB2-B087-D0B9C490B19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086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mkdocs</a:t>
            </a:r>
            <a:r>
              <a:rPr lang="en-US" dirty="0"/>
              <a:t> demo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49138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black + </a:t>
            </a:r>
            <a:r>
              <a:rPr lang="en-US" dirty="0" err="1"/>
              <a:t>pylint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1469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Naar</a:t>
            </a:r>
            <a:r>
              <a:rPr lang="en-US" dirty="0"/>
              <a:t> </a:t>
            </a:r>
            <a:r>
              <a:rPr lang="en-US" dirty="0" err="1"/>
              <a:t>mkdocs</a:t>
            </a:r>
            <a:r>
              <a:rPr lang="en-US" dirty="0"/>
              <a:t> </a:t>
            </a:r>
            <a:r>
              <a:rPr lang="en-US" dirty="0" err="1"/>
              <a:t>voorbeeld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2235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Notebook: 1_logging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5210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Notebook: 1_logging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4881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Naar</a:t>
            </a:r>
            <a:r>
              <a:rPr lang="en-US" dirty="0"/>
              <a:t> exception.py / VS Code debugger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0717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exception.py / VS Code debugger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3188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  <a:r>
              <a:rPr lang="en-US" dirty="0" err="1"/>
              <a:t>unit_testing</a:t>
            </a:r>
            <a:r>
              <a:rPr lang="en-US" dirty="0"/>
              <a:t>/1_basics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5926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  <a:r>
              <a:rPr lang="en-US" dirty="0" err="1"/>
              <a:t>unit_testing</a:t>
            </a:r>
            <a:r>
              <a:rPr lang="en-US" dirty="0"/>
              <a:t>/2_pytest_parameters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9944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  <a:r>
              <a:rPr lang="en-US" dirty="0" err="1"/>
              <a:t>unit_testing</a:t>
            </a:r>
            <a:r>
              <a:rPr lang="en-US" dirty="0"/>
              <a:t>/3_fixtures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3DEA5-E342-4DB2-B087-D0B9C490B19E}" type="slidenum">
              <a:rPr lang="nl-NL" smtClean="0"/>
              <a:t>56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3914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D241-03CD-F66B-8F73-3CAC55B1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64D1B-A973-3847-3E91-0CE7E7C59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73F5-F8B5-5710-2DC5-696AA5BD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AD8F-D1F0-0013-98B0-5F53C9B8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D6E6-6577-2A62-3786-BC160042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353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5ECB-AB54-0283-C544-060853BD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98C7-A144-C045-760E-8D2BEB73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AA8C3-D460-5FB9-BEF1-4B107863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DD8C9-981B-68A4-FA03-2E7EC742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4EE09-D031-B162-312B-D84AC359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848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68FD-4B23-D1C5-8A98-7C7573C0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42FD3-F45B-693C-BC8C-EE583529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744C2-DC03-51D7-C490-EE7480C2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2BAD9-9E13-E0C5-C044-050D1692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03286-1DED-EEE0-200D-D463623B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869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C716-70B1-4956-623D-BB1884FB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3637C-9700-5EA7-E708-8CC7EA1D5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E7191-85E9-7180-A8B2-CE05EB3C6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4500-E98B-0B65-AE0E-8E3A5313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E4F7-D675-8CE5-5297-5CE8654F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6D77-2113-B755-D825-9AC10085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696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4435-6EC5-C8F0-1458-0FD42497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50F0-90F4-8EBF-85FA-FB50BA5BD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B29FF-E988-BCD5-26D3-72A2542B2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6E652-0A53-1F5E-A2D3-63A4829C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DAE7B-8EF7-730B-6526-C0162F6B3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CAA4C-A4F1-5723-0770-713EDAE1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70581-1047-FE84-D78E-3E62A523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D558D-55C7-4C10-BFE2-7612C556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7484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256D-09B3-F7B7-3173-21876185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71C5F-4EB8-173F-B4D2-8CF23E47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F32B3-AEF3-EAA2-F854-680DC9C7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8300D-6F27-4617-C0A7-0BD7921D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41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6FE86-8AAD-B43A-134E-4B68B5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01974-8F8A-3BD8-1A3B-53C39BCA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705B2-0628-7719-E328-C7019F7F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03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B594A-DFC2-B5D8-B0E4-F44F47CE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0292-87DF-858D-1FA8-C1EE927D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D80CC-4D84-3AE9-0B35-C27E33FD8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5B28C-33D6-8039-630D-B9F1EC3A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A531E-5FFA-D204-5F1B-37806AD2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6CC9B-46C4-60CC-D35A-59F9F306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516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0F88-70DD-AD9F-4E44-45D44087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D932A-9C26-05B4-32D0-3FE165A33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1F30C-3886-DE65-EDE4-8C37F631F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7D30D-18AE-1F87-AFA5-484D8C3D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578AF-A060-D3BD-F2EA-5E48BF0D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776DD-8DE5-1525-C107-C6B823E8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74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9CCA-8BA8-9DF4-C382-292734AB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E17F0-E053-74A1-912D-AF910B21B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F8707-6C42-1B5F-68D0-01EB4C4E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2ADD-8AA1-44C7-10D2-16EEC8BB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55E38-9898-8533-EEE4-5769BECC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692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C3836-BD47-52DC-6880-ED7139D79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849A1-250C-AC54-45CF-1F7269E9D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7E283-D917-456A-9C51-03B2561D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48697-F252-3A77-2A44-80949825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20A23-9480-351A-8CC9-D41184BE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074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D996F-28E0-EE48-1A60-DD6C87C2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3049-5EA4-FE91-AD3D-3E8221A58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FFAA-1188-E7B0-B675-622693A11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B069A-003F-4FC0-8534-236B0C5C7B5F}" type="datetimeFigureOut">
              <a:rPr lang="en-NL" smtClean="0"/>
              <a:t>24/09/2026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55ACD-263D-BC57-40AE-29769CF91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2DF2-3BF7-0A3B-2578-57CA00478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935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eps.python.org/pep-0008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numpydoc.readthedocs.io/en/latest/format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visualstudio.com/items?itemName=njpwerner.autodocstr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arketplace.visualstudio.com/items?itemName=yzhang.markdown-all-in-on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596B-E8A7-AF6B-F232-B6BEDDB43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Python - Cursus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6EAA2-FB69-19A9-52CE-B06A78AAE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01848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l-NL" sz="2000" noProof="0" dirty="0"/>
              <a:t>Leesbaarheid</a:t>
            </a:r>
          </a:p>
          <a:p>
            <a:pPr>
              <a:spcAft>
                <a:spcPts val="600"/>
              </a:spcAft>
            </a:pPr>
            <a:r>
              <a:rPr lang="nl-NL" sz="2000" noProof="0" dirty="0"/>
              <a:t>Structuur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Goede principes</a:t>
            </a:r>
            <a:endParaRPr lang="nl-NL" sz="2000" noProof="0" dirty="0"/>
          </a:p>
          <a:p>
            <a:pPr>
              <a:spcAft>
                <a:spcPts val="600"/>
              </a:spcAft>
            </a:pPr>
            <a:r>
              <a:rPr lang="nl-NL" sz="2000" noProof="0" dirty="0" err="1"/>
              <a:t>Logging</a:t>
            </a:r>
            <a:endParaRPr lang="nl-NL" sz="2000" noProof="0" dirty="0"/>
          </a:p>
          <a:p>
            <a:pPr>
              <a:spcAft>
                <a:spcPts val="600"/>
              </a:spcAft>
            </a:pPr>
            <a:r>
              <a:rPr lang="nl-NL" sz="2000" noProof="0" dirty="0"/>
              <a:t>Fouten afhandelen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Unit tests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1785D-DBAB-C34E-4C20-A2078BA9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7736">
            <a:off x="8321964" y="3685187"/>
            <a:ext cx="2694468" cy="2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1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The Zen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sz="1600" dirty="0"/>
              <a:t>Programmeren is een creatief proces!</a:t>
            </a:r>
          </a:p>
          <a:p>
            <a:pPr marL="0" indent="0">
              <a:buNone/>
            </a:pPr>
            <a:endParaRPr lang="nl-NL" sz="1600" dirty="0"/>
          </a:p>
          <a:p>
            <a:pPr marL="0" indent="0">
              <a:buNone/>
            </a:pPr>
            <a:r>
              <a:rPr lang="nl-NL" sz="1600" dirty="0"/>
              <a:t>Niet altijd één goede oplossing:</a:t>
            </a:r>
          </a:p>
          <a:p>
            <a:pPr>
              <a:buFontTx/>
              <a:buChar char="-"/>
            </a:pPr>
            <a:r>
              <a:rPr lang="nl-NL" sz="1600" dirty="0"/>
              <a:t>Werkt het?</a:t>
            </a:r>
          </a:p>
          <a:p>
            <a:pPr>
              <a:buFontTx/>
              <a:buChar char="-"/>
            </a:pPr>
            <a:r>
              <a:rPr lang="nl-NL" sz="1600" dirty="0"/>
              <a:t>Is het efficiënt?</a:t>
            </a:r>
          </a:p>
          <a:p>
            <a:pPr>
              <a:buFontTx/>
              <a:buChar char="-"/>
            </a:pPr>
            <a:r>
              <a:rPr lang="nl-NL" sz="1600" dirty="0"/>
              <a:t>Is het zo eenvoudig mogelijk?</a:t>
            </a:r>
          </a:p>
          <a:p>
            <a:pPr marL="0" indent="0">
              <a:buNone/>
            </a:pPr>
            <a:endParaRPr lang="nl-NL" sz="1600" dirty="0"/>
          </a:p>
          <a:p>
            <a:pPr marL="0" indent="0">
              <a:buNone/>
            </a:pPr>
            <a:r>
              <a:rPr lang="nl-NL" sz="1600" dirty="0"/>
              <a:t>Principes om betere code te schrijven:</a:t>
            </a:r>
          </a:p>
          <a:p>
            <a:pPr>
              <a:buFontTx/>
              <a:buChar char="-"/>
            </a:pPr>
            <a:r>
              <a:rPr lang="nl-NL" sz="1600" dirty="0"/>
              <a:t>Leesbaar.</a:t>
            </a:r>
          </a:p>
          <a:p>
            <a:pPr>
              <a:buFontTx/>
              <a:buChar char="-"/>
            </a:pPr>
            <a:r>
              <a:rPr lang="nl-NL" sz="1600" dirty="0"/>
              <a:t>Overzichtelijk gestructureerd.</a:t>
            </a:r>
          </a:p>
          <a:p>
            <a:pPr>
              <a:buFontTx/>
              <a:buChar char="-"/>
            </a:pPr>
            <a:r>
              <a:rPr lang="nl-NL" sz="1600" dirty="0"/>
              <a:t>Zo eenvoudig mogelijk.</a:t>
            </a:r>
          </a:p>
          <a:p>
            <a:pPr>
              <a:buFontTx/>
              <a:buChar char="-"/>
            </a:pPr>
            <a:r>
              <a:rPr lang="nl-NL" sz="1600" dirty="0"/>
              <a:t>Expliciet in wat het doet.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5985936" y="1462617"/>
            <a:ext cx="5552013" cy="480271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Beautiful is better than ugly.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Explicit is better than implicit.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Simple is better than complex.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 is better than complicated.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Flat is better than nested.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Sparse is better than dense.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Readability counts.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Special cases aren't special enough to break the rules.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Although practicality beats purity.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Errors should never pass silently.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Unless explicitly silenced.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the face of ambiguity, refuse the temptation to guess.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There should be one-- and preferably only one --obvious way to do it.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Although that way may not be obvious at first unless you're Dutch.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Now is better than never.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Although never is often better than *right* now.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the implementation is hard to explain, it's a bad idea.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the implementation is easy to explain, it may be a good idea.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GB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Namespaces are one honking great idea -- let's do more of those!</a:t>
            </a:r>
            <a:endParaRPr lang="nl-NL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GB" sz="1000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AAAABA8-783C-B32D-3397-2C7F8BEB01FD}"/>
              </a:ext>
            </a:extLst>
          </p:cNvPr>
          <p:cNvSpPr txBox="1"/>
          <p:nvPr/>
        </p:nvSpPr>
        <p:spPr>
          <a:xfrm>
            <a:off x="9569450" y="1532467"/>
            <a:ext cx="1907118" cy="3077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import this</a:t>
            </a:r>
          </a:p>
        </p:txBody>
      </p:sp>
    </p:spTree>
    <p:extLst>
      <p:ext uri="{BB962C8B-B14F-4D97-AF65-F5344CB8AC3E}">
        <p14:creationId xmlns:p14="http://schemas.microsoft.com/office/powerpoint/2010/main" val="1662243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Leesbaarheid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3044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PEP8 richtlijnen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56267"/>
            <a:ext cx="4552950" cy="4720696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nl-NL" sz="1800" b="1" noProof="0" dirty="0"/>
              <a:t>Volg PEP8 richtlijnen</a:t>
            </a:r>
            <a:r>
              <a:rPr lang="nl-NL" sz="1800" noProof="0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nl-NL" sz="1800" noProof="0" dirty="0">
                <a:hlinkClick r:id="rId2"/>
              </a:rPr>
              <a:t>https://peps.python.org/pep-0008/</a:t>
            </a:r>
            <a:endParaRPr lang="nl-NL" sz="1800" noProof="0" dirty="0"/>
          </a:p>
          <a:p>
            <a:pPr marL="0" indent="0">
              <a:lnSpc>
                <a:spcPct val="150000"/>
              </a:lnSpc>
              <a:buNone/>
            </a:pPr>
            <a:endParaRPr lang="nl-NL" sz="1800" noProof="0" dirty="0"/>
          </a:p>
          <a:p>
            <a:pPr marL="0" indent="0">
              <a:lnSpc>
                <a:spcPct val="150000"/>
              </a:lnSpc>
              <a:buNone/>
            </a:pPr>
            <a:r>
              <a:rPr lang="nl-NL" sz="1800" b="1" noProof="0" dirty="0"/>
              <a:t>Opmaak: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nl-NL" sz="1800" noProof="0" dirty="0"/>
              <a:t>Regels van maximaal 88 karakters.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nl-NL" sz="1800" noProof="0" dirty="0"/>
              <a:t>Breek lange regels af met haken </a:t>
            </a:r>
            <a:r>
              <a:rPr lang="nl-NL" sz="18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(...)</a:t>
            </a:r>
            <a:r>
              <a:rPr lang="nl-NL" sz="1800" noProof="0" dirty="0"/>
              <a:t>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nl-NL" sz="1800" noProof="0" dirty="0"/>
              <a:t>Gebruik 4 spaties om in te springen.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nl-NL" sz="1800" dirty="0"/>
              <a:t>Twee witregels voor elke functie / class.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nl-NL" sz="1800" noProof="0" dirty="0"/>
              <a:t>Enkele witregel voor elke methode.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nl-NL" sz="1800" dirty="0"/>
              <a:t>Enkele witregel voor einde script.</a:t>
            </a:r>
            <a:endParaRPr lang="nl-NL" sz="1800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03DB35-9322-5BEF-96ED-6D839086F2C2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AC84B0-C6B6-6B15-3534-CCC05BC28F2C}"/>
              </a:ext>
            </a:extLst>
          </p:cNvPr>
          <p:cNvSpPr txBox="1">
            <a:spLocks/>
          </p:cNvSpPr>
          <p:nvPr/>
        </p:nvSpPr>
        <p:spPr>
          <a:xfrm>
            <a:off x="6318251" y="1456267"/>
            <a:ext cx="4552950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700" b="1" dirty="0"/>
              <a:t>Import:</a:t>
            </a:r>
          </a:p>
          <a:p>
            <a:pPr>
              <a:buFontTx/>
              <a:buChar char="-"/>
            </a:pPr>
            <a:r>
              <a:rPr lang="nl-NL" sz="1700" dirty="0"/>
              <a:t>Bovenaan je script:</a:t>
            </a:r>
          </a:p>
          <a:p>
            <a:pPr lvl="1">
              <a:buFontTx/>
              <a:buChar char="-"/>
            </a:pPr>
            <a:r>
              <a:rPr lang="nl-NL" sz="1700" dirty="0"/>
              <a:t>Standaard modules.</a:t>
            </a:r>
          </a:p>
          <a:p>
            <a:pPr lvl="1">
              <a:buFontTx/>
              <a:buChar char="-"/>
            </a:pPr>
            <a:r>
              <a:rPr lang="nl-NL" sz="1700" dirty="0"/>
              <a:t>Packages van derden.</a:t>
            </a:r>
          </a:p>
          <a:p>
            <a:pPr lvl="1">
              <a:buFontTx/>
              <a:buChar char="-"/>
            </a:pPr>
            <a:r>
              <a:rPr lang="nl-NL" sz="1700" dirty="0"/>
              <a:t>Eigen packages.</a:t>
            </a:r>
          </a:p>
          <a:p>
            <a:pPr marL="0" indent="0">
              <a:buNone/>
            </a:pPr>
            <a:endParaRPr lang="nl-NL" sz="1700" dirty="0"/>
          </a:p>
          <a:p>
            <a:pPr marL="0" indent="0">
              <a:buNone/>
            </a:pPr>
            <a:r>
              <a:rPr lang="nl-NL" sz="1700" b="1" dirty="0"/>
              <a:t>Naamgeving:</a:t>
            </a:r>
          </a:p>
          <a:p>
            <a:pPr>
              <a:buFontTx/>
              <a:buChar char="-"/>
            </a:pPr>
            <a:r>
              <a:rPr lang="nl-NL" sz="1700" dirty="0">
                <a:cs typeface="Courier New" panose="02070309020205020404" pitchFamily="49" charset="0"/>
              </a:rPr>
              <a:t>Gebruik descriptieve namen!</a:t>
            </a:r>
          </a:p>
          <a:p>
            <a:pPr>
              <a:buFontTx/>
              <a:buChar char="-"/>
            </a:pPr>
            <a:r>
              <a:rPr lang="nl-NL" sz="1700" dirty="0">
                <a:cs typeface="Courier New" panose="02070309020205020404" pitchFamily="49" charset="0"/>
              </a:rPr>
              <a:t>Gebruik correcte schrijfwijze:</a:t>
            </a:r>
          </a:p>
          <a:p>
            <a:pPr lvl="1">
              <a:buFontTx/>
              <a:buChar char="-"/>
            </a:pPr>
            <a:r>
              <a:rPr lang="nl-N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naam_variabele</a:t>
            </a:r>
            <a:endParaRPr lang="nl-NL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Tx/>
              <a:buChar char="-"/>
            </a:pPr>
            <a:r>
              <a:rPr lang="nl-N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naam_functie</a:t>
            </a:r>
            <a:endParaRPr lang="nl-NL" sz="1700" dirty="0"/>
          </a:p>
          <a:p>
            <a:pPr lvl="1">
              <a:buFontTx/>
              <a:buChar char="-"/>
            </a:pPr>
            <a:r>
              <a:rPr lang="nl-N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NaamClass</a:t>
            </a:r>
            <a:endParaRPr lang="nl-NL" sz="1700" dirty="0"/>
          </a:p>
          <a:p>
            <a:pPr lvl="1">
              <a:buFontTx/>
              <a:buChar char="-"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NAAM_CONSTANTE</a:t>
            </a:r>
          </a:p>
        </p:txBody>
      </p:sp>
    </p:spTree>
    <p:extLst>
      <p:ext uri="{BB962C8B-B14F-4D97-AF65-F5344CB8AC3E}">
        <p14:creationId xmlns:p14="http://schemas.microsoft.com/office/powerpoint/2010/main" val="895238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Documentatie in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 err="1"/>
              <a:t>Docstrings</a:t>
            </a:r>
            <a:endParaRPr lang="nl-NL" sz="18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Beschrijf je functies </a:t>
            </a:r>
            <a:r>
              <a:rPr lang="nl-NL" sz="1800" dirty="0">
                <a:cs typeface="Courier New" panose="02070309020205020404" pitchFamily="49" charset="0"/>
              </a:rPr>
              <a:t>/</a:t>
            </a:r>
            <a:r>
              <a:rPr lang="nl-NL" sz="1800" noProof="0" dirty="0">
                <a:cs typeface="Courier New" panose="02070309020205020404" pitchFamily="49" charset="0"/>
              </a:rPr>
              <a:t> classes / methodes.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Vat doel samen op de eerste regel.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Beschrijf argumenten en retourwaardes.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  <a:hlinkClick r:id="rId2"/>
              </a:rPr>
              <a:t>https://numpydoc.readthedocs.io/en/latest/format.html</a:t>
            </a: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b="1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 err="1">
                <a:cs typeface="Courier New" panose="02070309020205020404" pitchFamily="49" charset="0"/>
              </a:rPr>
              <a:t>Inline</a:t>
            </a:r>
            <a:r>
              <a:rPr lang="nl-NL" sz="1800" b="1" noProof="0" dirty="0">
                <a:cs typeface="Courier New" panose="02070309020205020404" pitchFamily="49" charset="0"/>
              </a:rPr>
              <a:t> commentaren</a:t>
            </a:r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Beschrijf niet </a:t>
            </a:r>
            <a:r>
              <a:rPr lang="nl-NL" sz="1800" u="sng" noProof="0" dirty="0">
                <a:cs typeface="Courier New" panose="02070309020205020404" pitchFamily="49" charset="0"/>
              </a:rPr>
              <a:t>wat</a:t>
            </a:r>
            <a:r>
              <a:rPr lang="nl-NL" sz="1800" noProof="0" dirty="0">
                <a:cs typeface="Courier New" panose="02070309020205020404" pitchFamily="49" charset="0"/>
              </a:rPr>
              <a:t> je code doet…</a:t>
            </a:r>
            <a:endParaRPr lang="nl-NL" sz="1800" noProof="0" dirty="0"/>
          </a:p>
          <a:p>
            <a:pPr>
              <a:buFontTx/>
              <a:buChar char="-"/>
            </a:pPr>
            <a:r>
              <a:rPr lang="nl-NL" sz="1800" noProof="0" dirty="0">
                <a:cs typeface="Courier New" panose="02070309020205020404" pitchFamily="49" charset="0"/>
              </a:rPr>
              <a:t>Leg uit </a:t>
            </a:r>
            <a:r>
              <a:rPr lang="nl-NL" sz="1800" u="sng" noProof="0" dirty="0">
                <a:cs typeface="Courier New" panose="02070309020205020404" pitchFamily="49" charset="0"/>
              </a:rPr>
              <a:t>waarom</a:t>
            </a:r>
            <a:r>
              <a:rPr lang="nl-NL" sz="1800" noProof="0" dirty="0">
                <a:cs typeface="Courier New" panose="02070309020205020404" pitchFamily="49" charset="0"/>
              </a:rPr>
              <a:t> je bepaalde keuzes maakt.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E0C439-0247-343B-75AE-06014F7D1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809" y="495214"/>
            <a:ext cx="4640792" cy="3760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A0BA48-7FE6-D44F-C1F8-DAA9744A8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809" y="4602894"/>
            <a:ext cx="4640792" cy="157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70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Documentatie voor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noProof="0" dirty="0"/>
              <a:t>README.md</a:t>
            </a:r>
            <a:endParaRPr lang="nl-NL" sz="20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endParaRPr lang="nl-NL" sz="20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noProof="0" dirty="0">
                <a:cs typeface="Courier New" panose="02070309020205020404" pitchFamily="49" charset="0"/>
              </a:rPr>
              <a:t>Beschrijf het doel van het project.</a:t>
            </a:r>
          </a:p>
          <a:p>
            <a:pPr>
              <a:buFontTx/>
              <a:buChar char="-"/>
            </a:pPr>
            <a:endParaRPr lang="nl-NL" sz="200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noProof="0" dirty="0">
                <a:cs typeface="Courier New" panose="02070309020205020404" pitchFamily="49" charset="0"/>
              </a:rPr>
              <a:t>Beschrijf de aanpak op hoofdlijnen.</a:t>
            </a:r>
          </a:p>
          <a:p>
            <a:pPr>
              <a:buFontTx/>
              <a:buChar char="-"/>
            </a:pPr>
            <a:endParaRPr lang="nl-NL" sz="200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Beschrijf het gebruik (voorbeelden).</a:t>
            </a:r>
          </a:p>
          <a:p>
            <a:pPr>
              <a:buFontTx/>
              <a:buChar char="-"/>
            </a:pPr>
            <a:endParaRPr lang="nl-NL" sz="200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noProof="0" dirty="0">
                <a:cs typeface="Courier New" panose="02070309020205020404" pitchFamily="49" charset="0"/>
              </a:rPr>
              <a:t>Beschrijf het installatie proces.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8BB40-7A31-16F7-9FD4-11E302FEB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776" y="1456267"/>
            <a:ext cx="5566988" cy="481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17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Notebooks documenteren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nl-NL" sz="2000" noProof="0" dirty="0">
                <a:cs typeface="Courier New" panose="02070309020205020404" pitchFamily="49" charset="0"/>
              </a:rPr>
              <a:t>Geef het Notebook een descriptieve naam!</a:t>
            </a:r>
          </a:p>
          <a:p>
            <a:pPr>
              <a:buFontTx/>
              <a:buChar char="-"/>
            </a:pPr>
            <a:endParaRPr lang="nl-NL" sz="20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Omschrijf doel van het Notebook in eerste cel.</a:t>
            </a:r>
          </a:p>
          <a:p>
            <a:pPr>
              <a:buFontTx/>
              <a:buChar char="-"/>
            </a:pPr>
            <a:endParaRPr lang="nl-NL" sz="2000" noProof="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Gebruik kopjes voor secties in het Notebook.</a:t>
            </a:r>
          </a:p>
          <a:p>
            <a:pPr>
              <a:buFontTx/>
              <a:buChar char="-"/>
            </a:pPr>
            <a:endParaRPr lang="nl-NL" sz="200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Documenteer code zoals gebruikelijk.</a:t>
            </a:r>
          </a:p>
          <a:p>
            <a:pPr>
              <a:buFontTx/>
              <a:buChar char="-"/>
            </a:pPr>
            <a:endParaRPr lang="nl-NL" sz="200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Ruim Notebooks regelmatig op!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5B03C0-3C43-2436-4168-E252ED7D5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360" y="1456267"/>
            <a:ext cx="3868440" cy="47206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12723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Auto-</a:t>
            </a:r>
            <a:r>
              <a:rPr lang="nl-NL" sz="3600" noProof="0" dirty="0" err="1"/>
              <a:t>formatting</a:t>
            </a:r>
            <a:r>
              <a:rPr lang="nl-NL" sz="3600" noProof="0" dirty="0"/>
              <a:t> en </a:t>
            </a:r>
            <a:r>
              <a:rPr lang="nl-NL" sz="3600" noProof="0" dirty="0" err="1"/>
              <a:t>linting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06297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 err="1">
                <a:cs typeface="Courier New" panose="02070309020205020404" pitchFamily="49" charset="0"/>
              </a:rPr>
              <a:t>Imports</a:t>
            </a:r>
            <a:r>
              <a:rPr lang="nl-NL" sz="2000" noProof="0" dirty="0">
                <a:cs typeface="Courier New" panose="02070309020205020404" pitchFamily="49" charset="0"/>
              </a:rPr>
              <a:t>:			</a:t>
            </a:r>
            <a:r>
              <a:rPr lang="nl-NL" sz="2000" noProof="0" dirty="0" err="1">
                <a:cs typeface="Courier New" panose="02070309020205020404" pitchFamily="49" charset="0"/>
              </a:rPr>
              <a:t>isort</a:t>
            </a:r>
            <a:endParaRPr lang="nl-NL" sz="20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2000" noProof="0" dirty="0" err="1">
                <a:cs typeface="Courier New" panose="02070309020205020404" pitchFamily="49" charset="0"/>
              </a:rPr>
              <a:t>Formatting</a:t>
            </a:r>
            <a:r>
              <a:rPr lang="nl-NL" sz="2000" noProof="0" dirty="0">
                <a:cs typeface="Courier New" panose="02070309020205020404" pitchFamily="49" charset="0"/>
              </a:rPr>
              <a:t>:		black</a:t>
            </a:r>
          </a:p>
          <a:p>
            <a:pPr marL="0" indent="0">
              <a:buNone/>
            </a:pPr>
            <a:r>
              <a:rPr lang="nl-NL" sz="2000" noProof="0" dirty="0" err="1">
                <a:cs typeface="Courier New" panose="02070309020205020404" pitchFamily="49" charset="0"/>
              </a:rPr>
              <a:t>Linting</a:t>
            </a:r>
            <a:r>
              <a:rPr lang="nl-NL" sz="2000" noProof="0" dirty="0">
                <a:cs typeface="Courier New" panose="02070309020205020404" pitchFamily="49" charset="0"/>
              </a:rPr>
              <a:t>:			</a:t>
            </a:r>
            <a:r>
              <a:rPr lang="nl-NL" sz="2000" noProof="0" dirty="0" err="1">
                <a:cs typeface="Courier New" panose="02070309020205020404" pitchFamily="49" charset="0"/>
              </a:rPr>
              <a:t>pylint</a:t>
            </a:r>
            <a:endParaRPr lang="nl-NL" sz="20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200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noProof="0" dirty="0">
                <a:cs typeface="Courier New" panose="02070309020205020404" pitchFamily="49" charset="0"/>
              </a:rPr>
              <a:t>Drie afzonderlijke tools.</a:t>
            </a: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Black: strikte </a:t>
            </a:r>
            <a:r>
              <a:rPr lang="nl-NL" sz="2000" dirty="0" err="1">
                <a:cs typeface="Courier New" panose="02070309020205020404" pitchFamily="49" charset="0"/>
              </a:rPr>
              <a:t>formatting</a:t>
            </a:r>
            <a:r>
              <a:rPr lang="nl-NL" sz="2000" dirty="0">
                <a:cs typeface="Courier New" panose="02070309020205020404" pitchFamily="49" charset="0"/>
              </a:rPr>
              <a:t>, altijd hetzelfde.</a:t>
            </a:r>
          </a:p>
          <a:p>
            <a:pPr>
              <a:buFontTx/>
              <a:buChar char="-"/>
            </a:pPr>
            <a:r>
              <a:rPr lang="nl-NL" sz="2000" dirty="0" err="1">
                <a:cs typeface="Courier New" panose="02070309020205020404" pitchFamily="49" charset="0"/>
              </a:rPr>
              <a:t>Pylint</a:t>
            </a:r>
            <a:r>
              <a:rPr lang="nl-NL" sz="2000" dirty="0">
                <a:cs typeface="Courier New" panose="02070309020205020404" pitchFamily="49" charset="0"/>
              </a:rPr>
              <a:t>: meest strikte controle code.</a:t>
            </a:r>
          </a:p>
          <a:p>
            <a:pPr>
              <a:buFontTx/>
              <a:buChar char="-"/>
            </a:pPr>
            <a:r>
              <a:rPr lang="nl-NL" sz="2000" dirty="0" err="1">
                <a:cs typeface="Courier New" panose="02070309020205020404" pitchFamily="49" charset="0"/>
              </a:rPr>
              <a:t>Pylint</a:t>
            </a:r>
            <a:r>
              <a:rPr lang="nl-NL" sz="2000" dirty="0">
                <a:cs typeface="Courier New" panose="02070309020205020404" pitchFamily="49" charset="0"/>
              </a:rPr>
              <a:t>: relatief traag.</a:t>
            </a: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Fouten niet automatisch verbeteren.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26EAD9-0B0E-5717-29E1-F053536E1408}"/>
              </a:ext>
            </a:extLst>
          </p:cNvPr>
          <p:cNvSpPr txBox="1">
            <a:spLocks/>
          </p:cNvSpPr>
          <p:nvPr/>
        </p:nvSpPr>
        <p:spPr>
          <a:xfrm>
            <a:off x="6290823" y="1456267"/>
            <a:ext cx="5062979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2000" dirty="0" err="1">
                <a:cs typeface="Courier New" panose="02070309020205020404" pitchFamily="49" charset="0"/>
              </a:rPr>
              <a:t>Imports</a:t>
            </a:r>
            <a:r>
              <a:rPr lang="nl-NL" sz="2000" dirty="0">
                <a:cs typeface="Courier New" panose="02070309020205020404" pitchFamily="49" charset="0"/>
              </a:rPr>
              <a:t>:			</a:t>
            </a:r>
            <a:r>
              <a:rPr lang="nl-NL" sz="2000" dirty="0" err="1">
                <a:cs typeface="Courier New" panose="02070309020205020404" pitchFamily="49" charset="0"/>
              </a:rPr>
              <a:t>ruff</a:t>
            </a:r>
            <a:endParaRPr lang="nl-NL" sz="20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dirty="0" err="1">
                <a:cs typeface="Courier New" panose="02070309020205020404" pitchFamily="49" charset="0"/>
              </a:rPr>
              <a:t>Formatting</a:t>
            </a:r>
            <a:r>
              <a:rPr lang="nl-NL" sz="2000" dirty="0">
                <a:cs typeface="Courier New" panose="02070309020205020404" pitchFamily="49" charset="0"/>
              </a:rPr>
              <a:t>:		</a:t>
            </a:r>
            <a:r>
              <a:rPr lang="nl-NL" sz="2000" dirty="0" err="1">
                <a:cs typeface="Courier New" panose="02070309020205020404" pitchFamily="49" charset="0"/>
              </a:rPr>
              <a:t>ruff</a:t>
            </a:r>
            <a:endParaRPr lang="nl-NL" sz="20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2000" dirty="0" err="1">
                <a:cs typeface="Courier New" panose="02070309020205020404" pitchFamily="49" charset="0"/>
              </a:rPr>
              <a:t>Linting</a:t>
            </a:r>
            <a:r>
              <a:rPr lang="nl-NL" sz="2000" dirty="0">
                <a:cs typeface="Courier New" panose="02070309020205020404" pitchFamily="49" charset="0"/>
              </a:rPr>
              <a:t>:			</a:t>
            </a:r>
            <a:r>
              <a:rPr lang="nl-NL" sz="2000" dirty="0" err="1">
                <a:cs typeface="Courier New" panose="02070309020205020404" pitchFamily="49" charset="0"/>
              </a:rPr>
              <a:t>ruff</a:t>
            </a:r>
            <a:endParaRPr lang="nl-NL" sz="20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 sz="2000" dirty="0">
              <a:cs typeface="Courier New" panose="02070309020205020404" pitchFamily="49" charset="0"/>
            </a:endParaRP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Een tool voor alles.</a:t>
            </a: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Strikte </a:t>
            </a:r>
            <a:r>
              <a:rPr lang="nl-NL" sz="2000" dirty="0" err="1">
                <a:cs typeface="Courier New" panose="02070309020205020404" pitchFamily="49" charset="0"/>
              </a:rPr>
              <a:t>formatting</a:t>
            </a:r>
            <a:r>
              <a:rPr lang="nl-NL" sz="2000" dirty="0">
                <a:cs typeface="Courier New" panose="02070309020205020404" pitchFamily="49" charset="0"/>
              </a:rPr>
              <a:t>, compatible black.</a:t>
            </a: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Code controle minder strikt.</a:t>
            </a: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Zeer snel</a:t>
            </a:r>
          </a:p>
          <a:p>
            <a:pPr>
              <a:buFontTx/>
              <a:buChar char="-"/>
            </a:pPr>
            <a:r>
              <a:rPr lang="nl-NL" sz="2000" dirty="0">
                <a:cs typeface="Courier New" panose="02070309020205020404" pitchFamily="49" charset="0"/>
              </a:rPr>
              <a:t>Kan fouten automatisch verbeteren.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9E5230-D4C0-99EE-8F15-B71765952ED0}"/>
              </a:ext>
            </a:extLst>
          </p:cNvPr>
          <p:cNvCxnSpPr/>
          <p:nvPr/>
        </p:nvCxnSpPr>
        <p:spPr>
          <a:xfrm>
            <a:off x="5901179" y="1456267"/>
            <a:ext cx="0" cy="47206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711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Plug-ins voor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b="1" noProof="0" dirty="0" err="1"/>
              <a:t>AutoDocstring</a:t>
            </a: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  <a:hlinkClick r:id="rId3"/>
              </a:rPr>
              <a:t>https://marketplace.visualstudio.com/items?itemName=njpwerner.autodocstring</a:t>
            </a: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Genereert automatisch </a:t>
            </a:r>
            <a:r>
              <a:rPr lang="nl-NL" sz="1800" dirty="0" err="1">
                <a:cs typeface="Courier New" panose="02070309020205020404" pitchFamily="49" charset="0"/>
              </a:rPr>
              <a:t>docstrings</a:t>
            </a:r>
            <a:r>
              <a:rPr lang="nl-NL" sz="1800" dirty="0">
                <a:cs typeface="Courier New" panose="02070309020205020404" pitchFamily="49" charset="0"/>
              </a:rPr>
              <a:t> aan de hand van de functie definitie.</a:t>
            </a:r>
          </a:p>
          <a:p>
            <a:pPr marL="0" indent="0">
              <a:buNone/>
            </a:pPr>
            <a:endParaRPr lang="nl-NL" sz="1800" b="1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b="1" noProof="0" dirty="0" err="1">
                <a:cs typeface="Courier New" panose="02070309020205020404" pitchFamily="49" charset="0"/>
              </a:rPr>
              <a:t>Markdown</a:t>
            </a:r>
            <a:r>
              <a:rPr lang="nl-NL" sz="1800" b="1" noProof="0" dirty="0">
                <a:cs typeface="Courier New" panose="02070309020205020404" pitchFamily="49" charset="0"/>
              </a:rPr>
              <a:t> All-in-One</a:t>
            </a: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  <a:hlinkClick r:id="rId4"/>
              </a:rPr>
              <a:t>https://marketplace.visualstudio.com/items?itemName=yzhang.markdown-all-in-one</a:t>
            </a: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noProof="0" dirty="0">
                <a:cs typeface="Courier New" panose="02070309020205020404" pitchFamily="49" charset="0"/>
              </a:rPr>
              <a:t>Uitbreiding voor </a:t>
            </a:r>
            <a:r>
              <a:rPr lang="nl-NL" sz="1800" noProof="0" dirty="0" err="1">
                <a:cs typeface="Courier New" panose="02070309020205020404" pitchFamily="49" charset="0"/>
              </a:rPr>
              <a:t>Markdown</a:t>
            </a:r>
            <a:r>
              <a:rPr lang="nl-NL" sz="1800" noProof="0" dirty="0">
                <a:cs typeface="Courier New" panose="02070309020205020404" pitchFamily="49" charset="0"/>
              </a:rPr>
              <a:t> ondersteuning; hot </a:t>
            </a:r>
            <a:r>
              <a:rPr lang="nl-NL" sz="1800" noProof="0" dirty="0" err="1">
                <a:cs typeface="Courier New" panose="02070309020205020404" pitchFamily="49" charset="0"/>
              </a:rPr>
              <a:t>keys</a:t>
            </a:r>
            <a:r>
              <a:rPr lang="nl-NL" sz="1800" dirty="0">
                <a:cs typeface="Courier New" panose="02070309020205020404" pitchFamily="49" charset="0"/>
              </a:rPr>
              <a:t>, inhoudsopgave, etc.</a:t>
            </a:r>
            <a:endParaRPr lang="nl-NL" sz="1800" noProof="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noProof="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676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Structuur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28266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Structuur bestanden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Separation of concerns</a:t>
            </a:r>
            <a:r>
              <a:rPr lang="nl-NL" sz="2000" dirty="0"/>
              <a:t>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sz="2000" dirty="0"/>
              <a:t>Elk onderdeel heeft één duidelijke taak.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sz="2000" dirty="0"/>
              <a:t>Lokaliseren van problemen makkelijker.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nl-NL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nl-NL" sz="2000" dirty="0"/>
              <a:t>Deel je code op in: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sz="2000" dirty="0"/>
              <a:t>Project folder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sz="2000" dirty="0"/>
              <a:t>Notebooks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sz="2000" dirty="0"/>
              <a:t>Folder voor modules</a:t>
            </a:r>
          </a:p>
          <a:p>
            <a:pPr lvl="2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dirty="0"/>
              <a:t>Classes / functies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88404D-BDBE-36DD-1A0C-F3B32E5240B3}"/>
              </a:ext>
            </a:extLst>
          </p:cNvPr>
          <p:cNvSpPr txBox="1">
            <a:spLocks/>
          </p:cNvSpPr>
          <p:nvPr/>
        </p:nvSpPr>
        <p:spPr>
          <a:xfrm>
            <a:off x="7101415" y="1456267"/>
            <a:ext cx="4715935" cy="4931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project/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├─ helpers/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│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├─ plotting.py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└─ clean_text.py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data_prep.ipynb</a:t>
            </a:r>
            <a:endParaRPr lang="nl-NL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modelling.ipynb</a:t>
            </a:r>
            <a:endParaRPr lang="nl-NL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└─ README.md</a:t>
            </a:r>
          </a:p>
        </p:txBody>
      </p:sp>
    </p:spTree>
    <p:extLst>
      <p:ext uri="{BB962C8B-B14F-4D97-AF65-F5344CB8AC3E}">
        <p14:creationId xmlns:p14="http://schemas.microsoft.com/office/powerpoint/2010/main" val="4219705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Structuur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dirty="0"/>
              <a:t>Separation of concerns</a:t>
            </a:r>
            <a:r>
              <a:rPr lang="nl-NL" sz="2000" dirty="0"/>
              <a:t>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sz="2000" dirty="0"/>
              <a:t>Elk onderdeel heeft één duidelijke taak.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sz="2000" dirty="0"/>
              <a:t>Lokaliseren van problemen makkelijker.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nl-NL" sz="20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nl-NL" sz="2000" dirty="0"/>
              <a:t>Deel je code op in:</a:t>
            </a: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sz="2000" dirty="0"/>
              <a:t>Project folder		  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-database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sz="2000" dirty="0"/>
              <a:t>Code folder	  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dirty="0"/>
              <a:t>Package folder	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azure_database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Tx/>
              <a:buChar char="-"/>
            </a:pPr>
            <a:r>
              <a:rPr lang="nl-NL" sz="2000" dirty="0"/>
              <a:t>Setup bestand		  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88404D-BDBE-36DD-1A0C-F3B32E5240B3}"/>
              </a:ext>
            </a:extLst>
          </p:cNvPr>
          <p:cNvSpPr txBox="1">
            <a:spLocks/>
          </p:cNvSpPr>
          <p:nvPr/>
        </p:nvSpPr>
        <p:spPr>
          <a:xfrm>
            <a:off x="7101415" y="560916"/>
            <a:ext cx="4715935" cy="58271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C3531A-A28C-33C5-982C-88EE47557481}"/>
              </a:ext>
            </a:extLst>
          </p:cNvPr>
          <p:cNvSpPr txBox="1">
            <a:spLocks/>
          </p:cNvSpPr>
          <p:nvPr/>
        </p:nvSpPr>
        <p:spPr>
          <a:xfrm>
            <a:off x="7101415" y="1456267"/>
            <a:ext cx="4715935" cy="49318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</a:t>
            </a: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-database/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└─ </a:t>
            </a:r>
            <a:r>
              <a:rPr lang="nl-N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azure_database</a:t>
            </a: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├─ __init__.py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├─ basic.py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├─ errors.py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├─ extended.py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├─ reserved.py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     └─ resultset.py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├─ </a:t>
            </a:r>
            <a:r>
              <a:rPr lang="nl-NL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pyproject.toml</a:t>
            </a:r>
            <a:endParaRPr lang="nl-NL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│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└─ README.md</a:t>
            </a:r>
          </a:p>
        </p:txBody>
      </p:sp>
    </p:spTree>
    <p:extLst>
      <p:ext uri="{BB962C8B-B14F-4D97-AF65-F5344CB8AC3E}">
        <p14:creationId xmlns:p14="http://schemas.microsoft.com/office/powerpoint/2010/main" val="3000154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Structuur: Stappenplan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984750" cy="4720696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nl-NL" sz="1800" dirty="0"/>
              <a:t>Maak een overzicht van taken die uitgevoerd moeten worden</a:t>
            </a:r>
          </a:p>
          <a:p>
            <a:pPr marL="457200" indent="-457200">
              <a:buAutoNum type="arabicPeriod"/>
            </a:pPr>
            <a:endParaRPr lang="nl-NL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0A3FE-4D68-CB32-6FD5-6DA938A26983}"/>
              </a:ext>
            </a:extLst>
          </p:cNvPr>
          <p:cNvSpPr txBox="1">
            <a:spLocks/>
          </p:cNvSpPr>
          <p:nvPr/>
        </p:nvSpPr>
        <p:spPr>
          <a:xfrm>
            <a:off x="6369052" y="1456267"/>
            <a:ext cx="4984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Dataset A inlezen &amp; opschonen.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Dataset B inlezen &amp; opschonen.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Features maken.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Model trainen.</a:t>
            </a:r>
          </a:p>
          <a:p>
            <a:pPr marL="0" indent="0">
              <a:buNone/>
            </a:pP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1047979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Structuur: Stappenplan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984750" cy="4720696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nl-NL" sz="1800" dirty="0"/>
              <a:t>Maak een overzicht van taken die uitgevoerd moeten worden.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Werk de samenhang / interfaces uit tussen de verschillende onderdelen.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457200" indent="-457200">
              <a:buAutoNum type="arabicPeriod"/>
            </a:pPr>
            <a:endParaRPr lang="nl-NL" sz="18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0FDCF38-1B74-4665-5C2C-957C71903E6D}"/>
              </a:ext>
            </a:extLst>
          </p:cNvPr>
          <p:cNvGrpSpPr/>
          <p:nvPr/>
        </p:nvGrpSpPr>
        <p:grpSpPr>
          <a:xfrm>
            <a:off x="7995816" y="1169987"/>
            <a:ext cx="3519821" cy="4754045"/>
            <a:chOff x="7995816" y="1169987"/>
            <a:chExt cx="3519821" cy="475404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2591661-051B-E026-27B0-77AFE6203437}"/>
                </a:ext>
              </a:extLst>
            </p:cNvPr>
            <p:cNvGrpSpPr/>
            <p:nvPr/>
          </p:nvGrpSpPr>
          <p:grpSpPr>
            <a:xfrm>
              <a:off x="7995816" y="1169987"/>
              <a:ext cx="3519821" cy="4754045"/>
              <a:chOff x="7995816" y="1169987"/>
              <a:chExt cx="3519821" cy="4754045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A1A313-A02E-8800-0BD9-6CC29475730C}"/>
                  </a:ext>
                </a:extLst>
              </p:cNvPr>
              <p:cNvSpPr/>
              <p:nvPr/>
            </p:nvSpPr>
            <p:spPr>
              <a:xfrm>
                <a:off x="7995816" y="1169987"/>
                <a:ext cx="1455575" cy="110101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err="1"/>
                  <a:t>ReaderA</a:t>
                </a:r>
                <a:endParaRPr lang="nl-NL" sz="1600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2633611-E8AC-50A2-DAD9-9880D3A50E83}"/>
                  </a:ext>
                </a:extLst>
              </p:cNvPr>
              <p:cNvSpPr/>
              <p:nvPr/>
            </p:nvSpPr>
            <p:spPr>
              <a:xfrm>
                <a:off x="10049719" y="1169987"/>
                <a:ext cx="1455575" cy="110101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err="1"/>
                  <a:t>ReaderB</a:t>
                </a:r>
                <a:endParaRPr lang="nl-NL" sz="1600" dirty="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792C42F-BF92-0EB2-9971-561B82EF4906}"/>
                  </a:ext>
                </a:extLst>
              </p:cNvPr>
              <p:cNvSpPr/>
              <p:nvPr/>
            </p:nvSpPr>
            <p:spPr>
              <a:xfrm>
                <a:off x="9157285" y="3012881"/>
                <a:ext cx="1455575" cy="110101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Features</a:t>
                </a:r>
                <a:endParaRPr lang="nl-NL" sz="1600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78A2F56-F4E7-2D0F-B089-5BA61D119F5F}"/>
                  </a:ext>
                </a:extLst>
              </p:cNvPr>
              <p:cNvSpPr/>
              <p:nvPr/>
            </p:nvSpPr>
            <p:spPr>
              <a:xfrm>
                <a:off x="9157284" y="4823020"/>
                <a:ext cx="1455575" cy="110101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Model</a:t>
                </a:r>
                <a:endParaRPr lang="nl-NL" sz="1600" dirty="0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75E423F5-650C-A086-E073-A4DE757A5FA9}"/>
                  </a:ext>
                </a:extLst>
              </p:cNvPr>
              <p:cNvCxnSpPr>
                <a:cxnSpLocks/>
                <a:stCxn id="5" idx="2"/>
                <a:endCxn id="7" idx="0"/>
              </p:cNvCxnSpPr>
              <p:nvPr/>
            </p:nvCxnSpPr>
            <p:spPr>
              <a:xfrm>
                <a:off x="8723604" y="2270999"/>
                <a:ext cx="1161469" cy="7418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9BB32535-B912-23DF-4958-586A82C35870}"/>
                  </a:ext>
                </a:extLst>
              </p:cNvPr>
              <p:cNvCxnSpPr>
                <a:cxnSpLocks/>
                <a:stCxn id="6" idx="2"/>
                <a:endCxn id="7" idx="0"/>
              </p:cNvCxnSpPr>
              <p:nvPr/>
            </p:nvCxnSpPr>
            <p:spPr>
              <a:xfrm flipH="1">
                <a:off x="9885073" y="2270999"/>
                <a:ext cx="892434" cy="7418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B6219129-1A66-CC59-6D24-11076B652284}"/>
                  </a:ext>
                </a:extLst>
              </p:cNvPr>
              <p:cNvCxnSpPr>
                <a:cxnSpLocks/>
                <a:stCxn id="7" idx="2"/>
                <a:endCxn id="8" idx="0"/>
              </p:cNvCxnSpPr>
              <p:nvPr/>
            </p:nvCxnSpPr>
            <p:spPr>
              <a:xfrm flipH="1">
                <a:off x="9885072" y="4113893"/>
                <a:ext cx="1" cy="7091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AC64AD8-229B-E1BF-6636-7FDBBDB5C73D}"/>
                  </a:ext>
                </a:extLst>
              </p:cNvPr>
              <p:cNvSpPr txBox="1"/>
              <p:nvPr/>
            </p:nvSpPr>
            <p:spPr>
              <a:xfrm>
                <a:off x="10530559" y="2488051"/>
                <a:ext cx="9850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/>
                  <a:t>DataFrame</a:t>
                </a:r>
                <a:endParaRPr lang="en-NL" sz="1400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F341FBC-63B9-CBC0-48E2-8C29512FAC41}"/>
                  </a:ext>
                </a:extLst>
              </p:cNvPr>
              <p:cNvSpPr txBox="1"/>
              <p:nvPr/>
            </p:nvSpPr>
            <p:spPr>
              <a:xfrm>
                <a:off x="9899146" y="4314567"/>
                <a:ext cx="9850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/>
                  <a:t>DataFrame</a:t>
                </a:r>
                <a:endParaRPr lang="en-NL" sz="1400" dirty="0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5DECDA-0B3D-1906-38DB-559E64ABBBCC}"/>
                </a:ext>
              </a:extLst>
            </p:cNvPr>
            <p:cNvSpPr txBox="1"/>
            <p:nvPr/>
          </p:nvSpPr>
          <p:spPr>
            <a:xfrm>
              <a:off x="8084713" y="2488050"/>
              <a:ext cx="9850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DataFrame</a:t>
              </a:r>
              <a:endParaRPr lang="en-NL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56951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Structuur: Stappenplan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984750" cy="4720696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nl-NL" sz="1800" dirty="0"/>
              <a:t>Maak een overzicht van taken die uitgevoerd moeten worden.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Werk de samenhang / interfaces uit tussen de verschillende onderdelen.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r>
              <a:rPr lang="nl-NL" sz="1800" dirty="0"/>
              <a:t>Maak modules / classes / functies voor iedere taak.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r>
              <a:rPr lang="nl-NL" sz="1800" dirty="0"/>
              <a:t>Omschrijf functionaliteit in commentaren.</a:t>
            </a:r>
          </a:p>
          <a:p>
            <a:pPr marL="457200" indent="-457200">
              <a:buAutoNum type="arabicPeriod"/>
            </a:pPr>
            <a:endParaRPr lang="nl-NL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0A3FE-4D68-CB32-6FD5-6DA938A26983}"/>
              </a:ext>
            </a:extLst>
          </p:cNvPr>
          <p:cNvSpPr txBox="1">
            <a:spLocks/>
          </p:cNvSpPr>
          <p:nvPr/>
        </p:nvSpPr>
        <p:spPr>
          <a:xfrm>
            <a:off x="6369052" y="1456267"/>
            <a:ext cx="4984750" cy="47206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"""Module for preparing dataset A."""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DataReaderA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"""Prepares dataset A."""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(self, path):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_load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(self, path):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"""Load dataset from file."""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fill_missing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(self, strategy):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"""Fill missing values."""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82E6BB-6872-3EEE-BB00-7A11F5785582}"/>
              </a:ext>
            </a:extLst>
          </p:cNvPr>
          <p:cNvCxnSpPr>
            <a:cxnSpLocks/>
          </p:cNvCxnSpPr>
          <p:nvPr/>
        </p:nvCxnSpPr>
        <p:spPr>
          <a:xfrm>
            <a:off x="6076950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374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Structuur: Stappenplan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984750" cy="4720696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nl-NL" sz="1800" dirty="0"/>
              <a:t>Maak een overzicht van taken die uitgevoerd moeten worden.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Werk de samenhang / interfaces uit tussen de verschillende onderdelen.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r>
              <a:rPr lang="nl-NL" sz="1800" dirty="0"/>
              <a:t>Maak modules / classes / functies voor iedere taak.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r>
              <a:rPr lang="nl-NL" sz="1800" dirty="0"/>
              <a:t>Omschrijf functionaliteit in commentaren.</a:t>
            </a:r>
          </a:p>
          <a:p>
            <a:pPr marL="457200" indent="-457200">
              <a:buAutoNum type="arabicPeriod"/>
            </a:pPr>
            <a:endParaRPr lang="nl-NL" sz="1800" dirty="0"/>
          </a:p>
          <a:p>
            <a:pPr marL="457200" indent="-457200">
              <a:buAutoNum type="arabicPeriod"/>
            </a:pPr>
            <a:r>
              <a:rPr lang="nl-NL" sz="1800" dirty="0" err="1"/>
              <a:t>Refactor</a:t>
            </a:r>
            <a:r>
              <a:rPr lang="nl-NL" sz="1800" dirty="0"/>
              <a:t>: wijzig de structuur waar nodig…</a:t>
            </a:r>
          </a:p>
          <a:p>
            <a:pPr marL="457200" indent="-457200">
              <a:buAutoNum type="arabicPeriod"/>
            </a:pPr>
            <a:endParaRPr lang="nl-NL" sz="18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C070AEE-4682-5DD1-4307-FEB2B0ACF15E}"/>
              </a:ext>
            </a:extLst>
          </p:cNvPr>
          <p:cNvGrpSpPr/>
          <p:nvPr/>
        </p:nvGrpSpPr>
        <p:grpSpPr>
          <a:xfrm>
            <a:off x="6762329" y="1169987"/>
            <a:ext cx="4753308" cy="4754045"/>
            <a:chOff x="6762329" y="1169987"/>
            <a:chExt cx="4753308" cy="475404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07473EB-864E-3FFF-FF90-58FAA4D199F4}"/>
                </a:ext>
              </a:extLst>
            </p:cNvPr>
            <p:cNvGrpSpPr/>
            <p:nvPr/>
          </p:nvGrpSpPr>
          <p:grpSpPr>
            <a:xfrm>
              <a:off x="6762329" y="1169987"/>
              <a:ext cx="4753308" cy="4754045"/>
              <a:chOff x="6762329" y="1169987"/>
              <a:chExt cx="4753308" cy="475404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B564E2C-D2FC-34E8-3BDE-1A8472BD5A1A}"/>
                  </a:ext>
                </a:extLst>
              </p:cNvPr>
              <p:cNvSpPr/>
              <p:nvPr/>
            </p:nvSpPr>
            <p:spPr>
              <a:xfrm>
                <a:off x="7995816" y="1169987"/>
                <a:ext cx="1455575" cy="110101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err="1"/>
                  <a:t>ReaderA</a:t>
                </a:r>
                <a:endParaRPr lang="nl-NL" sz="1600" dirty="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6D82D1-50A5-3E51-7EAE-439CDEACE2D3}"/>
                  </a:ext>
                </a:extLst>
              </p:cNvPr>
              <p:cNvSpPr/>
              <p:nvPr/>
            </p:nvSpPr>
            <p:spPr>
              <a:xfrm>
                <a:off x="10049719" y="1169987"/>
                <a:ext cx="1455575" cy="1101012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 err="1"/>
                  <a:t>ReaderB</a:t>
                </a:r>
                <a:endParaRPr lang="nl-NL" sz="16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0B4F1B1-2B2B-F971-5BB5-82DB12976CA6}"/>
                  </a:ext>
                </a:extLst>
              </p:cNvPr>
              <p:cNvSpPr/>
              <p:nvPr/>
            </p:nvSpPr>
            <p:spPr>
              <a:xfrm>
                <a:off x="9157285" y="3012881"/>
                <a:ext cx="1455575" cy="110101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Features</a:t>
                </a:r>
                <a:endParaRPr lang="nl-NL" sz="1600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B190A54B-6981-3CAD-121D-571CEE523EB3}"/>
                  </a:ext>
                </a:extLst>
              </p:cNvPr>
              <p:cNvSpPr/>
              <p:nvPr/>
            </p:nvSpPr>
            <p:spPr>
              <a:xfrm>
                <a:off x="9157284" y="4823020"/>
                <a:ext cx="1455575" cy="110101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Model</a:t>
                </a:r>
                <a:endParaRPr lang="nl-NL" sz="1600" dirty="0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55E055EF-F17A-CC13-5B84-711A676962C1}"/>
                  </a:ext>
                </a:extLst>
              </p:cNvPr>
              <p:cNvCxnSpPr>
                <a:cxnSpLocks/>
                <a:stCxn id="13" idx="2"/>
                <a:endCxn id="16" idx="0"/>
              </p:cNvCxnSpPr>
              <p:nvPr/>
            </p:nvCxnSpPr>
            <p:spPr>
              <a:xfrm>
                <a:off x="8723604" y="2270999"/>
                <a:ext cx="1161469" cy="7418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489401E9-14D0-8CA1-96DF-98AEACFF45E7}"/>
                  </a:ext>
                </a:extLst>
              </p:cNvPr>
              <p:cNvCxnSpPr>
                <a:cxnSpLocks/>
                <a:stCxn id="15" idx="2"/>
                <a:endCxn id="16" idx="0"/>
              </p:cNvCxnSpPr>
              <p:nvPr/>
            </p:nvCxnSpPr>
            <p:spPr>
              <a:xfrm flipH="1">
                <a:off x="9885073" y="2270999"/>
                <a:ext cx="892434" cy="7418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43A195B-2818-C9F2-30CF-4FB7FBBC6E3B}"/>
                  </a:ext>
                </a:extLst>
              </p:cNvPr>
              <p:cNvCxnSpPr>
                <a:cxnSpLocks/>
                <a:stCxn id="16" idx="2"/>
                <a:endCxn id="21" idx="0"/>
              </p:cNvCxnSpPr>
              <p:nvPr/>
            </p:nvCxnSpPr>
            <p:spPr>
              <a:xfrm flipH="1">
                <a:off x="9885072" y="4113893"/>
                <a:ext cx="1" cy="7091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A70561A-78B6-5A3D-066C-0EF2D3FD51B7}"/>
                  </a:ext>
                </a:extLst>
              </p:cNvPr>
              <p:cNvSpPr/>
              <p:nvPr/>
            </p:nvSpPr>
            <p:spPr>
              <a:xfrm>
                <a:off x="6762329" y="3012878"/>
                <a:ext cx="1455575" cy="1101013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Config</a:t>
                </a:r>
                <a:endParaRPr lang="en-NL" sz="1600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04187E-6746-04AC-7204-EED48F87883E}"/>
                  </a:ext>
                </a:extLst>
              </p:cNvPr>
              <p:cNvSpPr txBox="1"/>
              <p:nvPr/>
            </p:nvSpPr>
            <p:spPr>
              <a:xfrm>
                <a:off x="10530559" y="2488051"/>
                <a:ext cx="9850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/>
                  <a:t>DataFrame</a:t>
                </a:r>
                <a:endParaRPr lang="en-NL" sz="1400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C9BFAD7-0F77-75CB-BDF6-AF62F61B6CE5}"/>
                  </a:ext>
                </a:extLst>
              </p:cNvPr>
              <p:cNvSpPr txBox="1"/>
              <p:nvPr/>
            </p:nvSpPr>
            <p:spPr>
              <a:xfrm>
                <a:off x="9899146" y="4314567"/>
                <a:ext cx="9850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/>
                  <a:t>DataFrame</a:t>
                </a:r>
                <a:endParaRPr lang="en-NL" sz="1400" dirty="0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C81A92B-C209-F7A6-79A5-DCA4D6C6DDF7}"/>
                  </a:ext>
                </a:extLst>
              </p:cNvPr>
              <p:cNvCxnSpPr>
                <a:cxnSpLocks/>
                <a:stCxn id="26" idx="6"/>
                <a:endCxn id="16" idx="1"/>
              </p:cNvCxnSpPr>
              <p:nvPr/>
            </p:nvCxnSpPr>
            <p:spPr>
              <a:xfrm>
                <a:off x="8217904" y="3563385"/>
                <a:ext cx="939381" cy="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BFEF0F-2D7C-B008-D17D-218603E67E57}"/>
                </a:ext>
              </a:extLst>
            </p:cNvPr>
            <p:cNvSpPr txBox="1"/>
            <p:nvPr/>
          </p:nvSpPr>
          <p:spPr>
            <a:xfrm>
              <a:off x="8084713" y="2488050"/>
              <a:ext cx="9850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DataFrame</a:t>
              </a:r>
              <a:endParaRPr lang="en-NL" sz="1400" dirty="0"/>
            </a:p>
          </p:txBody>
        </p:sp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693DF628-9218-C55C-AA34-6E1D2C809FF3}"/>
                </a:ext>
              </a:extLst>
            </p:cNvPr>
            <p:cNvCxnSpPr>
              <a:stCxn id="26" idx="0"/>
              <a:endCxn id="13" idx="1"/>
            </p:cNvCxnSpPr>
            <p:nvPr/>
          </p:nvCxnSpPr>
          <p:spPr>
            <a:xfrm rot="5400000" flipH="1" flipV="1">
              <a:off x="7096774" y="2113837"/>
              <a:ext cx="1292385" cy="505699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Connector: Elbow 10">
              <a:extLst>
                <a:ext uri="{FF2B5EF4-FFF2-40B4-BE49-F238E27FC236}">
                  <a16:creationId xmlns:a16="http://schemas.microsoft.com/office/drawing/2014/main" id="{288F05B1-BEC0-E642-4F37-1B26F0F1A405}"/>
                </a:ext>
              </a:extLst>
            </p:cNvPr>
            <p:cNvCxnSpPr>
              <a:stCxn id="26" idx="4"/>
              <a:endCxn id="21" idx="1"/>
            </p:cNvCxnSpPr>
            <p:nvPr/>
          </p:nvCxnSpPr>
          <p:spPr>
            <a:xfrm rot="16200000" flipH="1">
              <a:off x="7693883" y="3910124"/>
              <a:ext cx="1259635" cy="166716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4671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Goede principes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9164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/>
              <a:t>Zo eenvoudig mogelijk…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016500" cy="472069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Vermijd premature </a:t>
            </a:r>
            <a:r>
              <a:rPr lang="nl-NL" sz="2000" dirty="0" err="1"/>
              <a:t>optimization</a:t>
            </a:r>
            <a:r>
              <a:rPr lang="nl-NL" sz="2000" dirty="0"/>
              <a:t>; implementeer alleen wat nu nodig is.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Alleen noodzakelijke configuratie; kies verstandige standaard instellingen.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Meer code is complexer; meer documentatie, meer onderhoud, et cetera.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B366F9-935E-B155-8CA9-1DD2D210C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0" y="4675337"/>
            <a:ext cx="4279900" cy="172503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D058DC9-CB6C-69FA-94B2-8285DB87F734}"/>
              </a:ext>
            </a:extLst>
          </p:cNvPr>
          <p:cNvSpPr txBox="1">
            <a:spLocks/>
          </p:cNvSpPr>
          <p:nvPr/>
        </p:nvSpPr>
        <p:spPr>
          <a:xfrm>
            <a:off x="6369052" y="1456267"/>
            <a:ext cx="4984750" cy="47206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def mean(values,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dropna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=True):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filtered =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v for v in values if v is not None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]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total = sum(filtered)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if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dropna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total /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(filtered)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total /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(values)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6706DF-4B05-352B-09ED-192B3DB3862B}"/>
              </a:ext>
            </a:extLst>
          </p:cNvPr>
          <p:cNvCxnSpPr>
            <a:cxnSpLocks/>
          </p:cNvCxnSpPr>
          <p:nvPr/>
        </p:nvCxnSpPr>
        <p:spPr>
          <a:xfrm>
            <a:off x="6076950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967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en-US" sz="3600" dirty="0"/>
              <a:t>DRY </a:t>
            </a:r>
            <a:r>
              <a:rPr lang="en-US" sz="3600" dirty="0" err="1"/>
              <a:t>en</a:t>
            </a:r>
            <a:r>
              <a:rPr lang="en-US" sz="3600" dirty="0"/>
              <a:t> WET</a:t>
            </a:r>
            <a:endParaRPr lang="nl-NL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984749" cy="472069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endParaRPr lang="nl-NL" sz="2000" dirty="0"/>
          </a:p>
          <a:p>
            <a:pPr marL="0" indent="0">
              <a:buNone/>
            </a:pPr>
            <a:r>
              <a:rPr lang="en-US" sz="2000" b="1" dirty="0"/>
              <a:t>DRY: Don't Repeat Yourself</a:t>
            </a:r>
          </a:p>
          <a:p>
            <a:pPr marL="0" indent="0">
              <a:buNone/>
            </a:pPr>
            <a:r>
              <a:rPr lang="nl-NL" sz="2000" dirty="0"/>
              <a:t>Herhaling is een teken dat je efficiënter kunt zijn, bijvoorbeeld met een loop of functie.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en-US" sz="2000" b="1" dirty="0"/>
              <a:t>WET: Write Everything Twice</a:t>
            </a:r>
            <a:endParaRPr lang="en-US" sz="2000" dirty="0"/>
          </a:p>
          <a:p>
            <a:pPr marL="0" indent="0">
              <a:buNone/>
            </a:pPr>
            <a:r>
              <a:rPr lang="nl-NL" sz="2000" dirty="0"/>
              <a:t>Maar: Herhaling voorkomen betekent ook vaak meer abstractie en complexiteit…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CFAACF-4665-3D91-1FDF-026E02762FA9}"/>
              </a:ext>
            </a:extLst>
          </p:cNvPr>
          <p:cNvSpPr txBox="1">
            <a:spLocks/>
          </p:cNvSpPr>
          <p:nvPr/>
        </p:nvSpPr>
        <p:spPr>
          <a:xfrm>
            <a:off x="6369052" y="1456267"/>
            <a:ext cx="4984750" cy="47206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Repetitive statements.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rec[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"age"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(rec[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"age"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rec[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"items"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(rec[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"items"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rec[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"price"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(rec[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"price"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More efficient using a loop.</a:t>
            </a:r>
          </a:p>
          <a:p>
            <a:pPr marL="0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var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"age"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"items"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"price"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rec[var] =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(rec[var])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65C1B8-A2FE-ABD9-419E-4F4FBB7D25A8}"/>
              </a:ext>
            </a:extLst>
          </p:cNvPr>
          <p:cNvCxnSpPr>
            <a:cxnSpLocks/>
          </p:cNvCxnSpPr>
          <p:nvPr/>
        </p:nvCxnSpPr>
        <p:spPr>
          <a:xfrm>
            <a:off x="6096000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17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/>
              <a:t>Expliciet is beter dan impliciet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37845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Maak keuzes expliciet, bijvoorbeeld:</a:t>
            </a:r>
          </a:p>
          <a:p>
            <a:pPr>
              <a:buFontTx/>
              <a:buChar char="-"/>
            </a:pPr>
            <a:r>
              <a:rPr lang="nl-NL" sz="2000" dirty="0"/>
              <a:t>Wat is het doel van een class / functie?</a:t>
            </a:r>
          </a:p>
          <a:p>
            <a:pPr>
              <a:buFontTx/>
              <a:buChar char="-"/>
            </a:pPr>
            <a:r>
              <a:rPr lang="nl-NL" sz="2000" dirty="0"/>
              <a:t>Wat zijn geldige opties of waardes?</a:t>
            </a:r>
          </a:p>
          <a:p>
            <a:pPr>
              <a:buFontTx/>
              <a:buChar char="-"/>
            </a:pPr>
            <a:r>
              <a:rPr lang="nl-NL" sz="2000" dirty="0"/>
              <a:t>Wat gebeurt er bij ongeldige of ontbrekende waardes?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9C9090-9E09-B7D8-7596-5264F9D0DC68}"/>
              </a:ext>
            </a:extLst>
          </p:cNvPr>
          <p:cNvSpPr txBox="1">
            <a:spLocks/>
          </p:cNvSpPr>
          <p:nvPr/>
        </p:nvSpPr>
        <p:spPr>
          <a:xfrm>
            <a:off x="6369050" y="1456267"/>
            <a:ext cx="4984750" cy="47206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mean(x):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sum(x) /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4697AE-6BEB-25A1-CAD3-A1DC0008A188}"/>
              </a:ext>
            </a:extLst>
          </p:cNvPr>
          <p:cNvCxnSpPr>
            <a:cxnSpLocks/>
          </p:cNvCxnSpPr>
          <p:nvPr/>
        </p:nvCxnSpPr>
        <p:spPr>
          <a:xfrm>
            <a:off x="6096000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047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/>
              <a:t>Expliciet is beter dan impliciet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37845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Maak keuzes expliciet, bijvoorbeeld:</a:t>
            </a:r>
          </a:p>
          <a:p>
            <a:pPr>
              <a:buFontTx/>
              <a:buChar char="-"/>
            </a:pPr>
            <a:r>
              <a:rPr lang="nl-NL" sz="2000" dirty="0"/>
              <a:t>Wat is het doel van een class / functie?</a:t>
            </a:r>
          </a:p>
          <a:p>
            <a:pPr>
              <a:buFontTx/>
              <a:buChar char="-"/>
            </a:pPr>
            <a:r>
              <a:rPr lang="nl-NL" sz="2000" dirty="0"/>
              <a:t>Wat zijn geldige opties of waardes?</a:t>
            </a:r>
          </a:p>
          <a:p>
            <a:pPr>
              <a:buFontTx/>
              <a:buChar char="-"/>
            </a:pPr>
            <a:r>
              <a:rPr lang="nl-NL" sz="2000" dirty="0"/>
              <a:t>Wat gebeurt er bij ongeldige of ontbrekende waardes?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9C9090-9E09-B7D8-7596-5264F9D0DC68}"/>
              </a:ext>
            </a:extLst>
          </p:cNvPr>
          <p:cNvSpPr txBox="1">
            <a:spLocks/>
          </p:cNvSpPr>
          <p:nvPr/>
        </p:nvSpPr>
        <p:spPr>
          <a:xfrm>
            <a:off x="6369050" y="1456267"/>
            <a:ext cx="4984750" cy="47206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mean(values: list) -&gt; float: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"""Compute the mean of a list of values.</a:t>
            </a:r>
          </a:p>
          <a:p>
            <a:pPr marL="0" indent="0">
              <a:buNone/>
            </a:pPr>
            <a:endParaRPr lang="en-US" sz="14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Parameters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----------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values : list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List of numeric values, cannot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include missing values.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-------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float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Mean of values.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"""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sum(values) /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(values)</a:t>
            </a:r>
            <a:endParaRPr lang="en-US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4697AE-6BEB-25A1-CAD3-A1DC0008A188}"/>
              </a:ext>
            </a:extLst>
          </p:cNvPr>
          <p:cNvCxnSpPr>
            <a:cxnSpLocks/>
          </p:cNvCxnSpPr>
          <p:nvPr/>
        </p:nvCxnSpPr>
        <p:spPr>
          <a:xfrm>
            <a:off x="6096000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1770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/>
              <a:t>Expliciet is beter dan impliciet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37845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Documenteer keuzes en aannames:</a:t>
            </a:r>
          </a:p>
          <a:p>
            <a:pPr>
              <a:buFontTx/>
              <a:buChar char="-"/>
            </a:pPr>
            <a:r>
              <a:rPr lang="nl-NL" sz="2000" dirty="0"/>
              <a:t>Leg uit </a:t>
            </a:r>
            <a:r>
              <a:rPr lang="nl-NL" sz="2000" u="sng" dirty="0"/>
              <a:t>waarom</a:t>
            </a:r>
            <a:r>
              <a:rPr lang="nl-NL" sz="2000" dirty="0"/>
              <a:t> je een bepaalde aanpak kiest.</a:t>
            </a:r>
          </a:p>
          <a:p>
            <a:pPr>
              <a:buFontTx/>
              <a:buChar char="-"/>
            </a:pPr>
            <a:r>
              <a:rPr lang="nl-NL" sz="2000" dirty="0"/>
              <a:t>Wat je code doet zou duidelijk moeten zijn.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9C9090-9E09-B7D8-7596-5264F9D0DC68}"/>
              </a:ext>
            </a:extLst>
          </p:cNvPr>
          <p:cNvSpPr txBox="1">
            <a:spLocks/>
          </p:cNvSpPr>
          <p:nvPr/>
        </p:nvSpPr>
        <p:spPr>
          <a:xfrm>
            <a:off x="6369052" y="1456267"/>
            <a:ext cx="5144924" cy="472069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Split and join words.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.join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text_input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.split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Compact whitespace to a single space.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Removes new lines, double spaces, etc.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text_input.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split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3DF63C-CBAC-53E3-DC10-A8DA019D4EFC}"/>
              </a:ext>
            </a:extLst>
          </p:cNvPr>
          <p:cNvCxnSpPr>
            <a:cxnSpLocks/>
          </p:cNvCxnSpPr>
          <p:nvPr/>
        </p:nvCxnSpPr>
        <p:spPr>
          <a:xfrm>
            <a:off x="6096000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1685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Open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exercises/1_refactor.py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noProof="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noProof="0" dirty="0"/>
              <a:t>Bekijk de code en noteer hoe deze verbeterd kan worden.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noProof="0" dirty="0"/>
              <a:t>Let daarbij op de volgende zaken: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noProof="0" dirty="0"/>
          </a:p>
          <a:p>
            <a:pPr lvl="1"/>
            <a:r>
              <a:rPr lang="nl-NL" sz="2000" dirty="0"/>
              <a:t>Welke taken voert het script uit?</a:t>
            </a:r>
          </a:p>
          <a:p>
            <a:pPr lvl="1"/>
            <a:r>
              <a:rPr lang="nl-NL" sz="2000" noProof="0" dirty="0"/>
              <a:t>Kun je deze taken beter scheiden?</a:t>
            </a:r>
          </a:p>
          <a:p>
            <a:pPr lvl="1"/>
            <a:r>
              <a:rPr lang="nl-NL" sz="2000" dirty="0"/>
              <a:t>Kan de leesbaarheid van het script beter?</a:t>
            </a:r>
          </a:p>
          <a:p>
            <a:pPr lvl="1"/>
            <a:r>
              <a:rPr lang="nl-NL" sz="2000" dirty="0"/>
              <a:t>Kun de documentatie beter?</a:t>
            </a:r>
          </a:p>
          <a:p>
            <a:pPr marL="0" indent="0">
              <a:buNone/>
            </a:pPr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26395982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Oplossingen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1308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noProof="0" dirty="0"/>
              <a:t>Kritiekpunten:</a:t>
            </a:r>
          </a:p>
          <a:p>
            <a:pPr marL="0" indent="0">
              <a:buNone/>
            </a:pPr>
            <a:endParaRPr lang="nl-NL" sz="1800" dirty="0"/>
          </a:p>
          <a:p>
            <a:pPr>
              <a:buFontTx/>
              <a:buChar char="-"/>
            </a:pPr>
            <a:r>
              <a:rPr lang="nl-NL" sz="1800" noProof="0" dirty="0"/>
              <a:t>Weinig / geen documentatie.</a:t>
            </a:r>
          </a:p>
          <a:p>
            <a:pPr>
              <a:buFontTx/>
              <a:buChar char="-"/>
            </a:pPr>
            <a:r>
              <a:rPr lang="nl-NL" sz="1800" noProof="0" dirty="0"/>
              <a:t>Slechte namen voor variabelen.</a:t>
            </a:r>
          </a:p>
          <a:p>
            <a:pPr>
              <a:buFontTx/>
              <a:buChar char="-"/>
            </a:pPr>
            <a:r>
              <a:rPr lang="nl-NL" sz="1800" dirty="0"/>
              <a:t>Configuratie tussen de code.</a:t>
            </a:r>
          </a:p>
          <a:p>
            <a:pPr>
              <a:buFontTx/>
              <a:buChar char="-"/>
            </a:pPr>
            <a:endParaRPr lang="nl-NL" sz="1800" noProof="0" dirty="0"/>
          </a:p>
          <a:p>
            <a:pPr>
              <a:buFontTx/>
              <a:buChar char="-"/>
            </a:pPr>
            <a:r>
              <a:rPr lang="nl-NL" sz="1800" noProof="0" dirty="0"/>
              <a:t>Geen opsplitsing in functies.</a:t>
            </a:r>
          </a:p>
          <a:p>
            <a:pPr>
              <a:buFontTx/>
              <a:buChar char="-"/>
            </a:pPr>
            <a:r>
              <a:rPr lang="nl-NL" sz="1800" dirty="0"/>
              <a:t>Heel veel herhaling.</a:t>
            </a:r>
          </a:p>
          <a:p>
            <a:pPr>
              <a:buFontTx/>
              <a:buChar char="-"/>
            </a:pPr>
            <a:r>
              <a:rPr lang="nl-NL" sz="1800" noProof="0" dirty="0"/>
              <a:t>Onnodige conversies.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E5CAE0-8E86-CB35-2622-57C33818D16A}"/>
              </a:ext>
            </a:extLst>
          </p:cNvPr>
          <p:cNvSpPr txBox="1">
            <a:spLocks/>
          </p:cNvSpPr>
          <p:nvPr/>
        </p:nvSpPr>
        <p:spPr>
          <a:xfrm>
            <a:off x="6223000" y="1456267"/>
            <a:ext cx="5130800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800" dirty="0"/>
              <a:t>Taken: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800" dirty="0"/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Data inlezen en filteren op datum.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Aantal unieke klanten tellen.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Bereken totalen voor:</a:t>
            </a:r>
          </a:p>
          <a:p>
            <a:pPr lvl="1">
              <a:spcBef>
                <a:spcPts val="0"/>
              </a:spcBef>
            </a:pPr>
            <a:r>
              <a:rPr lang="nl-NL" sz="1600" dirty="0"/>
              <a:t>Aantal producten.</a:t>
            </a:r>
          </a:p>
          <a:p>
            <a:pPr lvl="1">
              <a:spcBef>
                <a:spcPts val="0"/>
              </a:spcBef>
            </a:pPr>
            <a:r>
              <a:rPr lang="nl-NL" sz="1600" dirty="0"/>
              <a:t>Totale omzet.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nl-NL" sz="1800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nl-NL" sz="1800" dirty="0"/>
              <a:t>Uitrekenen gemiddelde per klant:</a:t>
            </a:r>
          </a:p>
          <a:p>
            <a:pPr lvl="1">
              <a:spcBef>
                <a:spcPts val="0"/>
              </a:spcBef>
            </a:pPr>
            <a:r>
              <a:rPr lang="nl-NL" sz="1600" dirty="0"/>
              <a:t>Aantal producten.</a:t>
            </a:r>
          </a:p>
          <a:p>
            <a:pPr lvl="1">
              <a:spcBef>
                <a:spcPts val="0"/>
              </a:spcBef>
            </a:pPr>
            <a:r>
              <a:rPr lang="nl-NL" sz="1600" dirty="0"/>
              <a:t>Totale omzet.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nl-NL" sz="1800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nl-NL" sz="1800" dirty="0"/>
              <a:t>Hoogste omzet voor: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nl-NL" sz="1600" dirty="0"/>
              <a:t>Klant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nl-NL" sz="1600" dirty="0"/>
              <a:t>Product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562A2D-8D85-E58D-49B4-CC492F1AAFCF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219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Logging</a:t>
            </a:r>
            <a:endParaRPr lang="nl-NL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68395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Printen versus loggen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nl-NL" sz="2000" b="1" dirty="0"/>
              <a:t>Print</a:t>
            </a:r>
          </a:p>
          <a:p>
            <a:pPr marL="0" indent="0">
              <a:spcBef>
                <a:spcPts val="0"/>
              </a:spcBef>
              <a:buNone/>
            </a:pPr>
            <a:endParaRPr lang="nl-NL" sz="2000" dirty="0"/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/>
              <a:t>Feedback gebruiker, snelle debugging.</a:t>
            </a:r>
          </a:p>
          <a:p>
            <a:pPr marL="0" indent="0">
              <a:spcBef>
                <a:spcPts val="0"/>
              </a:spcBef>
              <a:buNone/>
            </a:pPr>
            <a:endParaRPr lang="nl-NL" sz="2000" dirty="0"/>
          </a:p>
          <a:p>
            <a:pPr marL="0" indent="0">
              <a:spcBef>
                <a:spcPts val="0"/>
              </a:spcBef>
              <a:buNone/>
            </a:pPr>
            <a:endParaRPr lang="nl-NL" sz="2000" dirty="0"/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/>
              <a:t>Print alleen naar de terminal.</a:t>
            </a:r>
          </a:p>
          <a:p>
            <a:pPr marL="0" indent="0">
              <a:spcBef>
                <a:spcPts val="0"/>
              </a:spcBef>
              <a:buNone/>
            </a:pPr>
            <a:endParaRPr lang="nl-NL" sz="2000" dirty="0"/>
          </a:p>
          <a:p>
            <a:pPr marL="0" indent="0">
              <a:spcBef>
                <a:spcPts val="0"/>
              </a:spcBef>
              <a:buNone/>
            </a:pPr>
            <a:endParaRPr lang="nl-NL" sz="2000" dirty="0"/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/>
              <a:t>Print geen extra diagnostische informatie.</a:t>
            </a:r>
          </a:p>
          <a:p>
            <a:pPr marL="0" indent="0">
              <a:spcBef>
                <a:spcPts val="0"/>
              </a:spcBef>
              <a:buNone/>
            </a:pPr>
            <a:endParaRPr lang="nl-NL" sz="2000" dirty="0"/>
          </a:p>
          <a:p>
            <a:pPr marL="0" indent="0">
              <a:spcBef>
                <a:spcPts val="0"/>
              </a:spcBef>
              <a:buNone/>
            </a:pPr>
            <a:endParaRPr lang="nl-NL" sz="2000" dirty="0"/>
          </a:p>
          <a:p>
            <a:pPr marL="0" indent="0">
              <a:spcBef>
                <a:spcPts val="0"/>
              </a:spcBef>
              <a:buNone/>
            </a:pPr>
            <a:endParaRPr lang="nl-NL" sz="2000" dirty="0"/>
          </a:p>
          <a:p>
            <a:pPr marL="0" indent="0">
              <a:spcBef>
                <a:spcPts val="0"/>
              </a:spcBef>
              <a:buNone/>
            </a:pPr>
            <a:r>
              <a:rPr lang="nl-NL" sz="2000" dirty="0"/>
              <a:t>Gebruiker krijgt elk print statement.</a:t>
            </a:r>
          </a:p>
          <a:p>
            <a:pPr marL="0" indent="0">
              <a:spcBef>
                <a:spcPts val="0"/>
              </a:spcBef>
              <a:buNone/>
            </a:pPr>
            <a:endParaRPr lang="nl-NL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EFE1E9-4D56-5081-678F-F94DE9C3DCC6}"/>
              </a:ext>
            </a:extLst>
          </p:cNvPr>
          <p:cNvSpPr txBox="1">
            <a:spLocks/>
          </p:cNvSpPr>
          <p:nvPr/>
        </p:nvSpPr>
        <p:spPr>
          <a:xfrm>
            <a:off x="5985937" y="1456267"/>
            <a:ext cx="517313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nl-NL" sz="2000" b="1" noProof="0" dirty="0" err="1"/>
              <a:t>Logging</a:t>
            </a:r>
            <a:endParaRPr lang="nl-NL" sz="2000" b="1" noProof="0" dirty="0"/>
          </a:p>
          <a:p>
            <a:pPr marL="0" indent="0">
              <a:spcBef>
                <a:spcPts val="0"/>
              </a:spcBef>
              <a:buNone/>
            </a:pPr>
            <a:endParaRPr lang="nl-NL" sz="2000" noProof="0" dirty="0"/>
          </a:p>
          <a:p>
            <a:pPr marL="0" indent="0">
              <a:spcBef>
                <a:spcPts val="0"/>
              </a:spcBef>
              <a:buNone/>
            </a:pPr>
            <a:r>
              <a:rPr lang="nl-NL" sz="2000" noProof="0" dirty="0"/>
              <a:t>Developers, houdt code stabiel, lange termijn.</a:t>
            </a:r>
          </a:p>
          <a:p>
            <a:pPr marL="0" indent="0">
              <a:spcBef>
                <a:spcPts val="0"/>
              </a:spcBef>
              <a:buNone/>
            </a:pPr>
            <a:endParaRPr lang="nl-NL" sz="2000" noProof="0" dirty="0"/>
          </a:p>
          <a:p>
            <a:pPr marL="0" indent="0">
              <a:spcBef>
                <a:spcPts val="0"/>
              </a:spcBef>
              <a:buNone/>
            </a:pPr>
            <a:endParaRPr lang="nl-NL" sz="2000" noProof="0" dirty="0"/>
          </a:p>
          <a:p>
            <a:pPr marL="0" indent="0">
              <a:spcBef>
                <a:spcPts val="0"/>
              </a:spcBef>
              <a:buNone/>
            </a:pPr>
            <a:r>
              <a:rPr lang="nl-NL" sz="2000" noProof="0" dirty="0"/>
              <a:t>Meer opties; schrijven naar een bestand.</a:t>
            </a:r>
          </a:p>
          <a:p>
            <a:pPr marL="0" indent="0">
              <a:spcBef>
                <a:spcPts val="0"/>
              </a:spcBef>
              <a:buNone/>
            </a:pPr>
            <a:endParaRPr lang="nl-NL" sz="2000" noProof="0" dirty="0"/>
          </a:p>
          <a:p>
            <a:pPr marL="0" indent="0">
              <a:spcBef>
                <a:spcPts val="0"/>
              </a:spcBef>
              <a:buNone/>
            </a:pPr>
            <a:endParaRPr lang="nl-NL" sz="2000" noProof="0" dirty="0"/>
          </a:p>
          <a:p>
            <a:pPr marL="0" indent="0">
              <a:spcBef>
                <a:spcPts val="0"/>
              </a:spcBef>
              <a:buNone/>
            </a:pPr>
            <a:r>
              <a:rPr lang="nl-NL" sz="2000" noProof="0" dirty="0"/>
              <a:t>Diagnostische informatie zoals tijdstip, regelnummer, functienaam.</a:t>
            </a:r>
          </a:p>
          <a:p>
            <a:pPr marL="0" indent="0">
              <a:spcBef>
                <a:spcPts val="0"/>
              </a:spcBef>
              <a:buNone/>
            </a:pPr>
            <a:endParaRPr lang="nl-NL" sz="2000" noProof="0" dirty="0"/>
          </a:p>
          <a:p>
            <a:pPr marL="0" indent="0">
              <a:spcBef>
                <a:spcPts val="0"/>
              </a:spcBef>
              <a:buNone/>
            </a:pPr>
            <a:endParaRPr lang="nl-NL" sz="2000" noProof="0" dirty="0"/>
          </a:p>
          <a:p>
            <a:pPr marL="0" indent="0">
              <a:spcBef>
                <a:spcPts val="0"/>
              </a:spcBef>
              <a:buNone/>
            </a:pPr>
            <a:r>
              <a:rPr lang="nl-NL" sz="2000" noProof="0" dirty="0"/>
              <a:t>Verschillende niveaus, zoals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DEBUG</a:t>
            </a:r>
            <a:r>
              <a:rPr lang="nl-NL" sz="2000" noProof="0" dirty="0"/>
              <a:t> en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INFO</a:t>
            </a:r>
            <a:r>
              <a:rPr lang="nl-NL" sz="2000" noProof="0" dirty="0"/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06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0B364B-D07E-1F58-2A8E-EF2360CDE504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4571999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10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logging.DEBUG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20 = logging.INFO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30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logging.WARNING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40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logging.ERROR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50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logging.CRITICAL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Hiërarchisch: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WARNING</a:t>
            </a:r>
            <a:r>
              <a:rPr lang="nl-NL" sz="1800" dirty="0">
                <a:cs typeface="Courier New" panose="02070309020205020404" pitchFamily="49" charset="0"/>
              </a:rPr>
              <a:t> toont ook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nl-NL" sz="1800" dirty="0">
                <a:cs typeface="Courier New" panose="02070309020205020404" pitchFamily="49" charset="0"/>
              </a:rPr>
              <a:t> en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CRITICAL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INFO:	</a:t>
            </a:r>
            <a:r>
              <a:rPr lang="nl-NL" sz="1800" dirty="0">
                <a:cs typeface="Courier New" panose="02070309020205020404" pitchFamily="49" charset="0"/>
              </a:rPr>
              <a:t>Rode draad / hoofdlijnen.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DEBUG:	</a:t>
            </a:r>
            <a:r>
              <a:rPr lang="nl-NL" sz="1800" dirty="0">
                <a:cs typeface="Courier New" panose="02070309020205020404" pitchFamily="49" charset="0"/>
              </a:rPr>
              <a:t>Alle details voor ontwikkelaars.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Niveaus van </a:t>
            </a:r>
            <a:r>
              <a:rPr lang="nl-NL" sz="3600" noProof="0" dirty="0" err="1"/>
              <a:t>logging</a:t>
            </a:r>
            <a:endParaRPr lang="nl-NL" sz="3600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6517B9-97D0-8255-B24E-1BBE65010D0C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1CBFA1-5B79-5C98-537C-218F1FDF4FAF}"/>
              </a:ext>
            </a:extLst>
          </p:cNvPr>
          <p:cNvSpPr txBox="1">
            <a:spLocks/>
          </p:cNvSpPr>
          <p:nvPr/>
        </p:nvSpPr>
        <p:spPr>
          <a:xfrm>
            <a:off x="5951595" y="1456267"/>
            <a:ext cx="5190054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logger.debug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 for developers."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logger.info(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 for end users."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logger.warning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"Warning messages."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logger.error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"Recoverable error."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logger.critical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"Unrecoverable error."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logger.info(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"Reading sales data."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logger.debug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"Sales file: 'sales.csv'."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logger.debug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"Read: 233 transactions."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78497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0B364B-D07E-1F58-2A8E-EF2360CDE504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4571999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/>
              <a:t>Python maakt altijd een root logger aan.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Deze root logger is toegankelijk via:</a:t>
            </a:r>
          </a:p>
          <a:p>
            <a:pPr>
              <a:buFontTx/>
              <a:buChar char="-"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logging</a:t>
            </a:r>
          </a:p>
          <a:p>
            <a:pPr>
              <a:buFontTx/>
              <a:buChar char="-"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logging.getLogger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Gebruik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basicConfig()</a:t>
            </a:r>
            <a:r>
              <a:rPr lang="nl-NL" sz="2000" dirty="0"/>
              <a:t> om de root logger eenvoudig te configureren.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Let op: Kan alleen als nog niets gelogd is!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Logging</a:t>
            </a:r>
            <a:r>
              <a:rPr lang="nl-NL" sz="3600" noProof="0" dirty="0"/>
              <a:t> opzetten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6517B9-97D0-8255-B24E-1BBE65010D0C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1CBFA1-5B79-5C98-537C-218F1FDF4FAF}"/>
              </a:ext>
            </a:extLst>
          </p:cNvPr>
          <p:cNvSpPr txBox="1">
            <a:spLocks/>
          </p:cNvSpPr>
          <p:nvPr/>
        </p:nvSpPr>
        <p:spPr>
          <a:xfrm>
            <a:off x="5969013" y="1456267"/>
            <a:ext cx="5190054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logging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 message through the root logger.</a:t>
            </a:r>
          </a:p>
          <a:p>
            <a:pPr marL="0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logging.info(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"&lt;info message&gt;"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Get reference to root logger.</a:t>
            </a:r>
          </a:p>
          <a:p>
            <a:pPr marL="0" indent="0"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root_logger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logging.getLogger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root_logger.info(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"&lt;info message&gt;"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Configure the root logger.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Must configure before first message!</a:t>
            </a:r>
          </a:p>
          <a:p>
            <a:pPr marL="0" indent="0">
              <a:buNone/>
            </a:pP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logging.basicConfig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level=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logging.DEBUG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903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0B364B-D07E-1F58-2A8E-EF2360CDE504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4571999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/>
              <a:t>Maak nieuwe loggers aan met:</a:t>
            </a:r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logging.getLogger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(&lt;naam&gt;)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/>
              <a:t>Naam van de module :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__name__</a:t>
            </a:r>
            <a:r>
              <a:rPr lang="nl-NL" sz="1800" dirty="0"/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/>
              <a:t>Of naam van de class: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.__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class__.__name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eigen logger maken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6517B9-97D0-8255-B24E-1BBE65010D0C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1CBFA1-5B79-5C98-537C-218F1FDF4FAF}"/>
              </a:ext>
            </a:extLst>
          </p:cNvPr>
          <p:cNvSpPr txBox="1">
            <a:spLocks/>
          </p:cNvSpPr>
          <p:nvPr/>
        </p:nvSpPr>
        <p:spPr>
          <a:xfrm>
            <a:off x="5969013" y="1456267"/>
            <a:ext cx="5190054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logging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logger called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TestLogger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logger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logging.getLogger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TestLogger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Or use the module name</a:t>
            </a:r>
          </a:p>
          <a:p>
            <a:pPr marL="0" indent="0"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logger =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logging.getLogger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__name__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823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0B364B-D07E-1F58-2A8E-EF2360CDE504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4571999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Logger</a:t>
            </a:r>
            <a:r>
              <a:rPr lang="nl-NL" sz="2000" dirty="0"/>
              <a:t> kan zowel berichten maken als ontvangen.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Berichten doorgestuurd via hiërarchie, eindigen bij root logger.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Logging</a:t>
            </a:r>
            <a:r>
              <a:rPr lang="nl-NL" sz="3600" noProof="0" dirty="0"/>
              <a:t> configureren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6517B9-97D0-8255-B24E-1BBE65010D0C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9C1E0AE-7A98-998B-0E6A-F116381B207A}"/>
              </a:ext>
            </a:extLst>
          </p:cNvPr>
          <p:cNvSpPr/>
          <p:nvPr/>
        </p:nvSpPr>
        <p:spPr>
          <a:xfrm>
            <a:off x="7095790" y="1455536"/>
            <a:ext cx="1365421" cy="957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Test</a:t>
            </a:r>
          </a:p>
          <a:p>
            <a:pPr algn="ctr"/>
            <a:r>
              <a:rPr lang="en-US" sz="1600" dirty="0"/>
              <a:t>Logger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EC841A-F90A-2572-CDC6-8174DC48A228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8461211" y="1934360"/>
            <a:ext cx="1527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29E75A7-B604-3383-C0F6-1C89A18AFFCC}"/>
              </a:ext>
            </a:extLst>
          </p:cNvPr>
          <p:cNvSpPr/>
          <p:nvPr/>
        </p:nvSpPr>
        <p:spPr>
          <a:xfrm>
            <a:off x="9988379" y="1455536"/>
            <a:ext cx="1365421" cy="9576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Root</a:t>
            </a:r>
          </a:p>
          <a:p>
            <a:pPr algn="ctr"/>
            <a:r>
              <a:rPr lang="en-US" sz="1600" dirty="0"/>
              <a:t>Logger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79498D-C85D-FB4F-334C-1521A5D56A2F}"/>
              </a:ext>
            </a:extLst>
          </p:cNvPr>
          <p:cNvSpPr txBox="1"/>
          <p:nvPr/>
        </p:nvSpPr>
        <p:spPr>
          <a:xfrm>
            <a:off x="8641686" y="1554892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LogRecord</a:t>
            </a:r>
            <a:endParaRPr lang="en-NL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F03C6AD-1473-FBFF-6AD7-2D105E0D79E2}"/>
              </a:ext>
            </a:extLst>
          </p:cNvPr>
          <p:cNvCxnSpPr>
            <a:cxnSpLocks/>
          </p:cNvCxnSpPr>
          <p:nvPr/>
        </p:nvCxnSpPr>
        <p:spPr>
          <a:xfrm>
            <a:off x="5946742" y="1934360"/>
            <a:ext cx="1130129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7E544C-45E8-39BE-2917-7BAF7CFF5799}"/>
              </a:ext>
            </a:extLst>
          </p:cNvPr>
          <p:cNvSpPr txBox="1"/>
          <p:nvPr/>
        </p:nvSpPr>
        <p:spPr>
          <a:xfrm>
            <a:off x="5839335" y="1554892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LogRecord</a:t>
            </a:r>
            <a:endParaRPr lang="en-NL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653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0B364B-D07E-1F58-2A8E-EF2360CDE504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4571999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cs typeface="Courier New" panose="02070309020205020404" pitchFamily="49" charset="0"/>
              </a:rPr>
              <a:t>Een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Handler</a:t>
            </a:r>
            <a:r>
              <a:rPr lang="nl-NL" sz="2000" dirty="0"/>
              <a:t> zorgt voor het wegschrijven van berichten.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De root logger heeft standaard een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StreamHandler</a:t>
            </a:r>
            <a:r>
              <a:rPr lang="nl-NL" sz="200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Logging</a:t>
            </a:r>
            <a:r>
              <a:rPr lang="nl-NL" sz="3600" noProof="0" dirty="0"/>
              <a:t> configureren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6517B9-97D0-8255-B24E-1BBE65010D0C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9C1E0AE-7A98-998B-0E6A-F116381B207A}"/>
              </a:ext>
            </a:extLst>
          </p:cNvPr>
          <p:cNvSpPr/>
          <p:nvPr/>
        </p:nvSpPr>
        <p:spPr>
          <a:xfrm>
            <a:off x="7095790" y="1455536"/>
            <a:ext cx="1365421" cy="957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Test</a:t>
            </a:r>
          </a:p>
          <a:p>
            <a:pPr algn="ctr"/>
            <a:r>
              <a:rPr lang="en-US" sz="1600" dirty="0"/>
              <a:t>Logger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EC841A-F90A-2572-CDC6-8174DC48A228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8461211" y="1934360"/>
            <a:ext cx="1527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29E75A7-B604-3383-C0F6-1C89A18AFFCC}"/>
              </a:ext>
            </a:extLst>
          </p:cNvPr>
          <p:cNvSpPr/>
          <p:nvPr/>
        </p:nvSpPr>
        <p:spPr>
          <a:xfrm>
            <a:off x="9988379" y="1455536"/>
            <a:ext cx="1365421" cy="9576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Root</a:t>
            </a:r>
          </a:p>
          <a:p>
            <a:pPr algn="ctr"/>
            <a:r>
              <a:rPr lang="en-US" sz="1600" dirty="0"/>
              <a:t>Logger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79498D-C85D-FB4F-334C-1521A5D56A2F}"/>
              </a:ext>
            </a:extLst>
          </p:cNvPr>
          <p:cNvSpPr txBox="1"/>
          <p:nvPr/>
        </p:nvSpPr>
        <p:spPr>
          <a:xfrm>
            <a:off x="8641686" y="1554892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LogRecord</a:t>
            </a:r>
            <a:endParaRPr lang="en-NL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F03C6AD-1473-FBFF-6AD7-2D105E0D79E2}"/>
              </a:ext>
            </a:extLst>
          </p:cNvPr>
          <p:cNvCxnSpPr>
            <a:cxnSpLocks/>
          </p:cNvCxnSpPr>
          <p:nvPr/>
        </p:nvCxnSpPr>
        <p:spPr>
          <a:xfrm>
            <a:off x="5946742" y="1934360"/>
            <a:ext cx="1130129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7E544C-45E8-39BE-2917-7BAF7CFF5799}"/>
              </a:ext>
            </a:extLst>
          </p:cNvPr>
          <p:cNvSpPr txBox="1"/>
          <p:nvPr/>
        </p:nvSpPr>
        <p:spPr>
          <a:xfrm>
            <a:off x="5839335" y="1554892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LogRecord</a:t>
            </a:r>
            <a:endParaRPr lang="en-NL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E3C3CA6-F60B-1080-6D2E-88C8586B291A}"/>
              </a:ext>
            </a:extLst>
          </p:cNvPr>
          <p:cNvSpPr/>
          <p:nvPr/>
        </p:nvSpPr>
        <p:spPr>
          <a:xfrm>
            <a:off x="9988379" y="3090902"/>
            <a:ext cx="1365421" cy="95764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Stream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Handler</a:t>
            </a:r>
            <a:endParaRPr lang="en-NL" sz="1600" dirty="0">
              <a:solidFill>
                <a:schemeClr val="bg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FAC7F7E-C986-BCB3-4818-686C37178466}"/>
              </a:ext>
            </a:extLst>
          </p:cNvPr>
          <p:cNvCxnSpPr>
            <a:stCxn id="15" idx="2"/>
            <a:endCxn id="31" idx="0"/>
          </p:cNvCxnSpPr>
          <p:nvPr/>
        </p:nvCxnSpPr>
        <p:spPr>
          <a:xfrm>
            <a:off x="10671090" y="2413184"/>
            <a:ext cx="0" cy="67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3806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0B364B-D07E-1F58-2A8E-EF2360CDE504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4571999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>
                <a:cs typeface="Courier New" panose="02070309020205020404" pitchFamily="49" charset="0"/>
              </a:rPr>
              <a:t>Een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Handler</a:t>
            </a:r>
            <a:r>
              <a:rPr lang="nl-NL" sz="2000" dirty="0"/>
              <a:t> zorgt voor het wegschrijven van berichten.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De root logger heeft standaard een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StreamHandler</a:t>
            </a:r>
            <a:r>
              <a:rPr lang="nl-NL" sz="2000" dirty="0"/>
              <a:t>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Je kunt ook andere handlers toevoegen, zoals een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FileHandler</a:t>
            </a:r>
            <a:r>
              <a:rPr lang="nl-NL" sz="200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Logging</a:t>
            </a:r>
            <a:r>
              <a:rPr lang="nl-NL" sz="3600" noProof="0" dirty="0"/>
              <a:t> configureren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6517B9-97D0-8255-B24E-1BBE65010D0C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9C1E0AE-7A98-998B-0E6A-F116381B207A}"/>
              </a:ext>
            </a:extLst>
          </p:cNvPr>
          <p:cNvSpPr/>
          <p:nvPr/>
        </p:nvSpPr>
        <p:spPr>
          <a:xfrm>
            <a:off x="7095790" y="1455536"/>
            <a:ext cx="1365421" cy="957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Test</a:t>
            </a:r>
          </a:p>
          <a:p>
            <a:pPr algn="ctr"/>
            <a:r>
              <a:rPr lang="en-US" sz="1600" dirty="0"/>
              <a:t>Logger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EC841A-F90A-2572-CDC6-8174DC48A228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8461211" y="1934360"/>
            <a:ext cx="1527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29E75A7-B604-3383-C0F6-1C89A18AFFCC}"/>
              </a:ext>
            </a:extLst>
          </p:cNvPr>
          <p:cNvSpPr/>
          <p:nvPr/>
        </p:nvSpPr>
        <p:spPr>
          <a:xfrm>
            <a:off x="9988379" y="1455536"/>
            <a:ext cx="1365421" cy="9576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Root</a:t>
            </a:r>
          </a:p>
          <a:p>
            <a:pPr algn="ctr"/>
            <a:r>
              <a:rPr lang="en-US" sz="1600" dirty="0"/>
              <a:t>Logger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79498D-C85D-FB4F-334C-1521A5D56A2F}"/>
              </a:ext>
            </a:extLst>
          </p:cNvPr>
          <p:cNvSpPr txBox="1"/>
          <p:nvPr/>
        </p:nvSpPr>
        <p:spPr>
          <a:xfrm>
            <a:off x="8641686" y="1554892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LogRecord</a:t>
            </a:r>
            <a:endParaRPr lang="en-NL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F03C6AD-1473-FBFF-6AD7-2D105E0D79E2}"/>
              </a:ext>
            </a:extLst>
          </p:cNvPr>
          <p:cNvCxnSpPr>
            <a:cxnSpLocks/>
          </p:cNvCxnSpPr>
          <p:nvPr/>
        </p:nvCxnSpPr>
        <p:spPr>
          <a:xfrm>
            <a:off x="5946742" y="1934360"/>
            <a:ext cx="1130129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7E544C-45E8-39BE-2917-7BAF7CFF5799}"/>
              </a:ext>
            </a:extLst>
          </p:cNvPr>
          <p:cNvSpPr txBox="1"/>
          <p:nvPr/>
        </p:nvSpPr>
        <p:spPr>
          <a:xfrm>
            <a:off x="5839335" y="1554892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LogRecord</a:t>
            </a:r>
            <a:endParaRPr lang="en-NL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E3C3CA6-F60B-1080-6D2E-88C8586B291A}"/>
              </a:ext>
            </a:extLst>
          </p:cNvPr>
          <p:cNvSpPr/>
          <p:nvPr/>
        </p:nvSpPr>
        <p:spPr>
          <a:xfrm>
            <a:off x="9988379" y="3090902"/>
            <a:ext cx="1365421" cy="95764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Stream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Handler</a:t>
            </a:r>
            <a:endParaRPr lang="en-NL" sz="1600" dirty="0">
              <a:solidFill>
                <a:schemeClr val="bg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FAC7F7E-C986-BCB3-4818-686C37178466}"/>
              </a:ext>
            </a:extLst>
          </p:cNvPr>
          <p:cNvCxnSpPr>
            <a:stCxn id="15" idx="2"/>
            <a:endCxn id="31" idx="0"/>
          </p:cNvCxnSpPr>
          <p:nvPr/>
        </p:nvCxnSpPr>
        <p:spPr>
          <a:xfrm>
            <a:off x="10671090" y="2413184"/>
            <a:ext cx="0" cy="67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BB071E6-195C-1B7E-0BDC-62FD60A9F3E6}"/>
              </a:ext>
            </a:extLst>
          </p:cNvPr>
          <p:cNvSpPr/>
          <p:nvPr/>
        </p:nvSpPr>
        <p:spPr>
          <a:xfrm>
            <a:off x="7095790" y="3090902"/>
            <a:ext cx="1365421" cy="9576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File</a:t>
            </a:r>
          </a:p>
          <a:p>
            <a:pPr algn="ctr"/>
            <a:r>
              <a:rPr lang="en-US" sz="1600" dirty="0"/>
              <a:t>Handler</a:t>
            </a:r>
            <a:endParaRPr lang="en-NL" sz="1600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BF88481-BBB6-7E77-816E-9459C35C00E8}"/>
              </a:ext>
            </a:extLst>
          </p:cNvPr>
          <p:cNvCxnSpPr>
            <a:stCxn id="15" idx="2"/>
            <a:endCxn id="3" idx="0"/>
          </p:cNvCxnSpPr>
          <p:nvPr/>
        </p:nvCxnSpPr>
        <p:spPr>
          <a:xfrm rot="5400000">
            <a:off x="8885937" y="1305749"/>
            <a:ext cx="677718" cy="28925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670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0B364B-D07E-1F58-2A8E-EF2360CDE504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4571999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/>
              <a:t>Een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Formatter</a:t>
            </a:r>
            <a:r>
              <a:rPr lang="nl-NL" sz="2000" dirty="0"/>
              <a:t> verzorgt de opmaak van de logberichten.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De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Formatter</a:t>
            </a:r>
            <a:r>
              <a:rPr lang="nl-NL" sz="2000" dirty="0"/>
              <a:t> koppel je aan de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Handler</a:t>
            </a:r>
            <a:r>
              <a:rPr lang="nl-NL" sz="2000" dirty="0"/>
              <a:t> van een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Logger</a:t>
            </a:r>
            <a:r>
              <a:rPr lang="nl-NL" sz="2000" dirty="0"/>
              <a:t>.</a:t>
            </a:r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Logging</a:t>
            </a:r>
            <a:r>
              <a:rPr lang="nl-NL" sz="3600" noProof="0" dirty="0"/>
              <a:t> configureren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6517B9-97D0-8255-B24E-1BBE65010D0C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9C1E0AE-7A98-998B-0E6A-F116381B207A}"/>
              </a:ext>
            </a:extLst>
          </p:cNvPr>
          <p:cNvSpPr/>
          <p:nvPr/>
        </p:nvSpPr>
        <p:spPr>
          <a:xfrm>
            <a:off x="7095790" y="1455536"/>
            <a:ext cx="1365421" cy="95764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Test</a:t>
            </a:r>
          </a:p>
          <a:p>
            <a:pPr algn="ctr"/>
            <a:r>
              <a:rPr lang="en-US" sz="1600" dirty="0"/>
              <a:t>Logger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EC841A-F90A-2572-CDC6-8174DC48A228}"/>
              </a:ext>
            </a:extLst>
          </p:cNvPr>
          <p:cNvCxnSpPr>
            <a:cxnSpLocks/>
            <a:stCxn id="4" idx="3"/>
            <a:endCxn id="15" idx="1"/>
          </p:cNvCxnSpPr>
          <p:nvPr/>
        </p:nvCxnSpPr>
        <p:spPr>
          <a:xfrm>
            <a:off x="8461211" y="1934360"/>
            <a:ext cx="15271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29E75A7-B604-3383-C0F6-1C89A18AFFCC}"/>
              </a:ext>
            </a:extLst>
          </p:cNvPr>
          <p:cNvSpPr/>
          <p:nvPr/>
        </p:nvSpPr>
        <p:spPr>
          <a:xfrm>
            <a:off x="9988379" y="1455536"/>
            <a:ext cx="1365421" cy="9576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Root</a:t>
            </a:r>
          </a:p>
          <a:p>
            <a:pPr algn="ctr"/>
            <a:r>
              <a:rPr lang="en-US" sz="1600" dirty="0"/>
              <a:t>Logger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79498D-C85D-FB4F-334C-1521A5D56A2F}"/>
              </a:ext>
            </a:extLst>
          </p:cNvPr>
          <p:cNvSpPr txBox="1"/>
          <p:nvPr/>
        </p:nvSpPr>
        <p:spPr>
          <a:xfrm>
            <a:off x="8641686" y="1554892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LogRecord</a:t>
            </a:r>
            <a:endParaRPr lang="en-NL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5FAF45-F25E-60BA-BE62-20514435B757}"/>
              </a:ext>
            </a:extLst>
          </p:cNvPr>
          <p:cNvSpPr/>
          <p:nvPr/>
        </p:nvSpPr>
        <p:spPr>
          <a:xfrm>
            <a:off x="7095790" y="3090902"/>
            <a:ext cx="1365421" cy="9576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File</a:t>
            </a:r>
          </a:p>
          <a:p>
            <a:pPr algn="ctr"/>
            <a:r>
              <a:rPr lang="en-US" sz="1600" dirty="0"/>
              <a:t>Handler</a:t>
            </a:r>
            <a:endParaRPr lang="en-NL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F03C6AD-1473-FBFF-6AD7-2D105E0D79E2}"/>
              </a:ext>
            </a:extLst>
          </p:cNvPr>
          <p:cNvCxnSpPr>
            <a:cxnSpLocks/>
          </p:cNvCxnSpPr>
          <p:nvPr/>
        </p:nvCxnSpPr>
        <p:spPr>
          <a:xfrm>
            <a:off x="5946742" y="1934360"/>
            <a:ext cx="1130129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57E544C-45E8-39BE-2917-7BAF7CFF5799}"/>
              </a:ext>
            </a:extLst>
          </p:cNvPr>
          <p:cNvSpPr txBox="1"/>
          <p:nvPr/>
        </p:nvSpPr>
        <p:spPr>
          <a:xfrm>
            <a:off x="5839335" y="1554892"/>
            <a:ext cx="11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LogRecord</a:t>
            </a:r>
            <a:endParaRPr lang="en-NL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F36631-5414-AEA6-5E5F-28E4D94C73E8}"/>
              </a:ext>
            </a:extLst>
          </p:cNvPr>
          <p:cNvSpPr/>
          <p:nvPr/>
        </p:nvSpPr>
        <p:spPr>
          <a:xfrm>
            <a:off x="7076871" y="4726265"/>
            <a:ext cx="1365421" cy="9576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Formatter</a:t>
            </a:r>
            <a:endParaRPr lang="en-NL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E69D5E-E5BA-AA9A-37A3-6EBBE65AB8A8}"/>
              </a:ext>
            </a:extLst>
          </p:cNvPr>
          <p:cNvCxnSpPr>
            <a:endCxn id="18" idx="2"/>
          </p:cNvCxnSpPr>
          <p:nvPr/>
        </p:nvCxnSpPr>
        <p:spPr>
          <a:xfrm flipV="1">
            <a:off x="7778500" y="4048547"/>
            <a:ext cx="1" cy="6777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E3C3CA6-F60B-1080-6D2E-88C8586B291A}"/>
              </a:ext>
            </a:extLst>
          </p:cNvPr>
          <p:cNvSpPr/>
          <p:nvPr/>
        </p:nvSpPr>
        <p:spPr>
          <a:xfrm>
            <a:off x="9988379" y="3090902"/>
            <a:ext cx="1365421" cy="95764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Stream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Handler</a:t>
            </a:r>
            <a:endParaRPr lang="en-NL" sz="1600" dirty="0">
              <a:solidFill>
                <a:schemeClr val="bg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ECA78C-5D85-E7F8-1A19-20546500DEAE}"/>
              </a:ext>
            </a:extLst>
          </p:cNvPr>
          <p:cNvSpPr/>
          <p:nvPr/>
        </p:nvSpPr>
        <p:spPr>
          <a:xfrm>
            <a:off x="9988379" y="4726265"/>
            <a:ext cx="1365421" cy="957645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Formatter</a:t>
            </a:r>
            <a:endParaRPr lang="en-NL" sz="1600" dirty="0">
              <a:solidFill>
                <a:schemeClr val="bg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FAC7F7E-C986-BCB3-4818-686C37178466}"/>
              </a:ext>
            </a:extLst>
          </p:cNvPr>
          <p:cNvCxnSpPr>
            <a:stCxn id="15" idx="2"/>
            <a:endCxn id="31" idx="0"/>
          </p:cNvCxnSpPr>
          <p:nvPr/>
        </p:nvCxnSpPr>
        <p:spPr>
          <a:xfrm>
            <a:off x="10671090" y="2413184"/>
            <a:ext cx="0" cy="67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48CD2AE-146C-A655-BE30-7EE810B9B5BE}"/>
              </a:ext>
            </a:extLst>
          </p:cNvPr>
          <p:cNvCxnSpPr>
            <a:stCxn id="32" idx="0"/>
            <a:endCxn id="31" idx="2"/>
          </p:cNvCxnSpPr>
          <p:nvPr/>
        </p:nvCxnSpPr>
        <p:spPr>
          <a:xfrm flipV="1">
            <a:off x="10671090" y="4048547"/>
            <a:ext cx="0" cy="677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26E6B5C-A04A-6AD2-D052-A55B3EBE80B2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rot="5400000">
            <a:off x="8885937" y="1305749"/>
            <a:ext cx="677718" cy="28925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771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0B364B-D07E-1F58-2A8E-EF2360CDE504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4571999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De opmaak van logberichten kun je instellen via een format-string.</a:t>
            </a: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De logger biedt hiervoor standaard informatievelden aan (zie rechts).</a:t>
            </a: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Deze informatievelden kun je opnemen in de format-string.</a:t>
            </a:r>
          </a:p>
          <a:p>
            <a:pPr marL="0" indent="0"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sz="1800" dirty="0">
                <a:cs typeface="Courier New" panose="02070309020205020404" pitchFamily="49" charset="0"/>
              </a:rPr>
              <a:t>Geef de format string mee in de configuratie van de (root) logger.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Extra informatie weergeven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6517B9-97D0-8255-B24E-1BBE65010D0C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1CBFA1-5B79-5C98-537C-218F1FDF4FAF}"/>
              </a:ext>
            </a:extLst>
          </p:cNvPr>
          <p:cNvSpPr txBox="1">
            <a:spLocks/>
          </p:cNvSpPr>
          <p:nvPr/>
        </p:nvSpPr>
        <p:spPr>
          <a:xfrm>
            <a:off x="5969012" y="1456267"/>
            <a:ext cx="5384788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%(message)s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 message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%(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levelname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Logging level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%(name)s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Logger name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%(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asctime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Time of the message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%(module)s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Module name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%(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funcname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Function name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%(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lineno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Line number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Set format on the root logger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"%(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asctime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)s|%(</a:t>
            </a:r>
            <a:r>
              <a:rPr lang="en-US" sz="14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levelname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)s|%(message)s"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logging.basicConfig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(format=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fmt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8294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Open de verbeterde code van de vorige opdracht.</a:t>
            </a:r>
            <a:br>
              <a:rPr lang="nl-NL" sz="2000" dirty="0"/>
            </a:br>
            <a:r>
              <a:rPr lang="nl-NL" sz="2000" dirty="0"/>
              <a:t>(of: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solutions/1_refactor.py</a:t>
            </a:r>
            <a:r>
              <a:rPr lang="nl-NL" sz="2000" noProof="0" dirty="0"/>
              <a:t>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noProof="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noProof="0" dirty="0"/>
              <a:t>Voeg </a:t>
            </a:r>
            <a:r>
              <a:rPr lang="nl-NL" sz="2000" noProof="0" dirty="0" err="1"/>
              <a:t>logging</a:t>
            </a:r>
            <a:r>
              <a:rPr lang="nl-NL" sz="2000" noProof="0" dirty="0"/>
              <a:t> toe aan de code:</a:t>
            </a:r>
          </a:p>
          <a:p>
            <a:pPr marL="0" indent="0">
              <a:buNone/>
            </a:pPr>
            <a:endParaRPr lang="nl-NL" sz="2000" noProof="0" dirty="0"/>
          </a:p>
          <a:p>
            <a:pPr lvl="1"/>
            <a:r>
              <a:rPr lang="nl-NL" sz="2000" dirty="0"/>
              <a:t>Configureer de root logger zodat deze op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DEBUG</a:t>
            </a:r>
            <a:r>
              <a:rPr lang="nl-NL" sz="2000" dirty="0"/>
              <a:t> niveau logt.</a:t>
            </a:r>
          </a:p>
          <a:p>
            <a:pPr lvl="1"/>
            <a:r>
              <a:rPr lang="nl-NL" sz="2000" noProof="0" dirty="0"/>
              <a:t>Maak een eigen logger aan met de naam 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SalesReporter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l-NL" sz="2000" noProof="0" dirty="0"/>
              <a:t>.</a:t>
            </a:r>
          </a:p>
          <a:p>
            <a:pPr lvl="1"/>
            <a:r>
              <a:rPr lang="nl-NL" sz="2000" noProof="0" dirty="0"/>
              <a:t>Log deze informatie: tijdstip, niveau, naam logger en bericht.</a:t>
            </a:r>
          </a:p>
        </p:txBody>
      </p:sp>
    </p:spTree>
    <p:extLst>
      <p:ext uri="{BB962C8B-B14F-4D97-AF65-F5344CB8AC3E}">
        <p14:creationId xmlns:p14="http://schemas.microsoft.com/office/powerpoint/2010/main" val="3377467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nl-NL" sz="6000" noProof="0" dirty="0"/>
              <a:t>Fouten afhandelen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6355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80531C-F672-1FE4-D98D-0BB3AD80EBF4}"/>
              </a:ext>
            </a:extLst>
          </p:cNvPr>
          <p:cNvSpPr txBox="1">
            <a:spLocks/>
          </p:cNvSpPr>
          <p:nvPr/>
        </p:nvSpPr>
        <p:spPr>
          <a:xfrm>
            <a:off x="5985936" y="1462617"/>
            <a:ext cx="5552013" cy="480271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Traceback (most recent call last):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endParaRPr lang="en-US" sz="1050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File "C:\exception.py", line 16, in &lt;module&gt;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main()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endParaRPr lang="en-US" sz="1050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File "C:\exception.py", line 12, in main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noProof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compute_mean</a:t>
            </a: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(ages)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endParaRPr lang="en-US" sz="1050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File "C:\exception.py", line 6, in </a:t>
            </a:r>
            <a:r>
              <a:rPr lang="en-US" sz="1050" noProof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compute_mean</a:t>
            </a:r>
            <a:endParaRPr lang="en-US" sz="1050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sum(values) / </a:t>
            </a:r>
            <a:r>
              <a:rPr lang="en-US" sz="1050" noProof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(values)</a:t>
            </a: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endParaRPr lang="en-US" sz="1050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050" noProof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unsupported operand type(s) for +: 'int' and '</a:t>
            </a:r>
            <a:r>
              <a:rPr lang="en-US" sz="1050" noProof="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NoneType</a:t>
            </a:r>
            <a:r>
              <a:rPr lang="en-US" sz="1050" noProof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endParaRPr lang="en-GB" sz="1050" noProof="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Foutmeldin</a:t>
            </a:r>
            <a:r>
              <a:rPr lang="nl-NL" sz="3600" dirty="0"/>
              <a:t>gen zijn belangrijk!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dirty="0"/>
              <a:t>Vertellen </a:t>
            </a:r>
            <a:r>
              <a:rPr lang="nl-NL" sz="1800" u="sng" dirty="0"/>
              <a:t>wat</a:t>
            </a:r>
            <a:r>
              <a:rPr lang="nl-NL" sz="1800" dirty="0"/>
              <a:t> fout ging en </a:t>
            </a:r>
            <a:r>
              <a:rPr lang="nl-NL" sz="1800" u="sng" dirty="0"/>
              <a:t>waar</a:t>
            </a:r>
            <a:r>
              <a:rPr lang="nl-NL" sz="1800" noProof="0" dirty="0"/>
              <a:t>.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noProof="0" dirty="0"/>
              <a:t>Meldingen kunnen lang en complex zijn. 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noProof="0" dirty="0"/>
              <a:t>Lees ze als volgt:</a:t>
            </a:r>
          </a:p>
          <a:p>
            <a:pPr marL="0" indent="0">
              <a:buNone/>
            </a:pPr>
            <a:endParaRPr lang="nl-NL" sz="1800" dirty="0"/>
          </a:p>
          <a:p>
            <a:pPr>
              <a:buFontTx/>
              <a:buChar char="-"/>
            </a:pPr>
            <a:r>
              <a:rPr lang="nl-NL" sz="1800" dirty="0"/>
              <a:t>Onderaan staat WAT fout ging.</a:t>
            </a:r>
          </a:p>
          <a:p>
            <a:pPr lvl="1">
              <a:buFontTx/>
              <a:buChar char="-"/>
            </a:pPr>
            <a:r>
              <a:rPr lang="nl-NL" sz="1600" dirty="0"/>
              <a:t>Type:	    </a:t>
            </a:r>
            <a:r>
              <a:rPr lang="nl-NL" sz="1600" dirty="0" err="1"/>
              <a:t>TypeError</a:t>
            </a:r>
            <a:endParaRPr lang="nl-NL" sz="1600" dirty="0"/>
          </a:p>
          <a:p>
            <a:pPr lvl="1">
              <a:buFontTx/>
              <a:buChar char="-"/>
            </a:pPr>
            <a:r>
              <a:rPr lang="nl-NL" sz="1600" dirty="0"/>
              <a:t>Omschrijving:	    Optellen int en None</a:t>
            </a:r>
          </a:p>
          <a:p>
            <a:pPr marL="0" indent="0">
              <a:buNone/>
            </a:pPr>
            <a:endParaRPr lang="nl-NL" sz="1800" dirty="0"/>
          </a:p>
          <a:p>
            <a:pPr>
              <a:buFontTx/>
              <a:buChar char="-"/>
            </a:pPr>
            <a:r>
              <a:rPr lang="nl-NL" sz="1800" dirty="0"/>
              <a:t>Daarboven WAAR het fout ging:</a:t>
            </a:r>
          </a:p>
          <a:p>
            <a:pPr lvl="1">
              <a:buFontTx/>
              <a:buChar char="-"/>
            </a:pPr>
            <a:r>
              <a:rPr lang="nl-NL" sz="1600" dirty="0"/>
              <a:t>Bestand + regelnummer.</a:t>
            </a:r>
          </a:p>
          <a:p>
            <a:pPr lvl="1">
              <a:buFontTx/>
              <a:buChar char="-"/>
            </a:pPr>
            <a:r>
              <a:rPr lang="nl-NL" sz="1600" dirty="0"/>
              <a:t>Code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281A9FC-A45B-4512-9528-9F8C3CE13F4E}"/>
              </a:ext>
            </a:extLst>
          </p:cNvPr>
          <p:cNvSpPr/>
          <p:nvPr/>
        </p:nvSpPr>
        <p:spPr>
          <a:xfrm>
            <a:off x="6000749" y="5127625"/>
            <a:ext cx="5518151" cy="2095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CEB728-D0D3-8BA2-332F-ADF68D23481D}"/>
              </a:ext>
            </a:extLst>
          </p:cNvPr>
          <p:cNvSpPr txBox="1"/>
          <p:nvPr/>
        </p:nvSpPr>
        <p:spPr>
          <a:xfrm>
            <a:off x="5674676" y="4097364"/>
            <a:ext cx="300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1034F2-938E-1CA3-CEDE-21DB7C577148}"/>
              </a:ext>
            </a:extLst>
          </p:cNvPr>
          <p:cNvSpPr txBox="1"/>
          <p:nvPr/>
        </p:nvSpPr>
        <p:spPr>
          <a:xfrm>
            <a:off x="5674676" y="3129505"/>
            <a:ext cx="300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260536-56D5-BF8A-A914-6AB77191D70C}"/>
              </a:ext>
            </a:extLst>
          </p:cNvPr>
          <p:cNvSpPr txBox="1"/>
          <p:nvPr/>
        </p:nvSpPr>
        <p:spPr>
          <a:xfrm>
            <a:off x="5674676" y="2169179"/>
            <a:ext cx="300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  <a:endParaRPr lang="en-NL" dirty="0">
              <a:solidFill>
                <a:srgbClr val="FF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7C5908-09CB-1E8C-662D-C7688ED81E73}"/>
              </a:ext>
            </a:extLst>
          </p:cNvPr>
          <p:cNvSpPr/>
          <p:nvPr/>
        </p:nvSpPr>
        <p:spPr>
          <a:xfrm>
            <a:off x="6165852" y="3209396"/>
            <a:ext cx="3347646" cy="209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489380-24B9-9B69-9C7C-EBF2A95EC52D}"/>
              </a:ext>
            </a:extLst>
          </p:cNvPr>
          <p:cNvSpPr/>
          <p:nvPr/>
        </p:nvSpPr>
        <p:spPr>
          <a:xfrm>
            <a:off x="6165851" y="4177255"/>
            <a:ext cx="3857191" cy="209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17EEB8-216B-C428-BB08-1D18C8FA3699}"/>
              </a:ext>
            </a:extLst>
          </p:cNvPr>
          <p:cNvSpPr/>
          <p:nvPr/>
        </p:nvSpPr>
        <p:spPr>
          <a:xfrm>
            <a:off x="6165851" y="2246326"/>
            <a:ext cx="3625850" cy="209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86BA2F-333D-9775-86FA-84E9422136E8}"/>
              </a:ext>
            </a:extLst>
          </p:cNvPr>
          <p:cNvCxnSpPr>
            <a:cxnSpLocks/>
          </p:cNvCxnSpPr>
          <p:nvPr/>
        </p:nvCxnSpPr>
        <p:spPr>
          <a:xfrm>
            <a:off x="6953250" y="4698576"/>
            <a:ext cx="8128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F8DBCD-8FBE-1A13-33EB-98B40BF0CCCD}"/>
              </a:ext>
            </a:extLst>
          </p:cNvPr>
          <p:cNvCxnSpPr>
            <a:cxnSpLocks/>
          </p:cNvCxnSpPr>
          <p:nvPr/>
        </p:nvCxnSpPr>
        <p:spPr>
          <a:xfrm>
            <a:off x="6394450" y="3759041"/>
            <a:ext cx="13716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7112E7-FC44-03DF-655B-E7D2E3F37C36}"/>
              </a:ext>
            </a:extLst>
          </p:cNvPr>
          <p:cNvCxnSpPr>
            <a:cxnSpLocks/>
          </p:cNvCxnSpPr>
          <p:nvPr/>
        </p:nvCxnSpPr>
        <p:spPr>
          <a:xfrm>
            <a:off x="6391853" y="2774791"/>
            <a:ext cx="45604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317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Fouten worden doorgegeven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4593"/>
            <a:ext cx="4571999" cy="4252369"/>
          </a:xfrm>
          <a:solidFill>
            <a:schemeClr val="bg1">
              <a:lumMod val="95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"""Demonstrate exception handling."""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compute_mean</a:t>
            </a:r>
            <a:r>
              <a:rPr lang="en-US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"""Compute mean of values."""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sum(values) / </a:t>
            </a:r>
            <a:r>
              <a:rPr lang="en-US" sz="14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4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(values)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def main():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"""Main program routine."""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ages = [33, 45, 22, None, 18]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noProof="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compute_mean</a:t>
            </a:r>
            <a:r>
              <a:rPr lang="en-US" sz="14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(ages)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</a:t>
            </a:r>
            <a:r>
              <a:rPr lang="en-US" sz="14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"__main__"</a:t>
            </a: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7F82A7-4637-1AFC-DDB6-2BDCDFA7597C}"/>
              </a:ext>
            </a:extLst>
          </p:cNvPr>
          <p:cNvSpPr/>
          <p:nvPr/>
        </p:nvSpPr>
        <p:spPr>
          <a:xfrm>
            <a:off x="7724769" y="4352943"/>
            <a:ext cx="2981327" cy="3746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423595-CFBE-DAD7-DD5B-B97B77B9C8D6}"/>
              </a:ext>
            </a:extLst>
          </p:cNvPr>
          <p:cNvSpPr/>
          <p:nvPr/>
        </p:nvSpPr>
        <p:spPr>
          <a:xfrm>
            <a:off x="7724772" y="1454203"/>
            <a:ext cx="2981327" cy="374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python exception.py</a:t>
            </a:r>
            <a:endParaRPr lang="en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366C60-DE3C-E24D-2F34-CA98F3CFF706}"/>
              </a:ext>
            </a:extLst>
          </p:cNvPr>
          <p:cNvSpPr/>
          <p:nvPr/>
        </p:nvSpPr>
        <p:spPr>
          <a:xfrm>
            <a:off x="7724769" y="5802313"/>
            <a:ext cx="2981327" cy="3746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compute_mean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2C3493-CA3E-7EFF-0E53-1D04D9E3E672}"/>
              </a:ext>
            </a:extLst>
          </p:cNvPr>
          <p:cNvSpPr/>
          <p:nvPr/>
        </p:nvSpPr>
        <p:spPr>
          <a:xfrm>
            <a:off x="7724769" y="2903573"/>
            <a:ext cx="2981327" cy="3746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exception.py</a:t>
            </a:r>
            <a:endParaRPr lang="en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14D119-A69A-71C6-7512-EEACC6963A2F}"/>
              </a:ext>
            </a:extLst>
          </p:cNvPr>
          <p:cNvCxnSpPr/>
          <p:nvPr/>
        </p:nvCxnSpPr>
        <p:spPr>
          <a:xfrm>
            <a:off x="8636000" y="1828853"/>
            <a:ext cx="0" cy="107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B91842-B9F5-7970-E5F4-A3469386841A}"/>
              </a:ext>
            </a:extLst>
          </p:cNvPr>
          <p:cNvCxnSpPr/>
          <p:nvPr/>
        </p:nvCxnSpPr>
        <p:spPr>
          <a:xfrm>
            <a:off x="8636000" y="3279255"/>
            <a:ext cx="0" cy="107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77F6E1-DCA9-C39E-AB13-BAFE6E49EC9D}"/>
              </a:ext>
            </a:extLst>
          </p:cNvPr>
          <p:cNvCxnSpPr/>
          <p:nvPr/>
        </p:nvCxnSpPr>
        <p:spPr>
          <a:xfrm>
            <a:off x="8636000" y="4727593"/>
            <a:ext cx="0" cy="107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16E09E-5CB5-88E2-8023-2835E63DDEBB}"/>
              </a:ext>
            </a:extLst>
          </p:cNvPr>
          <p:cNvSpPr txBox="1"/>
          <p:nvPr/>
        </p:nvSpPr>
        <p:spPr>
          <a:xfrm>
            <a:off x="7904922" y="2181547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  <a:endParaRPr lang="en-N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126B96-2DB1-9739-1098-686E3131625B}"/>
              </a:ext>
            </a:extLst>
          </p:cNvPr>
          <p:cNvSpPr txBox="1"/>
          <p:nvPr/>
        </p:nvSpPr>
        <p:spPr>
          <a:xfrm>
            <a:off x="7904922" y="3631949"/>
            <a:ext cx="49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81F1BE-2425-D27A-9714-F5BBD9F023FA}"/>
              </a:ext>
            </a:extLst>
          </p:cNvPr>
          <p:cNvSpPr txBox="1"/>
          <p:nvPr/>
        </p:nvSpPr>
        <p:spPr>
          <a:xfrm>
            <a:off x="7904922" y="5074969"/>
            <a:ext cx="49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</a:t>
            </a:r>
            <a:endParaRPr lang="en-NL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977BC6-6324-9142-6CD5-BA3B8E7D560C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EDCEE8E-3A70-5421-8940-2CA4B9EDEECA}"/>
              </a:ext>
            </a:extLst>
          </p:cNvPr>
          <p:cNvSpPr txBox="1"/>
          <p:nvPr/>
        </p:nvSpPr>
        <p:spPr>
          <a:xfrm>
            <a:off x="838200" y="1555261"/>
            <a:ext cx="457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exception.py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3235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Fouten worden doorgegeven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4593"/>
            <a:ext cx="4571999" cy="4252369"/>
          </a:xfrm>
          <a:solidFill>
            <a:schemeClr val="bg1">
              <a:lumMod val="95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"""Demonstrate exception handling."""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compute_mean</a:t>
            </a:r>
            <a:r>
              <a:rPr lang="en-US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"""Compute mean of values."""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</a:t>
            </a:r>
            <a:r>
              <a:rPr lang="en-US" sz="14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sum(</a:t>
            </a:r>
            <a:r>
              <a:rPr lang="en-US" sz="14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US" sz="14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en-US" sz="1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(values)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def main():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"""Main program routine."""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ages = [33, 45, 22, </a:t>
            </a:r>
            <a:r>
              <a:rPr lang="en-US" sz="14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, 18]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noProof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compute_mean</a:t>
            </a: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(ages)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if __name__ == </a:t>
            </a:r>
            <a:r>
              <a:rPr lang="en-US" sz="1400" noProof="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"__main__"</a:t>
            </a: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noProof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7F82A7-4637-1AFC-DDB6-2BDCDFA7597C}"/>
              </a:ext>
            </a:extLst>
          </p:cNvPr>
          <p:cNvSpPr/>
          <p:nvPr/>
        </p:nvSpPr>
        <p:spPr>
          <a:xfrm>
            <a:off x="7724769" y="4352943"/>
            <a:ext cx="2981327" cy="3746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423595-CFBE-DAD7-DD5B-B97B77B9C8D6}"/>
              </a:ext>
            </a:extLst>
          </p:cNvPr>
          <p:cNvSpPr/>
          <p:nvPr/>
        </p:nvSpPr>
        <p:spPr>
          <a:xfrm>
            <a:off x="7724772" y="1454203"/>
            <a:ext cx="2981327" cy="3746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python exception.py</a:t>
            </a:r>
            <a:endParaRPr lang="en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366C60-DE3C-E24D-2F34-CA98F3CFF706}"/>
              </a:ext>
            </a:extLst>
          </p:cNvPr>
          <p:cNvSpPr/>
          <p:nvPr/>
        </p:nvSpPr>
        <p:spPr>
          <a:xfrm>
            <a:off x="7724769" y="5802313"/>
            <a:ext cx="2981327" cy="3746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compute_mean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2C3493-CA3E-7EFF-0E53-1D04D9E3E672}"/>
              </a:ext>
            </a:extLst>
          </p:cNvPr>
          <p:cNvSpPr/>
          <p:nvPr/>
        </p:nvSpPr>
        <p:spPr>
          <a:xfrm>
            <a:off x="7724769" y="2903573"/>
            <a:ext cx="2981327" cy="3746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exception.py</a:t>
            </a:r>
            <a:endParaRPr lang="en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814D119-A69A-71C6-7512-EEACC6963A2F}"/>
              </a:ext>
            </a:extLst>
          </p:cNvPr>
          <p:cNvCxnSpPr/>
          <p:nvPr/>
        </p:nvCxnSpPr>
        <p:spPr>
          <a:xfrm>
            <a:off x="8636000" y="1828853"/>
            <a:ext cx="0" cy="107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B91842-B9F5-7970-E5F4-A3469386841A}"/>
              </a:ext>
            </a:extLst>
          </p:cNvPr>
          <p:cNvCxnSpPr/>
          <p:nvPr/>
        </p:nvCxnSpPr>
        <p:spPr>
          <a:xfrm>
            <a:off x="8636000" y="3279255"/>
            <a:ext cx="0" cy="107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77F6E1-DCA9-C39E-AB13-BAFE6E49EC9D}"/>
              </a:ext>
            </a:extLst>
          </p:cNvPr>
          <p:cNvCxnSpPr/>
          <p:nvPr/>
        </p:nvCxnSpPr>
        <p:spPr>
          <a:xfrm>
            <a:off x="8636000" y="4727593"/>
            <a:ext cx="0" cy="1074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E16E09E-5CB5-88E2-8023-2835E63DDEBB}"/>
              </a:ext>
            </a:extLst>
          </p:cNvPr>
          <p:cNvSpPr txBox="1"/>
          <p:nvPr/>
        </p:nvSpPr>
        <p:spPr>
          <a:xfrm>
            <a:off x="7904922" y="2181547"/>
            <a:ext cx="61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  <a:endParaRPr lang="en-N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126B96-2DB1-9739-1098-686E3131625B}"/>
              </a:ext>
            </a:extLst>
          </p:cNvPr>
          <p:cNvSpPr txBox="1"/>
          <p:nvPr/>
        </p:nvSpPr>
        <p:spPr>
          <a:xfrm>
            <a:off x="7904922" y="3631949"/>
            <a:ext cx="49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81F1BE-2425-D27A-9714-F5BBD9F023FA}"/>
              </a:ext>
            </a:extLst>
          </p:cNvPr>
          <p:cNvSpPr txBox="1"/>
          <p:nvPr/>
        </p:nvSpPr>
        <p:spPr>
          <a:xfrm>
            <a:off x="7904922" y="5074969"/>
            <a:ext cx="49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</a:t>
            </a:r>
            <a:endParaRPr lang="en-NL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158E696-9358-0A90-7125-5B3459F1133A}"/>
              </a:ext>
            </a:extLst>
          </p:cNvPr>
          <p:cNvCxnSpPr/>
          <p:nvPr/>
        </p:nvCxnSpPr>
        <p:spPr>
          <a:xfrm flipV="1">
            <a:off x="9302750" y="4729657"/>
            <a:ext cx="0" cy="10682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F71956-642A-1EF7-38B7-C7E75B0E7F82}"/>
              </a:ext>
            </a:extLst>
          </p:cNvPr>
          <p:cNvCxnSpPr/>
          <p:nvPr/>
        </p:nvCxnSpPr>
        <p:spPr>
          <a:xfrm flipV="1">
            <a:off x="9302750" y="3284573"/>
            <a:ext cx="0" cy="10682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3F663EA-DC06-5C30-701E-EB55518A89A5}"/>
              </a:ext>
            </a:extLst>
          </p:cNvPr>
          <p:cNvCxnSpPr/>
          <p:nvPr/>
        </p:nvCxnSpPr>
        <p:spPr>
          <a:xfrm flipV="1">
            <a:off x="9290050" y="1828086"/>
            <a:ext cx="0" cy="10682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89CF105-5878-3CAB-AEE5-A4D82B1462EF}"/>
              </a:ext>
            </a:extLst>
          </p:cNvPr>
          <p:cNvSpPr txBox="1"/>
          <p:nvPr/>
        </p:nvSpPr>
        <p:spPr>
          <a:xfrm>
            <a:off x="9547229" y="2181547"/>
            <a:ext cx="1098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TypeError</a:t>
            </a:r>
            <a:endParaRPr lang="en-NL" dirty="0">
              <a:solidFill>
                <a:schemeClr val="accent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CD5EED-1016-4419-0216-E20ECBC1D950}"/>
              </a:ext>
            </a:extLst>
          </p:cNvPr>
          <p:cNvSpPr txBox="1"/>
          <p:nvPr/>
        </p:nvSpPr>
        <p:spPr>
          <a:xfrm>
            <a:off x="9547229" y="3636235"/>
            <a:ext cx="1098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TypeError</a:t>
            </a:r>
            <a:endParaRPr lang="en-NL" dirty="0">
              <a:solidFill>
                <a:schemeClr val="accent2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A5FCED-9988-DE54-12B4-3C095FEA2423}"/>
              </a:ext>
            </a:extLst>
          </p:cNvPr>
          <p:cNvSpPr txBox="1"/>
          <p:nvPr/>
        </p:nvSpPr>
        <p:spPr>
          <a:xfrm>
            <a:off x="9502779" y="5071741"/>
            <a:ext cx="1098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TypeError</a:t>
            </a:r>
            <a:endParaRPr lang="en-NL" dirty="0">
              <a:solidFill>
                <a:schemeClr val="accent2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C977BC6-6324-9142-6CD5-BA3B8E7D560C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EDCEE8E-3A70-5421-8940-2CA4B9EDEECA}"/>
              </a:ext>
            </a:extLst>
          </p:cNvPr>
          <p:cNvSpPr txBox="1"/>
          <p:nvPr/>
        </p:nvSpPr>
        <p:spPr>
          <a:xfrm>
            <a:off x="838200" y="1555261"/>
            <a:ext cx="457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exception.py</a:t>
            </a:r>
            <a:endParaRPr lang="en-N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4791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Veelvoorkomende fouten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835C346-C0F2-2D49-8AB4-005767C62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530897"/>
              </p:ext>
            </p:extLst>
          </p:nvPr>
        </p:nvGraphicFramePr>
        <p:xfrm>
          <a:off x="958850" y="1532466"/>
          <a:ext cx="10248901" cy="486908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01950">
                  <a:extLst>
                    <a:ext uri="{9D8B030D-6E8A-4147-A177-3AD203B41FA5}">
                      <a16:colId xmlns:a16="http://schemas.microsoft.com/office/drawing/2014/main" val="3079449778"/>
                    </a:ext>
                  </a:extLst>
                </a:gridCol>
                <a:gridCol w="3803650">
                  <a:extLst>
                    <a:ext uri="{9D8B030D-6E8A-4147-A177-3AD203B41FA5}">
                      <a16:colId xmlns:a16="http://schemas.microsoft.com/office/drawing/2014/main" val="1481204893"/>
                    </a:ext>
                  </a:extLst>
                </a:gridCol>
                <a:gridCol w="3543301">
                  <a:extLst>
                    <a:ext uri="{9D8B030D-6E8A-4147-A177-3AD203B41FA5}">
                      <a16:colId xmlns:a16="http://schemas.microsoft.com/office/drawing/2014/main" val="1996039808"/>
                    </a:ext>
                  </a:extLst>
                </a:gridCol>
              </a:tblGrid>
              <a:tr h="512704">
                <a:tc>
                  <a:txBody>
                    <a:bodyPr/>
                    <a:lstStyle/>
                    <a:p>
                      <a:r>
                        <a:rPr lang="nl-NL" noProof="0"/>
                        <a:t>Type fout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Wanneer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Voorbeeld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92633"/>
                  </a:ext>
                </a:extLst>
              </a:tr>
              <a:tr h="512704">
                <a:tc>
                  <a:txBody>
                    <a:bodyPr/>
                    <a:lstStyle/>
                    <a:p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SyntaxError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Ongeldige code.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b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</a:t>
                      </a:r>
                      <a:r>
                        <a:rPr lang="nl-NL" b="1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  <a:r>
                        <a:rPr lang="nl-NL" b="0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ot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pandas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5450790"/>
                  </a:ext>
                </a:extLst>
              </a:tr>
              <a:tr h="512704">
                <a:tc>
                  <a:txBody>
                    <a:bodyPr/>
                    <a:lstStyle/>
                    <a:p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AttributeError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Object heeft attribuut niet.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pd.Data</a:t>
                      </a:r>
                      <a:r>
                        <a:rPr lang="nl-NL" b="1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rame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140582"/>
                  </a:ext>
                </a:extLst>
              </a:tr>
              <a:tr h="512704">
                <a:tc>
                  <a:txBody>
                    <a:bodyPr/>
                    <a:lstStyle/>
                    <a:p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ValueError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Ongeldige waarde voor data type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int(</a:t>
                      </a:r>
                      <a:r>
                        <a:rPr lang="nl-NL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"a"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547436"/>
                  </a:ext>
                </a:extLst>
              </a:tr>
              <a:tr h="512704">
                <a:tc>
                  <a:txBody>
                    <a:bodyPr/>
                    <a:lstStyle/>
                    <a:p>
                      <a:r>
                        <a:rPr lang="nl-NL" noProof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Verkeerd type object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int(</a:t>
                      </a:r>
                      <a:r>
                        <a:rPr lang="nl-NL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None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875052"/>
                  </a:ext>
                </a:extLst>
              </a:tr>
              <a:tr h="512704">
                <a:tc>
                  <a:txBody>
                    <a:bodyPr/>
                    <a:lstStyle/>
                    <a:p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IndexError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Index buiten bereik lijst.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[1, 2, 3]</a:t>
                      </a:r>
                    </a:p>
                    <a:p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x[</a:t>
                      </a:r>
                      <a:r>
                        <a:rPr lang="nl-NL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822136"/>
                  </a:ext>
                </a:extLst>
              </a:tr>
              <a:tr h="512704">
                <a:tc>
                  <a:txBody>
                    <a:bodyPr/>
                    <a:lstStyle/>
                    <a:p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KeyError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Sleutel zit niet in het </a:t>
                      </a:r>
                      <a:r>
                        <a:rPr lang="nl-NL" noProof="0" dirty="0" err="1"/>
                        <a:t>dict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{"a": 1, "b": 2}</a:t>
                      </a:r>
                    </a:p>
                    <a:p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x[</a:t>
                      </a:r>
                      <a:r>
                        <a:rPr lang="nl-NL" b="1" noProof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"c"</a:t>
                      </a:r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338886"/>
                  </a:ext>
                </a:extLst>
              </a:tr>
              <a:tr h="512704">
                <a:tc>
                  <a:txBody>
                    <a:bodyPr/>
                    <a:lstStyle/>
                    <a:p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ModuleNotFoundError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De module is niet geïnstalleerd.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import </a:t>
                      </a:r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</a:t>
                      </a:r>
                      <a:r>
                        <a:rPr lang="nl-NL" b="1" noProof="0" dirty="0" err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dn</a:t>
                      </a:r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207776"/>
                  </a:ext>
                </a:extLst>
              </a:tr>
              <a:tr h="512704">
                <a:tc>
                  <a:txBody>
                    <a:bodyPr/>
                    <a:lstStyle/>
                    <a:p>
                      <a:r>
                        <a:rPr lang="nl-NL" noProof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RuntimeError</a:t>
                      </a:r>
                      <a:endParaRPr lang="nl-NL" noProof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/>
                        <a:t>Foutmelding tijdens uitvoeren code.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noProof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538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0811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Foutmeldin</a:t>
            </a:r>
            <a:r>
              <a:rPr lang="nl-NL" sz="3600" dirty="0"/>
              <a:t>gen afhandelen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Standaard afhandeling: </a:t>
            </a:r>
          </a:p>
          <a:p>
            <a:pPr marL="0" indent="0">
              <a:buNone/>
            </a:pPr>
            <a:r>
              <a:rPr lang="nl-NL" sz="2000" noProof="0" dirty="0"/>
              <a:t>Print foutmelding en stop Python.</a:t>
            </a:r>
          </a:p>
          <a:p>
            <a:pPr marL="0" indent="0">
              <a:buNone/>
            </a:pPr>
            <a:r>
              <a:rPr lang="nl-NL" sz="2000" dirty="0"/>
              <a:t> 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Maar:</a:t>
            </a:r>
          </a:p>
          <a:p>
            <a:pPr marL="0" indent="0">
              <a:buNone/>
            </a:pPr>
            <a:r>
              <a:rPr lang="nl-NL" sz="2000" noProof="0" dirty="0"/>
              <a:t>Je kunt </a:t>
            </a:r>
            <a:r>
              <a:rPr lang="nl-NL" sz="2000" dirty="0"/>
              <a:t>fouten ook anders afhandelen.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noProof="0" dirty="0"/>
              <a:t>Gebruik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nl-NL" sz="20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 ...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nl-NL" sz="2000" noProof="0" dirty="0"/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A68BA1-1C81-749D-5CC8-F3CF85C4B902}"/>
              </a:ext>
            </a:extLst>
          </p:cNvPr>
          <p:cNvSpPr txBox="1">
            <a:spLocks/>
          </p:cNvSpPr>
          <p:nvPr/>
        </p:nvSpPr>
        <p:spPr>
          <a:xfrm>
            <a:off x="6095999" y="145626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integer_age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(age):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"""Convert age to integer."""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What you're trying to do...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int(age)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except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When things go wrong...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None</a:t>
            </a:r>
          </a:p>
        </p:txBody>
      </p:sp>
    </p:spTree>
    <p:extLst>
      <p:ext uri="{BB962C8B-B14F-4D97-AF65-F5344CB8AC3E}">
        <p14:creationId xmlns:p14="http://schemas.microsoft.com/office/powerpoint/2010/main" val="23424749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Wanneer zelf</a:t>
            </a:r>
            <a:r>
              <a:rPr lang="nl-NL" sz="3600" dirty="0"/>
              <a:t> afhandelen?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Betere afhandeling:</a:t>
            </a:r>
          </a:p>
          <a:p>
            <a:pPr>
              <a:buFontTx/>
              <a:buChar char="-"/>
            </a:pPr>
            <a:r>
              <a:rPr lang="nl-NL" sz="2000" dirty="0"/>
              <a:t>Je hebt een oplossing voor de fout.</a:t>
            </a:r>
          </a:p>
          <a:p>
            <a:pPr>
              <a:buFontTx/>
              <a:buChar char="-"/>
            </a:pPr>
            <a:r>
              <a:rPr lang="nl-NL" sz="2000" dirty="0"/>
              <a:t>Je wilt niet het hele proces stoppen.</a:t>
            </a:r>
          </a:p>
          <a:p>
            <a:pPr marL="0" indent="0">
              <a:buNone/>
            </a:pPr>
            <a:endParaRPr lang="nl-NL" sz="2000" b="1" dirty="0"/>
          </a:p>
          <a:p>
            <a:pPr marL="0" indent="0">
              <a:buNone/>
            </a:pPr>
            <a:r>
              <a:rPr lang="nl-NL" sz="2000" b="1" dirty="0"/>
              <a:t>Betere informatie:</a:t>
            </a: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Wie is je gebruiker: </a:t>
            </a:r>
            <a:r>
              <a:rPr lang="nl-NL" sz="2000" noProof="0" dirty="0"/>
              <a:t>Developers snappen Python foutmeldingen, gebruikers niet.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noProof="0" dirty="0"/>
              <a:t>Kun je meer informatie geven dan de standaard melding?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A68BA1-1C81-749D-5CC8-F3CF85C4B902}"/>
              </a:ext>
            </a:extLst>
          </p:cNvPr>
          <p:cNvSpPr txBox="1">
            <a:spLocks/>
          </p:cNvSpPr>
          <p:nvPr/>
        </p:nvSpPr>
        <p:spPr>
          <a:xfrm>
            <a:off x="6095999" y="145626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record in data: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try: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record[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"age"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int(record[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"age"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except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logging.warning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"Invalid age for record: %s"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record[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"naam"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record[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"age"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None</a:t>
            </a:r>
          </a:p>
        </p:txBody>
      </p:sp>
    </p:spTree>
    <p:extLst>
      <p:ext uri="{BB962C8B-B14F-4D97-AF65-F5344CB8AC3E}">
        <p14:creationId xmlns:p14="http://schemas.microsoft.com/office/powerpoint/2010/main" val="2137609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Python zelf afsluiten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Je kunt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sys.exit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2000" dirty="0"/>
              <a:t> gebruiken om Python af te sluiten.</a:t>
            </a:r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dirty="0"/>
              <a:t>Je kunt een argument meegeven, bijvoorbeeld een foutcode of melding.</a:t>
            </a:r>
            <a:endParaRPr lang="nl-NL" sz="2000" noProof="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r>
              <a:rPr lang="nl-NL" sz="2000" dirty="0"/>
              <a:t>Conventie:</a:t>
            </a:r>
          </a:p>
          <a:p>
            <a:pPr marL="0" indent="0">
              <a:buNone/>
            </a:pPr>
            <a:r>
              <a:rPr lang="nl-NL" sz="2000" dirty="0"/>
              <a:t>   0 	= 	Alles is goed gegaan</a:t>
            </a:r>
          </a:p>
          <a:p>
            <a:pPr marL="0" indent="0">
              <a:buNone/>
            </a:pPr>
            <a:r>
              <a:rPr lang="nl-NL" sz="2000" noProof="0" dirty="0"/>
              <a:t>&gt; 0	= 	Fout opgetreden</a:t>
            </a:r>
          </a:p>
          <a:p>
            <a:pPr marL="0" indent="0">
              <a:buNone/>
            </a:pPr>
            <a:endParaRPr lang="nl-NL" sz="2000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A68BA1-1C81-749D-5CC8-F3CF85C4B902}"/>
              </a:ext>
            </a:extLst>
          </p:cNvPr>
          <p:cNvSpPr txBox="1">
            <a:spLocks/>
          </p:cNvSpPr>
          <p:nvPr/>
        </p:nvSpPr>
        <p:spPr>
          <a:xfrm>
            <a:off x="6095999" y="145626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</a:t>
            </a:r>
            <a:endParaRPr lang="nl-NL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record in data: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try: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record[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"age"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int(record[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"age"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except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logging.error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"Invalid age for record: %s"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record[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"naam"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b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sys.exit</a:t>
            </a: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21437578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Foutmelding aanmaken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571999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noProof="0" dirty="0"/>
              <a:t>Gebruik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</a:t>
            </a:r>
            <a:r>
              <a:rPr lang="nl-NL" sz="2000" noProof="0" dirty="0"/>
              <a:t> om zelf een foutmelding aan te maken.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Kies zelf een fouttype en beschrijving.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noProof="0" dirty="0"/>
              <a:t>Afhandeling zoals een standaard foutmelding van Python.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162173-AD9E-1ED9-F92B-186066229DD6}"/>
              </a:ext>
            </a:extLst>
          </p:cNvPr>
          <p:cNvCxnSpPr>
            <a:cxnSpLocks/>
          </p:cNvCxnSpPr>
          <p:nvPr/>
        </p:nvCxnSpPr>
        <p:spPr>
          <a:xfrm>
            <a:off x="5655733" y="1456267"/>
            <a:ext cx="0" cy="48090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A68BA1-1C81-749D-5CC8-F3CF85C4B902}"/>
              </a:ext>
            </a:extLst>
          </p:cNvPr>
          <p:cNvSpPr txBox="1">
            <a:spLocks/>
          </p:cNvSpPr>
          <p:nvPr/>
        </p:nvSpPr>
        <p:spPr>
          <a:xfrm>
            <a:off x="6095999" y="1456267"/>
            <a:ext cx="5063067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 &lt;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110: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</a:t>
            </a:r>
            <a:r>
              <a:rPr lang="nl-N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6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nl-NL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"Age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nl-NL" sz="1600" dirty="0" err="1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sz="16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</a:t>
            </a:r>
            <a:r>
              <a:rPr lang="nl-NL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outside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"</a:t>
            </a:r>
            <a:r>
              <a:rPr lang="nl-NL" sz="16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</a:t>
            </a:r>
            <a:r>
              <a:rPr lang="nl-NL" sz="16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range (0 – 110)."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</p:txBody>
      </p:sp>
    </p:spTree>
    <p:extLst>
      <p:ext uri="{BB962C8B-B14F-4D97-AF65-F5344CB8AC3E}">
        <p14:creationId xmlns:p14="http://schemas.microsoft.com/office/powerpoint/2010/main" val="13231587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Open de verbeterde code van de vorige opdracht.</a:t>
            </a:r>
            <a:br>
              <a:rPr lang="nl-NL" sz="2000" dirty="0"/>
            </a:br>
            <a:r>
              <a:rPr lang="nl-NL" sz="2000" dirty="0"/>
              <a:t>(of: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solutions/2_refactor.py</a:t>
            </a:r>
            <a:r>
              <a:rPr lang="nl-NL" sz="2000" noProof="0" dirty="0"/>
              <a:t>)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noProof="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noProof="0" dirty="0"/>
              <a:t>Geef een foutmelding als het sales bestand niet gevonden kan worden.</a:t>
            </a:r>
          </a:p>
          <a:p>
            <a:pPr lvl="1"/>
            <a:r>
              <a:rPr lang="nl-NL" sz="2000" noProof="0" dirty="0"/>
              <a:t>Welk type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nl-NL" sz="2000" noProof="0" dirty="0"/>
              <a:t> </a:t>
            </a:r>
            <a:r>
              <a:rPr lang="nl-NL" sz="2000" dirty="0"/>
              <a:t>moet je afvangen?</a:t>
            </a:r>
          </a:p>
          <a:p>
            <a:pPr lvl="1"/>
            <a:r>
              <a:rPr lang="nl-NL" sz="2000" noProof="0" dirty="0"/>
              <a:t>Print een leesbaar bericht naar de terminal.</a:t>
            </a:r>
          </a:p>
          <a:p>
            <a:pPr lvl="1"/>
            <a:r>
              <a:rPr lang="nl-NL" sz="2000" noProof="0" dirty="0"/>
              <a:t>Beëindig het Python programma.</a:t>
            </a:r>
          </a:p>
          <a:p>
            <a:pPr lvl="1"/>
            <a:endParaRPr lang="nl-NL" sz="2000" dirty="0"/>
          </a:p>
          <a:p>
            <a:pPr marL="457200" indent="-457200">
              <a:buFont typeface="+mj-lt"/>
              <a:buAutoNum type="arabicPeriod"/>
            </a:pPr>
            <a:r>
              <a:rPr lang="nl-NL" sz="2400" noProof="0" dirty="0"/>
              <a:t>F</a:t>
            </a:r>
            <a:r>
              <a:rPr lang="nl-NL" sz="2400" dirty="0" err="1"/>
              <a:t>outmelding</a:t>
            </a:r>
            <a:r>
              <a:rPr lang="nl-NL" sz="2400" dirty="0"/>
              <a:t> als kolomnaam ontbreekt in de data.</a:t>
            </a:r>
          </a:p>
          <a:p>
            <a:pPr lvl="1"/>
            <a:r>
              <a:rPr lang="nl-NL" sz="2000" dirty="0"/>
              <a:t>Geef een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RuntimeError</a:t>
            </a:r>
            <a:r>
              <a:rPr lang="nl-NL" sz="2000" dirty="0"/>
              <a:t> af in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count_unique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compute_total</a:t>
            </a:r>
            <a:r>
              <a:rPr lang="nl-NL" sz="2000" dirty="0"/>
              <a:t>.</a:t>
            </a:r>
          </a:p>
          <a:p>
            <a:pPr lvl="1"/>
            <a:r>
              <a:rPr lang="nl-NL" sz="2000" dirty="0"/>
              <a:t>Zorg voor een nette omschrijving met de ontbrekende kolomnaam.</a:t>
            </a:r>
          </a:p>
          <a:p>
            <a:pPr lvl="1"/>
            <a:r>
              <a:rPr lang="nl-NL" sz="2000" dirty="0"/>
              <a:t>Log de foutmelding ook als error.</a:t>
            </a:r>
          </a:p>
          <a:p>
            <a:pPr lvl="1"/>
            <a:endParaRPr lang="nl-NL" sz="2000" noProof="0" dirty="0"/>
          </a:p>
        </p:txBody>
      </p:sp>
    </p:spTree>
    <p:extLst>
      <p:ext uri="{BB962C8B-B14F-4D97-AF65-F5344CB8AC3E}">
        <p14:creationId xmlns:p14="http://schemas.microsoft.com/office/powerpoint/2010/main" val="1147293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Unit tests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0461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7A71-C343-4E94-A229-F18D53D8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zijn unit tests?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C7A-6D7E-4515-BA34-6BEF13D36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nl-NL" sz="2000" dirty="0"/>
          </a:p>
          <a:p>
            <a:pPr marL="457200" indent="-457200">
              <a:buAutoNum type="arabicPeriod"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595B197-C69B-B71D-48CF-F98149A9BB9F}"/>
              </a:ext>
            </a:extLst>
          </p:cNvPr>
          <p:cNvGrpSpPr/>
          <p:nvPr/>
        </p:nvGrpSpPr>
        <p:grpSpPr>
          <a:xfrm>
            <a:off x="838200" y="1825625"/>
            <a:ext cx="4089400" cy="2677656"/>
            <a:chOff x="838200" y="2893298"/>
            <a:chExt cx="4089400" cy="267765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715225-C44B-0243-8FC5-9EA77FB886F8}"/>
                </a:ext>
              </a:extLst>
            </p:cNvPr>
            <p:cNvSpPr txBox="1"/>
            <p:nvPr/>
          </p:nvSpPr>
          <p:spPr>
            <a:xfrm>
              <a:off x="838200" y="3262630"/>
              <a:ext cx="4089400" cy="2308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def mean(numbers):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n = 0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total = 0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for number in numbers: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n += 1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total += number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return total / n</a:t>
              </a:r>
              <a:endParaRPr lang="en-NL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E835FFE-9750-B9DD-F204-4E791E3D99D0}"/>
                </a:ext>
              </a:extLst>
            </p:cNvPr>
            <p:cNvSpPr txBox="1"/>
            <p:nvPr/>
          </p:nvSpPr>
          <p:spPr>
            <a:xfrm>
              <a:off x="838200" y="2893298"/>
              <a:ext cx="924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Versie 1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5B0736-77C7-56E4-BDDD-E31B4FB54F2F}"/>
              </a:ext>
            </a:extLst>
          </p:cNvPr>
          <p:cNvGrpSpPr/>
          <p:nvPr/>
        </p:nvGrpSpPr>
        <p:grpSpPr>
          <a:xfrm>
            <a:off x="6096000" y="1825625"/>
            <a:ext cx="4089400" cy="1015663"/>
            <a:chOff x="838200" y="2893298"/>
            <a:chExt cx="4089400" cy="101566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AB8456-73CE-29D4-280F-A1928726336A}"/>
                </a:ext>
              </a:extLst>
            </p:cNvPr>
            <p:cNvSpPr txBox="1"/>
            <p:nvPr/>
          </p:nvSpPr>
          <p:spPr>
            <a:xfrm>
              <a:off x="838200" y="3262630"/>
              <a:ext cx="4089400" cy="6463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def mean(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nrs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):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return sum(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nrs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/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len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nrs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9E7694C-7868-63B8-0145-E97FCC7825B2}"/>
                </a:ext>
              </a:extLst>
            </p:cNvPr>
            <p:cNvSpPr txBox="1"/>
            <p:nvPr/>
          </p:nvSpPr>
          <p:spPr>
            <a:xfrm>
              <a:off x="838200" y="2893298"/>
              <a:ext cx="924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Versie 2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9750E4-E0CD-B7E0-1E61-F4FC2D592092}"/>
              </a:ext>
            </a:extLst>
          </p:cNvPr>
          <p:cNvGrpSpPr/>
          <p:nvPr/>
        </p:nvGrpSpPr>
        <p:grpSpPr>
          <a:xfrm>
            <a:off x="838200" y="4981719"/>
            <a:ext cx="4089400" cy="937329"/>
            <a:chOff x="838200" y="5338696"/>
            <a:chExt cx="4089400" cy="93732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F65B2DB-914D-7F4B-AFA4-83CAA2E8CD02}"/>
                </a:ext>
              </a:extLst>
            </p:cNvPr>
            <p:cNvGrpSpPr/>
            <p:nvPr/>
          </p:nvGrpSpPr>
          <p:grpSpPr>
            <a:xfrm>
              <a:off x="838200" y="5338696"/>
              <a:ext cx="4089400" cy="744697"/>
              <a:chOff x="838200" y="4898429"/>
              <a:chExt cx="4089400" cy="744697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2B909D-879D-9857-4B15-59DA1E306C65}"/>
                  </a:ext>
                </a:extLst>
              </p:cNvPr>
              <p:cNvSpPr txBox="1"/>
              <p:nvPr/>
            </p:nvSpPr>
            <p:spPr>
              <a:xfrm>
                <a:off x="838200" y="5273794"/>
                <a:ext cx="4089400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mean([1, 2, 3]) == 2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C3A641-F26E-6BE8-2808-58081FB41F1E}"/>
                  </a:ext>
                </a:extLst>
              </p:cNvPr>
              <p:cNvSpPr txBox="1"/>
              <p:nvPr/>
            </p:nvSpPr>
            <p:spPr>
              <a:xfrm>
                <a:off x="838200" y="4898429"/>
                <a:ext cx="9907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Unit test</a:t>
                </a:r>
                <a:endParaRPr lang="en-NL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D4DBC7-C96A-2EEB-A2EB-E3F99A6F4251}"/>
                </a:ext>
              </a:extLst>
            </p:cNvPr>
            <p:cNvSpPr txBox="1"/>
            <p:nvPr/>
          </p:nvSpPr>
          <p:spPr>
            <a:xfrm>
              <a:off x="4221602" y="5629694"/>
              <a:ext cx="5469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3600" dirty="0">
                  <a:solidFill>
                    <a:schemeClr val="accent6">
                      <a:lumMod val="75000"/>
                    </a:schemeClr>
                  </a:solidFill>
                  <a:sym typeface="Wingdings" panose="05000000000000000000" pitchFamily="2" charset="2"/>
                </a:rPr>
                <a:t></a:t>
              </a:r>
              <a:endParaRPr lang="en-NL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03E8032-88CF-5A5E-6E4A-DC7F4F091DF0}"/>
              </a:ext>
            </a:extLst>
          </p:cNvPr>
          <p:cNvGrpSpPr/>
          <p:nvPr/>
        </p:nvGrpSpPr>
        <p:grpSpPr>
          <a:xfrm>
            <a:off x="6096000" y="4978702"/>
            <a:ext cx="4089400" cy="940346"/>
            <a:chOff x="6096000" y="5335679"/>
            <a:chExt cx="4089400" cy="94034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66E4D7C-26E8-3AB2-4121-3AB569E5C2AE}"/>
                </a:ext>
              </a:extLst>
            </p:cNvPr>
            <p:cNvGrpSpPr/>
            <p:nvPr/>
          </p:nvGrpSpPr>
          <p:grpSpPr>
            <a:xfrm>
              <a:off x="6096000" y="5335679"/>
              <a:ext cx="4089400" cy="744697"/>
              <a:chOff x="838200" y="4898429"/>
              <a:chExt cx="4089400" cy="744697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ABB627D-30E6-EA98-9473-AA5F7683221A}"/>
                  </a:ext>
                </a:extLst>
              </p:cNvPr>
              <p:cNvSpPr txBox="1"/>
              <p:nvPr/>
            </p:nvSpPr>
            <p:spPr>
              <a:xfrm>
                <a:off x="838200" y="5273794"/>
                <a:ext cx="4089400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mean([1, 2, 3]) == 2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08FB134-D55B-A887-B029-F42E69C65B29}"/>
                  </a:ext>
                </a:extLst>
              </p:cNvPr>
              <p:cNvSpPr txBox="1"/>
              <p:nvPr/>
            </p:nvSpPr>
            <p:spPr>
              <a:xfrm>
                <a:off x="838200" y="4898429"/>
                <a:ext cx="9907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Unit test</a:t>
                </a:r>
                <a:endParaRPr lang="en-NL" dirty="0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A464C77-CCE4-0BE4-50F3-E2444961EFFD}"/>
                </a:ext>
              </a:extLst>
            </p:cNvPr>
            <p:cNvSpPr txBox="1"/>
            <p:nvPr/>
          </p:nvSpPr>
          <p:spPr>
            <a:xfrm>
              <a:off x="9479402" y="5629694"/>
              <a:ext cx="5469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L" sz="3600" dirty="0">
                  <a:solidFill>
                    <a:schemeClr val="accent6">
                      <a:lumMod val="75000"/>
                    </a:schemeClr>
                  </a:solidFill>
                  <a:sym typeface="Wingdings" panose="05000000000000000000" pitchFamily="2" charset="2"/>
                </a:rPr>
                <a:t></a:t>
              </a:r>
              <a:endParaRPr lang="en-NL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80692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7A71-C343-4E94-A229-F18D53D8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Doel van unit tests?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C7A-6D7E-4515-BA34-6BEF13D36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nl-NL" sz="2000" dirty="0"/>
              <a:t>Consistente functionaliteit is het doel.</a:t>
            </a:r>
          </a:p>
          <a:p>
            <a:pPr lvl="1"/>
            <a:r>
              <a:rPr lang="nl-NL" sz="1600" dirty="0"/>
              <a:t>Blijft </a:t>
            </a:r>
            <a:r>
              <a:rPr lang="nl-NL" sz="1600" u="sng" dirty="0"/>
              <a:t>functionaliteit hetzelfde</a:t>
            </a:r>
            <a:r>
              <a:rPr lang="nl-NL" sz="1600" dirty="0"/>
              <a:t>, ook al veranderd de code?</a:t>
            </a:r>
          </a:p>
          <a:p>
            <a:pPr lvl="1"/>
            <a:r>
              <a:rPr lang="nl-NL" sz="1600" dirty="0"/>
              <a:t>Niet goed of fout; dat is vaak subjectief.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Belangrijk voor ontwikkeling van je code.</a:t>
            </a:r>
          </a:p>
          <a:p>
            <a:pPr lvl="1"/>
            <a:r>
              <a:rPr lang="nl-NL" sz="1600" dirty="0"/>
              <a:t>Unit tests draai je tijdens de ontwikkeling van je code!</a:t>
            </a:r>
          </a:p>
          <a:p>
            <a:pPr lvl="1"/>
            <a:r>
              <a:rPr lang="nl-NL" sz="1600" dirty="0"/>
              <a:t>Bedoeld voor ontwikkelaars, niet voor gebruikers.</a:t>
            </a:r>
          </a:p>
          <a:p>
            <a:pPr marL="457200" indent="-457200">
              <a:buAutoNum type="arabicPeriod"/>
            </a:pPr>
            <a:endParaRPr lang="nl-NL" sz="2000" dirty="0"/>
          </a:p>
          <a:p>
            <a:pPr marL="457200" indent="-457200">
              <a:buAutoNum type="arabicPeriod"/>
            </a:pPr>
            <a:r>
              <a:rPr lang="nl-NL" sz="2000" dirty="0"/>
              <a:t>Testen is vastleggen.</a:t>
            </a:r>
          </a:p>
          <a:p>
            <a:pPr lvl="1"/>
            <a:r>
              <a:rPr lang="nl-NL" sz="1600" dirty="0"/>
              <a:t>Tests maken gevolgen van wijzigingen inzichtelijk.</a:t>
            </a:r>
          </a:p>
          <a:p>
            <a:pPr lvl="1"/>
            <a:r>
              <a:rPr lang="nl-NL" sz="1600" dirty="0"/>
              <a:t>Tests geven concrete voorbeelden van de functionaliteit.</a:t>
            </a:r>
          </a:p>
          <a:p>
            <a:pPr lvl="1"/>
            <a:r>
              <a:rPr lang="nl-NL" sz="1600" dirty="0"/>
              <a:t>Tests moedigen grondige inspectie aan: Wat verwacht ik? Wat kan geschrapt worden?</a:t>
            </a:r>
          </a:p>
        </p:txBody>
      </p:sp>
    </p:spTree>
    <p:extLst>
      <p:ext uri="{BB962C8B-B14F-4D97-AF65-F5344CB8AC3E}">
        <p14:creationId xmlns:p14="http://schemas.microsoft.com/office/powerpoint/2010/main" val="33290736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7A71-C343-4E94-A229-F18D53D8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Test </a:t>
            </a:r>
            <a:r>
              <a:rPr lang="nl-NL" dirty="0" err="1"/>
              <a:t>frameworks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C7A-6D7E-4515-BA34-6BEF13D3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482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unittest</a:t>
            </a:r>
          </a:p>
          <a:p>
            <a:pPr marL="0" indent="0">
              <a:buNone/>
            </a:pPr>
            <a:endParaRPr lang="nl-NL" sz="1600" dirty="0"/>
          </a:p>
          <a:p>
            <a:pPr>
              <a:buFontTx/>
              <a:buChar char="-"/>
            </a:pPr>
            <a:r>
              <a:rPr lang="nl-NL" sz="1600" dirty="0"/>
              <a:t>Onderdeel van de standaard bibliotheek.</a:t>
            </a:r>
          </a:p>
          <a:p>
            <a:pPr>
              <a:buFontTx/>
              <a:buChar char="-"/>
            </a:pPr>
            <a:endParaRPr lang="nl-NL" sz="1600" dirty="0"/>
          </a:p>
          <a:p>
            <a:pPr>
              <a:buFontTx/>
              <a:buChar char="-"/>
            </a:pPr>
            <a:r>
              <a:rPr lang="nl-NL" sz="1600" dirty="0"/>
              <a:t>Langere code, </a:t>
            </a:r>
            <a:r>
              <a:rPr lang="nl-NL" sz="1600" dirty="0" err="1"/>
              <a:t>CamelCaps</a:t>
            </a:r>
            <a:r>
              <a:rPr lang="nl-NL" sz="1600" dirty="0"/>
              <a:t> syntax.</a:t>
            </a:r>
          </a:p>
          <a:p>
            <a:pPr>
              <a:buFontTx/>
              <a:buChar char="-"/>
            </a:pPr>
            <a:endParaRPr lang="nl-NL" sz="1600" dirty="0"/>
          </a:p>
          <a:p>
            <a:pPr>
              <a:buFontTx/>
              <a:buChar char="-"/>
            </a:pPr>
            <a:r>
              <a:rPr lang="nl-NL" sz="1600" dirty="0"/>
              <a:t>Minder flexibel / </a:t>
            </a:r>
            <a:r>
              <a:rPr lang="nl-NL" sz="1600" dirty="0" err="1"/>
              <a:t>uitbreidbaar</a:t>
            </a:r>
            <a:r>
              <a:rPr lang="nl-NL" sz="1600" dirty="0"/>
              <a:t>.</a:t>
            </a:r>
          </a:p>
          <a:p>
            <a:pPr marL="0" indent="0">
              <a:buNone/>
            </a:pPr>
            <a:endParaRPr lang="nl-NL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103E9E-1E62-1735-5E0B-0ED70F025F8E}"/>
              </a:ext>
            </a:extLst>
          </p:cNvPr>
          <p:cNvSpPr txBox="1">
            <a:spLocks/>
          </p:cNvSpPr>
          <p:nvPr/>
        </p:nvSpPr>
        <p:spPr>
          <a:xfrm>
            <a:off x="6705602" y="1825625"/>
            <a:ext cx="4648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nl-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nl-NL" sz="1600" dirty="0"/>
          </a:p>
          <a:p>
            <a:pPr>
              <a:buFontTx/>
              <a:buChar char="-"/>
            </a:pPr>
            <a:r>
              <a:rPr lang="nl-NL" sz="1600" dirty="0"/>
              <a:t>Apart package (afhankelijkheid).</a:t>
            </a:r>
          </a:p>
          <a:p>
            <a:pPr>
              <a:buFontTx/>
              <a:buChar char="-"/>
            </a:pPr>
            <a:endParaRPr lang="nl-NL" sz="1600" dirty="0"/>
          </a:p>
          <a:p>
            <a:pPr>
              <a:buFontTx/>
              <a:buChar char="-"/>
            </a:pPr>
            <a:r>
              <a:rPr lang="nl-NL" sz="1600" dirty="0"/>
              <a:t>Kortere code, makkelijker om tests te schrijven.</a:t>
            </a:r>
          </a:p>
          <a:p>
            <a:pPr>
              <a:buFontTx/>
              <a:buChar char="-"/>
            </a:pPr>
            <a:endParaRPr lang="nl-NL" sz="1600" dirty="0"/>
          </a:p>
          <a:p>
            <a:pPr>
              <a:buFontTx/>
              <a:buChar char="-"/>
            </a:pPr>
            <a:r>
              <a:rPr lang="nl-NL" sz="1600" dirty="0" err="1"/>
              <a:t>Uitbreidbaar</a:t>
            </a:r>
            <a:r>
              <a:rPr lang="nl-NL" sz="1600" dirty="0"/>
              <a:t>, veel extensies beschikbaar.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41B282-99A9-5346-C358-F2CCCB0AC1B4}"/>
              </a:ext>
            </a:extLst>
          </p:cNvPr>
          <p:cNvCxnSpPr/>
          <p:nvPr/>
        </p:nvCxnSpPr>
        <p:spPr>
          <a:xfrm>
            <a:off x="5752071" y="1825625"/>
            <a:ext cx="0" cy="43513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3758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7CA4475-4F6B-2A89-887C-A079290E533C}"/>
              </a:ext>
            </a:extLst>
          </p:cNvPr>
          <p:cNvSpPr/>
          <p:nvPr/>
        </p:nvSpPr>
        <p:spPr>
          <a:xfrm>
            <a:off x="7600950" y="2174966"/>
            <a:ext cx="4292599" cy="400199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17A71-C343-4E94-A229-F18D53D8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Tests schrijven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C7A-6D7E-4515-BA34-6BEF13D3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2674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Unit tests zitten in een bestand met als naam:</a:t>
            </a:r>
          </a:p>
          <a:p>
            <a:pPr marL="0" indent="0">
              <a:buNone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test_&lt;module&gt;.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Tests zijn functies met als naam: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test_&lt;functie&gt;_&lt;scenario&gt;.</a:t>
            </a: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Naam en docstring verduidelijken doel van de test.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Test één aspect tegelijk: 1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nl-NL" sz="2000" dirty="0"/>
              <a:t> per test.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C5D9D-7D1F-79AF-659B-A7B6754AA413}"/>
              </a:ext>
            </a:extLst>
          </p:cNvPr>
          <p:cNvSpPr/>
          <p:nvPr/>
        </p:nvSpPr>
        <p:spPr>
          <a:xfrm>
            <a:off x="7600950" y="2174966"/>
            <a:ext cx="4292600" cy="40019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"""Unit tests for helper functions."""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helpers import mean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test_mean_positive_numbers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"""Test mean using positive numbers."""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mean([1, 2, 3]) == 2.0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test_mean_negative_numbers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"""Test mean using negative numbers."""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mean([-1, -2, -3]) == -2.0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88D7CA-1C9E-24B6-C606-7DAC56592A78}"/>
              </a:ext>
            </a:extLst>
          </p:cNvPr>
          <p:cNvSpPr txBox="1"/>
          <p:nvPr/>
        </p:nvSpPr>
        <p:spPr>
          <a:xfrm>
            <a:off x="7600950" y="1825625"/>
            <a:ext cx="429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test_helpers.py</a:t>
            </a:r>
            <a:endParaRPr lang="en-NL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652151-E3FE-B82C-B226-D3E0ED101AC7}"/>
              </a:ext>
            </a:extLst>
          </p:cNvPr>
          <p:cNvCxnSpPr/>
          <p:nvPr/>
        </p:nvCxnSpPr>
        <p:spPr>
          <a:xfrm>
            <a:off x="7314171" y="1825625"/>
            <a:ext cx="0" cy="43513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9705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1AAD40-A2DF-532C-72E8-5E61CD671156}"/>
              </a:ext>
            </a:extLst>
          </p:cNvPr>
          <p:cNvSpPr/>
          <p:nvPr/>
        </p:nvSpPr>
        <p:spPr>
          <a:xfrm>
            <a:off x="7600950" y="1825626"/>
            <a:ext cx="4292599" cy="43513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117A71-C343-4E94-A229-F18D53D8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Foutmeldingen testen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C7A-6D7E-4515-BA34-6BEF13D3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204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Als je code een foutmelding afgeeft, wil je ook deze functionaliteit testen.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Twee manieren: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pytest.raises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@pytest.mark.xfail()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3C5D9D-7D1F-79AF-659B-A7B6754AA413}"/>
              </a:ext>
            </a:extLst>
          </p:cNvPr>
          <p:cNvSpPr/>
          <p:nvPr/>
        </p:nvSpPr>
        <p:spPr>
          <a:xfrm>
            <a:off x="7594600" y="1825626"/>
            <a:ext cx="4292600" cy="43513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test_mean_non_numeric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"""Test error non-numeric input."""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 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pytest.raises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mean([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  </a:t>
            </a: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@pytest.mark.xfail(raises=ValueError)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test_mean_non_numeric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"""Test error non-numeric input."""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mean([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5BB4AA-9C67-650C-6A85-3C3000E4B885}"/>
              </a:ext>
            </a:extLst>
          </p:cNvPr>
          <p:cNvCxnSpPr/>
          <p:nvPr/>
        </p:nvCxnSpPr>
        <p:spPr>
          <a:xfrm>
            <a:off x="7314171" y="1825625"/>
            <a:ext cx="0" cy="43513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530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IV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Open het bestand: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exercises/4_testing_basic/test_utils.py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noProof="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Schrijf unit tests voor de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</a:t>
            </a:r>
            <a:r>
              <a:rPr lang="nl-NL" sz="2000" dirty="0">
                <a:cs typeface="Courier New" panose="02070309020205020404" pitchFamily="49" charset="0"/>
              </a:rPr>
              <a:t> </a:t>
            </a:r>
            <a:r>
              <a:rPr lang="nl-NL" sz="2000" dirty="0"/>
              <a:t>functie: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dirty="0"/>
          </a:p>
          <a:p>
            <a:pPr lvl="1"/>
            <a:r>
              <a:rPr lang="nl-NL" sz="2000" dirty="0"/>
              <a:t>Welke scenario's zou je willen testen?</a:t>
            </a:r>
          </a:p>
          <a:p>
            <a:pPr lvl="1"/>
            <a:r>
              <a:rPr lang="nl-NL" sz="2000" dirty="0"/>
              <a:t>Hoe kun je de foutmeldingen testen?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noProof="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noProof="0" dirty="0"/>
              <a:t>Schrijf unit tests voor de </a:t>
            </a:r>
            <a:r>
              <a:rPr lang="nl-NL" sz="20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absmean</a:t>
            </a:r>
            <a:r>
              <a:rPr lang="nl-NL" sz="2000" noProof="0" dirty="0"/>
              <a:t> functie: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noProof="0" dirty="0"/>
          </a:p>
          <a:p>
            <a:pPr lvl="1"/>
            <a:r>
              <a:rPr lang="nl-NL" sz="2000" dirty="0"/>
              <a:t>Welke nieuwe scenario's zou je </a:t>
            </a:r>
            <a:r>
              <a:rPr lang="nl-NL" sz="2000"/>
              <a:t>willen testen?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0109125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7A71-C343-4E94-A229-F18D53D8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Hergebruik: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C7A-6D7E-4515-BA34-6BEF13D3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849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 err="1"/>
              <a:t>Parametriseren</a:t>
            </a:r>
            <a:r>
              <a:rPr lang="nl-NL" sz="2000" b="1" dirty="0"/>
              <a:t>:</a:t>
            </a: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Hergebruik unit test met verschillende parameters.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Gemakkelijk voor het testen van veel combinaties.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Optie: Beschrijvend ID voor de set parameters.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A5AD01-9DF6-D120-00CE-0750CCDC9446}"/>
              </a:ext>
            </a:extLst>
          </p:cNvPr>
          <p:cNvSpPr/>
          <p:nvPr/>
        </p:nvSpPr>
        <p:spPr>
          <a:xfrm>
            <a:off x="7137402" y="1825625"/>
            <a:ext cx="4216397" cy="43513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@pytest.mark.parametrize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argnames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=[</a:t>
            </a: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"numbers"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"expected"</a:t>
            </a:r>
          </a:p>
          <a:p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],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argvalues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=[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([ 1,  2,  3],  2),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([-1, -2, -3], -2),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=[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"Positive numbers"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"Negative numbers"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],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test_mean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(numbers, expected):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"""Test mean using parameters."""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assert mean(numbers) == expected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1FEA20-32B8-68BA-BDB8-5467054C9C12}"/>
              </a:ext>
            </a:extLst>
          </p:cNvPr>
          <p:cNvCxnSpPr/>
          <p:nvPr/>
        </p:nvCxnSpPr>
        <p:spPr>
          <a:xfrm>
            <a:off x="6850621" y="1825625"/>
            <a:ext cx="0" cy="43513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0958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7A71-C343-4E94-A229-F18D53D8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Hergebruik: </a:t>
            </a:r>
            <a:r>
              <a:rPr lang="nl-NL" dirty="0" err="1"/>
              <a:t>Fixtures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C7A-6D7E-4515-BA34-6BEF13D3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849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Probleem: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Hergebruik van objecten kan problemen opleveren.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Als een test het object aanpast, heeft dat effect op de overige tests.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Iedere test zou nieuw object moeten krijgen…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A5AD01-9DF6-D120-00CE-0750CCDC9446}"/>
              </a:ext>
            </a:extLst>
          </p:cNvPr>
          <p:cNvSpPr/>
          <p:nvPr/>
        </p:nvSpPr>
        <p:spPr>
          <a:xfrm>
            <a:off x="7137402" y="1825625"/>
            <a:ext cx="4216397" cy="43513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400"/>
              </a:spcBef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Create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testing.</a:t>
            </a:r>
          </a:p>
          <a:p>
            <a:pPr>
              <a:spcBef>
                <a:spcPts val="400"/>
              </a:spcBef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fdict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ts val="400"/>
              </a:spcBef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fdict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 value"</a:t>
            </a:r>
          </a:p>
          <a:p>
            <a:pPr>
              <a:spcBef>
                <a:spcPts val="400"/>
              </a:spcBef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400"/>
              </a:spcBef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400"/>
              </a:spcBef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test_update_key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"""Test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update key."""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fdict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"new value"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assert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fdict.data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==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"new value"</a:t>
            </a:r>
          </a:p>
          <a:p>
            <a:pPr>
              <a:spcBef>
                <a:spcPts val="400"/>
              </a:spcBef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400"/>
              </a:spcBef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400"/>
              </a:spcBef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test_get_key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"""Test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key."""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assert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fdict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==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 value"</a:t>
            </a:r>
          </a:p>
          <a:p>
            <a:pPr>
              <a:spcBef>
                <a:spcPts val="400"/>
              </a:spcBef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1FEA20-32B8-68BA-BDB8-5467054C9C12}"/>
              </a:ext>
            </a:extLst>
          </p:cNvPr>
          <p:cNvCxnSpPr/>
          <p:nvPr/>
        </p:nvCxnSpPr>
        <p:spPr>
          <a:xfrm>
            <a:off x="6850621" y="1825625"/>
            <a:ext cx="0" cy="43513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5089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7A71-C343-4E94-A229-F18D53D8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Hergebruik: </a:t>
            </a:r>
            <a:r>
              <a:rPr lang="nl-NL" dirty="0" err="1"/>
              <a:t>Fixtures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C7A-6D7E-4515-BA34-6BEF13D3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849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b="1" dirty="0"/>
              <a:t>Fixture: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Gebruik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@pytest.fixture</a:t>
            </a:r>
            <a:r>
              <a:rPr lang="nl-NL" sz="2000" dirty="0"/>
              <a:t> decorator.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Fixture functie geeft nieuw object terug.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/>
              <a:t>Geef </a:t>
            </a:r>
            <a:r>
              <a:rPr lang="nl-NL" sz="2000" dirty="0" err="1"/>
              <a:t>fixture</a:t>
            </a:r>
            <a:r>
              <a:rPr lang="nl-NL" sz="2000" dirty="0"/>
              <a:t> mee als argument aan de tests.</a:t>
            </a:r>
          </a:p>
          <a:p>
            <a:pPr>
              <a:buFontTx/>
              <a:buChar char="-"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dirty="0" err="1"/>
              <a:t>Fixture</a:t>
            </a:r>
            <a:r>
              <a:rPr lang="nl-NL" sz="2000" dirty="0"/>
              <a:t> wordt voor elke test opnieuw aangemaakt!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A5AD01-9DF6-D120-00CE-0750CCDC9446}"/>
              </a:ext>
            </a:extLst>
          </p:cNvPr>
          <p:cNvSpPr/>
          <p:nvPr/>
        </p:nvSpPr>
        <p:spPr>
          <a:xfrm>
            <a:off x="7137402" y="1825625"/>
            <a:ext cx="4216397" cy="43513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400"/>
              </a:spcBef>
            </a:pP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@pytest.fixture</a:t>
            </a:r>
          </a:p>
          <a:p>
            <a:pPr>
              <a:spcBef>
                <a:spcPts val="400"/>
              </a:spcBef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fdict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"""Create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testing."""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 value"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400"/>
              </a:spcBef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400"/>
              </a:spcBef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400"/>
              </a:spcBef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test_update_key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fdict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"""Test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update key."""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fdict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"new value"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assert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fdict.data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==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"new value"</a:t>
            </a:r>
          </a:p>
          <a:p>
            <a:pPr>
              <a:spcBef>
                <a:spcPts val="400"/>
              </a:spcBef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400"/>
              </a:spcBef>
            </a:pPr>
            <a:endParaRPr lang="en-US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400"/>
              </a:spcBef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test_get_key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fdict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"""Test </a:t>
            </a:r>
            <a:r>
              <a:rPr lang="en-US" sz="12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FuzzyDict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get key."""</a:t>
            </a:r>
          </a:p>
          <a:p>
            <a:pPr>
              <a:spcBef>
                <a:spcPts val="400"/>
              </a:spcBef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assert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fdict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"TEST"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== </a:t>
            </a: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"test value"</a:t>
            </a:r>
          </a:p>
          <a:p>
            <a:pPr>
              <a:spcBef>
                <a:spcPts val="400"/>
              </a:spcBef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1FEA20-32B8-68BA-BDB8-5467054C9C12}"/>
              </a:ext>
            </a:extLst>
          </p:cNvPr>
          <p:cNvCxnSpPr/>
          <p:nvPr/>
        </p:nvCxnSpPr>
        <p:spPr>
          <a:xfrm>
            <a:off x="6850621" y="1825625"/>
            <a:ext cx="0" cy="43513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2103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Bekijk de code in: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exercises/5_testing_reuse/counter.py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noProof="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2000" dirty="0"/>
              <a:t>Schrijf unit tests voor de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ValueCounter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2000" dirty="0"/>
              <a:t>class: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2000" dirty="0"/>
          </a:p>
          <a:p>
            <a:pPr lvl="1"/>
            <a:r>
              <a:rPr lang="nl-NL" sz="2000" dirty="0"/>
              <a:t>Test de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update()</a:t>
            </a:r>
            <a:r>
              <a:rPr lang="nl-NL" sz="2000" dirty="0"/>
              <a:t>,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top()</a:t>
            </a:r>
            <a:r>
              <a:rPr lang="nl-NL" sz="2000" dirty="0"/>
              <a:t>, </a:t>
            </a:r>
            <a:r>
              <a:rPr lang="nl-NL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bottom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l-NL" sz="2000" dirty="0"/>
              <a:t> en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reset()</a:t>
            </a:r>
            <a:r>
              <a:rPr lang="nl-NL" sz="2000" dirty="0"/>
              <a:t> methodes.</a:t>
            </a:r>
          </a:p>
          <a:p>
            <a:pPr lvl="1"/>
            <a:r>
              <a:rPr lang="nl-NL" sz="2000" dirty="0">
                <a:cs typeface="Courier New" panose="02070309020205020404" pitchFamily="49" charset="0"/>
              </a:rPr>
              <a:t>Test verschillende parameter instellingen.</a:t>
            </a:r>
          </a:p>
          <a:p>
            <a:pPr marL="457200" lvl="1" indent="0">
              <a:buNone/>
            </a:pPr>
            <a:endParaRPr lang="nl-NL" sz="20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8381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7A71-C343-4E94-A229-F18D53D8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Tips &amp; Tricks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51C7A-6D7E-4515-BA34-6BEF13D3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725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nl-NL" sz="1600" b="1" dirty="0"/>
              <a:t>Test in ieder geval: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/>
              <a:t>Functionaliteit met geldige invoer.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/>
              <a:t>Alle instellingen die je aanbiedt.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/>
              <a:t>Alle foutmeldingen die je afgeeft.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/>
              <a:t>Meest voor-de-hand-liggende “</a:t>
            </a:r>
            <a:r>
              <a:rPr lang="nl-NL" sz="1600" dirty="0" err="1"/>
              <a:t>edge</a:t>
            </a:r>
            <a:r>
              <a:rPr lang="nl-NL" sz="1600" dirty="0"/>
              <a:t> cases”.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nl-NL" sz="16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600" b="1" dirty="0"/>
              <a:t>Dekking / kwaliteit van je tests: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pytest-cov</a:t>
            </a:r>
            <a:r>
              <a:rPr lang="nl-NL" sz="1600" dirty="0"/>
              <a:t>: welke code wordt (niet) gebruikt in unit test?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/>
              <a:t>Zegt niet alles; worden alle parameters van een functie getest?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9E3790-0FE2-81AA-1F3B-E74DBABD09BB}"/>
              </a:ext>
            </a:extLst>
          </p:cNvPr>
          <p:cNvSpPr txBox="1">
            <a:spLocks/>
          </p:cNvSpPr>
          <p:nvPr/>
        </p:nvSpPr>
        <p:spPr>
          <a:xfrm>
            <a:off x="6686550" y="1825625"/>
            <a:ext cx="466725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nl-NL" sz="1600" b="1" dirty="0"/>
              <a:t>Houd tests in format invoer == resultaat: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/>
              <a:t>Bouw niet de te testen functionaliteit na!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/>
              <a:t>Sla data eventueel op als bestand.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600" b="1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nl-NL" sz="1600" b="1" dirty="0"/>
              <a:t>Wanneer schrijft je unit tests?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/>
              <a:t>Test </a:t>
            </a:r>
            <a:r>
              <a:rPr lang="nl-NL" sz="1600" dirty="0" err="1"/>
              <a:t>driven</a:t>
            </a:r>
            <a:r>
              <a:rPr lang="nl-NL" sz="1600" dirty="0"/>
              <a:t> development: vooraf…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/>
              <a:t>Achteraf; bv. na voltooien van een component.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nl-NL" sz="1600" dirty="0"/>
              <a:t>Wacht niet te lang met tests schrijven!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nl-NL" sz="1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C7D3C7-22E2-DC9F-B234-E1F4B7E34795}"/>
              </a:ext>
            </a:extLst>
          </p:cNvPr>
          <p:cNvCxnSpPr>
            <a:cxnSpLocks/>
          </p:cNvCxnSpPr>
          <p:nvPr/>
        </p:nvCxnSpPr>
        <p:spPr>
          <a:xfrm>
            <a:off x="5960533" y="1388533"/>
            <a:ext cx="0" cy="478843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159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4222</Words>
  <Application>Microsoft Office PowerPoint</Application>
  <PresentationFormat>Widescreen</PresentationFormat>
  <Paragraphs>956</Paragraphs>
  <Slides>58</Slides>
  <Notes>10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Calibri</vt:lpstr>
      <vt:lpstr>Calibri Light</vt:lpstr>
      <vt:lpstr>Courier New</vt:lpstr>
      <vt:lpstr>Wingdings</vt:lpstr>
      <vt:lpstr>Office Theme</vt:lpstr>
      <vt:lpstr>Python - Cursus</vt:lpstr>
      <vt:lpstr>Agenda</vt:lpstr>
      <vt:lpstr>The Zen of Python</vt:lpstr>
      <vt:lpstr>Leesbaarheid</vt:lpstr>
      <vt:lpstr>PEP8 richtlijnen</vt:lpstr>
      <vt:lpstr>Documentatie in code</vt:lpstr>
      <vt:lpstr>Documentatie voor project</vt:lpstr>
      <vt:lpstr>Notebooks documenteren</vt:lpstr>
      <vt:lpstr>Auto-formatting en linting</vt:lpstr>
      <vt:lpstr>Plug-ins voor VS Code</vt:lpstr>
      <vt:lpstr>Structuur</vt:lpstr>
      <vt:lpstr>Structuur bestanden</vt:lpstr>
      <vt:lpstr>Structuur package</vt:lpstr>
      <vt:lpstr>Structuur: Stappenplan</vt:lpstr>
      <vt:lpstr>Structuur: Stappenplan</vt:lpstr>
      <vt:lpstr>Structuur: Stappenplan</vt:lpstr>
      <vt:lpstr>Structuur: Stappenplan</vt:lpstr>
      <vt:lpstr>Goede principes</vt:lpstr>
      <vt:lpstr>Zo eenvoudig mogelijk…</vt:lpstr>
      <vt:lpstr>DRY en WET</vt:lpstr>
      <vt:lpstr>Expliciet is beter dan impliciet</vt:lpstr>
      <vt:lpstr>Expliciet is beter dan impliciet</vt:lpstr>
      <vt:lpstr>Expliciet is beter dan impliciet</vt:lpstr>
      <vt:lpstr>Oefeningen I</vt:lpstr>
      <vt:lpstr>Oplossingen I</vt:lpstr>
      <vt:lpstr>Logging</vt:lpstr>
      <vt:lpstr>Printen versus loggen</vt:lpstr>
      <vt:lpstr>Niveaus van logging</vt:lpstr>
      <vt:lpstr>Logging opzetten</vt:lpstr>
      <vt:lpstr>Een eigen logger maken</vt:lpstr>
      <vt:lpstr>Logging configureren</vt:lpstr>
      <vt:lpstr>Logging configureren</vt:lpstr>
      <vt:lpstr>Logging configureren</vt:lpstr>
      <vt:lpstr>Logging configureren</vt:lpstr>
      <vt:lpstr>Extra informatie weergeven</vt:lpstr>
      <vt:lpstr>Oefeningen II</vt:lpstr>
      <vt:lpstr>Fouten afhandelen</vt:lpstr>
      <vt:lpstr>Foutmeldingen zijn belangrijk!</vt:lpstr>
      <vt:lpstr>Fouten worden doorgegeven</vt:lpstr>
      <vt:lpstr>Fouten worden doorgegeven</vt:lpstr>
      <vt:lpstr>Veelvoorkomende fouten</vt:lpstr>
      <vt:lpstr>Foutmeldingen afhandelen</vt:lpstr>
      <vt:lpstr>Wanneer zelf afhandelen?</vt:lpstr>
      <vt:lpstr>Python zelf afsluiten</vt:lpstr>
      <vt:lpstr>Foutmelding aanmaken</vt:lpstr>
      <vt:lpstr>Oefeningen III</vt:lpstr>
      <vt:lpstr>Unit tests</vt:lpstr>
      <vt:lpstr>Wat zijn unit tests?</vt:lpstr>
      <vt:lpstr>Doel van unit tests?</vt:lpstr>
      <vt:lpstr>Test frameworks</vt:lpstr>
      <vt:lpstr>Tests schrijven</vt:lpstr>
      <vt:lpstr>Foutmeldingen testen</vt:lpstr>
      <vt:lpstr>Oefeningen IV</vt:lpstr>
      <vt:lpstr>Hergebruik: Parameters</vt:lpstr>
      <vt:lpstr>Hergebruik: Fixtures</vt:lpstr>
      <vt:lpstr>Hergebruik: Fixtures</vt:lpstr>
      <vt:lpstr>Oefeningen V</vt:lpstr>
      <vt:lpstr>Tips &amp; Tricks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voor Engineers</dc:title>
  <dc:creator>Lukas Koning</dc:creator>
  <cp:lastModifiedBy>Lukas Koning</cp:lastModifiedBy>
  <cp:revision>853</cp:revision>
  <dcterms:created xsi:type="dcterms:W3CDTF">2022-11-09T07:34:24Z</dcterms:created>
  <dcterms:modified xsi:type="dcterms:W3CDTF">2026-09-24T12:33:09Z</dcterms:modified>
</cp:coreProperties>
</file>