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99" r:id="rId5"/>
    <p:sldId id="258" r:id="rId6"/>
    <p:sldId id="265" r:id="rId7"/>
    <p:sldId id="288" r:id="rId8"/>
    <p:sldId id="266" r:id="rId9"/>
    <p:sldId id="268" r:id="rId10"/>
    <p:sldId id="269" r:id="rId11"/>
    <p:sldId id="271" r:id="rId12"/>
    <p:sldId id="272" r:id="rId13"/>
    <p:sldId id="262" r:id="rId14"/>
    <p:sldId id="279" r:id="rId15"/>
    <p:sldId id="282" r:id="rId16"/>
    <p:sldId id="281" r:id="rId17"/>
    <p:sldId id="283" r:id="rId18"/>
    <p:sldId id="280" r:id="rId19"/>
    <p:sldId id="285" r:id="rId20"/>
    <p:sldId id="284" r:id="rId21"/>
    <p:sldId id="273" r:id="rId22"/>
    <p:sldId id="291" r:id="rId23"/>
    <p:sldId id="287" r:id="rId24"/>
    <p:sldId id="292" r:id="rId25"/>
    <p:sldId id="286" r:id="rId26"/>
    <p:sldId id="300" r:id="rId27"/>
    <p:sldId id="294" r:id="rId28"/>
    <p:sldId id="302" r:id="rId29"/>
    <p:sldId id="305" r:id="rId30"/>
    <p:sldId id="304" r:id="rId3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kas Koning" initials="LK" lastIdx="1" clrIdx="0">
    <p:extLst>
      <p:ext uri="{19B8F6BF-5375-455C-9EA6-DF929625EA0E}">
        <p15:presenceInfo xmlns:p15="http://schemas.microsoft.com/office/powerpoint/2012/main" userId="27d520ca6d017ce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2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FB326-F7F6-0514-8759-DC441A21B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3E35F-E42A-C575-311A-297091067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A4862-3387-1462-BA91-1C6B5B391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8D21E-AD14-4B5B-8D0E-FD6F48B86FB2}" type="datetimeFigureOut">
              <a:rPr lang="en-NL" smtClean="0"/>
              <a:t>17/06/2025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2D1E7-B785-67A1-F1C0-5D530A7F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1AE9E-9EAB-1EE6-EAEE-6BC37B24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1DD0-6470-4117-8E97-E5E2727AA08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17554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3667-2C20-52AA-7ECE-3857EFB60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9A45D-04AE-097F-5C50-96969EB64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34A4E-AD0C-7FFC-28C7-D79521FD3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8D21E-AD14-4B5B-8D0E-FD6F48B86FB2}" type="datetimeFigureOut">
              <a:rPr lang="en-NL" smtClean="0"/>
              <a:t>17/06/2025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1A2D2-390E-FE81-8B59-25E6F9C88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C4063-5EC3-1240-DB03-9380CADF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1DD0-6470-4117-8E97-E5E2727AA08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538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D4145-7648-0365-AB81-29DDD0DE1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90B7E-0AB9-90B0-8B09-C86A9DA0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A2ACA-72C3-27CC-FE2B-3E74FF9B0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8D21E-AD14-4B5B-8D0E-FD6F48B86FB2}" type="datetimeFigureOut">
              <a:rPr lang="en-NL" smtClean="0"/>
              <a:t>17/06/2025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C7B7F-39A1-7E33-5232-27E82E459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22239-A457-75ED-49D9-02286B6C8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1DD0-6470-4117-8E97-E5E2727AA08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02145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D75F-9448-ECDE-F6D6-96AB38F80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66586-AFB0-9107-A370-0CFDECB12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05AD3-EAD1-97B9-5CD9-604CDC3F1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B5DD1-B697-CB86-3C43-B31AD56F8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8D21E-AD14-4B5B-8D0E-FD6F48B86FB2}" type="datetimeFigureOut">
              <a:rPr lang="en-NL" smtClean="0"/>
              <a:t>17/06/2025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304D2-FD8A-DB62-3BF4-42E16499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6ECEB-5C60-63F3-9EAD-5C72D3A6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1DD0-6470-4117-8E97-E5E2727AA08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8289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36CF5-647F-512F-8BA3-FD6730BE1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7E9C6-77DD-B9A9-85B5-5E68B5EA6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C39F0-2669-313D-29F5-5E3731905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47372-38A8-A8C6-EF64-3322E9B8A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5BFB0-00D1-F874-28A1-24169348E2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E8DA0-F202-3522-9806-7D36FBF3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8D21E-AD14-4B5B-8D0E-FD6F48B86FB2}" type="datetimeFigureOut">
              <a:rPr lang="en-NL" smtClean="0"/>
              <a:t>17/06/2025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E9D9DA-FF7D-14B2-6A1E-76A35B9DF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4DE5F-EA66-DB6C-27A7-EBBFAB85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1DD0-6470-4117-8E97-E5E2727AA08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335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90129-3D5D-8ADF-7C83-C37F98E7C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BD655-BE7F-1505-22B7-4C58680F8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8D21E-AD14-4B5B-8D0E-FD6F48B86FB2}" type="datetimeFigureOut">
              <a:rPr lang="en-NL" smtClean="0"/>
              <a:t>17/06/2025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2C58B-C77B-53EB-9D18-CB45B93C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A8989-F35E-FBA4-A183-D7223BE6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1DD0-6470-4117-8E97-E5E2727AA08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77800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6AC413-01ED-D8DD-3EB1-46C67E4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8D21E-AD14-4B5B-8D0E-FD6F48B86FB2}" type="datetimeFigureOut">
              <a:rPr lang="en-NL" smtClean="0"/>
              <a:t>17/06/2025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5767F-326F-1069-4572-BA7DBFC3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7991A-C160-1CA5-38DC-890E6609D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1DD0-6470-4117-8E97-E5E2727AA08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8155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AD9A-92F2-6FA5-EBAF-851957731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9DFCA-15BB-3AB1-F952-3F184FA9C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800D8-3579-FF0F-D42B-2422A6E27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052D0-E7CD-0A87-AF95-6239D94F3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8D21E-AD14-4B5B-8D0E-FD6F48B86FB2}" type="datetimeFigureOut">
              <a:rPr lang="en-NL" smtClean="0"/>
              <a:t>17/06/2025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89E2C-1273-A4CE-2533-6C1883471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31F47-7D0F-C854-63E2-CC52D5571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1DD0-6470-4117-8E97-E5E2727AA08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54175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9A181-EEC2-A6BE-3E02-403D0FE3F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A3DF1-90D1-ABD4-B3B1-56A79F612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29235-8994-D832-0062-B896A34C8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6AF1C-1CA8-C7D0-05A0-732C39F08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8D21E-AD14-4B5B-8D0E-FD6F48B86FB2}" type="datetimeFigureOut">
              <a:rPr lang="en-NL" smtClean="0"/>
              <a:t>17/06/2025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C86D5-4119-B2DE-1D14-6719BB92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64D8C-847A-50F1-157B-A77EEF67A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1DD0-6470-4117-8E97-E5E2727AA08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1082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0EC3-8B5E-4F05-BEE4-BC426A29B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1A647-E417-5BA9-1F02-7BBBE02BC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9D11F-5B2D-AE5F-4FD7-90D5F8790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8D21E-AD14-4B5B-8D0E-FD6F48B86FB2}" type="datetimeFigureOut">
              <a:rPr lang="en-NL" smtClean="0"/>
              <a:t>17/06/2025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0CA6D-1195-6A7A-29E6-0F8960C7D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1222C-CDC2-034E-B9F7-7516606A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1DD0-6470-4117-8E97-E5E2727AA08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57048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272171-2487-B885-1540-0A1D5E57AD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FA6AC-AA21-7FB5-3BAB-8C59970CB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21DC0-4C99-B8C4-F5B4-D40F698A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8D21E-AD14-4B5B-8D0E-FD6F48B86FB2}" type="datetimeFigureOut">
              <a:rPr lang="en-NL" smtClean="0"/>
              <a:t>17/06/2025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34B8D-F9DE-CFD5-5318-13206D266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1FD84-4C46-9B5B-55A7-C3404CE7D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11DD0-6470-4117-8E97-E5E2727AA08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1000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45A32-AE1A-A63C-81B1-C2D097B08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8D640-4319-5C85-4C64-8587FC480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CC49E-CA34-F3E0-4662-7840410E1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8D21E-AD14-4B5B-8D0E-FD6F48B86FB2}" type="datetimeFigureOut">
              <a:rPr lang="en-NL" smtClean="0"/>
              <a:t>17/06/2025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70518-C744-F752-2B75-FDB2190A16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A09B5-25B6-B5BD-0DA5-517981267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11DD0-6470-4117-8E97-E5E2727AA08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62498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D33EE-8E3E-2FD7-C25D-65D2FBE8FC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Introductie Tijdreeksen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CDED5-11B0-8A9C-9FC5-11BC1C39DF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/>
              <a:t>ACM / AFM / Nza Kennisdeling</a:t>
            </a:r>
          </a:p>
          <a:p>
            <a:r>
              <a:rPr lang="nl-NL" noProof="0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79049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F0395-A258-E0CE-7E12-BA44CC83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1439-8014-0A6A-7526-A809A525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dirty="0"/>
              <a:t>Wat is een tijdreeks?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F09A0-D623-420C-2C36-E3788EFD6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Regelmatig herhaalde meting van dezelfde variabele.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Voorbeelden:</a:t>
            </a:r>
          </a:p>
          <a:p>
            <a:pPr>
              <a:buFontTx/>
              <a:buChar char="-"/>
            </a:pPr>
            <a:r>
              <a:rPr lang="nl-NL" sz="2000" noProof="0" dirty="0"/>
              <a:t>Aantal reizigers</a:t>
            </a:r>
          </a:p>
          <a:p>
            <a:pPr>
              <a:buFontTx/>
              <a:buChar char="-"/>
            </a:pPr>
            <a:r>
              <a:rPr lang="nl-NL" sz="2000" noProof="0" dirty="0"/>
              <a:t>Weer</a:t>
            </a:r>
          </a:p>
          <a:p>
            <a:pPr>
              <a:buFontTx/>
              <a:buChar char="-"/>
            </a:pPr>
            <a:r>
              <a:rPr lang="nl-NL" sz="2000" noProof="0" dirty="0"/>
              <a:t>Aandelenprijzen</a:t>
            </a:r>
          </a:p>
          <a:p>
            <a:pPr>
              <a:buFontTx/>
              <a:buChar char="-"/>
            </a:pPr>
            <a:r>
              <a:rPr lang="nl-NL" sz="2000" dirty="0"/>
              <a:t>Verkopen</a:t>
            </a:r>
            <a:endParaRPr lang="nl-NL" sz="2000" noProof="0" dirty="0"/>
          </a:p>
          <a:p>
            <a:pPr>
              <a:buFontTx/>
              <a:buChar char="-"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6BD786-4749-9CF4-0616-1808759D9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199" y="2389529"/>
            <a:ext cx="5924692" cy="410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29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359EC-106A-FCA5-6A53-E36427FD1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4D70-DE66-791F-AAA8-BCFBDBE9A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Correlatie tussen de metingen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5A1C2-4CE2-B6B0-66C3-31289F7F6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377" y="1338943"/>
            <a:ext cx="7084423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noProof="0" dirty="0"/>
              <a:t>Autocorrelatie</a:t>
            </a:r>
          </a:p>
          <a:p>
            <a:pPr marL="0" indent="0">
              <a:buNone/>
            </a:pPr>
            <a:r>
              <a:rPr lang="nl-NL" sz="2000" noProof="0" dirty="0"/>
              <a:t>Mate van correlatie tussen verschillende meetpunten van dezelfde variabele.</a:t>
            </a:r>
          </a:p>
          <a:p>
            <a:pPr>
              <a:buFontTx/>
              <a:buChar char="-"/>
            </a:pPr>
            <a:endParaRPr lang="nl-NL" sz="2000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B8B8B7-CE93-6F61-E4F0-103169E19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883085"/>
              </p:ext>
            </p:extLst>
          </p:nvPr>
        </p:nvGraphicFramePr>
        <p:xfrm>
          <a:off x="8412480" y="2281124"/>
          <a:ext cx="2269068" cy="298683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56356">
                  <a:extLst>
                    <a:ext uri="{9D8B030D-6E8A-4147-A177-3AD203B41FA5}">
                      <a16:colId xmlns:a16="http://schemas.microsoft.com/office/drawing/2014/main" val="2422646788"/>
                    </a:ext>
                  </a:extLst>
                </a:gridCol>
                <a:gridCol w="756356">
                  <a:extLst>
                    <a:ext uri="{9D8B030D-6E8A-4147-A177-3AD203B41FA5}">
                      <a16:colId xmlns:a16="http://schemas.microsoft.com/office/drawing/2014/main" val="92238163"/>
                    </a:ext>
                  </a:extLst>
                </a:gridCol>
                <a:gridCol w="756356">
                  <a:extLst>
                    <a:ext uri="{9D8B030D-6E8A-4147-A177-3AD203B41FA5}">
                      <a16:colId xmlns:a16="http://schemas.microsoft.com/office/drawing/2014/main" val="3725448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r>
                        <a:rPr lang="en-US" baseline="-25000" dirty="0"/>
                        <a:t>t-1</a:t>
                      </a:r>
                      <a:endParaRPr lang="en-NL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97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--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88194"/>
                  </a:ext>
                </a:extLst>
              </a:tr>
              <a:tr h="3909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024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4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209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012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20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01171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7E48424-A685-C737-3724-DE60B419D22C}"/>
              </a:ext>
            </a:extLst>
          </p:cNvPr>
          <p:cNvSpPr txBox="1"/>
          <p:nvPr/>
        </p:nvSpPr>
        <p:spPr>
          <a:xfrm>
            <a:off x="980440" y="2825972"/>
            <a:ext cx="666400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Series of data points.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([10, 11, 12, 13, 14, 15, 17, 18])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Lag by one day.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y_lag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s.shift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Compute correlation.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y.corr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y_lag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All in one go!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y.autocorr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259160-623A-BE68-8323-5EEB9C2EDD29}"/>
              </a:ext>
            </a:extLst>
          </p:cNvPr>
          <p:cNvSpPr txBox="1"/>
          <p:nvPr/>
        </p:nvSpPr>
        <p:spPr>
          <a:xfrm>
            <a:off x="9624907" y="5371253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= .99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3980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138F6-6E35-A1D0-1E7E-BA1064D1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1EC6-0653-9203-563F-E7E02EB45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Autoregressie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C0BDA-23E5-8F2F-33C8-5D621AAF3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377" y="1338943"/>
            <a:ext cx="7084423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noProof="0" dirty="0"/>
              <a:t>Autoregressie</a:t>
            </a:r>
          </a:p>
          <a:p>
            <a:pPr marL="0" indent="0">
              <a:buNone/>
            </a:pPr>
            <a:r>
              <a:rPr lang="nl-NL" sz="2000" noProof="0" dirty="0"/>
              <a:t>Gewicht waarmee eerdere metingen de huidige meting beinvloeden.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4CA558-948A-47F9-5258-9CA66FC847A9}"/>
              </a:ext>
            </a:extLst>
          </p:cNvPr>
          <p:cNvSpPr txBox="1"/>
          <p:nvPr/>
        </p:nvSpPr>
        <p:spPr>
          <a:xfrm>
            <a:off x="980440" y="2825972"/>
            <a:ext cx="666400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Series of data points.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([10, 11, 12, 13, 14, 15, 17, 18])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Lag by one day.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y_lag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s.shift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Determine regression coefficient.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coef = lag.cov(s) / lag.var()</a:t>
            </a:r>
            <a:endParaRPr lang="en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B39A77-BC14-8EBD-1CD4-8E689BD4F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759569"/>
              </p:ext>
            </p:extLst>
          </p:nvPr>
        </p:nvGraphicFramePr>
        <p:xfrm>
          <a:off x="8412480" y="2281124"/>
          <a:ext cx="2269068" cy="298683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56356">
                  <a:extLst>
                    <a:ext uri="{9D8B030D-6E8A-4147-A177-3AD203B41FA5}">
                      <a16:colId xmlns:a16="http://schemas.microsoft.com/office/drawing/2014/main" val="2422646788"/>
                    </a:ext>
                  </a:extLst>
                </a:gridCol>
                <a:gridCol w="756356">
                  <a:extLst>
                    <a:ext uri="{9D8B030D-6E8A-4147-A177-3AD203B41FA5}">
                      <a16:colId xmlns:a16="http://schemas.microsoft.com/office/drawing/2014/main" val="92238163"/>
                    </a:ext>
                  </a:extLst>
                </a:gridCol>
                <a:gridCol w="756356">
                  <a:extLst>
                    <a:ext uri="{9D8B030D-6E8A-4147-A177-3AD203B41FA5}">
                      <a16:colId xmlns:a16="http://schemas.microsoft.com/office/drawing/2014/main" val="3725448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r>
                        <a:rPr lang="en-US" baseline="-25000" dirty="0"/>
                        <a:t>t-1</a:t>
                      </a:r>
                      <a:endParaRPr lang="en-NL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97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--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88194"/>
                  </a:ext>
                </a:extLst>
              </a:tr>
              <a:tr h="3909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024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4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209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012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20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0117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F782B1-38EF-7CB4-B8EE-A34C3EF3E65E}"/>
              </a:ext>
            </a:extLst>
          </p:cNvPr>
          <p:cNvSpPr txBox="1"/>
          <p:nvPr/>
        </p:nvSpPr>
        <p:spPr>
          <a:xfrm>
            <a:off x="9665221" y="566250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1.08</a:t>
            </a:r>
            <a:endParaRPr lang="en-NL" dirty="0"/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D63A8CF0-1EE7-D5E1-3DE5-A316D511DA3E}"/>
              </a:ext>
            </a:extLst>
          </p:cNvPr>
          <p:cNvSpPr/>
          <p:nvPr/>
        </p:nvSpPr>
        <p:spPr>
          <a:xfrm flipH="1">
            <a:off x="9699413" y="5411295"/>
            <a:ext cx="677334" cy="251212"/>
          </a:xfrm>
          <a:prstGeom prst="curvedUp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225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782EB-451D-53EE-71BA-C4B02444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1824A-C201-8B16-8AB2-0C0F6E78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Groei of krimp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E9843-0CEF-EEB9-1BB0-03D99F723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25880"/>
            <a:ext cx="5344272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Autoregressie coëfficiënt bepaalt richting: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 1.5		=&gt;	Exponentiele groei</a:t>
            </a:r>
          </a:p>
          <a:p>
            <a:pPr marL="0" indent="0">
              <a:buNone/>
            </a:pPr>
            <a:r>
              <a:rPr lang="nl-NL" sz="2000" dirty="0"/>
              <a:t> 1.0		=&gt;	Stabiel</a:t>
            </a:r>
          </a:p>
          <a:p>
            <a:pPr marL="0" indent="0">
              <a:buNone/>
            </a:pPr>
            <a:r>
              <a:rPr lang="nl-NL" sz="2000" noProof="0" dirty="0"/>
              <a:t> 0.5</a:t>
            </a:r>
            <a:r>
              <a:rPr lang="nl-NL" sz="2000" dirty="0"/>
              <a:t>		</a:t>
            </a:r>
            <a:r>
              <a:rPr lang="nl-NL" sz="2000" noProof="0" dirty="0"/>
              <a:t>=&gt; 	Uitdoving</a:t>
            </a:r>
          </a:p>
          <a:p>
            <a:pPr marL="0" indent="0">
              <a:buNone/>
            </a:pPr>
            <a:r>
              <a:rPr lang="nl-NL" sz="2000" noProof="0" dirty="0"/>
              <a:t>-0.5		=&gt;	Wisselingen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dirty="0"/>
              <a:t>Autoregressie kan niet goed omgaan met groei of krimp.</a:t>
            </a:r>
          </a:p>
          <a:p>
            <a:pPr marL="0" indent="0">
              <a:buNone/>
            </a:pPr>
            <a:endParaRPr lang="nl-NL" sz="2000" dirty="0"/>
          </a:p>
          <a:p>
            <a:pPr>
              <a:buFontTx/>
              <a:buChar char="-"/>
            </a:pP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A8CF3A-9E9E-0624-C554-4E5275F88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800" y="2390987"/>
            <a:ext cx="5017958" cy="402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699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A6F98-7650-42A7-1793-1A23BF564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7483-E63E-C12C-9A87-C96C0C1B8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Stationariteit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8EF81-50A6-B141-3724-2AF76C7B7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Stationair: Eigenschappen tijdreeks </a:t>
            </a:r>
            <a:r>
              <a:rPr lang="nl-NL" sz="2000" u="sng" dirty="0"/>
              <a:t>onafhankelijk van tijdvak</a:t>
            </a:r>
            <a:r>
              <a:rPr lang="nl-NL" sz="2000" dirty="0"/>
              <a:t> waarop gemeten wordt.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Uitdagingen:</a:t>
            </a:r>
          </a:p>
          <a:p>
            <a:pPr>
              <a:buFontTx/>
              <a:buChar char="-"/>
            </a:pPr>
            <a:r>
              <a:rPr lang="nl-NL" sz="2000" dirty="0"/>
              <a:t>Trends</a:t>
            </a:r>
          </a:p>
          <a:p>
            <a:pPr>
              <a:buFontTx/>
              <a:buChar char="-"/>
            </a:pPr>
            <a:r>
              <a:rPr lang="nl-NL" sz="2000" dirty="0"/>
              <a:t>Seizoenaliteit</a:t>
            </a:r>
          </a:p>
          <a:p>
            <a:pPr>
              <a:buFontTx/>
              <a:buChar char="-"/>
            </a:pPr>
            <a:r>
              <a:rPr lang="nl-NL" sz="2000" dirty="0"/>
              <a:t>Veranderende variantie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8ED217-3F2E-6123-AEAF-061FF6167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127" y="2343815"/>
            <a:ext cx="5754017" cy="41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8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DCD1-4B4A-910F-FD06-44E959284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CF592-080B-4622-EA28-AFEFDD54A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Is het stationair?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F81B9-034C-FE1D-8021-91A4EEACC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7449596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Het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nl-NL" sz="2000" dirty="0"/>
              <a:t> package heeft tests voor stationariteit: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1E6A8-CC16-6A4B-5FEF-81DAA59CB013}"/>
              </a:ext>
            </a:extLst>
          </p:cNvPr>
          <p:cNvSpPr txBox="1"/>
          <p:nvPr/>
        </p:nvSpPr>
        <p:spPr>
          <a:xfrm>
            <a:off x="838200" y="2163271"/>
            <a:ext cx="63354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Import Augmented Dickey-Fuller test.</a:t>
            </a:r>
          </a:p>
          <a:p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statsmodels.tsa.stattools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adfuller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Perform test on timeseries with trend.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result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adfuller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(trend)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"statistic:   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result[0])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"p-value:     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result[1])</a:t>
            </a:r>
          </a:p>
          <a:p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Not significant = not stationary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FEE70-F4CE-1E3B-A93E-2E3622B77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777" y="577516"/>
            <a:ext cx="2688023" cy="57029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8C04D6-BC39-59FE-9B9B-0CE50D2547F5}"/>
              </a:ext>
            </a:extLst>
          </p:cNvPr>
          <p:cNvSpPr txBox="1"/>
          <p:nvPr/>
        </p:nvSpPr>
        <p:spPr>
          <a:xfrm>
            <a:off x="10195905" y="2784452"/>
            <a:ext cx="996902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 = .90</a:t>
            </a:r>
            <a:endParaRPr lang="en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FF088B-61EF-C939-2169-7B01F023564A}"/>
              </a:ext>
            </a:extLst>
          </p:cNvPr>
          <p:cNvSpPr txBox="1"/>
          <p:nvPr/>
        </p:nvSpPr>
        <p:spPr>
          <a:xfrm>
            <a:off x="10195905" y="3809555"/>
            <a:ext cx="996902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 = .03</a:t>
            </a:r>
            <a:endParaRPr lang="en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979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92974-094E-DCC7-3BB9-75AA7E068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6CA85-F548-5A10-26D1-49A770553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Verandering modelleren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C2DF7-3444-D407-87DA-E517B3B53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25880"/>
            <a:ext cx="6320246" cy="48510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sz="2000" dirty="0"/>
              <a:t>Als ruwe waardes niet stationair zijn, kun je naar veranderingen kijken.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b="1" noProof="0" dirty="0"/>
              <a:t>Differencing:</a:t>
            </a:r>
          </a:p>
          <a:p>
            <a:pPr marL="0" indent="0">
              <a:buNone/>
            </a:pPr>
            <a:r>
              <a:rPr lang="nl-NL" sz="2000" noProof="0" dirty="0"/>
              <a:t>Verschil met waarde van een vorige meting.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diff(1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= y – y</a:t>
            </a:r>
            <a:r>
              <a:rPr lang="nl-NL" sz="2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t-1</a:t>
            </a:r>
            <a:endParaRPr lang="nl-NL" sz="2000" baseline="-25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Lineaire trend:</a:t>
            </a:r>
          </a:p>
          <a:p>
            <a:pPr marL="0" indent="0">
              <a:buNone/>
            </a:pPr>
            <a:r>
              <a:rPr lang="nl-NL" sz="2000" dirty="0"/>
              <a:t>Verschil is constante, dus stationair!</a:t>
            </a: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dirty="0"/>
              <a:t>Seizoenaliteit:</a:t>
            </a:r>
          </a:p>
          <a:p>
            <a:pPr marL="0" indent="0">
              <a:buNone/>
            </a:pPr>
            <a:r>
              <a:rPr lang="nl-NL" sz="2000" dirty="0"/>
              <a:t>Afhankelijk van cyclus en mate van differencing...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767A94-2E7C-F8E8-5CAF-9476264DA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80" y="589279"/>
            <a:ext cx="3347719" cy="579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40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A936F-F88C-AA0D-AA15-EE745939E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D182D2D-41D9-0200-2EC7-567BAF57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986" y="2506135"/>
            <a:ext cx="10539551" cy="27436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2A9261-9765-304C-4A52-146192EEB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en-US" sz="3600" dirty="0"/>
              <a:t>Voortschrijdend</a:t>
            </a:r>
            <a:r>
              <a:rPr lang="nl-NL" sz="3600" noProof="0" dirty="0"/>
              <a:t> gemiddelde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7B452-085D-FE5A-7E0B-C7285E5EF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599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Voor ieder tijdstip: gemiddelde met een aantal metingen ervoor.</a:t>
            </a:r>
          </a:p>
          <a:p>
            <a:pPr marL="0" indent="0">
              <a:buNone/>
            </a:pPr>
            <a:r>
              <a:rPr lang="nl-NL" sz="2000" dirty="0"/>
              <a:t>Reduceert lokale variantie: smoothing.</a:t>
            </a:r>
            <a:endParaRPr lang="nl-NL" sz="200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54D966-5953-051E-948D-ED568AFBD206}"/>
              </a:ext>
            </a:extLst>
          </p:cNvPr>
          <p:cNvSpPr/>
          <p:nvPr/>
        </p:nvSpPr>
        <p:spPr>
          <a:xfrm>
            <a:off x="1106905" y="3066334"/>
            <a:ext cx="536265" cy="412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37010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EB6E5-E937-CCCC-1F48-6280BB2E4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74CCCDF-0049-5131-2556-1D7B0037E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53" y="2502525"/>
            <a:ext cx="10633728" cy="40337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7F7B2C-E60D-CB2E-F430-43296D1DF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en-US" sz="3600" dirty="0"/>
              <a:t>Voortschrijdend</a:t>
            </a:r>
            <a:r>
              <a:rPr lang="nl-NL" sz="3600" noProof="0" dirty="0"/>
              <a:t> gemiddelde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53819-D507-9368-686F-ECA708EA0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599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E</a:t>
            </a:r>
            <a:r>
              <a:rPr lang="nl-NL" sz="2000" dirty="0"/>
              <a:t>xtreme waardes opsporen kan met een voorstschrijdend gemiddelde.</a:t>
            </a:r>
            <a:endParaRPr lang="nl-NL" sz="20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5E3A19-0216-887A-A9EB-52FE8608C473}"/>
              </a:ext>
            </a:extLst>
          </p:cNvPr>
          <p:cNvSpPr/>
          <p:nvPr/>
        </p:nvSpPr>
        <p:spPr>
          <a:xfrm>
            <a:off x="3264747" y="5378027"/>
            <a:ext cx="589280" cy="10928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2259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20D99-E109-283E-8EA8-01AF7783C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F60B0-192B-2593-DA4C-E3C180396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en-US" sz="3600" dirty="0"/>
              <a:t>Voortschrijdend</a:t>
            </a:r>
            <a:r>
              <a:rPr lang="nl-NL" sz="3600" dirty="0"/>
              <a:t> gemiddelde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CB49E-F20B-F5A1-F51B-B33B90FF2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599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Gebruik een v</a:t>
            </a:r>
            <a:r>
              <a:rPr lang="en-US" sz="2000" dirty="0" err="1"/>
              <a:t>oortschrijdend</a:t>
            </a:r>
            <a:r>
              <a:rPr lang="nl-NL" sz="2000" dirty="0"/>
              <a:t> gemiddelde om trend en seizonaliteit te scheiden.</a:t>
            </a:r>
            <a:endParaRPr lang="nl-NL" sz="2000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DC25E5-BE02-64F5-79AC-BE8EAE233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88030"/>
            <a:ext cx="10140262" cy="419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84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15AE0-A667-A170-D433-E7D3AD1D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C51D-277C-0749-FDE0-ACB666B2D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Seasonal Trend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1445-B4FF-39E1-D88D-6BC94C8A2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6470469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Ontleed een tijdreeks in trend, seizonaliteit en ruis met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nl-NL" sz="2000" dirty="0"/>
              <a:t>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AB7D83-B927-5D68-B7B1-C5D42A59CD56}"/>
              </a:ext>
            </a:extLst>
          </p:cNvPr>
          <p:cNvSpPr txBox="1"/>
          <p:nvPr/>
        </p:nvSpPr>
        <p:spPr>
          <a:xfrm>
            <a:off x="838200" y="2163271"/>
            <a:ext cx="633548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Seasonal Trend decomposition using LOESS.</a:t>
            </a:r>
          </a:p>
          <a:p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statsmodels.tsa.seasonal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STL</a:t>
            </a:r>
          </a:p>
          <a:p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Decompose the time series using STL.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STL(series,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period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=7)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decomp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stl.fit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Plot the decomposition.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decomp.plot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Access the components.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decomp.trend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decomp.seasonal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decomp.resid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0D2A9-92DA-8D4C-26F0-1D2827E53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417" y="594316"/>
            <a:ext cx="2954383" cy="59453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6C039B-13D6-4D7B-BA32-26AA0664524D}"/>
              </a:ext>
            </a:extLst>
          </p:cNvPr>
          <p:cNvSpPr txBox="1"/>
          <p:nvPr/>
        </p:nvSpPr>
        <p:spPr>
          <a:xfrm>
            <a:off x="838199" y="6194789"/>
            <a:ext cx="6470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https://otexts.com/fpp2/stl.html#ref-Cleveland1990</a:t>
            </a:r>
            <a:endParaRPr lang="en-NL" sz="1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9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2DBE4-19A9-DE84-8EE7-25637C4E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FC3BC-2E2F-75EC-29C3-D7457EEDB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model bouwen...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47F0C4-D1C8-1DA5-CC61-22F19EF32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747803"/>
              </p:ext>
            </p:extLst>
          </p:nvPr>
        </p:nvGraphicFramePr>
        <p:xfrm>
          <a:off x="759822" y="2260479"/>
          <a:ext cx="611777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1777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1788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3AD36EE-A02E-7F33-3FCD-F238F3EAC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043567"/>
              </p:ext>
            </p:extLst>
          </p:nvPr>
        </p:nvGraphicFramePr>
        <p:xfrm>
          <a:off x="2467790" y="2260479"/>
          <a:ext cx="611777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1777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1788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FB4E3C0-BF4F-2FC8-4F24-BAD2C522CA10}"/>
              </a:ext>
            </a:extLst>
          </p:cNvPr>
          <p:cNvSpPr txBox="1"/>
          <p:nvPr/>
        </p:nvSpPr>
        <p:spPr>
          <a:xfrm>
            <a:off x="2192379" y="1609069"/>
            <a:ext cx="1162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diff(1)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93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B8323-0F27-5CCA-518D-FD962963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881B7-752C-AC0D-5E8E-90316E5D0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model bouwen...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27E990-F1AB-BF8A-26C8-098304B5D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195618"/>
              </p:ext>
            </p:extLst>
          </p:nvPr>
        </p:nvGraphicFramePr>
        <p:xfrm>
          <a:off x="759822" y="2260479"/>
          <a:ext cx="611777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1777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  <a:endParaRPr lang="en-NL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1788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500433-1FAE-DF3E-050B-AEC4DA678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417820"/>
              </p:ext>
            </p:extLst>
          </p:nvPr>
        </p:nvGraphicFramePr>
        <p:xfrm>
          <a:off x="2467790" y="2260479"/>
          <a:ext cx="611777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1777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1788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17AFB3C-F8D5-F3A5-5B3F-756F29558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735965"/>
              </p:ext>
            </p:extLst>
          </p:nvPr>
        </p:nvGraphicFramePr>
        <p:xfrm>
          <a:off x="3796938" y="2260479"/>
          <a:ext cx="927464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7464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402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r>
                        <a:rPr lang="en-US" baseline="-25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t-1</a:t>
                      </a:r>
                      <a:endParaRPr lang="en-NL" baseline="-25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840987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C87DF1C2-2F85-02F9-848A-ADFDB79A30B2}"/>
              </a:ext>
            </a:extLst>
          </p:cNvPr>
          <p:cNvSpPr txBox="1"/>
          <p:nvPr/>
        </p:nvSpPr>
        <p:spPr>
          <a:xfrm>
            <a:off x="2237009" y="1609069"/>
            <a:ext cx="1073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diff(1)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F5B3E6-FAA0-9CD7-0FCC-F982456E6A77}"/>
              </a:ext>
            </a:extLst>
          </p:cNvPr>
          <p:cNvSpPr txBox="1"/>
          <p:nvPr/>
        </p:nvSpPr>
        <p:spPr>
          <a:xfrm>
            <a:off x="3667397" y="1612745"/>
            <a:ext cx="1186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shift(1)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431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F2DC9-3044-77DF-5D86-26A3710C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A0E9-43E3-0DF3-C199-796F62F87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model bouwen...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C9B8F8-2DC8-CD14-51E1-5749A651B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720275"/>
              </p:ext>
            </p:extLst>
          </p:nvPr>
        </p:nvGraphicFramePr>
        <p:xfrm>
          <a:off x="759822" y="2260479"/>
          <a:ext cx="611777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1777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  <a:endParaRPr lang="en-NL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1788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CD17DC-9EF1-2F58-D771-350FE636A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522806"/>
              </p:ext>
            </p:extLst>
          </p:nvPr>
        </p:nvGraphicFramePr>
        <p:xfrm>
          <a:off x="2467790" y="2260479"/>
          <a:ext cx="611777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1777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1788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EBB7BE-9060-D11D-57CA-FC972F3FB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77424"/>
              </p:ext>
            </p:extLst>
          </p:nvPr>
        </p:nvGraphicFramePr>
        <p:xfrm>
          <a:off x="3796938" y="2260479"/>
          <a:ext cx="927464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7464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402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r>
                        <a:rPr lang="en-US" baseline="-25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t-1</a:t>
                      </a:r>
                      <a:endParaRPr lang="en-NL" baseline="-25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840987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0344624-F79B-890F-18AD-769E51E62706}"/>
              </a:ext>
            </a:extLst>
          </p:cNvPr>
          <p:cNvSpPr/>
          <p:nvPr/>
        </p:nvSpPr>
        <p:spPr>
          <a:xfrm>
            <a:off x="5564780" y="3294168"/>
            <a:ext cx="1724297" cy="104270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Regressie</a:t>
            </a:r>
          </a:p>
          <a:p>
            <a:pPr algn="ctr"/>
            <a:r>
              <a:rPr lang="en-US" dirty="0"/>
              <a:t>model</a:t>
            </a:r>
            <a:endParaRPr lang="en-NL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FACEA2D-A06E-3135-00CA-68B76C584F4E}"/>
              </a:ext>
            </a:extLst>
          </p:cNvPr>
          <p:cNvCxnSpPr>
            <a:cxnSpLocks/>
            <a:stCxn id="11" idx="2"/>
            <a:endCxn id="13" idx="2"/>
          </p:cNvCxnSpPr>
          <p:nvPr/>
        </p:nvCxnSpPr>
        <p:spPr>
          <a:xfrm rot="5400000" flipH="1" flipV="1">
            <a:off x="4629212" y="3968326"/>
            <a:ext cx="1429173" cy="2166259"/>
          </a:xfrm>
          <a:prstGeom prst="bentConnector3">
            <a:avLst>
              <a:gd name="adj1" fmla="val -1599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0AAC3A3-7645-E87B-5B08-0F445B672C59}"/>
              </a:ext>
            </a:extLst>
          </p:cNvPr>
          <p:cNvCxnSpPr>
            <a:cxnSpLocks/>
            <a:stCxn id="9" idx="2"/>
            <a:endCxn id="13" idx="2"/>
          </p:cNvCxnSpPr>
          <p:nvPr/>
        </p:nvCxnSpPr>
        <p:spPr>
          <a:xfrm rot="5400000" flipH="1" flipV="1">
            <a:off x="3885716" y="3224830"/>
            <a:ext cx="1429173" cy="3653251"/>
          </a:xfrm>
          <a:prstGeom prst="bentConnector3">
            <a:avLst>
              <a:gd name="adj1" fmla="val -3701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F6E60EC-10EB-3580-5FA1-E1E6ADD6A40D}"/>
              </a:ext>
            </a:extLst>
          </p:cNvPr>
          <p:cNvSpPr txBox="1"/>
          <p:nvPr/>
        </p:nvSpPr>
        <p:spPr>
          <a:xfrm>
            <a:off x="2237009" y="1609069"/>
            <a:ext cx="1073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diff(1)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C68634-92E1-C2A9-2466-41330FC7571C}"/>
              </a:ext>
            </a:extLst>
          </p:cNvPr>
          <p:cNvSpPr txBox="1"/>
          <p:nvPr/>
        </p:nvSpPr>
        <p:spPr>
          <a:xfrm>
            <a:off x="3667397" y="1612745"/>
            <a:ext cx="1186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shift(1)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B24D0-3710-8014-E41B-218E0BCF3E3B}"/>
              </a:ext>
            </a:extLst>
          </p:cNvPr>
          <p:cNvSpPr txBox="1"/>
          <p:nvPr/>
        </p:nvSpPr>
        <p:spPr>
          <a:xfrm>
            <a:off x="4983480" y="6273579"/>
            <a:ext cx="1162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4E4F28-819F-B264-897C-8B2829F8475B}"/>
              </a:ext>
            </a:extLst>
          </p:cNvPr>
          <p:cNvSpPr txBox="1"/>
          <p:nvPr/>
        </p:nvSpPr>
        <p:spPr>
          <a:xfrm>
            <a:off x="4983481" y="5706266"/>
            <a:ext cx="1162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feature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959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7791A-7717-4DA1-A429-5199A2783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81117-82C8-4F16-B926-A50FA57F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model bouwen...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F81EF2-1007-ACAF-A0B4-F93EC544E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361074"/>
              </p:ext>
            </p:extLst>
          </p:nvPr>
        </p:nvGraphicFramePr>
        <p:xfrm>
          <a:off x="759822" y="2260479"/>
          <a:ext cx="611777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1777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  <a:endParaRPr lang="en-NL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1788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38DC24-D1F0-7A8B-56F8-1FB7764B3D37}"/>
              </a:ext>
            </a:extLst>
          </p:cNvPr>
          <p:cNvGraphicFramePr>
            <a:graphicFrameLocks noGrp="1"/>
          </p:cNvGraphicFramePr>
          <p:nvPr/>
        </p:nvGraphicFramePr>
        <p:xfrm>
          <a:off x="2467790" y="2260479"/>
          <a:ext cx="611777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1777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1788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7EF915F-B6CF-D464-0A66-0D51D7DE76A7}"/>
              </a:ext>
            </a:extLst>
          </p:cNvPr>
          <p:cNvGraphicFramePr>
            <a:graphicFrameLocks noGrp="1"/>
          </p:cNvGraphicFramePr>
          <p:nvPr/>
        </p:nvGraphicFramePr>
        <p:xfrm>
          <a:off x="3796938" y="2260479"/>
          <a:ext cx="927464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7464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402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r>
                        <a:rPr lang="en-US" baseline="-25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t-1</a:t>
                      </a:r>
                      <a:endParaRPr lang="en-NL" baseline="-25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840987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0A570BCB-CA7D-0B40-EDA0-B9D76EB37F13}"/>
              </a:ext>
            </a:extLst>
          </p:cNvPr>
          <p:cNvSpPr/>
          <p:nvPr/>
        </p:nvSpPr>
        <p:spPr>
          <a:xfrm>
            <a:off x="5564780" y="3294168"/>
            <a:ext cx="1724297" cy="104270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Regressie</a:t>
            </a:r>
          </a:p>
          <a:p>
            <a:pPr algn="ctr"/>
            <a:r>
              <a:rPr lang="en-US" dirty="0"/>
              <a:t>model</a:t>
            </a:r>
            <a:endParaRPr lang="en-NL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4C597FD-6196-9486-6C46-34AA86C4EA25}"/>
              </a:ext>
            </a:extLst>
          </p:cNvPr>
          <p:cNvCxnSpPr>
            <a:cxnSpLocks/>
            <a:stCxn id="9" idx="2"/>
            <a:endCxn id="13" idx="2"/>
          </p:cNvCxnSpPr>
          <p:nvPr/>
        </p:nvCxnSpPr>
        <p:spPr>
          <a:xfrm rot="5400000" flipH="1" flipV="1">
            <a:off x="3885716" y="3224830"/>
            <a:ext cx="1429173" cy="3653251"/>
          </a:xfrm>
          <a:prstGeom prst="bentConnector3">
            <a:avLst>
              <a:gd name="adj1" fmla="val -3701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E0E8E6-920E-D09C-9BC8-FCB2A66B7C82}"/>
              </a:ext>
            </a:extLst>
          </p:cNvPr>
          <p:cNvSpPr txBox="1"/>
          <p:nvPr/>
        </p:nvSpPr>
        <p:spPr>
          <a:xfrm>
            <a:off x="2237009" y="1609069"/>
            <a:ext cx="1073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diff(1)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74713D8-95D0-4B0F-AFEC-E62851F11E3E}"/>
              </a:ext>
            </a:extLst>
          </p:cNvPr>
          <p:cNvGraphicFramePr>
            <a:graphicFrameLocks noGrp="1"/>
          </p:cNvGraphicFramePr>
          <p:nvPr/>
        </p:nvGraphicFramePr>
        <p:xfrm>
          <a:off x="8057606" y="3420498"/>
          <a:ext cx="927464" cy="79003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7464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402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r>
                        <a:rPr lang="en-US" baseline="-25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t+1</a:t>
                      </a:r>
                      <a:endParaRPr lang="en-NL" baseline="-25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A72E48-DD05-329E-339E-C027E3FDDE73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289077" y="3815517"/>
            <a:ext cx="646612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FEC78F4-0B70-F723-A95D-47DB83F24355}"/>
              </a:ext>
            </a:extLst>
          </p:cNvPr>
          <p:cNvSpPr txBox="1"/>
          <p:nvPr/>
        </p:nvSpPr>
        <p:spPr>
          <a:xfrm>
            <a:off x="7629798" y="2955612"/>
            <a:ext cx="1835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predict(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1600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16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0EE44-FAC8-1A0E-952A-A841CCDD49EA}"/>
              </a:ext>
            </a:extLst>
          </p:cNvPr>
          <p:cNvSpPr txBox="1"/>
          <p:nvPr/>
        </p:nvSpPr>
        <p:spPr>
          <a:xfrm>
            <a:off x="3667397" y="1612745"/>
            <a:ext cx="1186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shift(1)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532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0582-C797-51B2-DF28-1A2E28311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F4995-B5C8-5B34-A2A3-52BE82C2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model bouwen...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F1460D-7AE7-A101-A032-D3F2D220A32C}"/>
              </a:ext>
            </a:extLst>
          </p:cNvPr>
          <p:cNvGraphicFramePr>
            <a:graphicFrameLocks noGrp="1"/>
          </p:cNvGraphicFramePr>
          <p:nvPr/>
        </p:nvGraphicFramePr>
        <p:xfrm>
          <a:off x="759822" y="2260479"/>
          <a:ext cx="611777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1777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  <a:endParaRPr lang="en-NL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1788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80218C-BC41-A189-5442-4603AAB48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01585"/>
              </p:ext>
            </p:extLst>
          </p:nvPr>
        </p:nvGraphicFramePr>
        <p:xfrm>
          <a:off x="2467790" y="2260479"/>
          <a:ext cx="611777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1777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1788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ADFB37-807A-8A8F-7D27-5EB9AC7C37D8}"/>
              </a:ext>
            </a:extLst>
          </p:cNvPr>
          <p:cNvGraphicFramePr>
            <a:graphicFrameLocks noGrp="1"/>
          </p:cNvGraphicFramePr>
          <p:nvPr/>
        </p:nvGraphicFramePr>
        <p:xfrm>
          <a:off x="3796938" y="2260479"/>
          <a:ext cx="927464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7464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402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r>
                        <a:rPr lang="en-US" baseline="-25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t-1</a:t>
                      </a:r>
                      <a:endParaRPr lang="en-NL" baseline="-25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840987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39FE3473-288D-C673-406C-8BA121F127EE}"/>
              </a:ext>
            </a:extLst>
          </p:cNvPr>
          <p:cNvSpPr/>
          <p:nvPr/>
        </p:nvSpPr>
        <p:spPr>
          <a:xfrm>
            <a:off x="5564780" y="3294168"/>
            <a:ext cx="1724297" cy="104270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Regressie</a:t>
            </a:r>
          </a:p>
          <a:p>
            <a:pPr algn="ctr"/>
            <a:r>
              <a:rPr lang="en-US" dirty="0"/>
              <a:t>model</a:t>
            </a:r>
            <a:endParaRPr lang="en-NL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2281020-C9EF-84CA-43C4-12A7AB2CFC45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 flipH="1" flipV="1">
            <a:off x="4223716" y="1616467"/>
            <a:ext cx="991568" cy="7307581"/>
          </a:xfrm>
          <a:prstGeom prst="bentConnector4">
            <a:avLst>
              <a:gd name="adj1" fmla="val -48743"/>
              <a:gd name="adj2" fmla="val 735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56CD314-3E0B-2B86-A163-F398F1F0FB7D}"/>
              </a:ext>
            </a:extLst>
          </p:cNvPr>
          <p:cNvSpPr txBox="1"/>
          <p:nvPr/>
        </p:nvSpPr>
        <p:spPr>
          <a:xfrm>
            <a:off x="2237009" y="1609069"/>
            <a:ext cx="1073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diff(1)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C68D7BE-5467-646C-171B-39C42D817B71}"/>
              </a:ext>
            </a:extLst>
          </p:cNvPr>
          <p:cNvGraphicFramePr>
            <a:graphicFrameLocks noGrp="1"/>
          </p:cNvGraphicFramePr>
          <p:nvPr/>
        </p:nvGraphicFramePr>
        <p:xfrm>
          <a:off x="8057606" y="3420498"/>
          <a:ext cx="927464" cy="79003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7464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402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r>
                        <a:rPr lang="en-US" baseline="-25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t+1</a:t>
                      </a:r>
                      <a:endParaRPr lang="en-NL" baseline="-25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C99C66B-5813-D9C1-5986-C15F66EA815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289077" y="3815517"/>
            <a:ext cx="646612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7649BAD-96F2-708C-EA6D-5D6C87EC4D4D}"/>
              </a:ext>
            </a:extLst>
          </p:cNvPr>
          <p:cNvGraphicFramePr>
            <a:graphicFrameLocks noGrp="1"/>
          </p:cNvGraphicFramePr>
          <p:nvPr/>
        </p:nvGraphicFramePr>
        <p:xfrm>
          <a:off x="8057606" y="5427617"/>
          <a:ext cx="927464" cy="78371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7464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9578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baseline="-25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t+1</a:t>
                      </a:r>
                      <a:endParaRPr lang="en-NL" baseline="-25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C0BCA24-F060-6EA1-083B-0098ECCC31BC}"/>
              </a:ext>
            </a:extLst>
          </p:cNvPr>
          <p:cNvCxnSpPr>
            <a:cxnSpLocks/>
          </p:cNvCxnSpPr>
          <p:nvPr/>
        </p:nvCxnSpPr>
        <p:spPr>
          <a:xfrm>
            <a:off x="8521338" y="4336869"/>
            <a:ext cx="0" cy="979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0D223FE-BE7A-ABEF-5C08-74438E9C600F}"/>
              </a:ext>
            </a:extLst>
          </p:cNvPr>
          <p:cNvSpPr txBox="1"/>
          <p:nvPr/>
        </p:nvSpPr>
        <p:spPr>
          <a:xfrm>
            <a:off x="8521338" y="4631244"/>
            <a:ext cx="55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+23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6B0307-D8D4-55A1-C01A-F69E20E45433}"/>
              </a:ext>
            </a:extLst>
          </p:cNvPr>
          <p:cNvSpPr txBox="1"/>
          <p:nvPr/>
        </p:nvSpPr>
        <p:spPr>
          <a:xfrm>
            <a:off x="7629798" y="2955612"/>
            <a:ext cx="1835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predict(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1600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16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357C3-7E50-2697-F6F9-7B136F845157}"/>
              </a:ext>
            </a:extLst>
          </p:cNvPr>
          <p:cNvSpPr txBox="1"/>
          <p:nvPr/>
        </p:nvSpPr>
        <p:spPr>
          <a:xfrm>
            <a:off x="3667397" y="1612745"/>
            <a:ext cx="1186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shift(1)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727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F66D0-121B-C52A-013A-60FF0CD3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8B90B-38E0-2930-1912-FB6D9547A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model bouwen...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3B1EBE-BDC1-62AE-5549-243F33A92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799764"/>
              </p:ext>
            </p:extLst>
          </p:nvPr>
        </p:nvGraphicFramePr>
        <p:xfrm>
          <a:off x="759822" y="2260479"/>
          <a:ext cx="611777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1777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  <a:endParaRPr lang="en-NL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1788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4B5F75-107E-B8D4-09E5-AE21C0F02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007641"/>
              </p:ext>
            </p:extLst>
          </p:nvPr>
        </p:nvGraphicFramePr>
        <p:xfrm>
          <a:off x="2467790" y="2260479"/>
          <a:ext cx="611777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1777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  <a:tr h="38950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1788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7BABF52-607C-11E0-3CF4-5C363254D368}"/>
              </a:ext>
            </a:extLst>
          </p:cNvPr>
          <p:cNvGraphicFramePr>
            <a:graphicFrameLocks noGrp="1"/>
          </p:cNvGraphicFramePr>
          <p:nvPr/>
        </p:nvGraphicFramePr>
        <p:xfrm>
          <a:off x="3796938" y="2260479"/>
          <a:ext cx="927464" cy="350556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7464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402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r>
                        <a:rPr lang="en-US" baseline="-25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t-1</a:t>
                      </a:r>
                      <a:endParaRPr lang="en-NL" baseline="-25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840987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91318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524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79416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14425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7685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37941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DDE14BB-3DE8-D715-2283-F71DF6521ED4}"/>
              </a:ext>
            </a:extLst>
          </p:cNvPr>
          <p:cNvSpPr/>
          <p:nvPr/>
        </p:nvSpPr>
        <p:spPr>
          <a:xfrm>
            <a:off x="5564780" y="3294168"/>
            <a:ext cx="1724297" cy="104270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Regressie</a:t>
            </a:r>
          </a:p>
          <a:p>
            <a:pPr algn="ctr"/>
            <a:r>
              <a:rPr lang="en-US" dirty="0"/>
              <a:t>model</a:t>
            </a:r>
            <a:endParaRPr lang="en-N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A730D9-B505-D842-0741-6CEA8D2FE77B}"/>
              </a:ext>
            </a:extLst>
          </p:cNvPr>
          <p:cNvSpPr txBox="1"/>
          <p:nvPr/>
        </p:nvSpPr>
        <p:spPr>
          <a:xfrm>
            <a:off x="2237009" y="1609069"/>
            <a:ext cx="1073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diff(1)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A95F0AC-2CF7-6DFD-0847-8DE60A3C5E5C}"/>
              </a:ext>
            </a:extLst>
          </p:cNvPr>
          <p:cNvGraphicFramePr>
            <a:graphicFrameLocks noGrp="1"/>
          </p:cNvGraphicFramePr>
          <p:nvPr/>
        </p:nvGraphicFramePr>
        <p:xfrm>
          <a:off x="8057606" y="3420498"/>
          <a:ext cx="927464" cy="79003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7464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402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r>
                        <a:rPr lang="en-US" baseline="-25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t+1</a:t>
                      </a:r>
                      <a:endParaRPr lang="en-NL" baseline="-25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83F0D0-AA7D-A426-10E2-DEAFD2A22F5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289077" y="3815517"/>
            <a:ext cx="646612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370F568-08E9-4BDB-E231-4FD7F87803A9}"/>
              </a:ext>
            </a:extLst>
          </p:cNvPr>
          <p:cNvGraphicFramePr>
            <a:graphicFrameLocks noGrp="1"/>
          </p:cNvGraphicFramePr>
          <p:nvPr/>
        </p:nvGraphicFramePr>
        <p:xfrm>
          <a:off x="8057606" y="5427617"/>
          <a:ext cx="927464" cy="78371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7464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9578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baseline="-25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t+1</a:t>
                      </a:r>
                      <a:endParaRPr lang="en-NL" baseline="-25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8C45D7-0144-988A-2ED4-89E6BCA9D9D2}"/>
              </a:ext>
            </a:extLst>
          </p:cNvPr>
          <p:cNvCxnSpPr>
            <a:cxnSpLocks/>
          </p:cNvCxnSpPr>
          <p:nvPr/>
        </p:nvCxnSpPr>
        <p:spPr>
          <a:xfrm>
            <a:off x="8521338" y="4336869"/>
            <a:ext cx="0" cy="979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51E5519-1859-8624-9668-95C0FB6297E6}"/>
              </a:ext>
            </a:extLst>
          </p:cNvPr>
          <p:cNvSpPr txBox="1"/>
          <p:nvPr/>
        </p:nvSpPr>
        <p:spPr>
          <a:xfrm>
            <a:off x="8521338" y="4631244"/>
            <a:ext cx="55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+23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46D07-09FA-78B8-CAF6-484E45B492AC}"/>
              </a:ext>
            </a:extLst>
          </p:cNvPr>
          <p:cNvSpPr txBox="1"/>
          <p:nvPr/>
        </p:nvSpPr>
        <p:spPr>
          <a:xfrm>
            <a:off x="7629798" y="2955612"/>
            <a:ext cx="1835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predict(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1600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16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D6580F-8731-AB80-1803-EE5EBEAB5525}"/>
              </a:ext>
            </a:extLst>
          </p:cNvPr>
          <p:cNvGraphicFramePr>
            <a:graphicFrameLocks noGrp="1"/>
          </p:cNvGraphicFramePr>
          <p:nvPr/>
        </p:nvGraphicFramePr>
        <p:xfrm>
          <a:off x="9892937" y="3420498"/>
          <a:ext cx="927464" cy="79003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7464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402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Y’</a:t>
                      </a:r>
                      <a:r>
                        <a:rPr lang="en-US" baseline="-25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t+2</a:t>
                      </a:r>
                      <a:endParaRPr lang="en-NL" baseline="-25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AD4687-CE62-AB36-7C46-CD1D913E3343}"/>
              </a:ext>
            </a:extLst>
          </p:cNvPr>
          <p:cNvGraphicFramePr>
            <a:graphicFrameLocks noGrp="1"/>
          </p:cNvGraphicFramePr>
          <p:nvPr/>
        </p:nvGraphicFramePr>
        <p:xfrm>
          <a:off x="9892937" y="5427617"/>
          <a:ext cx="927464" cy="78371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7464">
                  <a:extLst>
                    <a:ext uri="{9D8B030D-6E8A-4147-A177-3AD203B41FA5}">
                      <a16:colId xmlns:a16="http://schemas.microsoft.com/office/drawing/2014/main" val="2668306785"/>
                    </a:ext>
                  </a:extLst>
                </a:gridCol>
              </a:tblGrid>
              <a:tr h="39578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baseline="-25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t+2</a:t>
                      </a:r>
                      <a:endParaRPr lang="en-NL" baseline="-25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36911"/>
                  </a:ext>
                </a:extLst>
              </a:tr>
              <a:tr h="387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26</a:t>
                      </a:r>
                      <a:endParaRPr lang="en-N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01944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D31069-73EC-81AE-92D8-00883F1F8C66}"/>
              </a:ext>
            </a:extLst>
          </p:cNvPr>
          <p:cNvCxnSpPr>
            <a:cxnSpLocks/>
          </p:cNvCxnSpPr>
          <p:nvPr/>
        </p:nvCxnSpPr>
        <p:spPr>
          <a:xfrm>
            <a:off x="10356669" y="4336869"/>
            <a:ext cx="0" cy="979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5EC6A79-5090-B244-6D52-054E45C3A239}"/>
              </a:ext>
            </a:extLst>
          </p:cNvPr>
          <p:cNvSpPr txBox="1"/>
          <p:nvPr/>
        </p:nvSpPr>
        <p:spPr>
          <a:xfrm>
            <a:off x="10356669" y="4631244"/>
            <a:ext cx="55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+25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098154-8B47-D781-EF2E-5DE087F4B59C}"/>
              </a:ext>
            </a:extLst>
          </p:cNvPr>
          <p:cNvSpPr txBox="1"/>
          <p:nvPr/>
        </p:nvSpPr>
        <p:spPr>
          <a:xfrm>
            <a:off x="9817823" y="2955612"/>
            <a:ext cx="1835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predict(Y</a:t>
            </a:r>
            <a:r>
              <a:rPr lang="en-US" sz="16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t+1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EB37F2-D24C-6925-0BD6-29FAD81EB185}"/>
              </a:ext>
            </a:extLst>
          </p:cNvPr>
          <p:cNvCxnSpPr>
            <a:cxnSpLocks/>
          </p:cNvCxnSpPr>
          <p:nvPr/>
        </p:nvCxnSpPr>
        <p:spPr>
          <a:xfrm flipV="1">
            <a:off x="9106987" y="3815515"/>
            <a:ext cx="646612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89742E-B5A4-E2EE-26C2-C9A13437A409}"/>
              </a:ext>
            </a:extLst>
          </p:cNvPr>
          <p:cNvSpPr txBox="1"/>
          <p:nvPr/>
        </p:nvSpPr>
        <p:spPr>
          <a:xfrm>
            <a:off x="3667397" y="1612745"/>
            <a:ext cx="1186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shift(1)</a:t>
            </a: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244B5019-0C65-1A68-4F7F-090BB88DCA22}"/>
              </a:ext>
            </a:extLst>
          </p:cNvPr>
          <p:cNvCxnSpPr>
            <a:cxnSpLocks/>
          </p:cNvCxnSpPr>
          <p:nvPr/>
        </p:nvCxnSpPr>
        <p:spPr>
          <a:xfrm flipV="1">
            <a:off x="9095705" y="4755370"/>
            <a:ext cx="921600" cy="12702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046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FBA1F-8A18-3F19-18BF-973E2019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44FDC-6937-1CE8-8A90-359F64E3E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ARIMA modellen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2DF3E1-7DC0-A4A0-939E-CBFBF5E45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030188"/>
              </p:ext>
            </p:extLst>
          </p:nvPr>
        </p:nvGraphicFramePr>
        <p:xfrm>
          <a:off x="1798320" y="1783080"/>
          <a:ext cx="8595360" cy="2722398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1262681">
                  <a:extLst>
                    <a:ext uri="{9D8B030D-6E8A-4147-A177-3AD203B41FA5}">
                      <a16:colId xmlns:a16="http://schemas.microsoft.com/office/drawing/2014/main" val="2248537361"/>
                    </a:ext>
                  </a:extLst>
                </a:gridCol>
                <a:gridCol w="6183147">
                  <a:extLst>
                    <a:ext uri="{9D8B030D-6E8A-4147-A177-3AD203B41FA5}">
                      <a16:colId xmlns:a16="http://schemas.microsoft.com/office/drawing/2014/main" val="201562341"/>
                    </a:ext>
                  </a:extLst>
                </a:gridCol>
                <a:gridCol w="1149532">
                  <a:extLst>
                    <a:ext uri="{9D8B030D-6E8A-4147-A177-3AD203B41FA5}">
                      <a16:colId xmlns:a16="http://schemas.microsoft.com/office/drawing/2014/main" val="4144161344"/>
                    </a:ext>
                  </a:extLst>
                </a:gridCol>
              </a:tblGrid>
              <a:tr h="9074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AR</a:t>
                      </a:r>
                      <a:endParaRPr lang="en-NL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800" b="1" dirty="0"/>
                        <a:t>Auto-regressive: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noProof="0" dirty="0"/>
                        <a:t>Correlatie variabele met zichzelf op verschillende tijdstippen.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719974"/>
                  </a:ext>
                </a:extLst>
              </a:tr>
              <a:tr h="9074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</a:t>
                      </a:r>
                      <a:endParaRPr lang="en-NL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800" b="1" dirty="0"/>
                        <a:t>Integrated:</a:t>
                      </a:r>
                      <a:endParaRPr lang="nl-NL" sz="1800" b="1" noProof="0" dirty="0"/>
                    </a:p>
                    <a:p>
                      <a:pPr marL="0" indent="0">
                        <a:buNone/>
                      </a:pPr>
                      <a:r>
                        <a:rPr lang="nl-NL" sz="1800" dirty="0"/>
                        <a:t>Verschil ten opzichte van vorig meetpunt (differencing).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537655"/>
                  </a:ext>
                </a:extLst>
              </a:tr>
              <a:tr h="9074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</a:t>
                      </a:r>
                      <a:endParaRPr lang="en-NL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800" b="1" dirty="0"/>
                        <a:t>Moving Average:</a:t>
                      </a:r>
                      <a:endParaRPr lang="nl-NL" sz="1800" b="1" noProof="0" dirty="0"/>
                    </a:p>
                    <a:p>
                      <a:pPr marL="0" indent="0">
                        <a:buNone/>
                      </a:pPr>
                      <a:r>
                        <a:rPr lang="nl-NL" sz="1800" noProof="0" dirty="0"/>
                        <a:t>Rollend gemiddelde, maar... over de residuals van het AR model!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182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263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DBB58-147D-47E4-89D5-3FD5BEBF4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249A0-1C5F-2B19-A7B6-AE278F690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ARIMA modellen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16A87B-2793-5EC4-1CD2-B8D2B1C6A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59150"/>
              </p:ext>
            </p:extLst>
          </p:nvPr>
        </p:nvGraphicFramePr>
        <p:xfrm>
          <a:off x="1798320" y="1783080"/>
          <a:ext cx="8595360" cy="2722398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1262681">
                  <a:extLst>
                    <a:ext uri="{9D8B030D-6E8A-4147-A177-3AD203B41FA5}">
                      <a16:colId xmlns:a16="http://schemas.microsoft.com/office/drawing/2014/main" val="2248537361"/>
                    </a:ext>
                  </a:extLst>
                </a:gridCol>
                <a:gridCol w="6183147">
                  <a:extLst>
                    <a:ext uri="{9D8B030D-6E8A-4147-A177-3AD203B41FA5}">
                      <a16:colId xmlns:a16="http://schemas.microsoft.com/office/drawing/2014/main" val="201562341"/>
                    </a:ext>
                  </a:extLst>
                </a:gridCol>
                <a:gridCol w="1149532">
                  <a:extLst>
                    <a:ext uri="{9D8B030D-6E8A-4147-A177-3AD203B41FA5}">
                      <a16:colId xmlns:a16="http://schemas.microsoft.com/office/drawing/2014/main" val="4144161344"/>
                    </a:ext>
                  </a:extLst>
                </a:gridCol>
              </a:tblGrid>
              <a:tr h="9074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AR</a:t>
                      </a:r>
                      <a:endParaRPr lang="en-NL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800" b="1" dirty="0"/>
                        <a:t>Auto-regressive: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noProof="0" dirty="0"/>
                        <a:t>Correlatie variabele met zichzelf op verschillende tijdstippen.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</a:t>
                      </a:r>
                      <a:endParaRPr lang="en-NL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719974"/>
                  </a:ext>
                </a:extLst>
              </a:tr>
              <a:tr h="9074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</a:t>
                      </a:r>
                      <a:endParaRPr lang="en-NL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800" b="1" dirty="0"/>
                        <a:t>Integrated:</a:t>
                      </a:r>
                      <a:endParaRPr lang="nl-NL" sz="1800" b="1" noProof="0" dirty="0"/>
                    </a:p>
                    <a:p>
                      <a:pPr marL="0" indent="0">
                        <a:buNone/>
                      </a:pPr>
                      <a:r>
                        <a:rPr lang="nl-NL" sz="1800" dirty="0"/>
                        <a:t>Verschil ten opzichte van vorig meetpunt (differencing).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  <a:endParaRPr lang="en-NL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537655"/>
                  </a:ext>
                </a:extLst>
              </a:tr>
              <a:tr h="9074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</a:t>
                      </a:r>
                      <a:endParaRPr lang="en-NL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800" b="1" dirty="0"/>
                        <a:t>Moving Average:</a:t>
                      </a:r>
                      <a:endParaRPr lang="nl-NL" sz="1800" b="1" noProof="0" dirty="0"/>
                    </a:p>
                    <a:p>
                      <a:pPr marL="0" indent="0">
                        <a:buNone/>
                      </a:pPr>
                      <a:r>
                        <a:rPr lang="nl-NL" sz="1800" noProof="0" dirty="0"/>
                        <a:t>Rollend gemiddelde, maar... over de residuals van het AR model!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q</a:t>
                      </a:r>
                      <a:endParaRPr lang="en-NL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1826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65587F4-0029-D4B2-C2E0-DE762690AAFD}"/>
              </a:ext>
            </a:extLst>
          </p:cNvPr>
          <p:cNvSpPr txBox="1"/>
          <p:nvPr/>
        </p:nvSpPr>
        <p:spPr>
          <a:xfrm>
            <a:off x="1798320" y="4963885"/>
            <a:ext cx="8595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ARIMA(p, d, q)</a:t>
            </a:r>
          </a:p>
          <a:p>
            <a:pPr algn="ctr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4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ARIMA(1, 0, 0) = AR(1) model</a:t>
            </a:r>
          </a:p>
          <a:p>
            <a:pPr lvl="4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ARIMA(1, 1, 0) = AR(1) model met diff(1)</a:t>
            </a:r>
          </a:p>
        </p:txBody>
      </p:sp>
    </p:spTree>
    <p:extLst>
      <p:ext uri="{BB962C8B-B14F-4D97-AF65-F5344CB8AC3E}">
        <p14:creationId xmlns:p14="http://schemas.microsoft.com/office/powerpoint/2010/main" val="3448427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F6F3B-5501-46F1-9D0F-F1CA3452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382E-6305-AECA-72DD-75DF8D1D7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ARIMA model met sktime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7EEE1-1566-18CC-EBE5-A51277A26CCD}"/>
              </a:ext>
            </a:extLst>
          </p:cNvPr>
          <p:cNvSpPr txBox="1"/>
          <p:nvPr/>
        </p:nvSpPr>
        <p:spPr>
          <a:xfrm>
            <a:off x="838199" y="1529723"/>
            <a:ext cx="10515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Generate normally distributed noise.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np.random.normal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(0, 1, 50)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Autoregression with coefficient 0.9.</a:t>
            </a:r>
          </a:p>
          <a:p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range(50):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&gt; 0: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y[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+=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0.9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 y[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- 1]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2FA5E0-923A-AC4D-1D1D-71B4D7546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729" y="3843362"/>
            <a:ext cx="890854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32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80AAC-0804-F240-CC9B-F1916FAC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75C7-5025-DC37-23C0-3C2995783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ARIMA model met sktime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AAFAC-0269-8456-553B-F2EDDDA5AB29}"/>
              </a:ext>
            </a:extLst>
          </p:cNvPr>
          <p:cNvSpPr txBox="1"/>
          <p:nvPr/>
        </p:nvSpPr>
        <p:spPr>
          <a:xfrm>
            <a:off x="838199" y="1529723"/>
            <a:ext cx="105156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Import ARIMA from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sktime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sktime.forecasting.arima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ARIMA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Define ARIMA with AR1.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model = ARIMA(</a:t>
            </a:r>
          </a:p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order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0, 0),</a:t>
            </a:r>
          </a:p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with_intercept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=False,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Fit model to the timeseries.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Print model summary.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model.summary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66A020-D2F6-B9EF-3E93-2E709D69D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352" y="1263831"/>
            <a:ext cx="4699999" cy="4330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A9EF4A-BAE7-E379-DDDC-6207BD596F96}"/>
              </a:ext>
            </a:extLst>
          </p:cNvPr>
          <p:cNvSpPr/>
          <p:nvPr/>
        </p:nvSpPr>
        <p:spPr>
          <a:xfrm>
            <a:off x="6625351" y="3801292"/>
            <a:ext cx="4151505" cy="24819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6193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8B901-D0B4-E403-443F-C650B0D6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BCD31C4-0166-873A-67B2-6389171D9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520" y="3843362"/>
            <a:ext cx="8884752" cy="25171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627C64-8517-EBFD-4936-CF40ACDA6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dirty="0"/>
              <a:t>ARIMA model met sktime</a:t>
            </a:r>
            <a:endParaRPr lang="nl-NL" sz="3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E559E-7EFD-89FC-69F9-4634C5A49D39}"/>
              </a:ext>
            </a:extLst>
          </p:cNvPr>
          <p:cNvSpPr txBox="1"/>
          <p:nvPr/>
        </p:nvSpPr>
        <p:spPr>
          <a:xfrm>
            <a:off x="838200" y="1529723"/>
            <a:ext cx="67513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Predict next 5 measurements.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horizon = [1, 2, 3, ... , 20]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model.predict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=horizon)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Prediction interval as quantiles.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model.predict_interval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=horizon, 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coverage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=.9)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model.predict_quantiles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=horizon, 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=[.5, .95])</a:t>
            </a:r>
          </a:p>
        </p:txBody>
      </p:sp>
    </p:spTree>
    <p:extLst>
      <p:ext uri="{BB962C8B-B14F-4D97-AF65-F5344CB8AC3E}">
        <p14:creationId xmlns:p14="http://schemas.microsoft.com/office/powerpoint/2010/main" val="575459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7CA7F-C0FD-1838-72ED-91EE500DD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2A46AE2-6D01-3F70-E379-09B53E84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447" y="3833596"/>
            <a:ext cx="8919749" cy="2520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AD4B45-DBA6-2069-B3C8-52A5103E5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ARIMA met trend en seizoenaleit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36491-F644-CC0D-0FEB-FFCDF0136E57}"/>
              </a:ext>
            </a:extLst>
          </p:cNvPr>
          <p:cNvSpPr txBox="1"/>
          <p:nvPr/>
        </p:nvSpPr>
        <p:spPr>
          <a:xfrm>
            <a:off x="838200" y="1529723"/>
            <a:ext cx="70452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Fit ARIMA model with weekly seasonality.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model = ARIMA(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[7]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0))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Note: ARIMA(order(7, 1, 0) fits AR1 … AR7.</a:t>
            </a:r>
          </a:p>
        </p:txBody>
      </p:sp>
    </p:spTree>
    <p:extLst>
      <p:ext uri="{BB962C8B-B14F-4D97-AF65-F5344CB8AC3E}">
        <p14:creationId xmlns:p14="http://schemas.microsoft.com/office/powerpoint/2010/main" val="945291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8FE19-3A38-814B-2924-0657C1809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50DBAC-F5A1-F2F5-7C40-AE96EC39C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606" y="1625682"/>
            <a:ext cx="6379068" cy="42738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3CC0DE-8A67-E91B-F34E-33879EE96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ACF en PACF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B6187-5EBD-EDAC-741D-7FB6CC173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4439194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dirty="0"/>
              <a:t>Auto Correlation Function</a:t>
            </a:r>
          </a:p>
          <a:p>
            <a:pPr marL="0" indent="0">
              <a:buNone/>
            </a:pPr>
            <a:r>
              <a:rPr lang="nl-NL" sz="2000" dirty="0"/>
              <a:t>Geeft autocorrelaties in de data weer.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b="1" dirty="0"/>
              <a:t>Partial Auto Correlation Function</a:t>
            </a:r>
          </a:p>
          <a:p>
            <a:pPr marL="0" indent="0">
              <a:buNone/>
            </a:pPr>
            <a:r>
              <a:rPr lang="nl-NL" sz="2000" noProof="0" dirty="0"/>
              <a:t>Geeft autocorrelatie gecorrigeerd voor eerdere autocorrelaties.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noProof="0" dirty="0"/>
              <a:t>In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sktime</a:t>
            </a:r>
            <a:r>
              <a:rPr lang="nl-NL" sz="2000" dirty="0"/>
              <a:t>:</a:t>
            </a: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sktime.utils.plotting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plot_correlations</a:t>
            </a: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plot_correlations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(series, </a:t>
            </a:r>
            <a:r>
              <a:rPr lang="en-US" sz="16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lags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=20)</a:t>
            </a:r>
            <a:endParaRPr lang="nl-NL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98BDEA-084C-C250-0B05-B96DFB0ABE84}"/>
              </a:ext>
            </a:extLst>
          </p:cNvPr>
          <p:cNvSpPr txBox="1"/>
          <p:nvPr/>
        </p:nvSpPr>
        <p:spPr>
          <a:xfrm>
            <a:off x="6482079" y="5938110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daalt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naar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0</a:t>
            </a:r>
            <a:endParaRPr lang="en-NL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6BE65-33C3-56A4-4D5D-FCC9FE92A27C}"/>
              </a:ext>
            </a:extLst>
          </p:cNvPr>
          <p:cNvSpPr txBox="1"/>
          <p:nvPr/>
        </p:nvSpPr>
        <p:spPr>
          <a:xfrm>
            <a:off x="9689253" y="5938110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piek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op lag 1</a:t>
            </a:r>
            <a:endParaRPr lang="en-NL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350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04852-946B-3B82-AE7F-A50B06804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AF403E2-8969-612E-EB09-BC93033A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446" y="1629215"/>
            <a:ext cx="6374228" cy="42635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D9E506-5DB6-AD29-C972-EDD3E3FF7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ACF en PACF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69ADE-B8EC-3B2B-450A-1CA2E2295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4439194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dirty="0"/>
              <a:t>Auto Correlation Function</a:t>
            </a:r>
          </a:p>
          <a:p>
            <a:pPr marL="0" indent="0">
              <a:buNone/>
            </a:pPr>
            <a:r>
              <a:rPr lang="nl-NL" sz="2000" dirty="0"/>
              <a:t>Geeft autocorrelaties in de data weer.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b="1" dirty="0"/>
              <a:t>Partial Auto Correlation Function</a:t>
            </a:r>
          </a:p>
          <a:p>
            <a:pPr marL="0" indent="0">
              <a:buNone/>
            </a:pPr>
            <a:r>
              <a:rPr lang="nl-NL" sz="2000" dirty="0"/>
              <a:t>Geeft autocorrelatie gecorrigeerd voor eerdere autocorrelaties.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noProof="0" dirty="0"/>
              <a:t>In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sktime</a:t>
            </a:r>
            <a:r>
              <a:rPr lang="nl-NL" sz="2000" dirty="0"/>
              <a:t>:</a:t>
            </a: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sktime.utils.plotting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plot_correlations</a:t>
            </a: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plot_correlations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(series, </a:t>
            </a:r>
            <a:r>
              <a:rPr lang="en-US" sz="16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lags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=20)</a:t>
            </a:r>
            <a:endParaRPr lang="nl-NL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80E49-07A4-F9B7-3BB4-D9ABD5E2B92D}"/>
              </a:ext>
            </a:extLst>
          </p:cNvPr>
          <p:cNvSpPr txBox="1"/>
          <p:nvPr/>
        </p:nvSpPr>
        <p:spPr>
          <a:xfrm>
            <a:off x="6339839" y="5939579"/>
            <a:ext cx="1797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daalt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niet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naar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0!</a:t>
            </a:r>
            <a:endParaRPr lang="en-NL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2C97F-8CED-7ED2-401B-6891EA3D4FE8}"/>
              </a:ext>
            </a:extLst>
          </p:cNvPr>
          <p:cNvSpPr txBox="1"/>
          <p:nvPr/>
        </p:nvSpPr>
        <p:spPr>
          <a:xfrm>
            <a:off x="9689253" y="5938110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piek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op lag 1</a:t>
            </a:r>
            <a:endParaRPr lang="en-NL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FF4B07-2932-368D-0566-49140257687F}"/>
              </a:ext>
            </a:extLst>
          </p:cNvPr>
          <p:cNvSpPr txBox="1"/>
          <p:nvPr/>
        </p:nvSpPr>
        <p:spPr>
          <a:xfrm>
            <a:off x="9554536" y="2844038"/>
            <a:ext cx="1640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niet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stationair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…</a:t>
            </a:r>
            <a:endParaRPr lang="en-NL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141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1A131-CDCE-B72D-3BF9-387B0F056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6BC8E-F6CC-00BF-9664-D2192ACCD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ACF en PACF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6645B-9950-8717-8906-F520C8D70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4439194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dirty="0"/>
              <a:t>Auto Correlation Function</a:t>
            </a:r>
          </a:p>
          <a:p>
            <a:pPr marL="0" indent="0">
              <a:buNone/>
            </a:pPr>
            <a:r>
              <a:rPr lang="nl-NL" sz="2000" dirty="0"/>
              <a:t>Geeft autocorrelaties in de data weer.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b="1" dirty="0"/>
              <a:t>Partial Auto Correlation Function</a:t>
            </a:r>
          </a:p>
          <a:p>
            <a:pPr marL="0" indent="0">
              <a:buNone/>
            </a:pPr>
            <a:r>
              <a:rPr lang="nl-NL" sz="2000" dirty="0"/>
              <a:t>Geeft autocorrelatie gecorrigeerd voor eerdere autocorrelaties.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noProof="0" dirty="0"/>
              <a:t>In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sktime</a:t>
            </a:r>
            <a:r>
              <a:rPr lang="nl-NL" sz="2000" dirty="0"/>
              <a:t>:</a:t>
            </a: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sktime.utils.plotting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600" noProof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plot_correlations</a:t>
            </a:r>
            <a:endParaRPr lang="en-US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plot_correlations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(series, </a:t>
            </a:r>
            <a:r>
              <a:rPr lang="en-US" sz="1600" noProof="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lags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=20)</a:t>
            </a:r>
            <a:endParaRPr lang="nl-NL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35EEB-5E1D-FE88-2CB8-BAA2E38B47EC}"/>
              </a:ext>
            </a:extLst>
          </p:cNvPr>
          <p:cNvSpPr txBox="1"/>
          <p:nvPr/>
        </p:nvSpPr>
        <p:spPr>
          <a:xfrm>
            <a:off x="6339839" y="5939579"/>
            <a:ext cx="1324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Golfpatroon</a:t>
            </a:r>
            <a:endParaRPr lang="en-NL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14B615-330A-CF71-1B8A-76056BE85DBC}"/>
              </a:ext>
            </a:extLst>
          </p:cNvPr>
          <p:cNvSpPr txBox="1"/>
          <p:nvPr/>
        </p:nvSpPr>
        <p:spPr>
          <a:xfrm>
            <a:off x="9689253" y="5938110"/>
            <a:ext cx="1848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Periodieke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pieken</a:t>
            </a:r>
            <a:endParaRPr lang="en-NL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75D20C-BDDA-88B4-BD6C-F1032032C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440" y="1629216"/>
            <a:ext cx="6377234" cy="427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65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4DCFA-F930-9A72-1591-51DD1A73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4CF68-6E4B-AF25-7C40-21DF5B77C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Alternatieven?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CBADD-CB4C-D2F0-2BCE-E2E1787A9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85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Een ARIMA is een black box: het geeft geen inzicht in de onderliggende processen.</a:t>
            </a:r>
          </a:p>
          <a:p>
            <a:pPr marL="0" indent="0">
              <a:buNone/>
            </a:pPr>
            <a:r>
              <a:rPr lang="nl-NL" sz="2000" dirty="0"/>
              <a:t>Gebruik liever een lineair model...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Langdurige trends:</a:t>
            </a:r>
          </a:p>
          <a:p>
            <a:pPr>
              <a:buFontTx/>
              <a:buChar char="-"/>
            </a:pPr>
            <a:r>
              <a:rPr lang="nl-NL" sz="2000" noProof="0" dirty="0"/>
              <a:t>Differencing.</a:t>
            </a:r>
          </a:p>
          <a:p>
            <a:pPr>
              <a:buFontTx/>
              <a:buChar char="-"/>
            </a:pPr>
            <a:r>
              <a:rPr lang="nl-NL" sz="2000" dirty="0"/>
              <a:t>Neem tijd als variabele op.</a:t>
            </a: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Temperatuur / aantal uren zon.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Seizoenaliteit:</a:t>
            </a:r>
          </a:p>
          <a:p>
            <a:pPr>
              <a:buFontTx/>
              <a:buChar char="-"/>
            </a:pPr>
            <a:r>
              <a:rPr lang="nl-NL" sz="2000" dirty="0"/>
              <a:t>Dummy voor dag van week.</a:t>
            </a:r>
          </a:p>
          <a:p>
            <a:pPr>
              <a:buFontTx/>
              <a:buChar char="-"/>
            </a:pPr>
            <a:r>
              <a:rPr lang="nl-NL" sz="2000" noProof="0" dirty="0"/>
              <a:t>Dummy voor interventie / feestdagen.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86385-8A99-230B-F1C3-D6F627295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145083"/>
            <a:ext cx="5554292" cy="334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96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32486-FD3D-9109-BB6F-2C8CC23F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78D52-0D9C-6003-277E-77A408F41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841"/>
          </a:xfrm>
        </p:spPr>
        <p:txBody>
          <a:bodyPr>
            <a:normAutofit/>
          </a:bodyPr>
          <a:lstStyle/>
          <a:p>
            <a:r>
              <a:rPr lang="nl-NL" sz="3600" noProof="0" dirty="0"/>
              <a:t>Alternatieven?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84645-6E00-B2C2-4F9E-7BB17369D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94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Een andere optie is een apart model </a:t>
            </a:r>
            <a:r>
              <a:rPr lang="nl-NL" sz="2000" noProof="0" dirty="0" err="1"/>
              <a:t>voo</a:t>
            </a:r>
            <a:r>
              <a:rPr lang="nl-NL" sz="2000" dirty="0"/>
              <a:t>r elke tijdshorizon:</a:t>
            </a: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FA4C76-2A90-79C8-CADB-20052CDCA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928749"/>
              </p:ext>
            </p:extLst>
          </p:nvPr>
        </p:nvGraphicFramePr>
        <p:xfrm>
          <a:off x="838200" y="1957735"/>
          <a:ext cx="1730829" cy="4414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30829">
                  <a:extLst>
                    <a:ext uri="{9D8B030D-6E8A-4147-A177-3AD203B41FA5}">
                      <a16:colId xmlns:a16="http://schemas.microsoft.com/office/drawing/2014/main" val="2338429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Features</a:t>
                      </a:r>
                      <a:endParaRPr lang="en-NL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62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Lag0</a:t>
                      </a:r>
                      <a:endParaRPr lang="en-NL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037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Lag1</a:t>
                      </a:r>
                      <a:endParaRPr lang="en-NL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501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Lag3</a:t>
                      </a:r>
                      <a:endParaRPr lang="en-NL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191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  <a:endParaRPr lang="en-NL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156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DayOfWeek</a:t>
                      </a:r>
                      <a:endParaRPr lang="en-NL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335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MeanMon</a:t>
                      </a:r>
                      <a:endParaRPr lang="en-NL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552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  <a:endParaRPr lang="en-NL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67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MeanFri</a:t>
                      </a:r>
                      <a:endParaRPr lang="en-NL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663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DayOfYear</a:t>
                      </a:r>
                      <a:endParaRPr lang="en-NL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710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MA_1w</a:t>
                      </a:r>
                      <a:endParaRPr lang="en-NL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26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MA_3w</a:t>
                      </a:r>
                      <a:endParaRPr lang="en-NL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3031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A6C7CB0-2DCE-22F5-C82B-DC0102B51672}"/>
              </a:ext>
            </a:extLst>
          </p:cNvPr>
          <p:cNvSpPr/>
          <p:nvPr/>
        </p:nvSpPr>
        <p:spPr>
          <a:xfrm>
            <a:off x="4101740" y="2923904"/>
            <a:ext cx="1724297" cy="6918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Model_T2</a:t>
            </a:r>
            <a:endParaRPr lang="en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D5B77A-03D1-08A9-BC49-AC0FE9AE6EA7}"/>
              </a:ext>
            </a:extLst>
          </p:cNvPr>
          <p:cNvSpPr/>
          <p:nvPr/>
        </p:nvSpPr>
        <p:spPr>
          <a:xfrm>
            <a:off x="4101740" y="1938142"/>
            <a:ext cx="1724297" cy="6918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Model_T1</a:t>
            </a:r>
            <a:endParaRPr lang="en-N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9AA9C6-35D1-8A19-9B09-524C45838233}"/>
              </a:ext>
            </a:extLst>
          </p:cNvPr>
          <p:cNvSpPr/>
          <p:nvPr/>
        </p:nvSpPr>
        <p:spPr>
          <a:xfrm>
            <a:off x="4101740" y="3913780"/>
            <a:ext cx="1724297" cy="6918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Model_T3</a:t>
            </a:r>
            <a:endParaRPr lang="en-N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0ED0C7-584A-86B6-B42C-160390C228B7}"/>
              </a:ext>
            </a:extLst>
          </p:cNvPr>
          <p:cNvCxnSpPr>
            <a:cxnSpLocks/>
          </p:cNvCxnSpPr>
          <p:nvPr/>
        </p:nvCxnSpPr>
        <p:spPr>
          <a:xfrm>
            <a:off x="2778036" y="2284066"/>
            <a:ext cx="112340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7671B3-4C15-6086-8719-6171406D00FF}"/>
              </a:ext>
            </a:extLst>
          </p:cNvPr>
          <p:cNvCxnSpPr>
            <a:cxnSpLocks/>
          </p:cNvCxnSpPr>
          <p:nvPr/>
        </p:nvCxnSpPr>
        <p:spPr>
          <a:xfrm>
            <a:off x="2778036" y="3269828"/>
            <a:ext cx="112340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26044D-5B0E-E06D-DA3D-67883166347E}"/>
              </a:ext>
            </a:extLst>
          </p:cNvPr>
          <p:cNvCxnSpPr>
            <a:cxnSpLocks/>
          </p:cNvCxnSpPr>
          <p:nvPr/>
        </p:nvCxnSpPr>
        <p:spPr>
          <a:xfrm>
            <a:off x="2778036" y="4259704"/>
            <a:ext cx="112340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52F4622-D37A-F1D9-78C3-9954C38DEA1F}"/>
              </a:ext>
            </a:extLst>
          </p:cNvPr>
          <p:cNvSpPr/>
          <p:nvPr/>
        </p:nvSpPr>
        <p:spPr>
          <a:xfrm>
            <a:off x="7437119" y="1936448"/>
            <a:ext cx="1001486" cy="6918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t+1</a:t>
            </a:r>
            <a:endParaRPr lang="en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101BBC8-21F4-E21E-30EE-6BC6C52CC8BF}"/>
              </a:ext>
            </a:extLst>
          </p:cNvPr>
          <p:cNvCxnSpPr>
            <a:cxnSpLocks/>
          </p:cNvCxnSpPr>
          <p:nvPr/>
        </p:nvCxnSpPr>
        <p:spPr>
          <a:xfrm>
            <a:off x="6035041" y="2284066"/>
            <a:ext cx="112340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3EF9F2F-80DA-1EF9-C145-21A761559343}"/>
              </a:ext>
            </a:extLst>
          </p:cNvPr>
          <p:cNvSpPr/>
          <p:nvPr/>
        </p:nvSpPr>
        <p:spPr>
          <a:xfrm>
            <a:off x="8817428" y="2923904"/>
            <a:ext cx="1001486" cy="6918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t+2</a:t>
            </a:r>
            <a:endParaRPr lang="en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56CBE5-D3A3-1224-17A6-09C530B5859C}"/>
              </a:ext>
            </a:extLst>
          </p:cNvPr>
          <p:cNvCxnSpPr>
            <a:cxnSpLocks/>
          </p:cNvCxnSpPr>
          <p:nvPr/>
        </p:nvCxnSpPr>
        <p:spPr>
          <a:xfrm>
            <a:off x="6035041" y="3269828"/>
            <a:ext cx="25341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CF3819C-F022-B677-C81D-A831CE392D3D}"/>
              </a:ext>
            </a:extLst>
          </p:cNvPr>
          <p:cNvSpPr/>
          <p:nvPr/>
        </p:nvSpPr>
        <p:spPr>
          <a:xfrm>
            <a:off x="10197737" y="3913780"/>
            <a:ext cx="1001486" cy="6918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t+3</a:t>
            </a:r>
            <a:endParaRPr lang="en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5564EC4-2735-AD09-32C9-FFF4F58E0E42}"/>
              </a:ext>
            </a:extLst>
          </p:cNvPr>
          <p:cNvCxnSpPr>
            <a:cxnSpLocks/>
          </p:cNvCxnSpPr>
          <p:nvPr/>
        </p:nvCxnSpPr>
        <p:spPr>
          <a:xfrm>
            <a:off x="6035041" y="4259704"/>
            <a:ext cx="393627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4078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B5422E-C95B-08F8-04B8-79786C3A49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Bedankt</a:t>
            </a:r>
            <a:r>
              <a:rPr lang="en-US" dirty="0"/>
              <a:t>!</a:t>
            </a:r>
            <a:endParaRPr lang="en-NL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E1E6BED-6BE5-E455-CD92-4777EB5992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/>
              <a:t>Vragen</a:t>
            </a:r>
            <a:r>
              <a:rPr lang="en-US" dirty="0"/>
              <a:t>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https://github.com/LFKoning/knowledge-sharing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99806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1503</Words>
  <Application>Microsoft Office PowerPoint</Application>
  <PresentationFormat>Widescreen</PresentationFormat>
  <Paragraphs>508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Office Theme</vt:lpstr>
      <vt:lpstr>Introductie Tijdreeksen</vt:lpstr>
      <vt:lpstr>Wat is een tijdreeks?</vt:lpstr>
      <vt:lpstr>Correlatie tussen de metingen</vt:lpstr>
      <vt:lpstr>Autoregressie</vt:lpstr>
      <vt:lpstr>Groei of krimp</vt:lpstr>
      <vt:lpstr>Stationariteit</vt:lpstr>
      <vt:lpstr>Is het stationair?</vt:lpstr>
      <vt:lpstr>Verandering modelleren</vt:lpstr>
      <vt:lpstr>Voortschrijdend gemiddelde</vt:lpstr>
      <vt:lpstr>Voortschrijdend gemiddelde</vt:lpstr>
      <vt:lpstr>Voortschrijdend gemiddelde</vt:lpstr>
      <vt:lpstr>Seasonal Trend Decomposition</vt:lpstr>
      <vt:lpstr>Een model bouwen...</vt:lpstr>
      <vt:lpstr>Een model bouwen...</vt:lpstr>
      <vt:lpstr>Een model bouwen...</vt:lpstr>
      <vt:lpstr>Een model bouwen...</vt:lpstr>
      <vt:lpstr>Een model bouwen...</vt:lpstr>
      <vt:lpstr>Een model bouwen...</vt:lpstr>
      <vt:lpstr>ARIMA modellen</vt:lpstr>
      <vt:lpstr>ARIMA modellen</vt:lpstr>
      <vt:lpstr>ARIMA model met sktime</vt:lpstr>
      <vt:lpstr>ARIMA model met sktime</vt:lpstr>
      <vt:lpstr>ARIMA model met sktime</vt:lpstr>
      <vt:lpstr>ARIMA met trend en seizoenaleit</vt:lpstr>
      <vt:lpstr>ACF en PACF</vt:lpstr>
      <vt:lpstr>ACF en PACF</vt:lpstr>
      <vt:lpstr>ACF en PACF</vt:lpstr>
      <vt:lpstr>Alternatieven?</vt:lpstr>
      <vt:lpstr>Alternatieven?</vt:lpstr>
      <vt:lpstr>Bedankt!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Koning</dc:creator>
  <cp:lastModifiedBy>Lukas Koning</cp:lastModifiedBy>
  <cp:revision>167</cp:revision>
  <dcterms:created xsi:type="dcterms:W3CDTF">2025-05-08T14:23:08Z</dcterms:created>
  <dcterms:modified xsi:type="dcterms:W3CDTF">2025-06-17T09:29:15Z</dcterms:modified>
</cp:coreProperties>
</file>