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270" r:id="rId3"/>
    <p:sldId id="359" r:id="rId4"/>
    <p:sldId id="344" r:id="rId5"/>
    <p:sldId id="269" r:id="rId6"/>
    <p:sldId id="301" r:id="rId7"/>
    <p:sldId id="352" r:id="rId8"/>
    <p:sldId id="258" r:id="rId9"/>
    <p:sldId id="351" r:id="rId10"/>
    <p:sldId id="404" r:id="rId11"/>
    <p:sldId id="271" r:id="rId12"/>
    <p:sldId id="360" r:id="rId13"/>
    <p:sldId id="362" r:id="rId14"/>
    <p:sldId id="274" r:id="rId15"/>
    <p:sldId id="275" r:id="rId16"/>
    <p:sldId id="365" r:id="rId17"/>
    <p:sldId id="315" r:id="rId18"/>
    <p:sldId id="272" r:id="rId19"/>
    <p:sldId id="273" r:id="rId20"/>
    <p:sldId id="402" r:id="rId21"/>
    <p:sldId id="276" r:id="rId22"/>
    <p:sldId id="363" r:id="rId23"/>
    <p:sldId id="364" r:id="rId24"/>
    <p:sldId id="317" r:id="rId25"/>
    <p:sldId id="318" r:id="rId26"/>
    <p:sldId id="361" r:id="rId27"/>
    <p:sldId id="345" r:id="rId28"/>
    <p:sldId id="278" r:id="rId29"/>
    <p:sldId id="277" r:id="rId30"/>
    <p:sldId id="289" r:id="rId31"/>
    <p:sldId id="366" r:id="rId32"/>
    <p:sldId id="367" r:id="rId33"/>
    <p:sldId id="368" r:id="rId34"/>
    <p:sldId id="369" r:id="rId35"/>
    <p:sldId id="287" r:id="rId36"/>
    <p:sldId id="346" r:id="rId37"/>
    <p:sldId id="279" r:id="rId38"/>
    <p:sldId id="370" r:id="rId39"/>
    <p:sldId id="371" r:id="rId40"/>
    <p:sldId id="406" r:id="rId41"/>
    <p:sldId id="407" r:id="rId42"/>
    <p:sldId id="408" r:id="rId43"/>
    <p:sldId id="375" r:id="rId44"/>
    <p:sldId id="378" r:id="rId45"/>
    <p:sldId id="377" r:id="rId46"/>
    <p:sldId id="376" r:id="rId47"/>
    <p:sldId id="285" r:id="rId48"/>
    <p:sldId id="331" r:id="rId49"/>
    <p:sldId id="409" r:id="rId50"/>
    <p:sldId id="411" r:id="rId51"/>
    <p:sldId id="410" r:id="rId52"/>
    <p:sldId id="328" r:id="rId53"/>
    <p:sldId id="284" r:id="rId54"/>
    <p:sldId id="381" r:id="rId55"/>
    <p:sldId id="382" r:id="rId56"/>
    <p:sldId id="387" r:id="rId57"/>
    <p:sldId id="392" r:id="rId58"/>
    <p:sldId id="393" r:id="rId59"/>
    <p:sldId id="394" r:id="rId60"/>
    <p:sldId id="403" r:id="rId61"/>
    <p:sldId id="395" r:id="rId62"/>
    <p:sldId id="398" r:id="rId63"/>
    <p:sldId id="400" r:id="rId64"/>
    <p:sldId id="399" r:id="rId65"/>
    <p:sldId id="397" r:id="rId66"/>
    <p:sldId id="401" r:id="rId67"/>
    <p:sldId id="396" r:id="rId6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5" autoAdjust="0"/>
    <p:restoredTop sz="89825" autoAdjust="0"/>
  </p:normalViewPr>
  <p:slideViewPr>
    <p:cSldViewPr snapToGrid="0">
      <p:cViewPr varScale="1">
        <p:scale>
          <a:sx n="111" d="100"/>
          <a:sy n="111" d="100"/>
        </p:scale>
        <p:origin x="84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6007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VRAAG: Hoe </a:t>
            </a:r>
            <a:r>
              <a:rPr lang="en-US" dirty="0" err="1"/>
              <a:t>draai</a:t>
            </a:r>
            <a:r>
              <a:rPr lang="en-US" dirty="0"/>
              <a:t> je de </a:t>
            </a:r>
            <a:r>
              <a:rPr lang="en-US" dirty="0" err="1"/>
              <a:t>selectie</a:t>
            </a:r>
            <a:r>
              <a:rPr lang="en-US" dirty="0"/>
              <a:t> </a:t>
            </a:r>
            <a:r>
              <a:rPr lang="en-US" dirty="0" err="1"/>
              <a:t>precies</a:t>
            </a:r>
            <a:r>
              <a:rPr lang="en-US" dirty="0"/>
              <a:t> om?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60332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756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3F90-52F4-1E6E-39BA-9F7470A3A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A4D6F-BDF7-9FDF-FF0E-D483DE61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EEB42-F4D5-DD64-C774-C1A565C88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2C233-0D10-91BE-26FB-09AF89624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6546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7674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19779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85764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62B4-042D-AD25-661A-3F600EA7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2CBBB-5670-6CEB-D6BB-5B07C4E97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195E98-D665-6789-6BE8-779374BC0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0031F-F907-B763-3657-41A4A6BF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118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804AD-D536-09A7-F842-712A9927D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C9492E-3071-F1DA-D063-E21A88269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3AD2A-0B10-9DAE-DA8A-5798790E4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4ECA4-5954-490B-A4BE-4AE30D1691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75374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2AAC0-854F-D63D-0A2B-DFF154C6C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5D8BF-EE48-4DA5-DDF6-679DBA573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3BE387-3283-F161-95E3-79A09D384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5494F-B87C-7FA0-E8DA-C932B4B9D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868667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8FC99-5983-8E8B-94A8-154B9C42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10E73-2557-CA49-0CF6-BCFCA300D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4F343-644D-A726-4A79-B86688CD8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FDFA0-CD47-7C67-36B8-2182A6DD6B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0514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7BF3-24E1-C7EC-642F-F16325218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984CD0-E9DA-35E6-F27D-1F4E47935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C8C14-5F9E-2220-6A8F-86C7ECF0C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ABB9B-0A2E-AD26-8AA8-9496173D3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23431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582EE-87E1-7856-19B1-BA2E956A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65D03-0E5E-AE7D-5EF6-740A4DD2B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9DD17-B96B-9277-3A15-FFBAB85F8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70CBD-F195-55D2-9487-8F6236903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12297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64601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426247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8DB73-C195-7019-F342-C1818631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BC374-5096-6115-B2E1-F4D96703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29C04-4686-584D-60E8-8EEF12424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437A-F56A-CE41-63B1-A39A8C089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63223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0DE8A-FC76-6636-1594-B18A6A16E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62086-773C-B897-7493-514B1AA86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9CD83-5399-A35F-BB22-01F2C31E2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10876-31BF-DD54-3270-947F77A95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341907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763A6-BA33-F1AC-98E6-26F244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C7A1E-E87F-DEE3-269A-996CF340D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D698-D10C-4313-1D1A-F393D4A5B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42C9D-39F7-2573-D882-42883D237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28616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06061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11/10/2026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lang_datefunc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Leerdoelen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leerdoelen van deze cursus zijn: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syntax van SQL onder de knie krijgen.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Begrijpen hoe databases werken (basis).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Opstellen van Entiteit Relatie Diagrammen.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9453E-95B7-4E26-A4BA-5CD2D75F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084" y="2843159"/>
            <a:ext cx="3649716" cy="364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6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SQL en relationele databases.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Basis syntax.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Groeperen en aggregeren.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Tabellen koppelen.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Data wijzigen.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8326D6-071F-DAAB-0B29-0AF47C97D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SQL en relationele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1502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 err="1"/>
              <a:t>Structured</a:t>
            </a:r>
            <a:r>
              <a:rPr lang="nl-NL" sz="3600" dirty="0"/>
              <a:t> Query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Bedoeling:</a:t>
            </a:r>
          </a:p>
          <a:p>
            <a:pPr marL="0" indent="0">
              <a:buNone/>
            </a:pPr>
            <a:r>
              <a:rPr lang="nl-NL" sz="2000" dirty="0"/>
              <a:t>Eén standaard om databases te bevragen.</a:t>
            </a:r>
          </a:p>
          <a:p>
            <a:pPr marL="0" indent="0">
              <a:buNone/>
            </a:pPr>
            <a:endParaRPr lang="nl-NL" sz="2000" b="1" dirty="0"/>
          </a:p>
          <a:p>
            <a:pPr marL="0" indent="0">
              <a:buNone/>
            </a:pPr>
            <a:r>
              <a:rPr lang="nl-NL" sz="2000" b="1" dirty="0"/>
              <a:t>Maar:</a:t>
            </a:r>
          </a:p>
          <a:p>
            <a:pPr marL="0" indent="0">
              <a:buNone/>
            </a:pPr>
            <a:r>
              <a:rPr lang="nl-NL" sz="2000" dirty="0"/>
              <a:t>In de praktijk verschillende implementaties:</a:t>
            </a:r>
            <a:endParaRPr lang="nl-NL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nl-NL" sz="2000" dirty="0">
                <a:sym typeface="Wingdings" panose="05000000000000000000" pitchFamily="2" charset="2"/>
              </a:rPr>
              <a:t>syntax, data types, functies…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Concepten wel breed gedragen en zeer nuttig!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7121-2C74-4154-BE55-E08C8A76F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69" y="3363985"/>
            <a:ext cx="5351655" cy="302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216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Altijd een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u="sng" dirty="0"/>
              <a:t>input en output</a:t>
            </a:r>
            <a:r>
              <a:rPr lang="nl-NL" sz="2000" dirty="0"/>
              <a:t> voor SQL is altijd een 2-dimensionale tabel…</a:t>
            </a:r>
          </a:p>
          <a:p>
            <a:pPr marL="0" indent="0">
              <a:buNone/>
            </a:pPr>
            <a:r>
              <a:rPr lang="nl-NL" sz="2000" dirty="0"/>
              <a:t>Gevolg: je kunt query’s aan elkaar schakelen!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416013"/>
              </p:ext>
            </p:extLst>
          </p:nvPr>
        </p:nvGraphicFramePr>
        <p:xfrm>
          <a:off x="838199" y="3310817"/>
          <a:ext cx="3168724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42525951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ColC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B4ABD7-6E30-406E-B6FA-5C381CFF9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10132"/>
              </p:ext>
            </p:extLst>
          </p:nvPr>
        </p:nvGraphicFramePr>
        <p:xfrm>
          <a:off x="5278048" y="4036161"/>
          <a:ext cx="237654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0DD242-C8AE-4739-A351-E15BACBB3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930604"/>
              </p:ext>
            </p:extLst>
          </p:nvPr>
        </p:nvGraphicFramePr>
        <p:xfrm>
          <a:off x="8915099" y="4761505"/>
          <a:ext cx="15843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</a:tbl>
          </a:graphicData>
        </a:graphic>
      </p:graphicFrame>
      <p:sp>
        <p:nvSpPr>
          <p:cNvPr id="9" name="Arrow: Bent-Up 8">
            <a:extLst>
              <a:ext uri="{FF2B5EF4-FFF2-40B4-BE49-F238E27FC236}">
                <a16:creationId xmlns:a16="http://schemas.microsoft.com/office/drawing/2014/main" id="{8FDF8B8A-6068-4DE0-ABFE-D1CEE120BF29}"/>
              </a:ext>
            </a:extLst>
          </p:cNvPr>
          <p:cNvSpPr/>
          <p:nvPr/>
        </p:nvSpPr>
        <p:spPr>
          <a:xfrm flipV="1">
            <a:off x="4140829" y="3310817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Arrow: Bent-Up 9">
            <a:extLst>
              <a:ext uri="{FF2B5EF4-FFF2-40B4-BE49-F238E27FC236}">
                <a16:creationId xmlns:a16="http://schemas.microsoft.com/office/drawing/2014/main" id="{713E124B-E9DD-4350-81D4-2D7FEC584BD5}"/>
              </a:ext>
            </a:extLst>
          </p:cNvPr>
          <p:cNvSpPr/>
          <p:nvPr/>
        </p:nvSpPr>
        <p:spPr>
          <a:xfrm flipV="1">
            <a:off x="7786442" y="4036161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DDDAB-41AF-42DA-B024-315BB3F13800}"/>
              </a:ext>
            </a:extLst>
          </p:cNvPr>
          <p:cNvSpPr txBox="1"/>
          <p:nvPr/>
        </p:nvSpPr>
        <p:spPr>
          <a:xfrm>
            <a:off x="4475250" y="2941485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5B0EC-54FA-4A21-AD5E-191F55DECB36}"/>
              </a:ext>
            </a:extLst>
          </p:cNvPr>
          <p:cNvSpPr txBox="1"/>
          <p:nvPr/>
        </p:nvSpPr>
        <p:spPr>
          <a:xfrm>
            <a:off x="8118054" y="3666829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293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Relaties tussen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Tabellen kunnen met relaties aan elkaar gekoppeld worden: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10778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29368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50559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F9FA4A-B9A7-DF68-B995-366AE423C670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8D8C0B7-30C2-E9CA-33E3-8FECE2876D14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380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Relationeel </a:t>
            </a:r>
            <a:r>
              <a:rPr lang="nl-NL" sz="3600" dirty="0" err="1"/>
              <a:t>DataBase</a:t>
            </a:r>
            <a:r>
              <a:rPr lang="nl-NL" sz="3600" dirty="0"/>
              <a:t> Management Systeem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360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800" b="1" dirty="0"/>
              <a:t>RDBMS</a:t>
            </a:r>
          </a:p>
          <a:p>
            <a:pPr marL="0" indent="0">
              <a:buNone/>
            </a:pPr>
            <a:r>
              <a:rPr lang="nl-NL" sz="1800" dirty="0"/>
              <a:t>Verzameling van databases.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Database</a:t>
            </a:r>
          </a:p>
          <a:p>
            <a:pPr marL="0" indent="0">
              <a:buNone/>
            </a:pPr>
            <a:r>
              <a:rPr lang="nl-NL" sz="1800" dirty="0"/>
              <a:t>Verzameling van tabellen.</a:t>
            </a:r>
          </a:p>
          <a:p>
            <a:pPr marL="0" indent="0">
              <a:buNone/>
            </a:pPr>
            <a:r>
              <a:rPr lang="nl-NL" sz="1800" dirty="0"/>
              <a:t>Data van een bepaald domein.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Tabel</a:t>
            </a:r>
          </a:p>
          <a:p>
            <a:pPr marL="0" indent="0">
              <a:buNone/>
            </a:pPr>
            <a:r>
              <a:rPr lang="nl-NL" sz="1800" dirty="0"/>
              <a:t>Twee dimensionale gegevensverzameling.</a:t>
            </a:r>
          </a:p>
          <a:p>
            <a:pPr marL="0" indent="0">
              <a:buNone/>
            </a:pPr>
            <a:r>
              <a:rPr lang="nl-NL" sz="1800" dirty="0"/>
              <a:t>Rijen met soortgelijke objecten (entiteiten).</a:t>
            </a:r>
          </a:p>
          <a:p>
            <a:pPr marL="0" indent="0">
              <a:buNone/>
            </a:pPr>
            <a:r>
              <a:rPr lang="nl-NL" sz="1800" dirty="0"/>
              <a:t>Kolommen voorzien van namen (kenmerken).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3573C7-C518-433D-A846-11E432AFF3F8}"/>
              </a:ext>
            </a:extLst>
          </p:cNvPr>
          <p:cNvSpPr/>
          <p:nvPr/>
        </p:nvSpPr>
        <p:spPr>
          <a:xfrm>
            <a:off x="6769915" y="1937857"/>
            <a:ext cx="4840448" cy="42391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SQL Server</a:t>
            </a:r>
            <a:endParaRPr lang="en-N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215ED3-8815-45E5-9891-ED9515F4C091}"/>
              </a:ext>
            </a:extLst>
          </p:cNvPr>
          <p:cNvSpPr/>
          <p:nvPr/>
        </p:nvSpPr>
        <p:spPr>
          <a:xfrm>
            <a:off x="7013196" y="2545039"/>
            <a:ext cx="4388840" cy="223986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 dirty="0">
                <a:solidFill>
                  <a:schemeClr val="tx1"/>
                </a:solidFill>
              </a:rPr>
              <a:t>Sales database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5AE3C-3BE4-45B1-908A-0F109D6BB510}"/>
              </a:ext>
            </a:extLst>
          </p:cNvPr>
          <p:cNvSpPr/>
          <p:nvPr/>
        </p:nvSpPr>
        <p:spPr>
          <a:xfrm>
            <a:off x="7013196" y="5123634"/>
            <a:ext cx="4388840" cy="77700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 dirty="0"/>
              <a:t>Finance database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48A36595-EA46-40C8-B7D0-25BD2CBB2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24301"/>
              </p:ext>
            </p:extLst>
          </p:nvPr>
        </p:nvGraphicFramePr>
        <p:xfrm>
          <a:off x="7344153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578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702082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569830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Klanten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3E04B964-47DB-4411-85FE-4C113E4A7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463925"/>
              </p:ext>
            </p:extLst>
          </p:nvPr>
        </p:nvGraphicFramePr>
        <p:xfrm>
          <a:off x="9363512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399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907366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416725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Transacties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697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Alternatieven</a:t>
            </a:r>
          </a:p>
        </p:txBody>
      </p:sp>
      <p:graphicFrame>
        <p:nvGraphicFramePr>
          <p:cNvPr id="10" name="Table 11">
            <a:extLst>
              <a:ext uri="{FF2B5EF4-FFF2-40B4-BE49-F238E27FC236}">
                <a16:creationId xmlns:a16="http://schemas.microsoft.com/office/drawing/2014/main" id="{E9AD60C7-D005-B23E-4342-AFA059AA0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507669"/>
              </p:ext>
            </p:extLst>
          </p:nvPr>
        </p:nvGraphicFramePr>
        <p:xfrm>
          <a:off x="838199" y="1508289"/>
          <a:ext cx="10285431" cy="4694548"/>
        </p:xfrm>
        <a:graphic>
          <a:graphicData uri="http://schemas.openxmlformats.org/drawingml/2006/table">
            <a:tbl>
              <a:tblPr bandRow="1">
                <a:tableStyleId>{7E9639D4-E3E2-4D34-9284-5A2195B3D0D7}</a:tableStyleId>
              </a:tblPr>
              <a:tblGrid>
                <a:gridCol w="3121909">
                  <a:extLst>
                    <a:ext uri="{9D8B030D-6E8A-4147-A177-3AD203B41FA5}">
                      <a16:colId xmlns:a16="http://schemas.microsoft.com/office/drawing/2014/main" val="493057733"/>
                    </a:ext>
                  </a:extLst>
                </a:gridCol>
                <a:gridCol w="3735045">
                  <a:extLst>
                    <a:ext uri="{9D8B030D-6E8A-4147-A177-3AD203B41FA5}">
                      <a16:colId xmlns:a16="http://schemas.microsoft.com/office/drawing/2014/main" val="4262677491"/>
                    </a:ext>
                  </a:extLst>
                </a:gridCol>
                <a:gridCol w="3428477">
                  <a:extLst>
                    <a:ext uri="{9D8B030D-6E8A-4147-A177-3AD203B41FA5}">
                      <a16:colId xmlns:a16="http://schemas.microsoft.com/office/drawing/2014/main" val="1722524859"/>
                    </a:ext>
                  </a:extLst>
                </a:gridCol>
              </a:tblGrid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Data Lake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Delta Lake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Gedistribueerde verzameling bestanden (</a:t>
                      </a:r>
                      <a:r>
                        <a:rPr lang="nl-NL" noProof="0" dirty="0" err="1"/>
                        <a:t>vb</a:t>
                      </a:r>
                      <a:r>
                        <a:rPr lang="nl-NL" noProof="0" dirty="0"/>
                        <a:t> </a:t>
                      </a:r>
                      <a:r>
                        <a:rPr lang="nl-NL" noProof="0" dirty="0" err="1"/>
                        <a:t>Parquet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0335194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/>
                        <a:t>Document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Opslag onafhankelijke documenten. (</a:t>
                      </a:r>
                      <a:r>
                        <a:rPr lang="nl-NL" noProof="0" dirty="0" err="1"/>
                        <a:t>vb</a:t>
                      </a:r>
                      <a:r>
                        <a:rPr lang="nl-NL" noProof="0" dirty="0"/>
                        <a:t> JSON).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10988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 err="1"/>
                        <a:t>Graph</a:t>
                      </a:r>
                      <a:r>
                        <a:rPr lang="nl-NL" noProof="0" dirty="0"/>
                        <a:t> Database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Geschikt voor entiteiten (</a:t>
                      </a:r>
                      <a:r>
                        <a:rPr lang="nl-NL" noProof="0" dirty="0" err="1"/>
                        <a:t>nodes</a:t>
                      </a:r>
                      <a:r>
                        <a:rPr lang="nl-NL" noProof="0" dirty="0"/>
                        <a:t>) met veel onderlinge relaties (</a:t>
                      </a:r>
                      <a:r>
                        <a:rPr lang="nl-NL" noProof="0" dirty="0" err="1"/>
                        <a:t>edges</a:t>
                      </a:r>
                      <a:r>
                        <a:rPr lang="nl-NL" noProof="0" dirty="0"/>
                        <a:t>).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22693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/>
                        <a:t>Vector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Opslag van vectoren, bijvoorbeeld voor tekst </a:t>
                      </a:r>
                      <a:r>
                        <a:rPr lang="nl-NL" noProof="0" dirty="0" err="1"/>
                        <a:t>embedding</a:t>
                      </a:r>
                      <a:r>
                        <a:rPr lang="nl-NL" noProof="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48781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C1BC5D8-A2C9-FF37-A62C-6B93D7C61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153190"/>
              </p:ext>
            </p:extLst>
          </p:nvPr>
        </p:nvGraphicFramePr>
        <p:xfrm>
          <a:off x="8502977" y="5098038"/>
          <a:ext cx="2290714" cy="10312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45357">
                  <a:extLst>
                    <a:ext uri="{9D8B030D-6E8A-4147-A177-3AD203B41FA5}">
                      <a16:colId xmlns:a16="http://schemas.microsoft.com/office/drawing/2014/main" val="2908410836"/>
                    </a:ext>
                  </a:extLst>
                </a:gridCol>
                <a:gridCol w="1145357">
                  <a:extLst>
                    <a:ext uri="{9D8B030D-6E8A-4147-A177-3AD203B41FA5}">
                      <a16:colId xmlns:a16="http://schemas.microsoft.com/office/drawing/2014/main" val="2471461413"/>
                    </a:ext>
                  </a:extLst>
                </a:gridCol>
              </a:tblGrid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Vector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05797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[0, 1, 0, …, 1]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Lorem </a:t>
                      </a:r>
                      <a:r>
                        <a:rPr lang="en-US" sz="1400" dirty="0" err="1"/>
                        <a:t>Ipsem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298388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[1, 1, 0, …, 0]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Hello World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4914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7126210-689D-8715-AF49-C32038B2E006}"/>
              </a:ext>
            </a:extLst>
          </p:cNvPr>
          <p:cNvSpPr/>
          <p:nvPr/>
        </p:nvSpPr>
        <p:spPr>
          <a:xfrm>
            <a:off x="8502977" y="2749041"/>
            <a:ext cx="2290714" cy="1031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voornaam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 … ]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NL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048238-7DD1-191C-5030-9EEFC6475413}"/>
              </a:ext>
            </a:extLst>
          </p:cNvPr>
          <p:cNvGrpSpPr/>
          <p:nvPr/>
        </p:nvGrpSpPr>
        <p:grpSpPr>
          <a:xfrm>
            <a:off x="8531257" y="3975773"/>
            <a:ext cx="2262434" cy="909688"/>
            <a:chOff x="6268824" y="4034672"/>
            <a:chExt cx="2262434" cy="90968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3B06355-2930-518E-3C95-DF18DC83D9B2}"/>
                </a:ext>
              </a:extLst>
            </p:cNvPr>
            <p:cNvSpPr/>
            <p:nvPr/>
          </p:nvSpPr>
          <p:spPr>
            <a:xfrm>
              <a:off x="62688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F3505A-2898-3A3B-C158-770AE40D2E17}"/>
                </a:ext>
              </a:extLst>
            </p:cNvPr>
            <p:cNvSpPr/>
            <p:nvPr/>
          </p:nvSpPr>
          <p:spPr>
            <a:xfrm>
              <a:off x="80976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431740-A1A7-4E5D-E842-629686BA6F49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6702458" y="4256202"/>
              <a:ext cx="1395166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B48D26-6999-8183-6264-E7BAC3025515}"/>
                </a:ext>
              </a:extLst>
            </p:cNvPr>
            <p:cNvSpPr/>
            <p:nvPr/>
          </p:nvSpPr>
          <p:spPr>
            <a:xfrm>
              <a:off x="7414181" y="4501300"/>
              <a:ext cx="433633" cy="44306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NL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DA4B404-F32E-63EA-F9C5-EAF72C039974}"/>
                </a:ext>
              </a:extLst>
            </p:cNvPr>
            <p:cNvCxnSpPr>
              <a:cxnSpLocks/>
              <a:stCxn id="7" idx="6"/>
              <a:endCxn id="12" idx="1"/>
            </p:cNvCxnSpPr>
            <p:nvPr/>
          </p:nvCxnSpPr>
          <p:spPr>
            <a:xfrm>
              <a:off x="6702458" y="4256202"/>
              <a:ext cx="711723" cy="466628"/>
            </a:xfrm>
            <a:prstGeom prst="straightConnector1">
              <a:avLst/>
            </a:prstGeom>
            <a:ln>
              <a:tail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8463FC-20F5-27C0-D5DF-3D9A63EFA7D9}"/>
              </a:ext>
            </a:extLst>
          </p:cNvPr>
          <p:cNvGrpSpPr/>
          <p:nvPr/>
        </p:nvGrpSpPr>
        <p:grpSpPr>
          <a:xfrm>
            <a:off x="8502976" y="1620967"/>
            <a:ext cx="2286003" cy="897737"/>
            <a:chOff x="8502976" y="5132824"/>
            <a:chExt cx="2286003" cy="8977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34C44BC-85F5-78C4-43A2-9A249AEA29A9}"/>
                </a:ext>
              </a:extLst>
            </p:cNvPr>
            <p:cNvSpPr/>
            <p:nvPr/>
          </p:nvSpPr>
          <p:spPr>
            <a:xfrm>
              <a:off x="85029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7E5550C-E918-E628-CD2C-41015085DDEB}"/>
                </a:ext>
              </a:extLst>
            </p:cNvPr>
            <p:cNvSpPr/>
            <p:nvPr/>
          </p:nvSpPr>
          <p:spPr>
            <a:xfrm>
              <a:off x="931132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46FEA-2C4B-174B-0BB5-51C61EF9D429}"/>
                </a:ext>
              </a:extLst>
            </p:cNvPr>
            <p:cNvSpPr/>
            <p:nvPr/>
          </p:nvSpPr>
          <p:spPr>
            <a:xfrm>
              <a:off x="101196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26D1FA-41F7-41AB-FC60-87BC8887E961}"/>
                </a:ext>
              </a:extLst>
            </p:cNvPr>
            <p:cNvSpPr/>
            <p:nvPr/>
          </p:nvSpPr>
          <p:spPr>
            <a:xfrm>
              <a:off x="10213942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60EEE25-57E8-071A-6B6C-9926DDB27159}"/>
                </a:ext>
              </a:extLst>
            </p:cNvPr>
            <p:cNvSpPr/>
            <p:nvPr/>
          </p:nvSpPr>
          <p:spPr>
            <a:xfrm>
              <a:off x="10346702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8134865-1DB7-19C3-E682-BF496718E309}"/>
                </a:ext>
              </a:extLst>
            </p:cNvPr>
            <p:cNvSpPr/>
            <p:nvPr/>
          </p:nvSpPr>
          <p:spPr>
            <a:xfrm>
              <a:off x="10479462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0F48E3-1493-C9B1-0328-7046C6B2C2A4}"/>
                </a:ext>
              </a:extLst>
            </p:cNvPr>
            <p:cNvSpPr/>
            <p:nvPr/>
          </p:nvSpPr>
          <p:spPr>
            <a:xfrm>
              <a:off x="9385177" y="5207641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6A49A05-709F-E286-84E1-9F285AF1F5BA}"/>
                </a:ext>
              </a:extLst>
            </p:cNvPr>
            <p:cNvSpPr/>
            <p:nvPr/>
          </p:nvSpPr>
          <p:spPr>
            <a:xfrm>
              <a:off x="9517937" y="538118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323E948-DD69-B2CB-B20D-10712B9B34F5}"/>
                </a:ext>
              </a:extLst>
            </p:cNvPr>
            <p:cNvSpPr/>
            <p:nvPr/>
          </p:nvSpPr>
          <p:spPr>
            <a:xfrm>
              <a:off x="9650697" y="5554736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55FD70B-068E-9FD2-0FFF-6B65771021CA}"/>
                </a:ext>
              </a:extLst>
            </p:cNvPr>
            <p:cNvSpPr/>
            <p:nvPr/>
          </p:nvSpPr>
          <p:spPr>
            <a:xfrm>
              <a:off x="8572514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41B3AF-1DF5-2D8A-F92D-F0F03A47CD9D}"/>
                </a:ext>
              </a:extLst>
            </p:cNvPr>
            <p:cNvSpPr/>
            <p:nvPr/>
          </p:nvSpPr>
          <p:spPr>
            <a:xfrm>
              <a:off x="8705274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5716159-BCDC-6199-512C-C00A58589CA5}"/>
                </a:ext>
              </a:extLst>
            </p:cNvPr>
            <p:cNvSpPr/>
            <p:nvPr/>
          </p:nvSpPr>
          <p:spPr>
            <a:xfrm>
              <a:off x="8838034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102585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C49F3-07CD-4EF9-F9F1-985CFDB0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86746B-9539-A630-B02A-535C02015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Basis syntax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C513A-2553-66F2-8FED-CF84B7DD9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09101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Voornaam,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/>
              <a:t> om data te selecteren.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kolommen op die je wilt hebben.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 om een alias op te geven.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tabelnaam op achter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2B0D11-81F6-B9C8-DBF6-57B1C542D8E7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61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9A45-8F31-666C-9E85-709DA76A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91B8-511C-969D-4081-33767E39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3A54C-89CA-C0AF-326E-ABEBD8482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, Achternaam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 ,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Multi-line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comment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goes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here...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30F230D-0783-8C5E-F4B1-18C919848BBB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Alternatieve syntax: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Zet komma voor de kolomnaam.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Makkelijk uit te commentariëren met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20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... */</a:t>
            </a:r>
            <a:r>
              <a:rPr lang="nl-NL" sz="2000" dirty="0"/>
              <a:t> voor lang commentaar.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BB58C1-7DCB-4D67-5C2C-DBD73DEB21FD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376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E36DA-E38C-129E-3AB4-72722BA05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DAA5-64C2-67B7-E6D6-D8CC4C95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Namen en waardes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54B13F-4430-FD49-ABC3-ABA9E36192B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Namen kolommen / tabellen: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Alleen de naam:	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endParaRPr lang="nl-NL" sz="20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Double quotes: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Back </a:t>
            </a:r>
            <a:r>
              <a:rPr lang="nl-NL" sz="2000" dirty="0" err="1"/>
              <a:t>tick</a:t>
            </a:r>
            <a:r>
              <a:rPr lang="nl-NL" sz="2000" dirty="0"/>
              <a:t>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Waardes: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Numeriek: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42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Tekst:	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Datum: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</a:p>
        </p:txBody>
      </p:sp>
    </p:spTree>
    <p:extLst>
      <p:ext uri="{BB962C8B-B14F-4D97-AF65-F5344CB8AC3E}">
        <p14:creationId xmlns:p14="http://schemas.microsoft.com/office/powerpoint/2010/main" val="1371737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&gt;= 18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115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4" y="1825625"/>
            <a:ext cx="56411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Selecteer alle kolommen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2000" dirty="0">
                <a:cs typeface="Courier New" panose="02070309020205020404" pitchFamily="49" charset="0"/>
              </a:rPr>
              <a:t> (slecht!</a:t>
            </a:r>
            <a:r>
              <a:rPr lang="nl-NL" sz="2000" dirty="0"/>
              <a:t>).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selectiecriteria op: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 moet waar of onwaar zijn.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Condities kun je combineren met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/>
              <a:t> of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Groeperen met haken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(...).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CB7A14-C61C-728D-BCB7-4B033293604E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524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KolomB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100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(2, 3, 5, 7)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NOT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Kolommen moeten identiek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bereik 1 tot en met 100.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opgegeven lijst.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 niet.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Haal maximaal 4 rijen op.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B5B612-C695-CE5D-BA96-B8D59F690826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857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F8A5F-D6F3-5640-117F-3BC9478CB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C1B69-8F9F-6EC5-5364-EBC89C73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 voor tekst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225F8-480B-AD17-59A0-DCD4993FB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=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'_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ees'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59BFE4F-39C4-2EFC-7030-4EC2F9709CF1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Exacte match, hoofdletter gevoelig.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die beginnen met Kees.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waar Kees in voorkomt.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Eerste letter mag van alles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991A20-2085-1698-D06F-AED6AF08C6B4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5696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sorteren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431057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91884" y="1825625"/>
            <a:ext cx="56619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rijen te sorteren.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Sorteervolgorde geef je op achter kolom: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/>
              <a:t> 		oplopend (standaard) 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/>
              <a:t> 		aflopend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Sorteren op meerdere kolommen in opgegeven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B9DA5E-B79D-053F-0A8F-8B62972087A8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151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Bekijk de tabellen en hun kolommen.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Gebruik SQL queries om de volgende vragen te beantwoorden:</a:t>
            </a:r>
          </a:p>
          <a:p>
            <a:pPr marL="457200" lvl="1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transacties werden gedaan op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2024-01-01</a:t>
            </a:r>
            <a:r>
              <a:rPr lang="nl-NL" sz="2000" dirty="0"/>
              <a:t>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10 transactie regels hadden het hoogste aantal producten?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Hoe vaak kocht klant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CST-72400</a:t>
            </a:r>
            <a:r>
              <a:rPr lang="nl-NL" sz="2000" dirty="0"/>
              <a:t> product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PRD-82761?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163194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Simpele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1.21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Aantal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2)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PrijsVerschil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COALESCE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0)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met constante.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van 2 kolommen.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Getal afronden op 2 decimalen.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Absolute waarde.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Numerieke transformaties.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Invullen ontbrekende waardes.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7E7424-A332-BEE8-F6B5-27F6C0C3F648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53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310D-C27C-4E4C-01B3-BCBD9C0C3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D47C6-2775-4E0B-9ABA-234E5EEB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Tekst bewerken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0D886-42A2-90E1-1782-573D8D127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UPPER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RTRIM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1, 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'%0.2f'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0.12345)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8BD2FB-5B36-8BDE-D119-81D6C562089E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Converteer naar hoofd / kleine letters.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Verwijder spaties aan begin of einde.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Plak teksten aan elkaar.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Deel van een tekst (vanaf - tot).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Maak getal op als tekst.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2EDC06-B9A2-BB3A-1C8A-578D67761B51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403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Datum en tijd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2285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CURRENT_TIMESTAMP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'+1 MONTH'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EindDt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-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'%d-%m-%Y'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985261" y="1825625"/>
            <a:ext cx="4368537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 en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Specifieke datum aanmaken.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met een tijdsverschil.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Verschil tussen twee data in dagen.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opgemaakt als tekst.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AC11015-861E-CD95-6F4D-7119ADD4252B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5195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5AB-D498-212A-A781-06F766C8C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69CC-BBE5-6C1B-ADFA-BE520B69A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Conditionele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7FF19-037B-E35D-30D7-45F901BA4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59073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18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'Minderjarig'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25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'Adolescent'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65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'Volwassen'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'Senior'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LeeftijdCategorie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Personen;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F75BAED-8CE7-F130-935A-31FBA7E51B5D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nl-NL" sz="2000" dirty="0"/>
              <a:t> voor conditionele logica: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Geef condities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 … THEN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als standaard waarde.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Sluit conditionele logica af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een alias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6ABBEF9-C511-5699-9DC9-8BBCC83B071E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147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75E59-0C66-4BA0-8F21-4EC100B5F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C848-C49F-A653-2E3F-6468864B1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C7394-408C-D317-197B-44A06A94D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Bereken de omzet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</a:t>
            </a:r>
            <a:r>
              <a:rPr lang="nl-NL" sz="2000" dirty="0"/>
              <a:t> x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nl-NL" sz="2000" dirty="0"/>
              <a:t>) voor elke transactie regel.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uniek regel ID door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dirty="0"/>
              <a:t> samen te voegen.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datum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dag van de week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  <a:br>
              <a:rPr lang="nl-NL" sz="2000" dirty="0"/>
            </a:br>
            <a:r>
              <a:rPr lang="nl-NL" sz="2000" dirty="0"/>
              <a:t>(zie: </a:t>
            </a:r>
            <a:r>
              <a:rPr lang="nl-NL" sz="2000" dirty="0">
                <a:hlinkClick r:id="rId2"/>
              </a:rPr>
              <a:t>https://www.sqlite.org/lang_datefunc.html</a:t>
            </a:r>
            <a:r>
              <a:rPr lang="nl-NL" sz="2000" dirty="0"/>
              <a:t>)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942174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B1A28E1-1304-6F40-F71E-A028256C202B}"/>
              </a:ext>
            </a:extLst>
          </p:cNvPr>
          <p:cNvSpPr/>
          <p:nvPr/>
        </p:nvSpPr>
        <p:spPr>
          <a:xfrm>
            <a:off x="1150070" y="2546253"/>
            <a:ext cx="4945930" cy="1645920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93421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Selecties als tabel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54944" y="1825625"/>
            <a:ext cx="419885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 kun je ook een query gebruiken in plaats van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Deze </a:t>
            </a:r>
            <a:r>
              <a:rPr lang="nl-NL" sz="2000" dirty="0" err="1"/>
              <a:t>subquery</a:t>
            </a:r>
            <a:r>
              <a:rPr lang="nl-NL" sz="2000" dirty="0"/>
              <a:t> wordt eerst uitgevoerd…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 resultaten worden daarna gebruikt door de hoofdquery.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70905A5-C1C7-FDF6-67EA-D6B4FA8A35A0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09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ECCCC0-798D-D806-9436-47ECF8E5C8A4}"/>
              </a:ext>
            </a:extLst>
          </p:cNvPr>
          <p:cNvSpPr/>
          <p:nvPr/>
        </p:nvSpPr>
        <p:spPr>
          <a:xfrm>
            <a:off x="838199" y="1825625"/>
            <a:ext cx="5257801" cy="2296209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Common </a:t>
            </a:r>
            <a:r>
              <a:rPr lang="nl-NL" dirty="0" err="1"/>
              <a:t>Table</a:t>
            </a:r>
            <a:r>
              <a:rPr lang="nl-NL" dirty="0"/>
              <a:t> </a:t>
            </a:r>
            <a:r>
              <a:rPr lang="nl-NL" dirty="0" err="1"/>
              <a:t>Expressions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01958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endParaRPr lang="nl-NL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73798" y="1825625"/>
            <a:ext cx="418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Met Common </a:t>
            </a:r>
            <a:r>
              <a:rPr lang="nl-NL" sz="2000" dirty="0" err="1"/>
              <a:t>Table</a:t>
            </a:r>
            <a:r>
              <a:rPr lang="nl-NL" sz="2000" dirty="0"/>
              <a:t> </a:t>
            </a:r>
            <a:r>
              <a:rPr lang="nl-NL" sz="2000" dirty="0" err="1"/>
              <a:t>Expressions</a:t>
            </a:r>
            <a:r>
              <a:rPr lang="nl-NL" sz="2000" dirty="0"/>
              <a:t> kun je </a:t>
            </a:r>
            <a:r>
              <a:rPr lang="nl-NL" sz="2000" dirty="0" err="1"/>
              <a:t>subqueries</a:t>
            </a:r>
            <a:r>
              <a:rPr lang="nl-NL" sz="2000" dirty="0"/>
              <a:t> eleganter opgeven.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Definieer </a:t>
            </a:r>
            <a:r>
              <a:rPr lang="nl-NL" sz="2000" dirty="0" err="1"/>
              <a:t>CTE’s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793CAD-983B-9E11-D757-732A762C4AB9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599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BEBA2-1062-6548-6252-590E5586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7CCAA-82FA-FFF9-0889-652EA53D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CB301-CA04-B4D2-398A-EE2064C6D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query om deze waardes te berekenen: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de datum.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het tijdstip.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 omzet per transactie regel (prijs x aantal).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 startAt="2"/>
            </a:pPr>
            <a:r>
              <a:rPr lang="nl-NL" sz="2000" dirty="0"/>
              <a:t>Gebruik de query als CTE om transacties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2024-01-01</a:t>
            </a:r>
            <a:r>
              <a:rPr lang="nl-NL" sz="2000" dirty="0"/>
              <a:t> aflopend te sorteren op omzet.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271585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Groeperen en aggregeren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3622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Groeperen en aggregeren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TxAantal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nl-NL" sz="2000" dirty="0"/>
              <a:t>kun je groeperen op één of meer kolommen.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Elke </a:t>
            </a:r>
            <a:r>
              <a:rPr lang="nl-NL" sz="2000" u="sng" dirty="0"/>
              <a:t>unieke combinatie</a:t>
            </a:r>
            <a:r>
              <a:rPr lang="nl-NL" sz="2000" dirty="0"/>
              <a:t> wordt een groep:</a:t>
            </a:r>
            <a:br>
              <a:rPr lang="nl-NL" sz="2000" dirty="0"/>
            </a:b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Gebruik aggregatie functies voor kolommen waarop je niet groepeert!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89941C-9BC0-130B-E345-9A75135B8F8B}"/>
              </a:ext>
            </a:extLst>
          </p:cNvPr>
          <p:cNvCxnSpPr/>
          <p:nvPr/>
        </p:nvCxnSpPr>
        <p:spPr>
          <a:xfrm>
            <a:off x="5830530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90D1FB-A0E9-E12D-3F40-4F2508A71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881545"/>
              </p:ext>
            </p:extLst>
          </p:nvPr>
        </p:nvGraphicFramePr>
        <p:xfrm>
          <a:off x="6456290" y="3429000"/>
          <a:ext cx="1548618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9501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117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85524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0814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7C2B782-F7E2-454E-96E9-067A1FD20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503944"/>
              </p:ext>
            </p:extLst>
          </p:nvPr>
        </p:nvGraphicFramePr>
        <p:xfrm>
          <a:off x="9466776" y="3703320"/>
          <a:ext cx="1548618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898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</a:tbl>
          </a:graphicData>
        </a:graphic>
      </p:graphicFrame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9C463E9D-8DF3-E5DF-79C1-12F13DB3D122}"/>
              </a:ext>
            </a:extLst>
          </p:cNvPr>
          <p:cNvCxnSpPr/>
          <p:nvPr/>
        </p:nvCxnSpPr>
        <p:spPr>
          <a:xfrm>
            <a:off x="8004908" y="3587262"/>
            <a:ext cx="1461868" cy="2391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EE4888-5D35-E7EA-3F91-439FA37C5D19}"/>
              </a:ext>
            </a:extLst>
          </p:cNvPr>
          <p:cNvCxnSpPr/>
          <p:nvPr/>
        </p:nvCxnSpPr>
        <p:spPr>
          <a:xfrm>
            <a:off x="8004908" y="3826413"/>
            <a:ext cx="14618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11774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Aggregatie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1581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Totaal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(*)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AantalRijen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DISTINCT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AantalUniek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076494" y="1825625"/>
            <a:ext cx="427730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Aggregatie functies combineren meerdere rijen tot één waarde.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Descriptieve statistieken zoals, som, gemiddelde, minimum en maximum.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Aantal rijen of unieke waardes.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F037068-2488-3094-4C91-2502C63DA7F1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3032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Venster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AantalCumulatief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aggregatie functie om rijen samen te vatten.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nl-NL" sz="2000" dirty="0"/>
              <a:t> om een venster aan te maken.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de volgorde van de rijen te bepalen.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E801A40-F925-412F-BCC3-410AA5611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177099"/>
              </p:ext>
            </p:extLst>
          </p:nvPr>
        </p:nvGraphicFramePr>
        <p:xfrm>
          <a:off x="838201" y="4693603"/>
          <a:ext cx="54711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69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322363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307101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AantalCumulatief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 = 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 + 2 =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75E1B3-E7F5-2CC1-DE91-29ED56B99B6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4728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424F8-9020-CAAA-5F6E-2A06A91B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7A73-38E8-5086-FC86-DFDDCD47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Groepsgewijze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D881-9B01-CE9F-5955-9C2250675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DagTotaal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645624-DCA7-6695-A7A6-14114B5E067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om de rijen te groeperen.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 aggregatie wordt voor iedere groep apart berekend.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Merk op: Rijen niet samengenomen zoals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87325E-F034-DDCD-244E-9BBBBE31DE2E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6F4128FB-0190-002C-4162-80881CFD3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67852"/>
              </p:ext>
            </p:extLst>
          </p:nvPr>
        </p:nvGraphicFramePr>
        <p:xfrm>
          <a:off x="838201" y="4693603"/>
          <a:ext cx="54570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192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653422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1969478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DagTotaal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= 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 = 6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 = 6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79711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79EF4-0A5C-B7E1-9FB9-C99B74D6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C0B0-0A11-3744-6B11-959A6DA0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Gecombineerde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96681-6773-7D64-0C17-D1981369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OmzetYTD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0D4B47-38E6-06A0-3B22-417EC39F5586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combineren (in die volgorde!).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Groepeert eerst de rijen.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Sorteert daarna binnen de groepen.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086A3A-DDB4-E8E2-0CE9-2A4AD814B2D6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18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CF523-000A-9110-7243-1B041E07D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C54D8-669F-52B7-9F72-B5E98D056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Grootte venster instellen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9AA16-F8EB-101C-34AA-1F4FDA8F6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AVG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ROWS BETWEEN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7 PRECEDING AND CURRENT ROW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Gemiddelde7Dagen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6585D2-58BE-FBFB-E702-C32678A4E17E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ROWS BETWEEN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grootte van het venster in te stellen.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 ROW</a:t>
            </a:r>
            <a:r>
              <a:rPr lang="nl-NL" sz="2000" dirty="0"/>
              <a:t> geef je de huidige rij aan.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PRECEDING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FOLLOWING</a:t>
            </a:r>
            <a:r>
              <a:rPr lang="nl-NL" sz="2000" dirty="0"/>
              <a:t> kun je achteruit of vooruit kijken.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378F60E-8DA9-75E0-1577-87549AF652C7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426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D489-A4B0-D94F-56C1-0948AFBB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3B76-38DA-7708-E4A3-B326AE15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Waardes verschuiven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3041D-CA23-07FA-6FF7-F3A4FDB1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1)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AantalGisteren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3C4A-3D8D-7179-B62A-6E418B53EE63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waarde van een vorige of volgende rij te gebruiken.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Positief getal:</a:t>
            </a:r>
            <a:br>
              <a:rPr lang="nl-NL" sz="2000" dirty="0"/>
            </a:br>
            <a:r>
              <a:rPr lang="nl-NL" sz="2000" dirty="0"/>
              <a:t>Schuif waardes 1 plek </a:t>
            </a:r>
            <a:r>
              <a:rPr lang="nl-NL" sz="2000" u="sng" dirty="0"/>
              <a:t>omlaag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terug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Negatief getal: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Schuif waardes 1 plek </a:t>
            </a:r>
            <a:r>
              <a:rPr lang="nl-NL" sz="2000" u="sng" dirty="0"/>
              <a:t>omhoog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vooruit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D4BA8E-B9EB-08E5-78FB-B29A00CFC7B4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DFFF7ED-422F-7C8C-6415-1342FCD6F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430511"/>
              </p:ext>
            </p:extLst>
          </p:nvPr>
        </p:nvGraphicFramePr>
        <p:xfrm>
          <a:off x="838201" y="4693603"/>
          <a:ext cx="54430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30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464714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010006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AantalGisteren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1064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Bereken het aantal producten en de omzet per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het verschil in aantal en omzet met de vorige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een voortschrijdend gemiddelde over de omzet van de vorige 3 dagen.</a:t>
            </a:r>
          </a:p>
        </p:txBody>
      </p:sp>
    </p:spTree>
    <p:extLst>
      <p:ext uri="{BB962C8B-B14F-4D97-AF65-F5344CB8AC3E}">
        <p14:creationId xmlns:p14="http://schemas.microsoft.com/office/powerpoint/2010/main" val="87171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Tabellen koppelen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190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Gedeelde sleutels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6A05497-6390-49FD-B583-59AAE6A4C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887369"/>
              </p:ext>
            </p:extLst>
          </p:nvPr>
        </p:nvGraphicFramePr>
        <p:xfrm>
          <a:off x="1238057" y="1801947"/>
          <a:ext cx="4365945" cy="180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950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1239689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830306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</a:tblGrid>
              <a:tr h="31823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Voornaam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Achternaam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Van Dijk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Anna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Bos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Henk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 Boer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Yildiz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Remco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Jansen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85927687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C62DC2-FC80-458A-84F1-D08E8F492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024238"/>
              </p:ext>
            </p:extLst>
          </p:nvPr>
        </p:nvGraphicFramePr>
        <p:xfrm>
          <a:off x="6249972" y="1801947"/>
          <a:ext cx="4798236" cy="1516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451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899167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213035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  <a:gridCol w="1566583">
                  <a:extLst>
                    <a:ext uri="{9D8B030D-6E8A-4147-A177-3AD203B41FA5}">
                      <a16:colId xmlns:a16="http://schemas.microsoft.com/office/drawing/2014/main" val="2679022990"/>
                    </a:ext>
                  </a:extLst>
                </a:gridCol>
              </a:tblGrid>
              <a:tr h="29992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TransactieId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Aantal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PrijsExclusief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7.45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1.99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3776677-5A81-4A01-8063-7345199506A6}"/>
              </a:ext>
            </a:extLst>
          </p:cNvPr>
          <p:cNvCxnSpPr>
            <a:cxnSpLocks/>
          </p:cNvCxnSpPr>
          <p:nvPr/>
        </p:nvCxnSpPr>
        <p:spPr>
          <a:xfrm>
            <a:off x="1882604" y="4058289"/>
            <a:ext cx="59874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E287D2E-10CA-4F6C-A5FC-66FD5B449A40}"/>
              </a:ext>
            </a:extLst>
          </p:cNvPr>
          <p:cNvCxnSpPr/>
          <p:nvPr/>
        </p:nvCxnSpPr>
        <p:spPr>
          <a:xfrm flipV="1">
            <a:off x="7870004" y="3379949"/>
            <a:ext cx="0" cy="68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240087-A18B-4B9C-95F8-BAB4F934444E}"/>
              </a:ext>
            </a:extLst>
          </p:cNvPr>
          <p:cNvCxnSpPr>
            <a:cxnSpLocks/>
          </p:cNvCxnSpPr>
          <p:nvPr/>
        </p:nvCxnSpPr>
        <p:spPr>
          <a:xfrm flipV="1">
            <a:off x="1882604" y="3700476"/>
            <a:ext cx="0" cy="3578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E3734AF-F29B-4622-9F41-9DD364AD8F21}"/>
              </a:ext>
            </a:extLst>
          </p:cNvPr>
          <p:cNvSpPr txBox="1"/>
          <p:nvPr/>
        </p:nvSpPr>
        <p:spPr>
          <a:xfrm>
            <a:off x="1143787" y="1482203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KLANTEN</a:t>
            </a:r>
            <a:endParaRPr lang="en-NL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CBC0CE-DBB8-4A9D-8ABC-F00B5619D5E4}"/>
              </a:ext>
            </a:extLst>
          </p:cNvPr>
          <p:cNvSpPr txBox="1"/>
          <p:nvPr/>
        </p:nvSpPr>
        <p:spPr>
          <a:xfrm>
            <a:off x="6155703" y="1482203"/>
            <a:ext cx="144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TRANSACTIES</a:t>
            </a:r>
            <a:endParaRPr lang="en-NL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A506DB3-B5B8-48A2-BEC2-C8075809A4D5}"/>
              </a:ext>
            </a:extLst>
          </p:cNvPr>
          <p:cNvSpPr txBox="1">
            <a:spLocks/>
          </p:cNvSpPr>
          <p:nvPr/>
        </p:nvSpPr>
        <p:spPr>
          <a:xfrm>
            <a:off x="2403414" y="4557904"/>
            <a:ext cx="7693115" cy="16357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nl-NL" sz="2000" dirty="0"/>
              <a:t>Klanten en transacties zijn aparte entiteiten (dus aparte tabellen).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De tabellen delen een gezamenlijke sleutel: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Koppel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r>
              <a:rPr lang="nl-NL" sz="2000" dirty="0"/>
              <a:t>.</a:t>
            </a:r>
            <a:endParaRPr lang="nl-NL" sz="16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0906040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858B-B065-0A77-79C0-58D5E860F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FF9F0-65B9-2C15-E0BF-06ABDAAD6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A2F193-4E73-D89B-91F0-3541E6755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603626"/>
              </p:ext>
            </p:extLst>
          </p:nvPr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C3CF77-1015-F3C1-A9A6-938AA0EC2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215522"/>
              </p:ext>
            </p:extLst>
          </p:nvPr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7244287-A5C9-65F9-CD1E-7D633EBC7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177883"/>
              </p:ext>
            </p:extLst>
          </p:nvPr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D54458-A45A-D1B8-DD81-723EA0F5C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265687"/>
              </p:ext>
            </p:extLst>
          </p:nvPr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8EA9B01-34EA-66CC-6220-B30188605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34334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58856B6-9AC6-264D-781A-D9159C982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235312"/>
              </p:ext>
            </p:extLst>
          </p:nvPr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747B04-5B3A-25DC-3522-2EDD53C8B9B5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5A7AA431-EF7D-2461-E1D2-73FF69F0B121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94F03C5-F284-1B11-564D-6F1051ADE73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BFA911C-E4E8-4F9B-348F-3A3DE92131B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95CE8F2D-8128-39B2-D4B5-FDC5D1CCE9A6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9511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F56A3E-E8EF-9BC1-EF1B-1261CB9E8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CD67B-E3C6-B00F-899C-52FD8F8CE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7A3CA1-3984-5E10-06A9-83552D4B9462}"/>
              </a:ext>
            </a:extLst>
          </p:cNvPr>
          <p:cNvGraphicFramePr>
            <a:graphicFrameLocks noGrp="1"/>
          </p:cNvGraphicFramePr>
          <p:nvPr/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E14DA8-A4B6-83BE-7F81-30304C5695FA}"/>
              </a:ext>
            </a:extLst>
          </p:cNvPr>
          <p:cNvGraphicFramePr>
            <a:graphicFrameLocks noGrp="1"/>
          </p:cNvGraphicFramePr>
          <p:nvPr/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CE128B-C96A-E781-FBFE-2FD0D4090FFD}"/>
              </a:ext>
            </a:extLst>
          </p:cNvPr>
          <p:cNvGraphicFramePr>
            <a:graphicFrameLocks noGrp="1"/>
          </p:cNvGraphicFramePr>
          <p:nvPr/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C10ECEA-0B0D-F9C8-115F-B9192775D142}"/>
              </a:ext>
            </a:extLst>
          </p:cNvPr>
          <p:cNvGraphicFramePr>
            <a:graphicFrameLocks noGrp="1"/>
          </p:cNvGraphicFramePr>
          <p:nvPr/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68256B7-11AC-6A5A-E55B-B392A8031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2342912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DB04484-4C2D-19A4-21F0-4FA586B21261}"/>
              </a:ext>
            </a:extLst>
          </p:cNvPr>
          <p:cNvGraphicFramePr>
            <a:graphicFrameLocks noGrp="1"/>
          </p:cNvGraphicFramePr>
          <p:nvPr/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00430D-7F79-ACCD-802A-D39CCB8BF9A1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A382361-159D-FC9F-FD5E-C389AD62BD5C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C7CF7B4-836D-D88E-1E49-D95F98DF5711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25C85DC-AA85-5C3B-0337-5B737352F4C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779BADA-1679-AAD7-5CE8-363E5276BB9B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0D37B19-A587-5D6F-8D7F-EA2410534D70}"/>
              </a:ext>
            </a:extLst>
          </p:cNvPr>
          <p:cNvSpPr txBox="1"/>
          <p:nvPr/>
        </p:nvSpPr>
        <p:spPr>
          <a:xfrm>
            <a:off x="2706369" y="204327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E9398C-AFE1-98DE-5A37-F24B022DB216}"/>
              </a:ext>
            </a:extLst>
          </p:cNvPr>
          <p:cNvSpPr txBox="1"/>
          <p:nvPr/>
        </p:nvSpPr>
        <p:spPr>
          <a:xfrm>
            <a:off x="2602525" y="3542606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EA5E1-DF9F-3DD2-5A56-2C6D9415FE8B}"/>
              </a:ext>
            </a:extLst>
          </p:cNvPr>
          <p:cNvSpPr txBox="1"/>
          <p:nvPr/>
        </p:nvSpPr>
        <p:spPr>
          <a:xfrm>
            <a:off x="5767364" y="2043277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 :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B0BA8-DEE1-A930-66BF-CF025DF47872}"/>
              </a:ext>
            </a:extLst>
          </p:cNvPr>
          <p:cNvSpPr txBox="1"/>
          <p:nvPr/>
        </p:nvSpPr>
        <p:spPr>
          <a:xfrm>
            <a:off x="8831285" y="204327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888555-6273-4A6C-EF66-68C5BE2B49AD}"/>
              </a:ext>
            </a:extLst>
          </p:cNvPr>
          <p:cNvSpPr txBox="1"/>
          <p:nvPr/>
        </p:nvSpPr>
        <p:spPr>
          <a:xfrm>
            <a:off x="9158458" y="3542606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 : 1</a:t>
            </a:r>
          </a:p>
        </p:txBody>
      </p:sp>
    </p:spTree>
    <p:extLst>
      <p:ext uri="{BB962C8B-B14F-4D97-AF65-F5344CB8AC3E}">
        <p14:creationId xmlns:p14="http://schemas.microsoft.com/office/powerpoint/2010/main" val="69780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97B8F-4E94-A8C3-864D-15D07AEA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02BD-656D-AF00-DCD6-0A19D510F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koppelen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54B6A-31B7-7F27-ADEB-99046C62D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FC2E7B-10A6-C316-BA03-6AA60EB4E6CA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00C65F-29FC-0E10-9C19-137F643C3E6A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253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7E5C-3829-7BFB-6EDD-75571E27E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9332B-F59E-62AB-BDC8-17456F27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aliassen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F42B-86C5-789D-6562-C4B541BE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89A4F0A-894A-909D-A03F-EA1E9F03575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DB8F20-E3EA-6A0A-FC00-9D2D948DEE02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6008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1FCAB-3CF1-7206-CBA3-2BE29E07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CE281-64A4-1E4C-A0C7-616AEE80F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6132A-CA28-AD2D-0F76-E5AF5E44C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C86D72-59C8-3839-40F4-BDFC679FADC0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USING(…)</a:t>
            </a:r>
            <a:r>
              <a:rPr lang="nl-NL" sz="2000" dirty="0"/>
              <a:t> gebruiken om de naam van de sleutel op te geven.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Let op: Sleutel moet dezelfde naam hebben in beide tabellen!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8F638C-ECCE-3144-7714-CAAC4AA52A1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290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B05F5-AA1E-179F-79B2-37B1C783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7C82A-23F1-3ACE-02A3-0136FAF8F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979BBE-69F1-E12A-F785-2B245C621BE2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6FF09C71-1A85-F5FF-7147-AB0E30A4D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924157"/>
              </p:ext>
            </p:extLst>
          </p:nvPr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7BDBFA0-9967-A7F1-9678-87BCB7198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23823"/>
              </p:ext>
            </p:extLst>
          </p:nvPr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54AD166-B1C5-5984-B9A4-70E8B3519994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F5CE6573-66F4-4F5E-0767-CDF14010C5FB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9E65A3-9474-E7D3-341E-1BCD2FF9533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F16B33-A4CF-A402-77A1-84F7F263C7F2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50635A-E708-50BD-A5EB-4D8DF843F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556301"/>
              </p:ext>
            </p:extLst>
          </p:nvPr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7437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4D5CE-47ED-06BF-F9D8-7C0D07CE5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FD2C5-BD02-F50F-8E40-7E5A871E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E20624-C668-325D-D2E9-E1804B237EB7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857C8BEB-1B6D-7E0F-FF84-8A91A64A640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BABD74C-6E37-6C26-C266-ECDD994A888D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CF218E1-0879-8605-D6BC-11C88F287E19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685E750E-6DB3-FFA1-DF66-8A31E2042E4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F5AD14-4A77-C857-8E17-7F7D1E20EE1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544EFBF7-88A1-7BB6-5479-C360CC62FD73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485B775A-C13D-9AE8-888A-1EF619860749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D2289217-3CD1-4E12-5E95-3F470C15CF4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1F3D0670-2B6A-9425-71B1-221A9E01FD55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94E0B87C-B3EF-A789-1316-4B5CCDEED614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2698E7-78AC-D15F-7D2E-02955DBD37B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71A3AA-2AFA-E97A-B0DE-1AE154A12EBF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7FA361-22AA-FA99-9F10-90A64E303317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27069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D3FA3-377A-BB8B-B880-7B528740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365D9-21A9-45B2-14AD-E44E2DC6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F4F880-3D99-4F54-E752-15089ACEDCB8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4EFDB28-C368-6AEC-5D79-E753746EA0A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A363C52-2A8A-57DF-268D-933AECCAE21A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1CADB5E2-B16E-DEB7-A774-73C307592E26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A104759-BA4C-BC52-6E3E-A551DBCBC521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7D3F9B-32A2-2055-18F1-0A4AA3805A76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DE38D35B-7BD4-F60B-E5CE-2CB997BC60E5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572FB62-8ECB-0FAC-770F-BA80C5F43654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36CF7C5-BB0A-43D4-7DE9-4F613F32FBC3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9E23E7D0-4741-94C8-8307-265A24E0877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277B0EE1-C2C1-F170-3F67-4A170DF98EA5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56CABE-F57E-16B5-0CE5-BCB3818DD5C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36695F0-921E-943B-317E-38635113F82E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544468C9-4131-0415-82F5-38B00EA0448E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ECE0D9D-4B59-283D-9E41-C6852355A2A7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CCAE0D6-9AAB-F812-2E1F-3E8AE52B7337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72CAB2FC-C6D6-4C0B-25FD-8799E89A4642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C10E0C1-279C-7C2F-47D1-BE29FE9C62AD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1086E4-6AB5-88C6-C1DC-E2E08E76CC2A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C0966E-4C5E-4778-A594-B996EDC1C734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95865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C08E4-26F5-AA76-DB4D-D5178D707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BDBE5-176F-0D62-F205-0983D2CD3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14CC44-3D94-F6B7-E658-28ECF9A49523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BED7E9A0-9F56-9A44-C4B2-F70BFB00135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B35B4FC2-7140-DFFC-F7E3-0451FA9A87F6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7103E947-3D27-D600-C129-3B0077447F9C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756CEAF0-44C3-8DA5-62FB-7CF67ABB34F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AF4AD9-9171-97A9-B6C2-FF423475C050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A89024C1-1BD6-16F9-6C7F-F37A9535942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FF81341-5F49-C10A-86DF-119B26026CEC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0252D28A-4EFD-E113-0074-2B8DEE3E601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D491C860-3509-C6E6-E1FD-91A3FD96EE8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4C7C66BE-1307-4786-ED12-BBAC2E7780DD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2217B5-3CDD-A1C8-A22B-701DF531925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162C8C-4A80-1BBC-5000-9EEC77FE5A0B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EB65238-F20E-A2C1-0B25-494AF8E60B05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4C9624C-2AFF-AA59-D9EA-57106DEC49F3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AE70B61-33B2-D12B-4F14-E69AAD7B9095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05CCE6F1-893A-4B80-0FED-988B178806A8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65FEC71-235C-1E39-29B4-A0CF04B65FAC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D41814-A903-9366-438B-18D945F7748E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C4B8537C-767D-10C4-33A4-82760F05EF8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756CE6B-D2CE-8E9C-FCC8-F57A0009DC6E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71460E10-F68A-1818-36A9-E09F2BACBAAD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6" name="Plus Sign 25">
            <a:extLst>
              <a:ext uri="{FF2B5EF4-FFF2-40B4-BE49-F238E27FC236}">
                <a16:creationId xmlns:a16="http://schemas.microsoft.com/office/drawing/2014/main" id="{37531634-5CE6-E009-5C23-0817DFC75810}"/>
              </a:ext>
            </a:extLst>
          </p:cNvPr>
          <p:cNvSpPr/>
          <p:nvPr/>
        </p:nvSpPr>
        <p:spPr>
          <a:xfrm>
            <a:off x="7902714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/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C98C0917-0944-4DB1-19A2-CC4E83E1F49C}"/>
              </a:ext>
            </a:extLst>
          </p:cNvPr>
          <p:cNvSpPr/>
          <p:nvPr/>
        </p:nvSpPr>
        <p:spPr>
          <a:xfrm>
            <a:off x="9676398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7581E-AE2D-A37C-9BF0-54035E8FF30D}"/>
              </a:ext>
            </a:extLst>
          </p:cNvPr>
          <p:cNvSpPr txBox="1"/>
          <p:nvPr/>
        </p:nvSpPr>
        <p:spPr>
          <a:xfrm>
            <a:off x="6762113" y="421456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FULL OUTER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12AFBA-33A3-C757-5D2C-9282F1623BCC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117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745632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330121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CE6DC5-0C5D-4C4D-AF8D-87D1F1CB8C27}"/>
              </a:ext>
            </a:extLst>
          </p:cNvPr>
          <p:cNvSpPr txBox="1"/>
          <p:nvPr/>
        </p:nvSpPr>
        <p:spPr>
          <a:xfrm>
            <a:off x="7187201" y="3332113"/>
            <a:ext cx="7569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???</a:t>
            </a:r>
            <a:endParaRPr lang="en-NL" sz="3200" dirty="0"/>
          </a:p>
        </p:txBody>
      </p:sp>
    </p:spTree>
    <p:extLst>
      <p:ext uri="{BB962C8B-B14F-4D97-AF65-F5344CB8AC3E}">
        <p14:creationId xmlns:p14="http://schemas.microsoft.com/office/powerpoint/2010/main" val="1956256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906264"/>
              </p:ext>
            </p:extLst>
          </p:nvPr>
        </p:nvGraphicFramePr>
        <p:xfrm>
          <a:off x="7185275" y="2770624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JOINED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876923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26166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C11CD-7361-43B1-97D0-2038E632D4EC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38281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603D-B539-2134-A7B0-46512C14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7A0D9-0E17-1285-0519-4093B981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73CF4-3733-E106-3487-8FB623E1F9E8}"/>
              </a:ext>
            </a:extLst>
          </p:cNvPr>
          <p:cNvSpPr txBox="1"/>
          <p:nvPr/>
        </p:nvSpPr>
        <p:spPr>
          <a:xfrm>
            <a:off x="838200" y="1755039"/>
            <a:ext cx="45588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12682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EF4BE-3745-2F21-AF59-0CA830732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AFDB-9285-619F-0ADA-95E92A07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33FDDC-21FD-CD92-D80B-96AFA82E23F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EE01324-70AA-0CE4-9D3B-69A61598ADCC}"/>
              </a:ext>
            </a:extLst>
          </p:cNvPr>
          <p:cNvSpPr txBox="1"/>
          <p:nvPr/>
        </p:nvSpPr>
        <p:spPr>
          <a:xfrm>
            <a:off x="838200" y="1755039"/>
            <a:ext cx="45588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67FB69-E891-C28A-2D3C-1B9969996144}"/>
              </a:ext>
            </a:extLst>
          </p:cNvPr>
          <p:cNvSpPr txBox="1"/>
          <p:nvPr/>
        </p:nvSpPr>
        <p:spPr>
          <a:xfrm>
            <a:off x="6215031" y="1755039"/>
            <a:ext cx="502633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7926713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E7CF-CEE2-757C-12A3-A7C04150D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CBEB6-52EF-AE69-A5AF-96DED04F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C9A9E7-6DA4-7AFE-3204-DF1A4A8D7F0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94B6808-7031-73F3-3FC2-50495BCFA877}"/>
              </a:ext>
            </a:extLst>
          </p:cNvPr>
          <p:cNvSpPr txBox="1"/>
          <p:nvPr/>
        </p:nvSpPr>
        <p:spPr>
          <a:xfrm>
            <a:off x="838200" y="1755039"/>
            <a:ext cx="455882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Selecteer transacties na 1-1-2024.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 geselecteerde transacties toe.</a:t>
            </a:r>
            <a:endParaRPr lang="nl-NL" sz="1800" dirty="0"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96317-1CA6-5C3D-E430-C212AE2D8DA9}"/>
              </a:ext>
            </a:extLst>
          </p:cNvPr>
          <p:cNvSpPr txBox="1"/>
          <p:nvPr/>
        </p:nvSpPr>
        <p:spPr>
          <a:xfrm>
            <a:off x="6215031" y="1755039"/>
            <a:ext cx="502633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Voegt alle transacties toe.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rijen met transactie na 1-1-2024.</a:t>
            </a:r>
            <a:endParaRPr lang="nl-NL" sz="18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3223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5184"/>
              </p:ext>
            </p:extLst>
          </p:nvPr>
        </p:nvGraphicFramePr>
        <p:xfrm>
          <a:off x="4380430" y="2184997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UNION en UNION ALL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/>
        </p:nvGraphicFramePr>
        <p:xfrm>
          <a:off x="2610278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1885735" y="276660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3659419" y="2837396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2" y="1706364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</a:t>
            </a:r>
            <a:endParaRPr lang="en-NL" dirty="0"/>
          </a:p>
        </p:txBody>
      </p:sp>
      <p:graphicFrame>
        <p:nvGraphicFramePr>
          <p:cNvPr id="35" name="Table 9">
            <a:extLst>
              <a:ext uri="{FF2B5EF4-FFF2-40B4-BE49-F238E27FC236}">
                <a16:creationId xmlns:a16="http://schemas.microsoft.com/office/drawing/2014/main" id="{7B7B26A3-DEC2-497B-A24F-9927A0B15481}"/>
              </a:ext>
            </a:extLst>
          </p:cNvPr>
          <p:cNvGraphicFramePr>
            <a:graphicFrameLocks noGrp="1"/>
          </p:cNvGraphicFramePr>
          <p:nvPr/>
        </p:nvGraphicFramePr>
        <p:xfrm>
          <a:off x="6152508" y="2184999"/>
          <a:ext cx="870735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0EB6076-5F17-4C7F-9428-D76825E04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619570"/>
              </p:ext>
            </p:extLst>
          </p:nvPr>
        </p:nvGraphicFramePr>
        <p:xfrm>
          <a:off x="7924586" y="2184999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3079191"/>
                  </a:ext>
                </a:extLst>
              </a:tr>
            </a:tbl>
          </a:graphicData>
        </a:graphic>
      </p:graphicFrame>
      <p:sp>
        <p:nvSpPr>
          <p:cNvPr id="43" name="Plus Sign 42">
            <a:extLst>
              <a:ext uri="{FF2B5EF4-FFF2-40B4-BE49-F238E27FC236}">
                <a16:creationId xmlns:a16="http://schemas.microsoft.com/office/drawing/2014/main" id="{44B71667-E736-4119-804B-B5C7C781289F}"/>
              </a:ext>
            </a:extLst>
          </p:cNvPr>
          <p:cNvSpPr/>
          <p:nvPr/>
        </p:nvSpPr>
        <p:spPr>
          <a:xfrm>
            <a:off x="7200043" y="276660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4" name="Equals 43">
            <a:extLst>
              <a:ext uri="{FF2B5EF4-FFF2-40B4-BE49-F238E27FC236}">
                <a16:creationId xmlns:a16="http://schemas.microsoft.com/office/drawing/2014/main" id="{131F1872-5487-4D2F-8BD2-A55C67055D26}"/>
              </a:ext>
            </a:extLst>
          </p:cNvPr>
          <p:cNvSpPr/>
          <p:nvPr/>
        </p:nvSpPr>
        <p:spPr>
          <a:xfrm>
            <a:off x="8973727" y="2837395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990BE5-1856-4C18-A064-DB863D5333AD}"/>
              </a:ext>
            </a:extLst>
          </p:cNvPr>
          <p:cNvSpPr txBox="1"/>
          <p:nvPr/>
        </p:nvSpPr>
        <p:spPr>
          <a:xfrm>
            <a:off x="6152510" y="1690688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 ALL</a:t>
            </a:r>
            <a:endParaRPr lang="en-NL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3A2A2BC-2628-4B3C-82E3-4328E9F46801}"/>
              </a:ext>
            </a:extLst>
          </p:cNvPr>
          <p:cNvCxnSpPr>
            <a:cxnSpLocks/>
          </p:cNvCxnSpPr>
          <p:nvPr/>
        </p:nvCxnSpPr>
        <p:spPr>
          <a:xfrm>
            <a:off x="5702157" y="1706364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058321A-EE14-4AA8-BEE9-173750254C0F}"/>
              </a:ext>
            </a:extLst>
          </p:cNvPr>
          <p:cNvSpPr txBox="1"/>
          <p:nvPr/>
        </p:nvSpPr>
        <p:spPr>
          <a:xfrm>
            <a:off x="836273" y="5548043"/>
            <a:ext cx="4414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 err="1"/>
              <a:t>unieke</a:t>
            </a:r>
            <a:r>
              <a:rPr lang="en-US" u="sng" dirty="0"/>
              <a:t>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8CC12-22BF-440B-8E2E-04B7F6AA95F5}"/>
              </a:ext>
            </a:extLst>
          </p:cNvPr>
          <p:cNvSpPr txBox="1"/>
          <p:nvPr/>
        </p:nvSpPr>
        <p:spPr>
          <a:xfrm>
            <a:off x="6152510" y="5545389"/>
            <a:ext cx="46969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ALL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/>
              <a:t>alle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1EBD58-3336-412E-A6E5-A76F47A0E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554174"/>
              </p:ext>
            </p:extLst>
          </p:nvPr>
        </p:nvGraphicFramePr>
        <p:xfrm>
          <a:off x="9695380" y="2200675"/>
          <a:ext cx="1154120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120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 ALL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4505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77611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782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37851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join_types.db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/>
              <a:t>en koppel tabellen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IdA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/>
              <a:t>en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IdB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r>
              <a:rPr lang="nl-NL" sz="2000" dirty="0"/>
              <a:t>Welke rijen zie je terug in de uitkomst: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1.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2.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dirty="0"/>
              <a:t>=&gt;	Wat valt je op?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3.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4.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			=&gt;	Welke type </a:t>
            </a:r>
            <a:r>
              <a:rPr lang="nl-NL" sz="2000" dirty="0" err="1"/>
              <a:t>join</a:t>
            </a:r>
            <a:r>
              <a:rPr lang="nl-NL" sz="2000" dirty="0"/>
              <a:t> is dit?</a:t>
            </a:r>
          </a:p>
        </p:txBody>
      </p:sp>
    </p:spTree>
    <p:extLst>
      <p:ext uri="{BB962C8B-B14F-4D97-AF65-F5344CB8AC3E}">
        <p14:creationId xmlns:p14="http://schemas.microsoft.com/office/powerpoint/2010/main" val="18847164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F2DE-E386-0A09-224D-2E81BBC0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14DAEF-2709-5AE3-616F-692078D1B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Data wijzigen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22B76C-3CE5-EA18-97BC-977D5E979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61664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9638-DFE9-F83C-9788-51E813FF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18103-1198-8B03-B5EA-B5B94C9C6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B564B-2A85-4574-FEA3-DC5E4EFB4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32),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'Henk'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'Knol'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54)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7B72688-0B14-DD04-D4B4-550639D3D90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 </a:t>
            </a:r>
            <a:r>
              <a:rPr lang="nl-NL" sz="2000" dirty="0"/>
              <a:t>voeg je rijen toe aan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Geef aan welke kolommen je gaat vullen.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/>
              <a:t> sets van waardes mee.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3E98E6-9461-109F-80C9-0C6A38D30558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80225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292E0-7A7A-7A6A-80BA-B6E474DFA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1088-7B38-E5DF-19F3-B304A01B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Automatisch opvolgende </a:t>
            </a:r>
            <a:r>
              <a:rPr lang="nl-NL" sz="3600" dirty="0" err="1"/>
              <a:t>IDs</a:t>
            </a:r>
            <a:endParaRPr lang="nl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9C65-1DCC-3B40-C9B5-2E278EBC1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PRIMARY KEY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FFB31F-7935-1AEE-451C-AD2EF609104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 err="1"/>
              <a:t>SQLite</a:t>
            </a:r>
            <a:r>
              <a:rPr lang="nl-NL" sz="2000" dirty="0"/>
              <a:t> genereert opvolgende </a:t>
            </a:r>
            <a:r>
              <a:rPr lang="nl-NL" sz="2000" dirty="0" err="1"/>
              <a:t>IDs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de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dirty="0"/>
              <a:t> van een tabel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van het type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dirty="0"/>
              <a:t>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niet wordt opgegeven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F507E9-7C11-D154-4FF5-600456367833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4690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5041-0986-8212-D8DA-28BD99D8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FCD4C-6AFC-CCD0-D427-FECEBA57A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48885-434D-BAF8-FFF4-8308B7B3E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F66884-9E57-5786-482B-5BEF914AA87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624656-E849-11C3-D1BB-4AE8C5F479D5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875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5F32E-1EA0-56BE-12D0-607D64004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92C4B-75B7-6426-0F77-28C512F79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D9666-AC5E-108E-90C4-5209EFAF6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B463DCC-FADE-C961-4D6D-887D5FB8B34D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E634B5-FC30-25B9-91F1-CFDA7A75B5F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62581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BD7E-F5FC-5AFF-EDED-C09736F4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3C949-CBAC-A0BE-E177-BA1AB4F3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0FBCC-DBD5-1897-91E0-FADA7DD8D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E2EE3-9058-6679-158B-FAE6EF04273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966B974-073D-9CC9-EFA8-2248391C7E2D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70E8F7-FD0F-3750-A77D-7020DAC8E4AF}"/>
              </a:ext>
            </a:extLst>
          </p:cNvPr>
          <p:cNvSpPr txBox="1"/>
          <p:nvPr/>
        </p:nvSpPr>
        <p:spPr>
          <a:xfrm>
            <a:off x="838200" y="4916659"/>
            <a:ext cx="458489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finished without errors.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Result: query executed successfully.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Took 0ms, </a:t>
            </a:r>
            <a:r>
              <a:rPr lang="en-US" sz="1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 rows affected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35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8D5D4-08C0-30DF-ACC1-AA43CBB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12473-AA15-B04A-BACB-413260C60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154F6-821D-AFCB-4FD6-6F1669092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E77852-DAEA-4237-3410-9B65123E8E94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C67B67-D1E9-83AB-D2F1-F4044DAEC3B7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8880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FFEEB-A356-D487-55F4-97BBA010C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5C65-AB70-D8F4-82C3-5FB50ABE1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B54BD-F465-45FE-EC59-2C5D5ACA7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AE78809-08BD-BBA4-3E70-01A145FC34B3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kolommen!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D67882-0D9A-8B7A-E037-455166F891B0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0453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1D73-8DEA-D45B-6E92-D05C50BD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F0926-CDC1-6077-3CEE-3EB52AB8F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21F78-3030-BCE6-97E3-77712A20E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27142F-095F-CA01-D78D-857EE23A647A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</a:t>
            </a:r>
            <a:r>
              <a:rPr lang="nl-NL" sz="2000" b="1" dirty="0" err="1"/>
              <a:t>kolomen</a:t>
            </a:r>
            <a:r>
              <a:rPr lang="nl-NL" sz="2000" b="1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F39A6D7-3642-BE98-91BB-8599D5EB33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9F4483-3CB3-B7AD-31CF-653D9E4BB0DA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MATIG IDEE!</a:t>
            </a:r>
          </a:p>
        </p:txBody>
      </p:sp>
    </p:spTree>
    <p:extLst>
      <p:ext uri="{BB962C8B-B14F-4D97-AF65-F5344CB8AC3E}">
        <p14:creationId xmlns:p14="http://schemas.microsoft.com/office/powerpoint/2010/main" val="17109328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A923A-9174-4C02-D8A4-99DF44A7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B51B3-604D-5EAD-AB6E-5A43471B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7EFA7-151A-D5FC-7A52-9D96F985E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714F6B4-3FE7-CD7D-32D7-F272331B642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027DA2-6E66-754C-3982-D9BF1803B4EB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385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9625-5601-6E9C-8DD4-CAE2317E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4116-1430-492A-3D7B-B2307436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3C9A6-DDE2-3BE4-F450-2B2FD4D9E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1F7926-1A27-9F54-36C2-203C723AF562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D4135D-0390-C3BD-E177-1E6DA7229319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DBCE8A-CC33-FD76-03CE-4E6A7AD11BBD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NIET STANDAARD SQL</a:t>
            </a:r>
          </a:p>
        </p:txBody>
      </p:sp>
    </p:spTree>
    <p:extLst>
      <p:ext uri="{BB962C8B-B14F-4D97-AF65-F5344CB8AC3E}">
        <p14:creationId xmlns:p14="http://schemas.microsoft.com/office/powerpoint/2010/main" val="200854752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9054-E8F2-47D8-1B0D-566FBAE9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5915A-C9FA-BDD4-465F-D9BA390F4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E3B11-E79B-FAFA-5E79-5425C6181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BE2ED8-3C50-21D7-0C20-3F10A8693E2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A49FF8-E27C-29E1-5073-C6F4FAE4C7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9806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46D1-4C90-8865-42E8-E57C21935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12B5E-C586-F6E8-F994-433AA886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3DAFE-D797-AE2A-653E-FEDF62901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06BC6F-F954-2E6E-5442-636185F2E44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Zonder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worden *alle* rijen verwijderd!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9DAAF4-03BC-CB05-A472-C22970C06C0F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949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383B-875D-B756-9769-1ACBAE062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82982-DE8E-0A9F-B45C-A1091092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11C62-2CAA-CF5B-7868-14FAD907D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customer.db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Voeg twee nieuwe klanten toe aan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  <a:r>
              <a:rPr lang="nl-NL" sz="2000" dirty="0"/>
              <a:t> tabel.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Wijzig jaartallen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1979</a:t>
            </a:r>
            <a:r>
              <a:rPr lang="nl-NL" sz="2000" dirty="0"/>
              <a:t>) naar de correcte leeftijd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46</a:t>
            </a:r>
            <a:r>
              <a:rPr lang="nl-NL" sz="2000" dirty="0"/>
              <a:t>).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2000" dirty="0"/>
              <a:t>Maak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</a:t>
            </a:r>
            <a:r>
              <a:rPr lang="nl-NL" sz="2000" dirty="0"/>
              <a:t> 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dirty="0"/>
              <a:t> kleine letters en verwijder spaties.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Verwijder alle klanten waarvan de leeftijd ontbreekt.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052371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</TotalTime>
  <Words>3643</Words>
  <Application>Microsoft Office PowerPoint</Application>
  <PresentationFormat>Widescreen</PresentationFormat>
  <Paragraphs>1239</Paragraphs>
  <Slides>67</Slides>
  <Notes>19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Calibri Light</vt:lpstr>
      <vt:lpstr>Courier New</vt:lpstr>
      <vt:lpstr>Wingdings</vt:lpstr>
      <vt:lpstr>Office Theme</vt:lpstr>
      <vt:lpstr>SQL - Cursus</vt:lpstr>
      <vt:lpstr>Leerdoelen</vt:lpstr>
      <vt:lpstr>Agenda</vt:lpstr>
      <vt:lpstr>SQL en relationele databases</vt:lpstr>
      <vt:lpstr>Structured Query Language</vt:lpstr>
      <vt:lpstr>Altijd een tabel</vt:lpstr>
      <vt:lpstr>Relaties tussen tabellen</vt:lpstr>
      <vt:lpstr>Relationeel DataBase Management Systeem</vt:lpstr>
      <vt:lpstr>Alternatieven</vt:lpstr>
      <vt:lpstr>Basis syntax</vt:lpstr>
      <vt:lpstr>Kolommen selecteren</vt:lpstr>
      <vt:lpstr>Kolommen selecteren</vt:lpstr>
      <vt:lpstr>Namen en waardes</vt:lpstr>
      <vt:lpstr>Rijen selecteren</vt:lpstr>
      <vt:lpstr>Selectiecriteria</vt:lpstr>
      <vt:lpstr>Selectiecriteria voor tekst</vt:lpstr>
      <vt:lpstr>Rijen sorteren</vt:lpstr>
      <vt:lpstr>Oefeningen 1</vt:lpstr>
      <vt:lpstr>Simpele berekeningen</vt:lpstr>
      <vt:lpstr>Tekst bewerken</vt:lpstr>
      <vt:lpstr>Datum en tijd</vt:lpstr>
      <vt:lpstr>Conditionele berekeningen</vt:lpstr>
      <vt:lpstr>Oefeningen 2</vt:lpstr>
      <vt:lpstr>Selecties als tabel</vt:lpstr>
      <vt:lpstr>Common Table Expressions</vt:lpstr>
      <vt:lpstr>Oefeningen 3</vt:lpstr>
      <vt:lpstr>Groeperen en aggregeren</vt:lpstr>
      <vt:lpstr>Groeperen en aggregeren</vt:lpstr>
      <vt:lpstr>Aggregatie functies</vt:lpstr>
      <vt:lpstr>Venster functies</vt:lpstr>
      <vt:lpstr>Groepsgewijze vensters</vt:lpstr>
      <vt:lpstr>Gecombineerde vensters</vt:lpstr>
      <vt:lpstr>Grootte venster instellen</vt:lpstr>
      <vt:lpstr>Waardes verschuiven</vt:lpstr>
      <vt:lpstr>Oefeningen 4</vt:lpstr>
      <vt:lpstr>Tabellen koppelen</vt:lpstr>
      <vt:lpstr>Gedeelde sleutels</vt:lpstr>
      <vt:lpstr>Tabellen structuur</vt:lpstr>
      <vt:lpstr>Tabellen structuur</vt:lpstr>
      <vt:lpstr>Syntax koppelen</vt:lpstr>
      <vt:lpstr>Syntax met aliassen</vt:lpstr>
      <vt:lpstr>Syntax met USING</vt:lpstr>
      <vt:lpstr>Koppel methodes</vt:lpstr>
      <vt:lpstr>Koppel methodes</vt:lpstr>
      <vt:lpstr>Koppel methodes</vt:lpstr>
      <vt:lpstr>Koppel methodes</vt:lpstr>
      <vt:lpstr>Vraag: Dubbele sleutels</vt:lpstr>
      <vt:lpstr>Vraag: Dubbele sleutels</vt:lpstr>
      <vt:lpstr>Additionele condities</vt:lpstr>
      <vt:lpstr>Additionele condities</vt:lpstr>
      <vt:lpstr>Additionele condities</vt:lpstr>
      <vt:lpstr>UNION en UNION ALL</vt:lpstr>
      <vt:lpstr>Oefeningen 5</vt:lpstr>
      <vt:lpstr>Data wijzigen</vt:lpstr>
      <vt:lpstr>Rijen toevoegen</vt:lpstr>
      <vt:lpstr>Automatisch opvolgende IDs</vt:lpstr>
      <vt:lpstr>Rijen wijzigen</vt:lpstr>
      <vt:lpstr>Rijen wijzigen</vt:lpstr>
      <vt:lpstr>Rijen wijzigen</vt:lpstr>
      <vt:lpstr>Toevoegen of wijzigen</vt:lpstr>
      <vt:lpstr>Toevoegen of wijzigen</vt:lpstr>
      <vt:lpstr>Toevoegen of wijzigen</vt:lpstr>
      <vt:lpstr>Toevoegen of wijzigen</vt:lpstr>
      <vt:lpstr>Toevoegen of wijzigen</vt:lpstr>
      <vt:lpstr>Rijen verwijderen</vt:lpstr>
      <vt:lpstr>Rijen verwijderen</vt:lpstr>
      <vt:lpstr>Oefeningen 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979</cp:revision>
  <dcterms:created xsi:type="dcterms:W3CDTF">2020-09-06T09:43:21Z</dcterms:created>
  <dcterms:modified xsi:type="dcterms:W3CDTF">2026-10-11T14:17:14Z</dcterms:modified>
</cp:coreProperties>
</file>