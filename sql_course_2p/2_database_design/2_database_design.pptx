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256" r:id="rId2"/>
    <p:sldId id="359" r:id="rId3"/>
    <p:sldId id="347" r:id="rId4"/>
    <p:sldId id="355" r:id="rId5"/>
    <p:sldId id="400" r:id="rId6"/>
    <p:sldId id="356" r:id="rId7"/>
    <p:sldId id="387" r:id="rId8"/>
    <p:sldId id="283" r:id="rId9"/>
    <p:sldId id="386" r:id="rId10"/>
    <p:sldId id="385" r:id="rId11"/>
    <p:sldId id="384" r:id="rId12"/>
    <p:sldId id="306" r:id="rId13"/>
    <p:sldId id="311" r:id="rId14"/>
    <p:sldId id="303" r:id="rId15"/>
    <p:sldId id="312" r:id="rId16"/>
    <p:sldId id="388" r:id="rId17"/>
    <p:sldId id="389" r:id="rId18"/>
    <p:sldId id="314" r:id="rId19"/>
    <p:sldId id="320" r:id="rId20"/>
    <p:sldId id="361" r:id="rId21"/>
    <p:sldId id="399" r:id="rId22"/>
    <p:sldId id="360" r:id="rId23"/>
    <p:sldId id="321" r:id="rId24"/>
    <p:sldId id="266" r:id="rId25"/>
    <p:sldId id="316" r:id="rId26"/>
    <p:sldId id="396" r:id="rId27"/>
    <p:sldId id="397" r:id="rId28"/>
    <p:sldId id="357" r:id="rId29"/>
    <p:sldId id="319" r:id="rId30"/>
    <p:sldId id="323" r:id="rId31"/>
    <p:sldId id="296" r:id="rId32"/>
    <p:sldId id="335" r:id="rId33"/>
    <p:sldId id="362" r:id="rId34"/>
    <p:sldId id="337" r:id="rId35"/>
    <p:sldId id="363" r:id="rId36"/>
    <p:sldId id="364" r:id="rId37"/>
    <p:sldId id="334" r:id="rId38"/>
    <p:sldId id="365" r:id="rId39"/>
    <p:sldId id="390" r:id="rId40"/>
    <p:sldId id="366" r:id="rId41"/>
    <p:sldId id="391" r:id="rId42"/>
    <p:sldId id="393" r:id="rId43"/>
    <p:sldId id="333" r:id="rId44"/>
    <p:sldId id="392" r:id="rId45"/>
    <p:sldId id="343" r:id="rId46"/>
    <p:sldId id="377" r:id="rId47"/>
    <p:sldId id="380" r:id="rId48"/>
    <p:sldId id="378" r:id="rId49"/>
    <p:sldId id="398" r:id="rId50"/>
    <p:sldId id="394" r:id="rId51"/>
    <p:sldId id="367" r:id="rId52"/>
    <p:sldId id="372" r:id="rId53"/>
    <p:sldId id="374" r:id="rId54"/>
    <p:sldId id="373" r:id="rId55"/>
    <p:sldId id="297" r:id="rId56"/>
    <p:sldId id="376" r:id="rId57"/>
    <p:sldId id="375" r:id="rId58"/>
    <p:sldId id="341" r:id="rId59"/>
    <p:sldId id="342" r:id="rId60"/>
    <p:sldId id="322" r:id="rId61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D5EA"/>
    <a:srgbClr val="E9EBF5"/>
    <a:srgbClr val="AE5A21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9825" autoAdjust="0"/>
  </p:normalViewPr>
  <p:slideViewPr>
    <p:cSldViewPr snapToGrid="0">
      <p:cViewPr varScale="1">
        <p:scale>
          <a:sx n="111" d="100"/>
          <a:sy n="111" d="100"/>
        </p:scale>
        <p:origin x="845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CE90D0-176A-4BE5-B54F-392F0A16E3B3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47AAA1-0A2D-4E17-BD7E-ECD1F2F24FF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98387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Maar: wat als het gaat om bijvoorbeeld aanhef? Vast aantal categorieën =&gt; dan is het een op veel...</a:t>
            </a:r>
          </a:p>
          <a:p>
            <a:r>
              <a:rPr lang="nl-NL" dirty="0"/>
              <a:t>Onderscheid dimensie (</a:t>
            </a:r>
            <a:r>
              <a:rPr lang="nl-NL" dirty="0" err="1"/>
              <a:t>dimension</a:t>
            </a:r>
            <a:r>
              <a:rPr lang="nl-NL" dirty="0"/>
              <a:t>) versus feit (</a:t>
            </a:r>
            <a:r>
              <a:rPr lang="nl-NL" dirty="0" err="1"/>
              <a:t>fact</a:t>
            </a:r>
            <a:r>
              <a:rPr lang="nl-NL" dirty="0"/>
              <a:t>) bespreken.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19956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107638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D0818-3E9A-D850-68D2-33E5909C5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26967F-F265-1AA9-7B42-2C7A13FD75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1E2CCB-3FD7-023E-B10A-BC42A5B03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A57B0-7CF6-B9C8-C9EB-C982A7E2D9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459480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B364A-E0F2-D0DF-37EE-005ABE2FA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87DAFE-0020-275B-861D-3F762360EC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FD797-B955-DED6-73C2-E551BF331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61D1C-4349-6CFD-FC46-609F860A37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472498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429918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Merk op: Dubbele waardes in Sport kolom... Vaste categorieën =&gt; dimensie.</a:t>
            </a:r>
          </a:p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881049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Merk op: dubbele waardes in </a:t>
            </a:r>
            <a:r>
              <a:rPr lang="nl-NL" dirty="0" err="1"/>
              <a:t>SportNaam</a:t>
            </a:r>
            <a:r>
              <a:rPr lang="nl-NL" dirty="0"/>
              <a:t> =&gt; Dimensie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818676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552803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29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14865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77241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396265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547529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8C19D-3B0B-408C-FF85-C9859980E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75BECA-AD2C-CA7F-DF0C-B9817A43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D06E54-2986-05FC-E7FC-8395F5E18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366B3-475D-546B-56A5-09A73FDEFC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839723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1</a:t>
            </a:r>
            <a:r>
              <a:rPr lang="en-US"/>
              <a:t>_foreign_keys.sql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408395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73E5D-816F-E2BF-3884-BB16C8BE5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10B711-9485-5047-ECB0-5862C6603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0E5AC-A702-0C07-5DB6-1B8C4BCDB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CBAD1-51F5-B4FD-7655-F2403AB381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318865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4C865-3B0C-E0A4-1A48-C300AC3B3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7E074C-469C-7EEA-8680-1519BF279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30FF29-DB79-AD94-DBBF-B1BC4D79FC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8D4C32-F0DA-9697-2BA3-F2343AD2DB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577058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OP: Een NULL </a:t>
            </a:r>
            <a:r>
              <a:rPr lang="en-US" dirty="0" err="1"/>
              <a:t>waarde</a:t>
            </a:r>
            <a:r>
              <a:rPr lang="en-US" dirty="0"/>
              <a:t> </a:t>
            </a:r>
            <a:r>
              <a:rPr lang="en-US" dirty="0" err="1"/>
              <a:t>voldoet</a:t>
            </a:r>
            <a:r>
              <a:rPr lang="en-US" dirty="0"/>
              <a:t> </a:t>
            </a:r>
            <a:r>
              <a:rPr lang="en-US" dirty="0" err="1"/>
              <a:t>aan</a:t>
            </a:r>
            <a:r>
              <a:rPr lang="en-US" dirty="0"/>
              <a:t> </a:t>
            </a:r>
            <a:r>
              <a:rPr lang="en-US" dirty="0" err="1"/>
              <a:t>deze</a:t>
            </a:r>
            <a:r>
              <a:rPr lang="en-US" dirty="0"/>
              <a:t> check!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137029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531FA-01C6-005B-5818-FE8B4FF02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9582B3-48F9-C889-1D95-FE233AAE7D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2F2F3F-CA82-8CE0-05ED-87E36254D1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77FAF-92EE-B52E-0042-E092BD2339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078604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F3350-EFC0-394A-1D8D-079AF748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ECF58D-7E4B-FF63-F149-5EDAAAC46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78ED2A-7132-429A-DE1D-1BCE704C89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C77A8-B0EE-CAA4-855C-A2FC944ECA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0091315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3F374-863F-7331-3B0D-9E290990F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B41D1F-4ADD-E724-CF27-01A1633010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06CFE8-26A0-E1EF-44E9-DA6CC9A72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823D76-9A58-8417-59BF-040B30EBB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437576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B8630-86FA-AE9C-8420-1628DF274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9CEF4D-AFDF-B85A-B15B-16754896FC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57C2E1-EFB5-8C5A-5374-23DD2A719B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E431CF-4682-78B1-E002-04D1EB67BC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805366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78E9B-1377-CA8D-D7B3-C4EF60823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764EAA-B3A8-CC9B-BF5A-88A32A045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DED71B-0005-E24D-0733-1AEE173B8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4E70E-408D-8A1D-2625-360321663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069356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740916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1DF25-D976-FE76-2131-7C08F05DC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F9300-5C16-958C-165E-8FE6BEB230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983C2B-28AC-5307-0737-723DF20B45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B7C19-57A7-8F82-AF70-126F5A6242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717256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06C9D-D285-240A-5082-D3B73EB99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D4C2A-58DE-999E-88CD-A1BDD01C0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2A6E7-4A93-A2E8-6C2C-1F2999C750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3F1BF-1DD6-FE7F-B3C8-87E72DF81D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215076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49E2D-3C86-B8A4-0BF0-9DB59A9CC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B69CBB-12E5-2B52-E874-1993F238C1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CEEA81-B5A7-4326-B0FC-78E4222AA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05A12C-7362-63CE-E278-94AC44BB68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4626322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DE250-30DE-7AEA-1834-8588EEBE4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0F8D09-3660-2EBB-9E4A-33CAD63502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D32D69-DA70-099D-235E-72ECA16BBB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9FB81-53F3-361A-F5D2-94640B1AF4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754401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095EA-6422-0DF1-856C-88227AE28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44B9D-E626-365F-6009-ECB5178442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858D50-99E6-D9DA-6D35-9D550BBC08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D00173-5CAC-B6F6-6863-D085DBDD61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497608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1547576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0B374-5F6D-3EA5-DC53-0D2835870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0BF106-18B3-8F3E-9E03-894E4449E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31FD4E-86A5-E83F-81A0-A8451BF4E0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8640A-4396-062B-233C-E06B7686A9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498956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D619B-60B3-1971-A43E-851D3D9FC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9D4329-EFBE-CE34-74E4-C78F5C234A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A42EAA-C927-8F22-3F1A-B0802540A8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82A95B-6A5E-8FB7-1E78-308DC77B00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100837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83532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50CC9-ED9D-4D4F-8C1E-EBA1D453D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8E966D-7652-4557-A9F9-7DF935DAE8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FCB7AD-6354-4B46-A1B1-8AB8F13B3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AA64DE-EF41-4835-B7FB-322DD9145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2704FD-6460-4364-A0B8-96D160BBE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89743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FA4E2-0D21-4416-968C-C61A95E80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712F5-D9DF-4F18-AB0B-0570F768C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E2A40-5B6A-435A-9505-0394EADD5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44E54C-44AC-49EA-ADDF-39EA1D73B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B0B503-6745-455E-9167-2332D1439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4998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E36DE-605D-44B2-AA42-4AAAEA86B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95106-FE69-4402-9578-64BC2080BF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488F4-C235-4C6F-84B7-3BD91417B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55E1DD-D3C1-4E79-94A6-35DA4A333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D6E79C-7AF9-4978-9B94-79E00D966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8325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42DDF-E3AE-4295-96E9-97CC8175F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45F90-BA76-4780-A8D9-CD685DC741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6D3A87-C96D-44C9-8EF2-C5856D0E18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86C641-16CC-447F-941B-2A221036D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60114C-8219-4904-B12D-606CCA5DE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741C20-F59F-4984-9E7E-384413727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7984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0CB04-7F85-457D-983B-717ECAC1A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B9FC22-D5B7-4E55-894C-F63B97378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156CE9-C92E-4B4C-8603-6950862901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445C1E-1E47-4FF1-8753-C33198D688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7E0C64-BF99-45A8-91AD-35BF431C04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B75584-3091-43F6-8D86-500DC9042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4089D8-0844-4346-9C6C-0D2C381D0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5E7C50-547D-49E9-951A-67EF9F3CF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5538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00436-DC28-4112-95C6-55B0FBC0F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2EBB85-00C5-41BB-9448-F49184457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E020E7-2C2A-466B-ACE7-47462B1E4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B1D739-B63A-4BB5-BF5B-E376C50F5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63474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3BCBF1-D4A7-4B82-9772-A3D7FB08E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CDDBC3-E0A3-4A22-AB03-E9EAE5E50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A5837C-C6F6-4CAF-BB73-E9984C752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73140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AC6B8-091C-4133-AECF-BCFA2FD66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2F084-4126-45E3-ACA0-7475A2E38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3BE3DF-44A3-4870-96ED-7175449015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1E646-9206-4CFC-8110-78B874415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594BFF-1FC2-48F0-A7B4-13BEBF217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79ED3F-9BB2-4EEA-8C72-58F6B6287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66345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01235-EC3B-4A57-AC4C-5759D0949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EC46B4-56DD-4886-8BBC-49A6191DAF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23869C-90F1-498A-B310-9C050629C1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5CC9E3-D4DE-4D3A-B32C-1C978D6C1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FB6B80-0A18-40C3-9A3C-91852A471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1F956-F6E6-4E56-A2DA-271827C57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00701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92C93-0384-43C7-9270-53AA5CC40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27274-EF82-499F-9F62-8716430DA1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2AB32C-5ABC-47EE-BCBB-EBDD09F8C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79F4C-465F-432E-94F2-143817145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3C283-364C-4E66-B8A1-E60281CF7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19974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83F3F4-3DB7-4772-B734-E3D4EC57AA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383D0B-A6E9-420B-BB32-2EE23BDD4A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6CBA8-F239-41EA-BB1B-F2AC50769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F5E8E-4E02-43BB-BA09-E3DBD0A7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5E216-2F85-4809-BCC5-7F592CD4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5911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7E9155-A6E4-486A-B6D8-6669D741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770AE5-F952-4258-8970-EA7B89F3FD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BE9F0-569D-4B38-94CC-CEF98F6818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15CBDA-B49C-4B0F-9869-5B15867EA611}" type="datetimeFigureOut">
              <a:rPr lang="en-NL" smtClean="0"/>
              <a:t>14/09/2026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F84339-0EC9-4B98-B74B-C84A1578DB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B0DA69-2268-4481-8C7E-C48F42FA30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97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qlite.org/lang_altertable.html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qlite.org/lang_altertable.html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66FA2-7221-489B-AB51-A8440470F2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SQL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D03C72-2A16-4BC3-8AC1-0B03137BE8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 dirty="0"/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36014477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Structuur en normalisatie.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 err="1"/>
              <a:t>Entity</a:t>
            </a:r>
            <a:r>
              <a:rPr lang="nl-NL" sz="2000" noProof="0" dirty="0"/>
              <a:t> </a:t>
            </a:r>
            <a:r>
              <a:rPr lang="nl-NL" sz="2000" noProof="0" dirty="0" err="1"/>
              <a:t>Relationship</a:t>
            </a:r>
            <a:r>
              <a:rPr lang="nl-NL" sz="2000" noProof="0" dirty="0"/>
              <a:t> </a:t>
            </a:r>
            <a:r>
              <a:rPr lang="nl-NL" sz="2000" noProof="0" dirty="0" err="1"/>
              <a:t>Diagrams</a:t>
            </a:r>
            <a:r>
              <a:rPr lang="nl-NL" sz="2000" noProof="0" dirty="0"/>
              <a:t> (ERD).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Tabellen en relaties in SQL.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Indices en optimalisaties.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CD4BFA-BE16-2B70-772E-C4C5042A2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4075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/>
              <a:t>Structuur en normalisatie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54617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Entiteiten in tabellen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428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Entiteiten en hun attributen slaan we op in tabellen: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62CA46F3-D9D4-4F4A-856A-A943EE0F0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8112305"/>
              </p:ext>
            </p:extLst>
          </p:nvPr>
        </p:nvGraphicFramePr>
        <p:xfrm>
          <a:off x="989028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KlantID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F81CE1D-F9ED-02C0-0A6D-49B2EC941B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9094275"/>
              </p:ext>
            </p:extLst>
          </p:nvPr>
        </p:nvGraphicFramePr>
        <p:xfrm>
          <a:off x="4275840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KlantID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ProductID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F4917DC8-4826-215A-40A2-62AE8EF1E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4981733"/>
              </p:ext>
            </p:extLst>
          </p:nvPr>
        </p:nvGraphicFramePr>
        <p:xfrm>
          <a:off x="7562652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ProductID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0990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1D7E4-E4E1-DB28-2480-0E438C0A0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2A374-A371-A319-2249-C7A316039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Relaties tussen entiteiten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8734E-B23B-45FD-7081-B7B9CBD0F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428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Entiteiten hebben vaak relaties met andere entiteiten: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AB7E13FA-9F56-DA49-FDD8-3A0AC6314395}"/>
              </a:ext>
            </a:extLst>
          </p:cNvPr>
          <p:cNvGraphicFramePr>
            <a:graphicFrameLocks noGrp="1"/>
          </p:cNvGraphicFramePr>
          <p:nvPr/>
        </p:nvGraphicFramePr>
        <p:xfrm>
          <a:off x="989028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F6904AC-D45A-B8CF-D155-AF22C0A79376}"/>
              </a:ext>
            </a:extLst>
          </p:cNvPr>
          <p:cNvGraphicFramePr>
            <a:graphicFrameLocks noGrp="1"/>
          </p:cNvGraphicFramePr>
          <p:nvPr/>
        </p:nvGraphicFramePr>
        <p:xfrm>
          <a:off x="4275840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72D15F22-FBB5-9119-44F4-975437D91939}"/>
              </a:ext>
            </a:extLst>
          </p:cNvPr>
          <p:cNvGraphicFramePr>
            <a:graphicFrameLocks noGrp="1"/>
          </p:cNvGraphicFramePr>
          <p:nvPr/>
        </p:nvGraphicFramePr>
        <p:xfrm>
          <a:off x="7562652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C5CE9CE-1036-311F-D491-F8E252E57D9B}"/>
              </a:ext>
            </a:extLst>
          </p:cNvPr>
          <p:cNvCxnSpPr/>
          <p:nvPr/>
        </p:nvCxnSpPr>
        <p:spPr>
          <a:xfrm>
            <a:off x="2809188" y="3476135"/>
            <a:ext cx="14666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4EEBDFA-2050-55B2-A4F3-A02F5C160EC2}"/>
              </a:ext>
            </a:extLst>
          </p:cNvPr>
          <p:cNvCxnSpPr/>
          <p:nvPr/>
        </p:nvCxnSpPr>
        <p:spPr>
          <a:xfrm flipV="1">
            <a:off x="6096000" y="3476135"/>
            <a:ext cx="1466652" cy="377146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0158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Drie soorten relaties</a:t>
            </a:r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03C5159B-CC96-B768-65C5-6D3F2D1938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8666545"/>
              </p:ext>
            </p:extLst>
          </p:nvPr>
        </p:nvGraphicFramePr>
        <p:xfrm>
          <a:off x="838200" y="1635709"/>
          <a:ext cx="10442826" cy="1735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868">
                  <a:extLst>
                    <a:ext uri="{9D8B030D-6E8A-4147-A177-3AD203B41FA5}">
                      <a16:colId xmlns:a16="http://schemas.microsoft.com/office/drawing/2014/main" val="2462131715"/>
                    </a:ext>
                  </a:extLst>
                </a:gridCol>
                <a:gridCol w="4424290">
                  <a:extLst>
                    <a:ext uri="{9D8B030D-6E8A-4147-A177-3AD203B41FA5}">
                      <a16:colId xmlns:a16="http://schemas.microsoft.com/office/drawing/2014/main" val="2197458734"/>
                    </a:ext>
                  </a:extLst>
                </a:gridCol>
                <a:gridCol w="4556668">
                  <a:extLst>
                    <a:ext uri="{9D8B030D-6E8A-4147-A177-3AD203B41FA5}">
                      <a16:colId xmlns:a16="http://schemas.microsoft.com/office/drawing/2014/main" val="1150342863"/>
                    </a:ext>
                  </a:extLst>
                </a:gridCol>
              </a:tblGrid>
              <a:tr h="456205">
                <a:tc>
                  <a:txBody>
                    <a:bodyPr/>
                    <a:lstStyle/>
                    <a:p>
                      <a:r>
                        <a:rPr lang="nl-NL" noProof="0" dirty="0"/>
                        <a:t>Soort relatie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Voorbeeld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Structuur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23953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één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één BSN.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Een BSN hoort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Opnemen als attribuut in de tabel.</a:t>
                      </a:r>
                    </a:p>
                    <a:p>
                      <a:r>
                        <a:rPr lang="nl-NL" noProof="0" dirty="0"/>
                        <a:t>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8827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6087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B8F25-2BA0-5FDC-FB45-F996780A2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E9A4F-A86C-B709-8758-88D230BA3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Drie soorten relaties</a:t>
            </a:r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BACF9B3A-4A0F-C35F-97CD-848659926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708489"/>
              </p:ext>
            </p:extLst>
          </p:nvPr>
        </p:nvGraphicFramePr>
        <p:xfrm>
          <a:off x="838200" y="1635709"/>
          <a:ext cx="10442826" cy="30149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868">
                  <a:extLst>
                    <a:ext uri="{9D8B030D-6E8A-4147-A177-3AD203B41FA5}">
                      <a16:colId xmlns:a16="http://schemas.microsoft.com/office/drawing/2014/main" val="2462131715"/>
                    </a:ext>
                  </a:extLst>
                </a:gridCol>
                <a:gridCol w="4424290">
                  <a:extLst>
                    <a:ext uri="{9D8B030D-6E8A-4147-A177-3AD203B41FA5}">
                      <a16:colId xmlns:a16="http://schemas.microsoft.com/office/drawing/2014/main" val="2197458734"/>
                    </a:ext>
                  </a:extLst>
                </a:gridCol>
                <a:gridCol w="4556668">
                  <a:extLst>
                    <a:ext uri="{9D8B030D-6E8A-4147-A177-3AD203B41FA5}">
                      <a16:colId xmlns:a16="http://schemas.microsoft.com/office/drawing/2014/main" val="1150342863"/>
                    </a:ext>
                  </a:extLst>
                </a:gridCol>
              </a:tblGrid>
              <a:tr h="456205">
                <a:tc>
                  <a:txBody>
                    <a:bodyPr/>
                    <a:lstStyle/>
                    <a:p>
                      <a:r>
                        <a:rPr lang="nl-NL" noProof="0" dirty="0"/>
                        <a:t>Soort relatie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Voorbeeld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Structuur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23953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één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één BSN.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Een BSN hoort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Opnemen als attribuut in de tabel.</a:t>
                      </a:r>
                    </a:p>
                    <a:p>
                      <a:r>
                        <a:rPr lang="nl-NL" noProof="0" dirty="0"/>
                        <a:t>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882745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veel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meerdere transacties.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Elke transactie hoort maar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Twee tabellen met gekoppelde sleutel 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, 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Transacties</a:t>
                      </a:r>
                      <a:r>
                        <a:rPr lang="nl-NL" noProof="0" dirty="0"/>
                        <a:t>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18344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8013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Een op veel relaties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E646E4-999D-41AE-9132-5F78A0893BBD}"/>
              </a:ext>
            </a:extLst>
          </p:cNvPr>
          <p:cNvSpPr txBox="1"/>
          <p:nvPr/>
        </p:nvSpPr>
        <p:spPr>
          <a:xfrm>
            <a:off x="838200" y="1706364"/>
            <a:ext cx="10515600" cy="1200329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klant heeft meerdere transacties.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Elke transactie hoort maar bij één klant.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nl-NL" noProof="0" dirty="0"/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nl-NL" noProof="0" dirty="0"/>
              <a:t>Gebruik twee tabellen met een verwijzende sleutel: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29E2D6-049D-42FA-B95C-E6C50295532D}"/>
              </a:ext>
            </a:extLst>
          </p:cNvPr>
          <p:cNvSpPr txBox="1"/>
          <p:nvPr/>
        </p:nvSpPr>
        <p:spPr>
          <a:xfrm>
            <a:off x="6562578" y="3471962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graphicFrame>
        <p:nvGraphicFramePr>
          <p:cNvPr id="5" name="Table 9">
            <a:extLst>
              <a:ext uri="{FF2B5EF4-FFF2-40B4-BE49-F238E27FC236}">
                <a16:creationId xmlns:a16="http://schemas.microsoft.com/office/drawing/2014/main" id="{DE905074-C8A8-61E4-9E99-F3753F57AE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8126496"/>
              </p:ext>
            </p:extLst>
          </p:nvPr>
        </p:nvGraphicFramePr>
        <p:xfrm>
          <a:off x="6562578" y="3810516"/>
          <a:ext cx="4628269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198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1228667">
                  <a:extLst>
                    <a:ext uri="{9D8B030D-6E8A-4147-A177-3AD203B41FA5}">
                      <a16:colId xmlns:a16="http://schemas.microsoft.com/office/drawing/2014/main" val="3584725378"/>
                    </a:ext>
                  </a:extLst>
                </a:gridCol>
                <a:gridCol w="2370404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TxId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KlantId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DatumTijd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10:00:35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11:05:15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11:45:00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37315EF-15B4-3A54-30FA-9CD0CD7B641B}"/>
              </a:ext>
            </a:extLst>
          </p:cNvPr>
          <p:cNvSpPr txBox="1"/>
          <p:nvPr/>
        </p:nvSpPr>
        <p:spPr>
          <a:xfrm>
            <a:off x="838201" y="3482280"/>
            <a:ext cx="8185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Klanten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351B422C-F2F8-F754-4294-9F50953D7D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3385631"/>
              </p:ext>
            </p:extLst>
          </p:nvPr>
        </p:nvGraphicFramePr>
        <p:xfrm>
          <a:off x="838198" y="3810516"/>
          <a:ext cx="3888548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414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1287194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  <a:gridCol w="1441940">
                  <a:extLst>
                    <a:ext uri="{9D8B030D-6E8A-4147-A177-3AD203B41FA5}">
                      <a16:colId xmlns:a16="http://schemas.microsoft.com/office/drawing/2014/main" val="37590200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KlantId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Knol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2ED1903-FBF5-8775-737E-E2EB051CD49F}"/>
              </a:ext>
            </a:extLst>
          </p:cNvPr>
          <p:cNvCxnSpPr/>
          <p:nvPr/>
        </p:nvCxnSpPr>
        <p:spPr>
          <a:xfrm flipV="1">
            <a:off x="1230923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62A913-78C6-CB37-5C26-04214948329A}"/>
              </a:ext>
            </a:extLst>
          </p:cNvPr>
          <p:cNvCxnSpPr/>
          <p:nvPr/>
        </p:nvCxnSpPr>
        <p:spPr>
          <a:xfrm flipV="1">
            <a:off x="8297592" y="5053160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37BD224-420C-5AE4-2F50-7B16B8E9AB13}"/>
              </a:ext>
            </a:extLst>
          </p:cNvPr>
          <p:cNvCxnSpPr>
            <a:cxnSpLocks/>
          </p:cNvCxnSpPr>
          <p:nvPr/>
        </p:nvCxnSpPr>
        <p:spPr>
          <a:xfrm>
            <a:off x="1230923" y="5676314"/>
            <a:ext cx="707370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33295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81556-B02B-1EEA-D577-23FA7FF4B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6B273-A2F3-BCA2-10E2-B7817373A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Drie soorten relaties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8671CF0F-62ED-D790-8C1B-D7F05C2BEC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1604374"/>
              </p:ext>
            </p:extLst>
          </p:nvPr>
        </p:nvGraphicFramePr>
        <p:xfrm>
          <a:off x="838200" y="1635709"/>
          <a:ext cx="10442826" cy="42942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868">
                  <a:extLst>
                    <a:ext uri="{9D8B030D-6E8A-4147-A177-3AD203B41FA5}">
                      <a16:colId xmlns:a16="http://schemas.microsoft.com/office/drawing/2014/main" val="2462131715"/>
                    </a:ext>
                  </a:extLst>
                </a:gridCol>
                <a:gridCol w="4424290">
                  <a:extLst>
                    <a:ext uri="{9D8B030D-6E8A-4147-A177-3AD203B41FA5}">
                      <a16:colId xmlns:a16="http://schemas.microsoft.com/office/drawing/2014/main" val="2197458734"/>
                    </a:ext>
                  </a:extLst>
                </a:gridCol>
                <a:gridCol w="4556668">
                  <a:extLst>
                    <a:ext uri="{9D8B030D-6E8A-4147-A177-3AD203B41FA5}">
                      <a16:colId xmlns:a16="http://schemas.microsoft.com/office/drawing/2014/main" val="1150342863"/>
                    </a:ext>
                  </a:extLst>
                </a:gridCol>
              </a:tblGrid>
              <a:tr h="456205">
                <a:tc>
                  <a:txBody>
                    <a:bodyPr/>
                    <a:lstStyle/>
                    <a:p>
                      <a:r>
                        <a:rPr lang="nl-NL" noProof="0" dirty="0"/>
                        <a:t>Soort relatie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Voorbeeld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Structuur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23953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één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één BSN.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Een BSN hoort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Opnemen als attribuut in de tabel.</a:t>
                      </a:r>
                    </a:p>
                    <a:p>
                      <a:r>
                        <a:rPr lang="nl-NL" noProof="0" dirty="0"/>
                        <a:t>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882745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veel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meerdere transacties.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Elke transactie hoort maar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Twee tabellen met gekoppelde sleutel 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, 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Transacties</a:t>
                      </a:r>
                      <a:r>
                        <a:rPr lang="nl-NL" noProof="0" dirty="0"/>
                        <a:t>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1834448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veel op veel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Een transactie omvat meerdere producten.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Product komt op meerdere transacties voor.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Twee tabellen 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Transacties</a:t>
                      </a:r>
                      <a:r>
                        <a:rPr lang="nl-NL" noProof="0" dirty="0"/>
                        <a:t>, 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Producten</a:t>
                      </a:r>
                      <a:r>
                        <a:rPr lang="nl-NL" noProof="0" dirty="0"/>
                        <a:t>) en koppeltabel (</a:t>
                      </a:r>
                      <a:r>
                        <a:rPr lang="nl-NL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TransactieProducten</a:t>
                      </a:r>
                      <a:r>
                        <a:rPr lang="nl-NL" noProof="0" dirty="0"/>
                        <a:t>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7723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51125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4761-3EBB-5321-63D2-FD31AE372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674EB-7C93-3BD0-464E-8287D58E4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Veel op veel relaties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0303D1-C5B5-4F32-2FC8-A8E944E9C787}"/>
              </a:ext>
            </a:extLst>
          </p:cNvPr>
          <p:cNvSpPr txBox="1"/>
          <p:nvPr/>
        </p:nvSpPr>
        <p:spPr>
          <a:xfrm>
            <a:off x="838200" y="1706364"/>
            <a:ext cx="10515600" cy="1200329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transactie omvat meerdere producten.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product komt op meerdere transacties voor.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nl-NL" noProof="0" dirty="0"/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nl-NL" noProof="0" dirty="0"/>
              <a:t>Gebruik twee tabellen met een koppeltabel: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1ECD7A-37BF-B16E-B968-44530A55DD15}"/>
              </a:ext>
            </a:extLst>
          </p:cNvPr>
          <p:cNvSpPr txBox="1"/>
          <p:nvPr/>
        </p:nvSpPr>
        <p:spPr>
          <a:xfrm>
            <a:off x="838200" y="3482280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CA2EEC-4295-DE45-EBCD-662175043129}"/>
              </a:ext>
            </a:extLst>
          </p:cNvPr>
          <p:cNvSpPr txBox="1"/>
          <p:nvPr/>
        </p:nvSpPr>
        <p:spPr>
          <a:xfrm>
            <a:off x="7599284" y="3481621"/>
            <a:ext cx="1046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Producten</a:t>
            </a:r>
          </a:p>
        </p:txBody>
      </p:sp>
      <p:graphicFrame>
        <p:nvGraphicFramePr>
          <p:cNvPr id="5" name="Table 9">
            <a:extLst>
              <a:ext uri="{FF2B5EF4-FFF2-40B4-BE49-F238E27FC236}">
                <a16:creationId xmlns:a16="http://schemas.microsoft.com/office/drawing/2014/main" id="{6DC2C539-2433-BE6A-7823-74E80279AC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237036"/>
              </p:ext>
            </p:extLst>
          </p:nvPr>
        </p:nvGraphicFramePr>
        <p:xfrm>
          <a:off x="838199" y="3810516"/>
          <a:ext cx="3136428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417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2209011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TxId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DatumTijd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10:00:35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11:05:15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11:45:00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CCBFED-1A46-B866-39C7-38CFE334D4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553573"/>
              </p:ext>
            </p:extLst>
          </p:nvPr>
        </p:nvGraphicFramePr>
        <p:xfrm>
          <a:off x="7599284" y="3810516"/>
          <a:ext cx="3754516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7456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  <a:gridCol w="2247060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ProductID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 brood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Halfvolle melk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Pindakaas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1852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04575-6AE7-1DD2-FDF5-2FE0DDD5A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71195-475C-EDED-47C7-12BFF609D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Veel op veel relaties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C1465B-1F3A-B0A2-32A2-569B04D48AFB}"/>
              </a:ext>
            </a:extLst>
          </p:cNvPr>
          <p:cNvSpPr txBox="1"/>
          <p:nvPr/>
        </p:nvSpPr>
        <p:spPr>
          <a:xfrm>
            <a:off x="838200" y="1706364"/>
            <a:ext cx="10515600" cy="1200329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transactie omvat meerdere producten.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product komt op meerdere transacties voor.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nl-NL" noProof="0" dirty="0"/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nl-NL" noProof="0" dirty="0"/>
              <a:t>Gebruik twee tabellen met een koppeltabel: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EEE929-DF6C-74F1-EDF9-D835B7415572}"/>
              </a:ext>
            </a:extLst>
          </p:cNvPr>
          <p:cNvSpPr txBox="1"/>
          <p:nvPr/>
        </p:nvSpPr>
        <p:spPr>
          <a:xfrm>
            <a:off x="4534344" y="3481621"/>
            <a:ext cx="18886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 err="1"/>
              <a:t>TransactieProducten</a:t>
            </a:r>
            <a:endParaRPr lang="nl-NL" sz="1600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C326EF-D532-C3C1-ECC2-930AD32BC6E7}"/>
              </a:ext>
            </a:extLst>
          </p:cNvPr>
          <p:cNvSpPr txBox="1"/>
          <p:nvPr/>
        </p:nvSpPr>
        <p:spPr>
          <a:xfrm>
            <a:off x="7599284" y="3481621"/>
            <a:ext cx="1046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Producten</a:t>
            </a:r>
          </a:p>
        </p:txBody>
      </p:sp>
      <p:graphicFrame>
        <p:nvGraphicFramePr>
          <p:cNvPr id="5" name="Table 9">
            <a:extLst>
              <a:ext uri="{FF2B5EF4-FFF2-40B4-BE49-F238E27FC236}">
                <a16:creationId xmlns:a16="http://schemas.microsoft.com/office/drawing/2014/main" id="{B2E8BCAE-556F-EA52-AD2C-8CBBCB7428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9137798"/>
              </p:ext>
            </p:extLst>
          </p:nvPr>
        </p:nvGraphicFramePr>
        <p:xfrm>
          <a:off x="838199" y="3810516"/>
          <a:ext cx="3136428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417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2209011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TxId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DatumTijd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10:00:35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11:05:15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11:45:00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D38C66D-9475-5998-1D82-2F1899AAD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1799093"/>
              </p:ext>
            </p:extLst>
          </p:nvPr>
        </p:nvGraphicFramePr>
        <p:xfrm>
          <a:off x="7599284" y="3810516"/>
          <a:ext cx="3754516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7456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  <a:gridCol w="2247060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ProductID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 brood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Halfvolle melk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Pindakaas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3" name="Table 9">
            <a:extLst>
              <a:ext uri="{FF2B5EF4-FFF2-40B4-BE49-F238E27FC236}">
                <a16:creationId xmlns:a16="http://schemas.microsoft.com/office/drawing/2014/main" id="{BD65D4A2-24BB-674C-0DCF-1F550B0A66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148946"/>
              </p:ext>
            </p:extLst>
          </p:nvPr>
        </p:nvGraphicFramePr>
        <p:xfrm>
          <a:off x="4534344" y="3820175"/>
          <a:ext cx="250522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4034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1531189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TxID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ProductId</a:t>
                      </a:r>
                      <a:endParaRPr lang="nl-NL" sz="1600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PRD0001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PRD0003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PRD0002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1CDDBFE-A41A-8D75-73C2-E3260991D3CA}"/>
              </a:ext>
            </a:extLst>
          </p:cNvPr>
          <p:cNvSpPr txBox="1"/>
          <p:nvPr/>
        </p:nvSpPr>
        <p:spPr>
          <a:xfrm>
            <a:off x="838200" y="3482280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0314E5B-C407-3613-877A-5A7550C8D685}"/>
              </a:ext>
            </a:extLst>
          </p:cNvPr>
          <p:cNvCxnSpPr/>
          <p:nvPr/>
        </p:nvCxnSpPr>
        <p:spPr>
          <a:xfrm flipV="1">
            <a:off x="1230923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BC1F4EF-4494-22A2-F1D3-4DEC1665C333}"/>
              </a:ext>
            </a:extLst>
          </p:cNvPr>
          <p:cNvCxnSpPr/>
          <p:nvPr/>
        </p:nvCxnSpPr>
        <p:spPr>
          <a:xfrm flipV="1">
            <a:off x="5054990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E665AE8-3414-72F1-B6BD-28AAB4FD4A17}"/>
              </a:ext>
            </a:extLst>
          </p:cNvPr>
          <p:cNvCxnSpPr/>
          <p:nvPr/>
        </p:nvCxnSpPr>
        <p:spPr>
          <a:xfrm flipV="1">
            <a:off x="6255433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685327C-E846-AFE4-4E57-6F7C6698CED4}"/>
              </a:ext>
            </a:extLst>
          </p:cNvPr>
          <p:cNvCxnSpPr/>
          <p:nvPr/>
        </p:nvCxnSpPr>
        <p:spPr>
          <a:xfrm flipV="1">
            <a:off x="8386689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ED97A9C-175B-1446-F880-D1643C4520C3}"/>
              </a:ext>
            </a:extLst>
          </p:cNvPr>
          <p:cNvCxnSpPr/>
          <p:nvPr/>
        </p:nvCxnSpPr>
        <p:spPr>
          <a:xfrm>
            <a:off x="1230923" y="5676314"/>
            <a:ext cx="382406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DC77B5B-3BA1-CABC-D545-532B1CFBC4BF}"/>
              </a:ext>
            </a:extLst>
          </p:cNvPr>
          <p:cNvCxnSpPr/>
          <p:nvPr/>
        </p:nvCxnSpPr>
        <p:spPr>
          <a:xfrm>
            <a:off x="6255433" y="5676314"/>
            <a:ext cx="213125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93541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Eerste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2000" noProof="0" dirty="0"/>
              <a:t>Elke rij is uniek (unieke combinatie van waardes).</a:t>
            </a:r>
          </a:p>
          <a:p>
            <a:pPr>
              <a:buFontTx/>
              <a:buChar char="-"/>
            </a:pPr>
            <a:r>
              <a:rPr lang="nl-NL" sz="2000" noProof="0" dirty="0"/>
              <a:t>Elke cel bevat één enkele waarde.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67972CE-6F8C-4E39-9BC3-0C069E3D0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381372"/>
              </p:ext>
            </p:extLst>
          </p:nvPr>
        </p:nvGraphicFramePr>
        <p:xfrm>
          <a:off x="858747" y="3605033"/>
          <a:ext cx="450373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89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3588444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71388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Eerste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2000" noProof="0" dirty="0"/>
              <a:t>Elke rij is uniek (unieke combinatie van waardes).</a:t>
            </a:r>
          </a:p>
          <a:p>
            <a:pPr>
              <a:buFontTx/>
              <a:buChar char="-"/>
            </a:pPr>
            <a:r>
              <a:rPr lang="nl-NL" sz="2000" noProof="0" dirty="0"/>
              <a:t>Elke cel bevat één waarde.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282B146-0DEC-4F3D-AEDA-F740100658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333084"/>
              </p:ext>
            </p:extLst>
          </p:nvPr>
        </p:nvGraphicFramePr>
        <p:xfrm>
          <a:off x="7556643" y="3605033"/>
          <a:ext cx="3817705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852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292385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259304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9EFD50A3-BCB1-4F9E-8D0A-DF89061FC8DC}"/>
              </a:ext>
            </a:extLst>
          </p:cNvPr>
          <p:cNvSpPr/>
          <p:nvPr/>
        </p:nvSpPr>
        <p:spPr>
          <a:xfrm>
            <a:off x="6173325" y="3982779"/>
            <a:ext cx="534256" cy="585627"/>
          </a:xfrm>
          <a:prstGeom prst="rightArrow">
            <a:avLst/>
          </a:prstGeom>
          <a:ln>
            <a:solidFill>
              <a:srgbClr val="AE5A2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67972CE-6F8C-4E39-9BC3-0C069E3D0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7109372"/>
              </p:ext>
            </p:extLst>
          </p:nvPr>
        </p:nvGraphicFramePr>
        <p:xfrm>
          <a:off x="858747" y="3605033"/>
          <a:ext cx="450373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89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3588444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60438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Tweede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1NF.</a:t>
            </a:r>
          </a:p>
          <a:p>
            <a:pPr marL="0" indent="0">
              <a:buNone/>
            </a:pPr>
            <a:r>
              <a:rPr lang="nl-NL" sz="2000" noProof="0" dirty="0"/>
              <a:t>Waardes afhankelijk van </a:t>
            </a:r>
            <a:r>
              <a:rPr lang="nl-NL" sz="2000" u="sng" noProof="0" dirty="0"/>
              <a:t>de gehele sleutel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Persoon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Categorie</a:t>
            </a:r>
            <a:r>
              <a:rPr lang="nl-NL" sz="1800" noProof="0" dirty="0"/>
              <a:t> hangt </a:t>
            </a:r>
            <a:r>
              <a:rPr lang="nl-NL" sz="1800" u="sng" noProof="0" dirty="0"/>
              <a:t>alleen</a:t>
            </a:r>
            <a:r>
              <a:rPr lang="nl-NL" sz="1800" noProof="0" dirty="0"/>
              <a:t> samen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59EA8CB-53AF-494D-A5B0-7C886F80B0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674479"/>
              </p:ext>
            </p:extLst>
          </p:nvPr>
        </p:nvGraphicFramePr>
        <p:xfrm>
          <a:off x="838201" y="4001294"/>
          <a:ext cx="3652163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8734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  <a:gridCol w="1261829">
                  <a:extLst>
                    <a:ext uri="{9D8B030D-6E8A-4147-A177-3AD203B41FA5}">
                      <a16:colId xmlns:a16="http://schemas.microsoft.com/office/drawing/2014/main" val="3648275770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Persoon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4239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Tweede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1NF.</a:t>
            </a:r>
          </a:p>
          <a:p>
            <a:pPr marL="0" indent="0">
              <a:buNone/>
            </a:pPr>
            <a:r>
              <a:rPr lang="nl-NL" sz="2000" noProof="0" dirty="0"/>
              <a:t>Waardes afhankelijk van </a:t>
            </a:r>
            <a:r>
              <a:rPr lang="nl-NL" sz="2000" u="sng" noProof="0" dirty="0"/>
              <a:t>de gehele sleutel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Persoon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Categorie</a:t>
            </a:r>
            <a:r>
              <a:rPr lang="nl-NL" sz="1800" noProof="0" dirty="0"/>
              <a:t> hangt </a:t>
            </a:r>
            <a:r>
              <a:rPr lang="nl-NL" sz="1800" u="sng" noProof="0" dirty="0"/>
              <a:t>alleen</a:t>
            </a:r>
            <a:r>
              <a:rPr lang="nl-NL" sz="1800" noProof="0" dirty="0"/>
              <a:t> samen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B85FE37-42C0-48CE-BBAA-2B945E7091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796947"/>
              </p:ext>
            </p:extLst>
          </p:nvPr>
        </p:nvGraphicFramePr>
        <p:xfrm>
          <a:off x="8721723" y="4001294"/>
          <a:ext cx="2632077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1924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1230153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4CD8793-3BBF-4DC8-81C7-641FCAD53F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877118"/>
              </p:ext>
            </p:extLst>
          </p:nvPr>
        </p:nvGraphicFramePr>
        <p:xfrm>
          <a:off x="5316169" y="4001294"/>
          <a:ext cx="2579749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922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1573827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Persoon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  <p:sp>
        <p:nvSpPr>
          <p:cNvPr id="7" name="Arrow: Right 6">
            <a:extLst>
              <a:ext uri="{FF2B5EF4-FFF2-40B4-BE49-F238E27FC236}">
                <a16:creationId xmlns:a16="http://schemas.microsoft.com/office/drawing/2014/main" id="{A4143C16-DB65-4BA4-98E0-382B1A826413}"/>
              </a:ext>
            </a:extLst>
          </p:cNvPr>
          <p:cNvSpPr/>
          <p:nvPr/>
        </p:nvSpPr>
        <p:spPr>
          <a:xfrm>
            <a:off x="4671826" y="4678102"/>
            <a:ext cx="462881" cy="507389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664F3F39-0F6D-4A94-AB76-F9DCF59CC7F4}"/>
              </a:ext>
            </a:extLst>
          </p:cNvPr>
          <p:cNvSpPr/>
          <p:nvPr/>
        </p:nvSpPr>
        <p:spPr>
          <a:xfrm>
            <a:off x="8036555" y="4658668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6BD451B-2133-84D7-D84B-F1BFA33CC5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3766141"/>
              </p:ext>
            </p:extLst>
          </p:nvPr>
        </p:nvGraphicFramePr>
        <p:xfrm>
          <a:off x="838201" y="4001294"/>
          <a:ext cx="3652163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8734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  <a:gridCol w="1261829">
                  <a:extLst>
                    <a:ext uri="{9D8B030D-6E8A-4147-A177-3AD203B41FA5}">
                      <a16:colId xmlns:a16="http://schemas.microsoft.com/office/drawing/2014/main" val="3648275770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Persoon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41552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2568C-5B64-19ED-86D2-F92212997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765F9-9F54-0DB4-BE3C-A2826373F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Derde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3F5A9-F55B-F6E7-EA13-3B699E174A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2NF.</a:t>
            </a:r>
          </a:p>
          <a:p>
            <a:pPr marL="0" indent="0">
              <a:buNone/>
            </a:pPr>
            <a:r>
              <a:rPr lang="nl-NL" sz="2000" noProof="0" dirty="0"/>
              <a:t>Waardes </a:t>
            </a:r>
            <a:r>
              <a:rPr lang="nl-NL" sz="2000" u="sng" noProof="0" dirty="0"/>
              <a:t>alleen afhankelijk</a:t>
            </a:r>
            <a:r>
              <a:rPr lang="nl-NL" sz="2000" noProof="0" dirty="0"/>
              <a:t> van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 en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hangen af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...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indirect via de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2EFD87A-8836-1199-0E92-EC9802DF12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440923"/>
              </p:ext>
            </p:extLst>
          </p:nvPr>
        </p:nvGraphicFramePr>
        <p:xfrm>
          <a:off x="838201" y="4001294"/>
          <a:ext cx="4332154" cy="15887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469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981266">
                  <a:extLst>
                    <a:ext uri="{9D8B030D-6E8A-4147-A177-3AD203B41FA5}">
                      <a16:colId xmlns:a16="http://schemas.microsoft.com/office/drawing/2014/main" val="726608696"/>
                    </a:ext>
                  </a:extLst>
                </a:gridCol>
                <a:gridCol w="1067067">
                  <a:extLst>
                    <a:ext uri="{9D8B030D-6E8A-4147-A177-3AD203B41FA5}">
                      <a16:colId xmlns:a16="http://schemas.microsoft.com/office/drawing/2014/main" val="2401307065"/>
                    </a:ext>
                  </a:extLst>
                </a:gridCol>
                <a:gridCol w="1569128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Jaar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Tournooi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Winnaar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GeboorteDatum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2002-09-14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4909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F37B1-16B4-1BCF-F73A-47A9609E6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459E9-3D96-BE49-709E-645D74F01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Derde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1F1CF-433E-9191-CAE5-28CA4C342E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2NF.</a:t>
            </a:r>
          </a:p>
          <a:p>
            <a:pPr marL="0" indent="0">
              <a:buNone/>
            </a:pPr>
            <a:r>
              <a:rPr lang="nl-NL" sz="2000" noProof="0" dirty="0"/>
              <a:t>Waardes </a:t>
            </a:r>
            <a:r>
              <a:rPr lang="nl-NL" sz="2000" u="sng" noProof="0" dirty="0"/>
              <a:t>alleen afhankelijk</a:t>
            </a:r>
            <a:r>
              <a:rPr lang="nl-NL" sz="2000" noProof="0" dirty="0"/>
              <a:t> van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 en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hangen af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...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indirect via de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.</a:t>
            </a:r>
            <a:endParaRPr lang="nl-NL" sz="1600" noProof="0" dirty="0"/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806A267-3E3B-4EAC-BBD1-3F7B0070E8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752548"/>
              </p:ext>
            </p:extLst>
          </p:nvPr>
        </p:nvGraphicFramePr>
        <p:xfrm>
          <a:off x="838201" y="4001294"/>
          <a:ext cx="4332154" cy="15887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469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981266">
                  <a:extLst>
                    <a:ext uri="{9D8B030D-6E8A-4147-A177-3AD203B41FA5}">
                      <a16:colId xmlns:a16="http://schemas.microsoft.com/office/drawing/2014/main" val="726608696"/>
                    </a:ext>
                  </a:extLst>
                </a:gridCol>
                <a:gridCol w="1067067">
                  <a:extLst>
                    <a:ext uri="{9D8B030D-6E8A-4147-A177-3AD203B41FA5}">
                      <a16:colId xmlns:a16="http://schemas.microsoft.com/office/drawing/2014/main" val="2401307065"/>
                    </a:ext>
                  </a:extLst>
                </a:gridCol>
                <a:gridCol w="1569128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Jaar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Tournooi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Winnaar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GeboorteDatum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2002-09-14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CD4029-33CB-A1CE-C893-5CC006E620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8415395"/>
              </p:ext>
            </p:extLst>
          </p:nvPr>
        </p:nvGraphicFramePr>
        <p:xfrm>
          <a:off x="5808788" y="4001294"/>
          <a:ext cx="2717950" cy="15887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504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945294">
                  <a:extLst>
                    <a:ext uri="{9D8B030D-6E8A-4147-A177-3AD203B41FA5}">
                      <a16:colId xmlns:a16="http://schemas.microsoft.com/office/drawing/2014/main" val="726608696"/>
                    </a:ext>
                  </a:extLst>
                </a:gridCol>
                <a:gridCol w="1067613">
                  <a:extLst>
                    <a:ext uri="{9D8B030D-6E8A-4147-A177-3AD203B41FA5}">
                      <a16:colId xmlns:a16="http://schemas.microsoft.com/office/drawing/2014/main" val="2401307065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Jaar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Tournooi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Winnaar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9A2BD49-EB82-E5E9-7D15-D7AFF9BD40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7182466"/>
              </p:ext>
            </p:extLst>
          </p:nvPr>
        </p:nvGraphicFramePr>
        <p:xfrm>
          <a:off x="9221372" y="4001294"/>
          <a:ext cx="2504050" cy="979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2940">
                  <a:extLst>
                    <a:ext uri="{9D8B030D-6E8A-4147-A177-3AD203B41FA5}">
                      <a16:colId xmlns:a16="http://schemas.microsoft.com/office/drawing/2014/main" val="3528763588"/>
                    </a:ext>
                  </a:extLst>
                </a:gridCol>
                <a:gridCol w="1591110">
                  <a:extLst>
                    <a:ext uri="{9D8B030D-6E8A-4147-A177-3AD203B41FA5}">
                      <a16:colId xmlns:a16="http://schemas.microsoft.com/office/drawing/2014/main" val="334973625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Sporter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GeboorteDatum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0101435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7858793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2002-09-14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5839212"/>
                  </a:ext>
                </a:extLst>
              </a:tr>
            </a:tbl>
          </a:graphicData>
        </a:graphic>
      </p:graphicFrame>
      <p:sp>
        <p:nvSpPr>
          <p:cNvPr id="8" name="Arrow: Right 7">
            <a:extLst>
              <a:ext uri="{FF2B5EF4-FFF2-40B4-BE49-F238E27FC236}">
                <a16:creationId xmlns:a16="http://schemas.microsoft.com/office/drawing/2014/main" id="{43A62B4F-319D-EFDF-602C-1FA43F2CBF73}"/>
              </a:ext>
            </a:extLst>
          </p:cNvPr>
          <p:cNvSpPr/>
          <p:nvPr/>
        </p:nvSpPr>
        <p:spPr>
          <a:xfrm>
            <a:off x="5269703" y="4565561"/>
            <a:ext cx="462881" cy="507389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9" name="Plus Sign 8">
            <a:extLst>
              <a:ext uri="{FF2B5EF4-FFF2-40B4-BE49-F238E27FC236}">
                <a16:creationId xmlns:a16="http://schemas.microsoft.com/office/drawing/2014/main" id="{1F1E9D95-4405-FE79-E812-59B22F0E7E4D}"/>
              </a:ext>
            </a:extLst>
          </p:cNvPr>
          <p:cNvSpPr/>
          <p:nvPr/>
        </p:nvSpPr>
        <p:spPr>
          <a:xfrm>
            <a:off x="8601789" y="4546989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4685187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 samenvatting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1NF :		Eén waarde per cel, alle rijen uniek.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2NF:		1NF + waardes afhankelijk van </a:t>
            </a:r>
            <a:r>
              <a:rPr lang="nl-NL" sz="2000" u="sng" noProof="0" dirty="0"/>
              <a:t>gehele</a:t>
            </a:r>
            <a:r>
              <a:rPr lang="nl-NL" sz="2000" noProof="0" dirty="0"/>
              <a:t> sleutel.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3NF:		2NF + waardes </a:t>
            </a:r>
            <a:r>
              <a:rPr lang="nl-NL" sz="2000" u="sng" noProof="0" dirty="0"/>
              <a:t>alleen afhankelijk</a:t>
            </a:r>
            <a:r>
              <a:rPr lang="nl-NL" sz="2000" noProof="0" dirty="0"/>
              <a:t> van de sleutel.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 algn="ctr">
              <a:buNone/>
            </a:pPr>
            <a:r>
              <a:rPr lang="nl-NL" sz="2000" b="1" noProof="0" dirty="0"/>
              <a:t>The data </a:t>
            </a:r>
            <a:r>
              <a:rPr lang="nl-NL" sz="2000" b="1" noProof="0" dirty="0" err="1"/>
              <a:t>depends</a:t>
            </a:r>
            <a:r>
              <a:rPr lang="nl-NL" sz="2000" b="1" noProof="0" dirty="0"/>
              <a:t> on </a:t>
            </a:r>
            <a:r>
              <a:rPr lang="nl-NL" sz="2000" b="1" noProof="0" dirty="0" err="1"/>
              <a:t>the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key</a:t>
            </a:r>
            <a:r>
              <a:rPr lang="nl-NL" sz="2000" b="1" noProof="0" dirty="0"/>
              <a:t> [1NF], </a:t>
            </a:r>
            <a:r>
              <a:rPr lang="nl-NL" sz="2000" b="1" noProof="0" dirty="0" err="1"/>
              <a:t>the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whole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key</a:t>
            </a:r>
            <a:r>
              <a:rPr lang="nl-NL" sz="2000" b="1" noProof="0" dirty="0"/>
              <a:t> [2NF] </a:t>
            </a:r>
            <a:r>
              <a:rPr lang="nl-NL" sz="2000" b="1" noProof="0" dirty="0" err="1"/>
              <a:t>and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nothing</a:t>
            </a:r>
            <a:r>
              <a:rPr lang="nl-NL" sz="2000" b="1" noProof="0" dirty="0"/>
              <a:t> but </a:t>
            </a:r>
            <a:r>
              <a:rPr lang="nl-NL" sz="2000" b="1" noProof="0" dirty="0" err="1"/>
              <a:t>the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key</a:t>
            </a:r>
            <a:r>
              <a:rPr lang="nl-NL" sz="2000" b="1" noProof="0" dirty="0"/>
              <a:t> [3NF]</a:t>
            </a:r>
          </a:p>
        </p:txBody>
      </p:sp>
    </p:spTree>
    <p:extLst>
      <p:ext uri="{BB962C8B-B14F-4D97-AF65-F5344CB8AC3E}">
        <p14:creationId xmlns:p14="http://schemas.microsoft.com/office/powerpoint/2010/main" val="15594997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 overwegingen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7200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Voordelen: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Voorkomt herhaling van waardes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Consistentie in waardes.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Efficiënt qua data opslag.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DED2657-BC9A-49C3-8121-A60A481FD11C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07200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Nadelen: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Toegenomen complexiteit (veel </a:t>
            </a:r>
            <a:r>
              <a:rPr lang="nl-NL" sz="2000" noProof="0" dirty="0" err="1"/>
              <a:t>JOINs</a:t>
            </a:r>
            <a:r>
              <a:rPr lang="nl-NL" sz="2000" noProof="0" dirty="0"/>
              <a:t>).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Tabellen op zichzelf minder leesbaar.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Minder efficiënt qua rekenkracht.</a:t>
            </a:r>
          </a:p>
          <a:p>
            <a:pPr>
              <a:buFontTx/>
              <a:buChar char="-"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577503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F9C09-FC02-5228-6A61-AFC785A2D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26310-9DC0-6AAC-493A-CC8D72724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CFF3DE-DA11-A7C8-8682-8F636AA6B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457200" indent="-457200">
              <a:buAutoNum type="arabicPeriod"/>
            </a:pPr>
            <a:r>
              <a:rPr lang="nl-NL" sz="2000" noProof="0" dirty="0"/>
              <a:t>Open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noProof="0" dirty="0"/>
              <a:t> en bekijk de structuur:</a:t>
            </a:r>
          </a:p>
          <a:p>
            <a:pPr marL="914400" lvl="1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Wat voor type relatie zit er tussen </a:t>
            </a:r>
            <a:r>
              <a:rPr lang="nl-NL" sz="2000" noProof="0" dirty="0">
                <a:cs typeface="Courier New" panose="02070309020205020404" pitchFamily="49" charset="0"/>
              </a:rPr>
              <a:t>klanten</a:t>
            </a:r>
            <a:r>
              <a:rPr lang="nl-NL" sz="2000" noProof="0" dirty="0"/>
              <a:t> en </a:t>
            </a:r>
            <a:r>
              <a:rPr lang="nl-NL" sz="2000" noProof="0" dirty="0"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?</a:t>
            </a:r>
          </a:p>
          <a:p>
            <a:pPr lvl="1"/>
            <a:r>
              <a:rPr lang="nl-NL" sz="2000" noProof="0" dirty="0"/>
              <a:t>En tussen transacties en producten?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r>
              <a:rPr lang="nl-NL" sz="2000" noProof="0" dirty="0"/>
              <a:t>Bekijk de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 tabel: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Welke kolom(men) vormen de sleutel van deze tabel?</a:t>
            </a:r>
          </a:p>
          <a:p>
            <a:pPr lvl="1"/>
            <a:r>
              <a:rPr lang="nl-NL" sz="2000" noProof="0" dirty="0"/>
              <a:t>Voldoet de tabel aan de eerste vorm van normalisatie?</a:t>
            </a:r>
          </a:p>
          <a:p>
            <a:pPr lvl="1"/>
            <a:r>
              <a:rPr lang="nl-NL" sz="2000" noProof="0" dirty="0"/>
              <a:t>En aan de tweede vorm van normalisatie?</a:t>
            </a:r>
          </a:p>
          <a:p>
            <a:pPr lvl="1"/>
            <a:r>
              <a:rPr lang="nl-NL" sz="2000" noProof="0" dirty="0"/>
              <a:t>Welke kolom voldoet niet aan de derde vorm van normalisatie?</a:t>
            </a:r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454000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A2BC8-747F-838A-B983-08423503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4F4BC-538E-F94B-6E6A-3F58B3A3E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F7F78-D302-5667-ECCC-314C3A2441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9617" cy="4351338"/>
          </a:xfrm>
        </p:spPr>
        <p:txBody>
          <a:bodyPr>
            <a:noAutofit/>
          </a:bodyPr>
          <a:lstStyle/>
          <a:p>
            <a:pPr marL="457200" indent="-457200">
              <a:buAutoNum type="arabicPeriod"/>
            </a:pPr>
            <a:r>
              <a:rPr lang="nl-NL" sz="2000" noProof="0" dirty="0"/>
              <a:t>Open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noProof="0" dirty="0"/>
              <a:t> en bekijk de structuur:</a:t>
            </a:r>
          </a:p>
          <a:p>
            <a:pPr marL="914400" lvl="1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Relatie </a:t>
            </a:r>
            <a:r>
              <a:rPr lang="nl-NL" sz="2000" noProof="0" dirty="0">
                <a:cs typeface="Courier New" panose="02070309020205020404" pitchFamily="49" charset="0"/>
              </a:rPr>
              <a:t>klanten</a:t>
            </a:r>
            <a:r>
              <a:rPr lang="nl-NL" sz="2000" noProof="0" dirty="0"/>
              <a:t> en </a:t>
            </a:r>
            <a:r>
              <a:rPr lang="nl-NL" sz="2000" noProof="0" dirty="0">
                <a:cs typeface="Courier New" panose="02070309020205020404" pitchFamily="49" charset="0"/>
              </a:rPr>
              <a:t>transacties</a:t>
            </a:r>
            <a:r>
              <a:rPr lang="nl-NL" sz="2000" dirty="0">
                <a:cs typeface="Courier New" panose="02070309020205020404" pitchFamily="49" charset="0"/>
              </a:rPr>
              <a:t>:	één op veel</a:t>
            </a:r>
            <a:endParaRPr lang="nl-NL" sz="2000" noProof="0" dirty="0"/>
          </a:p>
          <a:p>
            <a:pPr lvl="1"/>
            <a:r>
              <a:rPr lang="nl-NL" sz="2000" noProof="0" dirty="0"/>
              <a:t>Relatie transacties en producten:	veel op veel... maar één op veel per transactieregel.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r>
              <a:rPr lang="nl-NL" sz="2000" noProof="0" dirty="0"/>
              <a:t>Bekijk de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 tabel: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Sleutel kolom(men):		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noProof="0" dirty="0"/>
              <a:t> +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RegelNummer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		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dirty="0"/>
              <a:t> +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dirty="0"/>
              <a:t> +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nl-NL" sz="2000" noProof="0" dirty="0"/>
              <a:t>Voldoet aan 1NF:			Ja, unieke rijen met enkele waardes.</a:t>
            </a:r>
          </a:p>
          <a:p>
            <a:pPr lvl="1"/>
            <a:r>
              <a:rPr lang="nl-NL" sz="2000" noProof="0" dirty="0"/>
              <a:t>Voldoet aan 2NF:			Nee,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>
                <a:cs typeface="Courier New" panose="02070309020205020404" pitchFamily="49" charset="0"/>
              </a:rPr>
              <a:t> hangt alleen af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dirty="0">
                <a:cs typeface="Courier New" panose="02070309020205020404" pitchFamily="49" charset="0"/>
              </a:rPr>
              <a:t>.</a:t>
            </a:r>
            <a:endParaRPr lang="nl-NL" sz="2000" noProof="0" dirty="0"/>
          </a:p>
          <a:p>
            <a:pPr lvl="1"/>
            <a:r>
              <a:rPr lang="nl-NL" sz="2000" noProof="0" dirty="0"/>
              <a:t>Niet 3NF kolom:			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Regelnummer</a:t>
            </a:r>
            <a:r>
              <a:rPr lang="nl-NL" sz="2000" noProof="0" dirty="0"/>
              <a:t> indirect gebaseerd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noProof="0" dirty="0"/>
              <a:t>.</a:t>
            </a:r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1750857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BA452-30BF-3301-3FBF-305E076FD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F8DAA8-C1ED-2685-2024-790CF25A9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 err="1"/>
              <a:t>Entity</a:t>
            </a:r>
            <a:r>
              <a:rPr lang="nl-NL" sz="4400" noProof="0" dirty="0"/>
              <a:t> </a:t>
            </a:r>
            <a:r>
              <a:rPr lang="nl-NL" sz="4400" noProof="0" dirty="0" err="1"/>
              <a:t>Relationship</a:t>
            </a:r>
            <a:r>
              <a:rPr lang="nl-NL" sz="4400" noProof="0" dirty="0"/>
              <a:t> </a:t>
            </a:r>
            <a:r>
              <a:rPr lang="nl-NL" sz="4400" noProof="0" dirty="0" err="1"/>
              <a:t>Diagrams</a:t>
            </a:r>
            <a:endParaRPr lang="nl-NL" sz="4400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4568CD-0814-172F-2BC3-371861713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7578581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 err="1"/>
              <a:t>Entity</a:t>
            </a:r>
            <a:r>
              <a:rPr lang="nl-NL" sz="3600" noProof="0" dirty="0"/>
              <a:t> </a:t>
            </a:r>
            <a:r>
              <a:rPr lang="nl-NL" sz="3600" noProof="0" dirty="0" err="1"/>
              <a:t>Relationship</a:t>
            </a:r>
            <a:r>
              <a:rPr lang="nl-NL" sz="3600" noProof="0" dirty="0"/>
              <a:t> Diagram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7D6075-1C5C-4836-A0E8-6EFEAFDCF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402" y="1407167"/>
            <a:ext cx="8589196" cy="5085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0071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 err="1"/>
              <a:t>Entity</a:t>
            </a:r>
            <a:r>
              <a:rPr lang="nl-NL" sz="3600" noProof="0" dirty="0"/>
              <a:t> </a:t>
            </a:r>
            <a:r>
              <a:rPr lang="nl-NL" sz="3600" noProof="0" dirty="0" err="1"/>
              <a:t>Relationship</a:t>
            </a:r>
            <a:r>
              <a:rPr lang="nl-NL" sz="3600" noProof="0" dirty="0"/>
              <a:t> Diagram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E30041F-F723-BB97-F5D0-C73B7C3A15D3}"/>
              </a:ext>
            </a:extLst>
          </p:cNvPr>
          <p:cNvGrpSpPr/>
          <p:nvPr/>
        </p:nvGrpSpPr>
        <p:grpSpPr>
          <a:xfrm>
            <a:off x="838200" y="3750063"/>
            <a:ext cx="6102998" cy="400110"/>
            <a:chOff x="838200" y="3796152"/>
            <a:chExt cx="6102998" cy="40011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2FC3DDE-3C5A-4B47-BEFA-0CA198BDC7AB}"/>
                </a:ext>
              </a:extLst>
            </p:cNvPr>
            <p:cNvGrpSpPr/>
            <p:nvPr/>
          </p:nvGrpSpPr>
          <p:grpSpPr>
            <a:xfrm>
              <a:off x="838200" y="3888329"/>
              <a:ext cx="1078787" cy="215757"/>
              <a:chOff x="1068512" y="1952090"/>
              <a:chExt cx="1078787" cy="215757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7898ECB2-442C-4C64-9B9D-53C36826F8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8512" y="2059968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1DD361B0-171E-4CF6-B8A4-BD58667EF4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37362" y="1952090"/>
                <a:ext cx="0" cy="215757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6CEA403-EEB4-4692-85B8-10B739C666A4}"/>
                </a:ext>
              </a:extLst>
            </p:cNvPr>
            <p:cNvSpPr txBox="1"/>
            <p:nvPr/>
          </p:nvSpPr>
          <p:spPr>
            <a:xfrm>
              <a:off x="3000054" y="3796152"/>
              <a:ext cx="394114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precies 1 record in de tabel.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E106014-0E0C-D961-578D-CAA43902F6DE}"/>
              </a:ext>
            </a:extLst>
          </p:cNvPr>
          <p:cNvGrpSpPr/>
          <p:nvPr/>
        </p:nvGrpSpPr>
        <p:grpSpPr>
          <a:xfrm>
            <a:off x="838200" y="5488374"/>
            <a:ext cx="6587296" cy="400110"/>
            <a:chOff x="838200" y="5488374"/>
            <a:chExt cx="6587296" cy="40011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6D0305F8-8D9A-47F3-BAAA-E662B0A13A3B}"/>
                </a:ext>
              </a:extLst>
            </p:cNvPr>
            <p:cNvGrpSpPr/>
            <p:nvPr/>
          </p:nvGrpSpPr>
          <p:grpSpPr>
            <a:xfrm>
              <a:off x="838200" y="5567720"/>
              <a:ext cx="1078788" cy="234592"/>
              <a:chOff x="1068510" y="2917861"/>
              <a:chExt cx="1078788" cy="234592"/>
            </a:xfrm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6B4252F8-7AC7-4F56-8C2B-0A04D93245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8510" y="3034837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EF0103A-F854-47C3-9295-C90F59395CF0}"/>
                  </a:ext>
                </a:extLst>
              </p:cNvPr>
              <p:cNvCxnSpPr/>
              <p:nvPr/>
            </p:nvCxnSpPr>
            <p:spPr>
              <a:xfrm flipV="1">
                <a:off x="1837362" y="2917861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1090A655-3065-429A-A9AE-B8E6432F585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835652" y="3039438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197A061-2864-459C-BFA6-17A37BFD3A4E}"/>
                </a:ext>
              </a:extLst>
            </p:cNvPr>
            <p:cNvSpPr txBox="1"/>
            <p:nvPr/>
          </p:nvSpPr>
          <p:spPr>
            <a:xfrm>
              <a:off x="3000054" y="5488374"/>
              <a:ext cx="44254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meer dan 1 records in een tabel.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C00E1AF-ACC1-0682-D7CB-12D46E6C5D2B}"/>
              </a:ext>
            </a:extLst>
          </p:cNvPr>
          <p:cNvGrpSpPr/>
          <p:nvPr/>
        </p:nvGrpSpPr>
        <p:grpSpPr>
          <a:xfrm>
            <a:off x="838201" y="2011753"/>
            <a:ext cx="5986171" cy="400110"/>
            <a:chOff x="838201" y="2011753"/>
            <a:chExt cx="5986171" cy="40011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CB7151BA-7E44-4FCD-9788-108FFCD14FF3}"/>
                </a:ext>
              </a:extLst>
            </p:cNvPr>
            <p:cNvGrpSpPr/>
            <p:nvPr/>
          </p:nvGrpSpPr>
          <p:grpSpPr>
            <a:xfrm>
              <a:off x="838201" y="2101929"/>
              <a:ext cx="1078787" cy="219758"/>
              <a:chOff x="1075360" y="3951383"/>
              <a:chExt cx="1078787" cy="219758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AC529D53-9D63-4A7F-BFFD-A359D4DF77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5360" y="4061262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19D64D46-4266-4650-B276-5B88D8AA4F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0034" y="3953384"/>
                <a:ext cx="0" cy="215757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4DC67B4E-E5E1-45DF-AC52-663C84CB9EC4}"/>
                  </a:ext>
                </a:extLst>
              </p:cNvPr>
              <p:cNvSpPr/>
              <p:nvPr/>
            </p:nvSpPr>
            <p:spPr>
              <a:xfrm>
                <a:off x="1632448" y="3951383"/>
                <a:ext cx="219758" cy="219758"/>
              </a:xfrm>
              <a:prstGeom prst="ellipse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nl-NL" noProof="0" dirty="0"/>
              </a:p>
            </p:txBody>
          </p:sp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EFCBCEA-AC54-4D46-BE30-530D176D7975}"/>
                </a:ext>
              </a:extLst>
            </p:cNvPr>
            <p:cNvSpPr txBox="1"/>
            <p:nvPr/>
          </p:nvSpPr>
          <p:spPr>
            <a:xfrm>
              <a:off x="3000055" y="2011753"/>
              <a:ext cx="382431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0 of 1 records in een tabel.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5FEF1EC-04F3-8519-E5B4-5891267853F7}"/>
              </a:ext>
            </a:extLst>
          </p:cNvPr>
          <p:cNvGrpSpPr/>
          <p:nvPr/>
        </p:nvGrpSpPr>
        <p:grpSpPr>
          <a:xfrm>
            <a:off x="838201" y="2880908"/>
            <a:ext cx="6407759" cy="400110"/>
            <a:chOff x="838201" y="2895535"/>
            <a:chExt cx="6407759" cy="400110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54836448-E895-4501-B341-594F158D1074}"/>
                </a:ext>
              </a:extLst>
            </p:cNvPr>
            <p:cNvGrpSpPr/>
            <p:nvPr/>
          </p:nvGrpSpPr>
          <p:grpSpPr>
            <a:xfrm>
              <a:off x="838201" y="2982575"/>
              <a:ext cx="1087352" cy="244866"/>
              <a:chOff x="1075360" y="4636429"/>
              <a:chExt cx="1087352" cy="244866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B37AC42C-DD88-4E6F-9F5C-9AC299D7177F}"/>
                  </a:ext>
                </a:extLst>
              </p:cNvPr>
              <p:cNvGrpSpPr/>
              <p:nvPr/>
            </p:nvGrpSpPr>
            <p:grpSpPr>
              <a:xfrm>
                <a:off x="1075360" y="4636429"/>
                <a:ext cx="1087352" cy="244866"/>
                <a:chOff x="1068510" y="2917861"/>
                <a:chExt cx="1087352" cy="244866"/>
              </a:xfrm>
            </p:grpSpPr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4519A11E-4702-4131-A051-175AD50F85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68510" y="3034837"/>
                  <a:ext cx="1078787" cy="0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68C0F807-DA23-496A-82F5-4A3F438706FD}"/>
                    </a:ext>
                  </a:extLst>
                </p:cNvPr>
                <p:cNvCxnSpPr/>
                <p:nvPr/>
              </p:nvCxnSpPr>
              <p:spPr>
                <a:xfrm flipV="1">
                  <a:off x="1837362" y="2917861"/>
                  <a:ext cx="309936" cy="113015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17473C12-0F05-43CD-B7AD-EF5D74FA66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845926" y="3049712"/>
                  <a:ext cx="309936" cy="113015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CFD1571D-A8DF-4CAD-90F6-9E365C975931}"/>
                  </a:ext>
                </a:extLst>
              </p:cNvPr>
              <p:cNvSpPr/>
              <p:nvPr/>
            </p:nvSpPr>
            <p:spPr>
              <a:xfrm>
                <a:off x="1632448" y="4658400"/>
                <a:ext cx="219758" cy="219758"/>
              </a:xfrm>
              <a:prstGeom prst="ellipse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nl-NL" noProof="0" dirty="0"/>
              </a:p>
            </p:txBody>
          </p:sp>
        </p:grp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7A5A238-1CDE-4F86-9FB0-35ADFB66A373}"/>
                </a:ext>
              </a:extLst>
            </p:cNvPr>
            <p:cNvSpPr txBox="1"/>
            <p:nvPr/>
          </p:nvSpPr>
          <p:spPr>
            <a:xfrm>
              <a:off x="3000054" y="2895535"/>
              <a:ext cx="4245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0 of meer records in een tabel.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59BBC84-B018-8ED6-B815-DCEA1EFB9662}"/>
              </a:ext>
            </a:extLst>
          </p:cNvPr>
          <p:cNvGrpSpPr/>
          <p:nvPr/>
        </p:nvGrpSpPr>
        <p:grpSpPr>
          <a:xfrm>
            <a:off x="838200" y="4619218"/>
            <a:ext cx="6407760" cy="400110"/>
            <a:chOff x="838200" y="4587532"/>
            <a:chExt cx="6407760" cy="40011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5650B31-B0FA-4D57-BF86-299B4C8D369B}"/>
                </a:ext>
              </a:extLst>
            </p:cNvPr>
            <p:cNvGrpSpPr/>
            <p:nvPr/>
          </p:nvGrpSpPr>
          <p:grpSpPr>
            <a:xfrm>
              <a:off x="838200" y="4676284"/>
              <a:ext cx="1078788" cy="224318"/>
              <a:chOff x="1068510" y="2917861"/>
              <a:chExt cx="1078788" cy="224318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A3D1A325-EC92-4ABC-8E25-E4FD2EFEBD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8510" y="3034837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F36C3A80-429E-448F-B3CA-9136715A5051}"/>
                  </a:ext>
                </a:extLst>
              </p:cNvPr>
              <p:cNvCxnSpPr/>
              <p:nvPr/>
            </p:nvCxnSpPr>
            <p:spPr>
              <a:xfrm>
                <a:off x="1837360" y="2921821"/>
                <a:ext cx="0" cy="215757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F14863D-A478-4765-B688-13BD94D7A0EA}"/>
                  </a:ext>
                </a:extLst>
              </p:cNvPr>
              <p:cNvCxnSpPr/>
              <p:nvPr/>
            </p:nvCxnSpPr>
            <p:spPr>
              <a:xfrm flipV="1">
                <a:off x="1837362" y="2917861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2D891C9-20CB-4323-86D0-F1AAEA17321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825378" y="3029164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FA87921-06EB-488E-8B3F-0F359A4E4237}"/>
                </a:ext>
              </a:extLst>
            </p:cNvPr>
            <p:cNvSpPr txBox="1"/>
            <p:nvPr/>
          </p:nvSpPr>
          <p:spPr>
            <a:xfrm>
              <a:off x="3000054" y="4587532"/>
              <a:ext cx="4245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1 of meer records in een tabel.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12638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888415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l-NL" sz="2000" noProof="0" dirty="0"/>
              <a:t>Een sportclub vraagt je om de database voor hun ledenadministratie op te zetten.</a:t>
            </a:r>
          </a:p>
          <a:p>
            <a:pPr marL="0" indent="0">
              <a:buNone/>
            </a:pPr>
            <a:r>
              <a:rPr lang="nl-NL" sz="2000" noProof="0" dirty="0"/>
              <a:t>Identificeer welke entiteiten en relaties je nodig hebt: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De leden betalen contributie, waarvan de hoogte jaarlijks wordt vastgesteld.</a:t>
            </a:r>
          </a:p>
          <a:p>
            <a:pPr>
              <a:buFontTx/>
              <a:buChar char="-"/>
            </a:pPr>
            <a:r>
              <a:rPr lang="nl-NL" sz="2000" noProof="0" dirty="0"/>
              <a:t>De status van de betalingen wordt bijgehouden inclusief herinneringen.</a:t>
            </a:r>
          </a:p>
          <a:p>
            <a:pPr>
              <a:buFontTx/>
              <a:buChar char="-"/>
            </a:pPr>
            <a:r>
              <a:rPr lang="nl-NL" sz="2000" noProof="0" dirty="0"/>
              <a:t>De club organiseert 2 toernooien per jaar waarop leden intekenen.</a:t>
            </a:r>
          </a:p>
          <a:p>
            <a:pPr>
              <a:buFontTx/>
              <a:buChar char="-"/>
            </a:pPr>
            <a:r>
              <a:rPr lang="nl-NL" sz="2000" noProof="0" dirty="0"/>
              <a:t>De uitslag van het toernooi wordt voor iedere speler vastgelegd.</a:t>
            </a:r>
          </a:p>
          <a:p>
            <a:pPr>
              <a:buFontTx/>
              <a:buChar char="-"/>
            </a:pPr>
            <a:r>
              <a:rPr lang="nl-NL" sz="2000" noProof="0" dirty="0"/>
              <a:t>Elk toernooi heeft een vast bedrag als inschrijfgeld.</a:t>
            </a:r>
          </a:p>
          <a:p>
            <a:pPr>
              <a:buFontTx/>
              <a:buChar char="-"/>
            </a:pPr>
            <a:r>
              <a:rPr lang="nl-NL" sz="2000" noProof="0" dirty="0"/>
              <a:t>Het inschrijfgeld wordt op dezelfde wijze betaald als de contributie.</a:t>
            </a:r>
          </a:p>
          <a:p>
            <a:pPr>
              <a:buFontTx/>
              <a:buChar char="-"/>
            </a:pPr>
            <a:r>
              <a:rPr lang="nl-NL" sz="2000" noProof="0" dirty="0"/>
              <a:t>Leden spelen in één van de categorieën; beginner, ervaren en expert.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Tip: Je kunt draw.io gebruiken om het ERD te tekenen!</a:t>
            </a:r>
          </a:p>
          <a:p>
            <a:pPr marL="0" indent="0">
              <a:buNone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26741169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C1331-56EA-4765-E492-87CE3FE7E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20E4F-ED55-F2F9-56B2-73B6A3CE3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BAEBBD-F800-E76F-75F0-957EF7B8F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8735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Entiteiten: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Leden.</a:t>
            </a:r>
          </a:p>
          <a:p>
            <a:pPr>
              <a:buFontTx/>
              <a:buChar char="-"/>
            </a:pPr>
            <a:r>
              <a:rPr lang="nl-NL" sz="2000" noProof="0" dirty="0"/>
              <a:t>Contributie.</a:t>
            </a:r>
          </a:p>
          <a:p>
            <a:pPr>
              <a:buFontTx/>
              <a:buChar char="-"/>
            </a:pPr>
            <a:r>
              <a:rPr lang="nl-NL" sz="2000" noProof="0" dirty="0"/>
              <a:t>Toernooien.</a:t>
            </a:r>
          </a:p>
          <a:p>
            <a:pPr>
              <a:buFontTx/>
              <a:buChar char="-"/>
            </a:pPr>
            <a:r>
              <a:rPr lang="nl-NL" sz="2000" noProof="0" dirty="0"/>
              <a:t>Speler categorie.</a:t>
            </a:r>
          </a:p>
          <a:p>
            <a:pPr>
              <a:buFontTx/>
              <a:buChar char="-"/>
            </a:pPr>
            <a:r>
              <a:rPr lang="nl-NL" sz="2000" noProof="0" dirty="0"/>
              <a:t>Betalingen.</a:t>
            </a:r>
          </a:p>
          <a:p>
            <a:pPr>
              <a:buFontTx/>
              <a:buChar char="-"/>
            </a:pPr>
            <a:r>
              <a:rPr lang="nl-NL" sz="2000" noProof="0" dirty="0"/>
              <a:t>Status betaling.</a:t>
            </a:r>
          </a:p>
          <a:p>
            <a:pPr marL="457200" indent="-457200">
              <a:buAutoNum type="arabicPeriod"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0C09D4A-C8D5-B213-ABBF-1F5566D650BD}"/>
              </a:ext>
            </a:extLst>
          </p:cNvPr>
          <p:cNvSpPr txBox="1">
            <a:spLocks/>
          </p:cNvSpPr>
          <p:nvPr/>
        </p:nvSpPr>
        <p:spPr>
          <a:xfrm>
            <a:off x="7138182" y="1825625"/>
            <a:ext cx="488735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Relaties: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Leden    =&gt;    Toernooi (</a:t>
            </a:r>
            <a:r>
              <a:rPr lang="nl-NL" sz="2000" noProof="0" dirty="0" err="1"/>
              <a:t>m:m</a:t>
            </a:r>
            <a:r>
              <a:rPr lang="nl-NL" sz="2000" noProof="0" dirty="0"/>
              <a:t>).</a:t>
            </a:r>
          </a:p>
          <a:p>
            <a:pPr>
              <a:buFontTx/>
              <a:buChar char="-"/>
            </a:pPr>
            <a:r>
              <a:rPr lang="nl-NL" sz="2000" noProof="0" dirty="0"/>
              <a:t>Leden    =&gt;    Speler categorie (1:m).</a:t>
            </a:r>
          </a:p>
          <a:p>
            <a:pPr>
              <a:buFontTx/>
              <a:buChar char="-"/>
            </a:pPr>
            <a:r>
              <a:rPr lang="nl-NL" sz="2000" noProof="0" dirty="0"/>
              <a:t>Leden    =&gt;    Betalingen (1:m).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Betaling    =&gt;    Contributie / Toernooi (1:1).</a:t>
            </a:r>
          </a:p>
          <a:p>
            <a:pPr>
              <a:buFontTx/>
              <a:buChar char="-"/>
            </a:pPr>
            <a:r>
              <a:rPr lang="nl-NL" sz="2000" noProof="0" dirty="0"/>
              <a:t>Betaling    =&gt;    Status betaling (1:m).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8F204CE-3B8C-CC2A-7382-A1956BE576A5}"/>
              </a:ext>
            </a:extLst>
          </p:cNvPr>
          <p:cNvCxnSpPr>
            <a:cxnSpLocks/>
          </p:cNvCxnSpPr>
          <p:nvPr/>
        </p:nvCxnSpPr>
        <p:spPr>
          <a:xfrm>
            <a:off x="6096000" y="1582615"/>
            <a:ext cx="0" cy="439615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71865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ABBCA-12BF-1B61-7721-F2A61205F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951A1-9F56-B7F0-07B4-6E7AD3C44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0217F1B4-5109-3E07-23A3-DB0BD190F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26946"/>
            <a:ext cx="9930809" cy="470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2081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/>
              <a:t>Tabellen en relaties in SQL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8752986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Tabellen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627047" y="1758156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/>
              <a:t> maak je een nieuwe tabel aan.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Tussen de haken geef je de kolomnamen op.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Achter de naam geef je het data type op.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69538C-D7B2-E5E9-CEB1-10C0947C6332}"/>
              </a:ext>
            </a:extLst>
          </p:cNvPr>
          <p:cNvCxnSpPr/>
          <p:nvPr/>
        </p:nvCxnSpPr>
        <p:spPr>
          <a:xfrm>
            <a:off x="6254736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62231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 err="1"/>
              <a:t>SQLite</a:t>
            </a:r>
            <a:r>
              <a:rPr lang="nl-NL" sz="3600" noProof="0" dirty="0"/>
              <a:t>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99417"/>
            <a:ext cx="8975103" cy="3382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Tekst data (met variabele lengte).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2000" noProof="0" dirty="0">
                <a:cs typeface="Courier New" panose="02070309020205020404" pitchFamily="49" charset="0"/>
              </a:rPr>
              <a:t>Geheel getal inclusief teken (max 8 bytes).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Breuk inclusief teken (max 8 bytes).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Ruwe data in binaire vorm.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Datum als tekst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'YYYY-MM-DD'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Tijd als tekst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'HH:MM:SS'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TIMESTAMP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2000" noProof="0" dirty="0">
                <a:cs typeface="Courier New" panose="02070309020205020404" pitchFamily="49" charset="0"/>
              </a:rPr>
              <a:t>Datum en tijd als tekst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'YYYY-MM-DD HH:MM:SS'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58784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Kolom opties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54149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Nieuwsbrief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DEFAULT 0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20933" y="1825625"/>
            <a:ext cx="433083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 / UNIQUE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Unieke waardes om rijen mee te identificeren.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 NULL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Kolom moet gevuld zijn anders foutmelding.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DEFAULT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Standaard waarde als kolom leeg wordt gelaten.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E7C30C7-776C-5670-7240-7680901A692A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63078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Primaire sleutel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/>
              <a:t> een of meer kolommen op als sleutel.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combinatie van waardes moet uniek zijn.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Een kolom met (automatisch) ID is vaak een betere oplossing!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9AA1CC-DF24-6816-AB3C-036242589958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069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167D5-3650-91D9-9016-DF0056AE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16487-F7B7-228E-0B3F-ED27A5FC6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Gekoppelde sleutel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3A4AC-4825-4C3D-6EB7-FBB8D7631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B5A03FB-8FB0-9406-0FE3-D48070028447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Sleutel om een relatie vast te leggen.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Waardes in de kolommen van beide tabellen moeten overeenkomen.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bij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  <a:r>
              <a:rPr lang="nl-NL" sz="2000" noProof="0" dirty="0"/>
              <a:t> de kolom in de huidige tabel op.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bij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REFERENCES</a:t>
            </a:r>
            <a:r>
              <a:rPr lang="nl-NL" sz="2000" noProof="0" dirty="0"/>
              <a:t> de tabel en kolom op waarnaar verwezen wordt.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619D79-9DCF-ADD3-4CD4-BCC221F46CC0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07848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Wijzigingen in gekoppelde tabellen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91373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DELETE CASCADE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UPDATE CASCADE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636470" y="1825625"/>
            <a:ext cx="4924719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DELETE / UPDATE</a:t>
            </a:r>
            <a:r>
              <a:rPr lang="nl-NL" sz="2000" noProof="0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CASCADE</a:t>
            </a:r>
            <a:r>
              <a:rPr lang="nl-NL" sz="2000" noProof="0" dirty="0"/>
              <a:t>		Maak wijziging ook in de</a:t>
            </a:r>
          </a:p>
          <a:p>
            <a:pPr marL="0" indent="0">
              <a:buNone/>
            </a:pPr>
            <a:r>
              <a:rPr lang="nl-NL" sz="2000" noProof="0" dirty="0"/>
              <a:t>		gekoppelde tabel.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 ACTION</a:t>
            </a:r>
            <a:r>
              <a:rPr lang="nl-NL" sz="2000" noProof="0" dirty="0"/>
              <a:t>	Laat gekoppelde tabel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		ongewijzigd (inconsistent).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RESTRICT</a:t>
            </a:r>
            <a:r>
              <a:rPr lang="nl-NL" sz="2000" noProof="0" dirty="0"/>
              <a:t>	Sta geen wijzigingen toe als er</a:t>
            </a:r>
          </a:p>
          <a:p>
            <a:pPr marL="0" indent="0">
              <a:buNone/>
            </a:pPr>
            <a:r>
              <a:rPr lang="nl-NL" sz="2000" noProof="0" dirty="0"/>
              <a:t>		verwijzingen zijn.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 NULL</a:t>
            </a:r>
            <a:r>
              <a:rPr lang="nl-NL" sz="2000" noProof="0" dirty="0"/>
              <a:t>	Reset naar NULL of de standaard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 DEFAULT</a:t>
            </a:r>
            <a:r>
              <a:rPr lang="nl-NL" sz="2000" noProof="0" dirty="0"/>
              <a:t>	waarde.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D01F7C8-8420-060C-46A9-EE1193CC7D1E}"/>
              </a:ext>
            </a:extLst>
          </p:cNvPr>
          <p:cNvCxnSpPr/>
          <p:nvPr/>
        </p:nvCxnSpPr>
        <p:spPr>
          <a:xfrm>
            <a:off x="619969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24045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F25D1-C241-CA86-E717-5F850D9FD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945F7-55ED-5D7C-9025-D13725819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Unieke waardes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EB232-698A-A3FF-538C-555F0E799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Klanten(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1E60B7B-EFAA-BD48-6E27-CA7B081CA953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geef je aan dat kolom waardes uniek moeten zijn.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7CFCCE8-ACCE-B4BE-6451-EFF53DFC4A4C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25820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4DD67-F51E-67A9-9A01-0B15F298D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00D6E-89C6-9445-F8CB-2C8EF9654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Unieke waardes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6174A-2DA1-B602-5392-E1404C8A0F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Klanten(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7630341-E73F-164A-CB8E-6AC5697D3FBF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Je kunt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ook gebruiken op een combinatie van kolommen.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B25EE02-F4A8-3D21-0F5E-D49BE5756D48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69246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Controles op waardes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9411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(Leeftijd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BETWEEN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0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120)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nl-NL" sz="2000" noProof="0" dirty="0"/>
              <a:t> kun je een controle instellen op een tabel.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controle in dit voorbeeld is op het bereik van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Leeftijd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Rijen die niet aan de controle voldoen geven een foutmelding.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4C5F3F-2CF0-35C8-02B0-2F9CB90E3A3B}"/>
              </a:ext>
            </a:extLst>
          </p:cNvPr>
          <p:cNvCxnSpPr>
            <a:cxnSpLocks/>
          </p:cNvCxnSpPr>
          <p:nvPr/>
        </p:nvCxnSpPr>
        <p:spPr>
          <a:xfrm>
            <a:off x="6794609" y="1555423"/>
            <a:ext cx="0" cy="46215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93865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E01D9-4E80-079C-F5DC-729D580C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042DA-BDBA-7DE1-926F-8868915E2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Controles een naam geven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FF3E5-F8A1-35B6-59A8-EA7783237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94115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INTEGER,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CONSTRAINT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PK_KlantId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CONSTRAINT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UQ_Naam_Achternaam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B7F6534-8E96-1666-8498-2E50ED49EF18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CONSTRAINT</a:t>
            </a:r>
            <a:r>
              <a:rPr lang="nl-NL" sz="2000" noProof="0" dirty="0"/>
              <a:t> kun je een naam geven aan een controle.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Controles zijn: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E96F5D3-09A8-02FC-9C4A-817C05484610}"/>
              </a:ext>
            </a:extLst>
          </p:cNvPr>
          <p:cNvCxnSpPr>
            <a:cxnSpLocks/>
          </p:cNvCxnSpPr>
          <p:nvPr/>
        </p:nvCxnSpPr>
        <p:spPr>
          <a:xfrm>
            <a:off x="6794609" y="1555423"/>
            <a:ext cx="0" cy="46215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56797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56EF9-B4AB-F27C-D5A0-6A8BE90D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99355-8885-9BED-E9E1-A5C4D3BC8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Tabellen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4E2BD-A854-02B1-59A6-620EA1E9F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16F9E51-F48B-63CB-9C3C-1E481365AB6F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Verwijder tabellen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LET OP: Verwijderd ook alle data!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b="1" noProof="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E8BC32-422E-7616-804B-49BCA248CDD7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9792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296BB-8F70-E7FE-8362-9D7386EDC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E7A2-45BD-17CF-D01B-CCC605553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Tabellen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788ED-9C15-43B3-99F6-22C7ACDB02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 IF EXISTS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B787107-DAB9-F752-582B-C7D6733BEF64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Verwijder tabellen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LET OP: Verwijderd ook alle data!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Met</a:t>
            </a:r>
            <a:r>
              <a:rPr lang="nl-NL" sz="2000" noProof="0" dirty="0"/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EXISTS</a:t>
            </a:r>
            <a:r>
              <a:rPr lang="nl-NL" sz="2000" noProof="0" dirty="0"/>
              <a:t> voorkom je foutmelding als tabel niet bestaat.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F66B5A8-7259-ADFC-346C-33FA1F36504C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70893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E6652-4434-E2A6-BC5E-61B4B8D9C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2C1DA-8DE2-9A8D-BFDA-795DC5089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Hernoemen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AD022-36ED-727D-36BF-8020F160D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TO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KlantenOud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60B36B-7066-CEBB-27C0-B0ECE01B4036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Wijzigen van tabellen kun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Achter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TO</a:t>
            </a:r>
            <a:r>
              <a:rPr lang="nl-NL" sz="2000" noProof="0" dirty="0">
                <a:cs typeface="Courier New" panose="02070309020205020404" pitchFamily="49" charset="0"/>
              </a:rPr>
              <a:t> geef je een nieuwe naam voor de tabel op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R</a:t>
            </a:r>
            <a:r>
              <a:rPr lang="nl-NL" sz="2000" noProof="0" dirty="0" err="1"/>
              <a:t>ecente</a:t>
            </a:r>
            <a:r>
              <a:rPr lang="nl-NL" sz="2000" noProof="0" dirty="0"/>
              <a:t> </a:t>
            </a:r>
            <a:r>
              <a:rPr lang="nl-NL" sz="2000" noProof="0" dirty="0" err="1"/>
              <a:t>SQLite</a:t>
            </a:r>
            <a:r>
              <a:rPr lang="nl-NL" sz="2000" noProof="0" dirty="0"/>
              <a:t> versies werken ook referenties bij (vb. verwijzende sleutel).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3597EC-1A64-0121-27BD-18B2F2204F03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59854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8435E-69FE-29D9-7EAA-BB9BA9CB7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B3298-DE29-A2D0-8EAE-18796AC0F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Kolom hernoemen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B3753-68E0-3C1E-9008-99DF5A08B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COLUMN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TO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D86EF44-77CE-8B36-4BE5-E724E2A1765E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COLUMN ... TO</a:t>
            </a:r>
            <a:r>
              <a:rPr lang="nl-NL" sz="2000" noProof="0" dirty="0">
                <a:cs typeface="Courier New" panose="02070309020205020404" pitchFamily="49" charset="0"/>
              </a:rPr>
              <a:t> hernoem je een kolom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de oude en nieuwe kolomnaam op.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Referenties worden automatisch bijgewerkt.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F42A93A-5A79-549C-DB83-D8E249AA1AD3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76292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Kolom toevoegen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 COLUMN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Mailing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 DEFAULT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0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Voeg een kolom </a:t>
            </a:r>
            <a:r>
              <a:rPr lang="nl-NL" sz="2000" noProof="0" dirty="0" err="1"/>
              <a:t>to</a:t>
            </a:r>
            <a:r>
              <a:rPr lang="nl-NL" sz="2000" dirty="0"/>
              <a:t>e met</a:t>
            </a:r>
            <a:r>
              <a:rPr lang="nl-NL" sz="2000" noProof="0" dirty="0"/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 COLUMN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naam en data type op en eventueel een standaard waarde.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Beperkingen:</a:t>
            </a:r>
          </a:p>
          <a:p>
            <a:pPr>
              <a:buFontTx/>
              <a:buChar char="-"/>
            </a:pPr>
            <a:r>
              <a:rPr lang="nl-NL" sz="2000" noProof="0" dirty="0"/>
              <a:t>Beperkingen op standaard waardes.</a:t>
            </a:r>
          </a:p>
          <a:p>
            <a:pPr>
              <a:buFontTx/>
              <a:buChar char="-"/>
            </a:pPr>
            <a:r>
              <a:rPr lang="nl-NL" sz="2000" noProof="0" dirty="0"/>
              <a:t>Geen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 / UNIQUE</a:t>
            </a:r>
            <a:r>
              <a:rPr lang="nl-NL" sz="2000" noProof="0" dirty="0"/>
              <a:t>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1600" noProof="0" dirty="0"/>
          </a:p>
          <a:p>
            <a:pPr marL="0" indent="0">
              <a:buNone/>
            </a:pPr>
            <a:r>
              <a:rPr lang="nl-NL" sz="1800" noProof="0" dirty="0">
                <a:hlinkClick r:id="rId3"/>
              </a:rPr>
              <a:t>https://www.sqlite.org/lang_altertable.html</a:t>
            </a:r>
            <a:endParaRPr lang="nl-NL" sz="1800" noProof="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EF16A4D-E52A-231F-821F-F106ABC949FD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945327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6D230-69A0-1FEB-2FF3-24D62A651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8D547-9501-E2EC-4116-981E9517E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Kolom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BE948-0E5F-9ED6-BE5B-52FFA92B4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COLUMN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Mailing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C1A7184-EBE3-84C7-FF64-AB9953B08BC0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COLUMN</a:t>
            </a:r>
            <a:r>
              <a:rPr lang="nl-NL" sz="2000" noProof="0" dirty="0">
                <a:cs typeface="Courier New" panose="02070309020205020404" pitchFamily="49" charset="0"/>
              </a:rPr>
              <a:t> verwijder je een bestaande kolom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Let op: Verwijdert ook de data!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Beperkingen:</a:t>
            </a:r>
          </a:p>
          <a:p>
            <a:pPr>
              <a:buFontTx/>
              <a:buChar char="-"/>
            </a:pPr>
            <a:r>
              <a:rPr lang="nl-NL" sz="2000" noProof="0" dirty="0"/>
              <a:t>Niet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/>
              <a:t> /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2000" noProof="0" dirty="0"/>
              <a:t>Geen FOREIGN KEY.</a:t>
            </a:r>
          </a:p>
          <a:p>
            <a:pPr>
              <a:buFontTx/>
              <a:buChar char="-"/>
            </a:pPr>
            <a:r>
              <a:rPr lang="nl-NL" sz="2000" noProof="0" dirty="0"/>
              <a:t>Geen kolom met een index.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1800" noProof="0" dirty="0">
                <a:hlinkClick r:id="rId3"/>
              </a:rPr>
              <a:t>https://www.sqlite.org/lang_altertable.html</a:t>
            </a:r>
            <a:endParaRPr lang="nl-NL" sz="1800" noProof="0" dirty="0"/>
          </a:p>
          <a:p>
            <a:pPr>
              <a:buFontTx/>
              <a:buChar char="-"/>
            </a:pPr>
            <a:endParaRPr lang="nl-NL" sz="2000" noProof="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C34A69A-2E39-1E9E-08BA-1D73E823F568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18588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nl-NL" sz="2000" noProof="0" dirty="0"/>
              <a:t>In oefening 2 heb je een ERD gemaakt voor de ledenadministratie van een sportclub: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Implementeer de structuur in een </a:t>
            </a:r>
            <a:r>
              <a:rPr lang="nl-NL" sz="2000" noProof="0" dirty="0" err="1"/>
              <a:t>SQLite</a:t>
            </a:r>
            <a:r>
              <a:rPr lang="nl-NL" sz="2000" noProof="0" dirty="0"/>
              <a:t> database.</a:t>
            </a:r>
          </a:p>
          <a:p>
            <a:pPr>
              <a:buFontTx/>
              <a:buChar char="-"/>
            </a:pPr>
            <a:r>
              <a:rPr lang="nl-NL" sz="2000" noProof="0" dirty="0"/>
              <a:t>Maak alle tabellen aan.</a:t>
            </a:r>
          </a:p>
          <a:p>
            <a:pPr>
              <a:buFontTx/>
              <a:buChar char="-"/>
            </a:pPr>
            <a:r>
              <a:rPr lang="nl-NL" sz="2000" noProof="0" dirty="0"/>
              <a:t>Definieer kolommen inclusief data types (minimale set).</a:t>
            </a:r>
          </a:p>
          <a:p>
            <a:pPr>
              <a:buFontTx/>
              <a:buChar char="-"/>
            </a:pPr>
            <a:r>
              <a:rPr lang="nl-NL" sz="2000" noProof="0" dirty="0"/>
              <a:t>Leg relaties vast met verwijzende sleutels.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Let op: Verwijzende sleutels bepalen de volgorde waarop je tabellen definieert!</a:t>
            </a:r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74032777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DE829-6C23-396D-336E-27FE9A497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A1034-0C31-E3F4-BCF6-1D24907F7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Views: Opgeslagen </a:t>
            </a:r>
            <a:r>
              <a:rPr lang="nl-NL" sz="3600" noProof="0" dirty="0" err="1"/>
              <a:t>queries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0ADAB-2CD5-79AC-20FA-0E0A993DE0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Een view is een query die wordt opgeslagen in de database.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Dit is handig als je regelmatig dezelfde doorsnedes maakt van de data.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In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queries werkt een view als een tabel.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D15C0EF-8425-4BAD-1286-1798C0E3D4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8494626"/>
              </p:ext>
            </p:extLst>
          </p:nvPr>
        </p:nvGraphicFramePr>
        <p:xfrm>
          <a:off x="6095999" y="2018350"/>
          <a:ext cx="5257801" cy="1516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2861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2052341">
                  <a:extLst>
                    <a:ext uri="{9D8B030D-6E8A-4147-A177-3AD203B41FA5}">
                      <a16:colId xmlns:a16="http://schemas.microsoft.com/office/drawing/2014/main" val="849288735"/>
                    </a:ext>
                  </a:extLst>
                </a:gridCol>
                <a:gridCol w="1093642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775672">
                  <a:extLst>
                    <a:ext uri="{9D8B030D-6E8A-4147-A177-3AD203B41FA5}">
                      <a16:colId xmlns:a16="http://schemas.microsoft.com/office/drawing/2014/main" val="547730345"/>
                    </a:ext>
                  </a:extLst>
                </a:gridCol>
                <a:gridCol w="843285">
                  <a:extLst>
                    <a:ext uri="{9D8B030D-6E8A-4147-A177-3AD203B41FA5}">
                      <a16:colId xmlns:a16="http://schemas.microsoft.com/office/drawing/2014/main" val="810622425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/>
                        <a:t>Id</a:t>
                      </a:r>
                      <a:endParaRPr lang="nl-NL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/>
                        <a:t>DatumTijd</a:t>
                      </a:r>
                      <a:endParaRPr lang="nl-NL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Aantal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Prijs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2025-01-01 10:12:56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1.99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2025-01-01 15:32:21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7.49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2025-01-02 09:01:00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1.99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2025-01-02 13:56:10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A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1.99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4772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C1E9905-24DE-ADEA-043C-B9A26B068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9615433"/>
              </p:ext>
            </p:extLst>
          </p:nvPr>
        </p:nvGraphicFramePr>
        <p:xfrm>
          <a:off x="7097769" y="5007723"/>
          <a:ext cx="3735527" cy="910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0021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1241547">
                  <a:extLst>
                    <a:ext uri="{9D8B030D-6E8A-4147-A177-3AD203B41FA5}">
                      <a16:colId xmlns:a16="http://schemas.microsoft.com/office/drawing/2014/main" val="547730345"/>
                    </a:ext>
                  </a:extLst>
                </a:gridCol>
                <a:gridCol w="1203959">
                  <a:extLst>
                    <a:ext uri="{9D8B030D-6E8A-4147-A177-3AD203B41FA5}">
                      <a16:colId xmlns:a16="http://schemas.microsoft.com/office/drawing/2014/main" val="600075027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Totaal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Omzet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11.94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2870106-A279-3F9D-71C6-859C374DAE11}"/>
              </a:ext>
            </a:extLst>
          </p:cNvPr>
          <p:cNvSpPr txBox="1"/>
          <p:nvPr/>
        </p:nvSpPr>
        <p:spPr>
          <a:xfrm>
            <a:off x="6095998" y="1690688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6F10EA-8ACF-7470-3B73-6118BC79140B}"/>
              </a:ext>
            </a:extLst>
          </p:cNvPr>
          <p:cNvSpPr txBox="1"/>
          <p:nvPr/>
        </p:nvSpPr>
        <p:spPr>
          <a:xfrm>
            <a:off x="7097769" y="4669169"/>
            <a:ext cx="19341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 err="1"/>
              <a:t>vwProductADagelijks</a:t>
            </a:r>
            <a:endParaRPr lang="nl-NL" sz="1600" noProof="0" dirty="0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194598A-37B1-20B4-037E-9D3163805645}"/>
              </a:ext>
            </a:extLst>
          </p:cNvPr>
          <p:cNvSpPr/>
          <p:nvPr/>
        </p:nvSpPr>
        <p:spPr>
          <a:xfrm rot="5400000">
            <a:off x="8812667" y="4038938"/>
            <a:ext cx="305728" cy="464873"/>
          </a:xfrm>
          <a:prstGeom prst="rightArrow">
            <a:avLst>
              <a:gd name="adj1" fmla="val 50000"/>
              <a:gd name="adj2" fmla="val 48508"/>
            </a:avLst>
          </a:prstGeom>
          <a:solidFill>
            <a:schemeClr val="accent2"/>
          </a:solidFill>
          <a:ln>
            <a:solidFill>
              <a:srgbClr val="AE5A2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3577881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78CBD-7C66-BAD4-A82A-923BE171E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B0679-6644-7A2C-E25E-77865166F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View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55CB7-88C1-24A6-C930-4EDE0ACCE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561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VIEW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vwProductADag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(Aantal)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Totaal,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(Aantal * Prijs)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Omzet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Transacties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Product =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'Product A'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 BY DATE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1C1DD90-611C-7CBC-BD9E-8403D1BAEA0E}"/>
              </a:ext>
            </a:extLst>
          </p:cNvPr>
          <p:cNvSpPr txBox="1">
            <a:spLocks/>
          </p:cNvSpPr>
          <p:nvPr/>
        </p:nvSpPr>
        <p:spPr>
          <a:xfrm>
            <a:off x="6295292" y="1825625"/>
            <a:ext cx="505616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Maak een view aan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VIEW  ... AS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daarna de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query op die opgeslagen moet worden.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query kan complex zijn, inclusief berekeningen, aggregaties, </a:t>
            </a:r>
            <a:r>
              <a:rPr lang="nl-NL" sz="2000" noProof="0" dirty="0" err="1"/>
              <a:t>CTEs</a:t>
            </a:r>
            <a:r>
              <a:rPr lang="nl-NL" sz="2000" noProof="0" dirty="0"/>
              <a:t>, et cetera.</a:t>
            </a:r>
          </a:p>
          <a:p>
            <a:pPr marL="0" indent="0">
              <a:buNone/>
            </a:pPr>
            <a:endParaRPr lang="nl-NL" sz="2000" noProof="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EA425BF-16E9-1C33-058E-8D0DAABA9D5A}"/>
              </a:ext>
            </a:extLst>
          </p:cNvPr>
          <p:cNvCxnSpPr/>
          <p:nvPr/>
        </p:nvCxnSpPr>
        <p:spPr>
          <a:xfrm>
            <a:off x="6096000" y="1756533"/>
            <a:ext cx="0" cy="4420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49500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82936-65EB-3D2A-EAB6-9D280C62F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C61D9-DADB-92BD-4F86-675E0D974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View versus tabel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D79A6-BD03-275C-1F9E-0A3C7DA0D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56163" cy="4351338"/>
          </a:xfrm>
        </p:spPr>
        <p:txBody>
          <a:bodyPr>
            <a:normAutofit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View</a:t>
            </a: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r>
              <a:rPr lang="nl-NL" sz="2000" noProof="0" dirty="0"/>
              <a:t>Bevat zelf </a:t>
            </a:r>
            <a:r>
              <a:rPr lang="nl-NL" sz="2000" u="sng" noProof="0" dirty="0"/>
              <a:t>geen</a:t>
            </a:r>
            <a:r>
              <a:rPr lang="nl-NL" sz="2000" noProof="0" dirty="0"/>
              <a:t> data.</a:t>
            </a:r>
          </a:p>
          <a:p>
            <a:endParaRPr lang="nl-NL" sz="2000" noProof="0" dirty="0"/>
          </a:p>
          <a:p>
            <a:r>
              <a:rPr lang="nl-NL" sz="2000" noProof="0" dirty="0"/>
              <a:t>Alleen </a:t>
            </a:r>
            <a:r>
              <a:rPr lang="nl-NL" sz="2000" u="sng" noProof="0" dirty="0"/>
              <a:t>lezen</a:t>
            </a:r>
            <a:r>
              <a:rPr lang="nl-NL" sz="2000" noProof="0" dirty="0"/>
              <a:t> van data.</a:t>
            </a:r>
          </a:p>
          <a:p>
            <a:endParaRPr lang="nl-NL" sz="2000" noProof="0" dirty="0"/>
          </a:p>
          <a:p>
            <a:r>
              <a:rPr lang="nl-NL" sz="2000" noProof="0" dirty="0"/>
              <a:t>Geen eigen indexering.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6C6B10-821C-12DF-5F50-4567B8C7303E}"/>
              </a:ext>
            </a:extLst>
          </p:cNvPr>
          <p:cNvSpPr txBox="1">
            <a:spLocks/>
          </p:cNvSpPr>
          <p:nvPr/>
        </p:nvSpPr>
        <p:spPr>
          <a:xfrm>
            <a:off x="6295292" y="1825625"/>
            <a:ext cx="505616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noProof="0" dirty="0" err="1"/>
              <a:t>Table</a:t>
            </a:r>
            <a:endParaRPr lang="nl-NL" sz="2000" noProof="0" dirty="0"/>
          </a:p>
          <a:p>
            <a:pPr marL="0" indent="0">
              <a:buNone/>
            </a:pPr>
            <a:endParaRPr lang="nl-NL" sz="2000" b="1" noProof="0" dirty="0"/>
          </a:p>
          <a:p>
            <a:r>
              <a:rPr lang="nl-NL" sz="2000" noProof="0" dirty="0"/>
              <a:t>Bevat daadwerkelijk </a:t>
            </a:r>
            <a:r>
              <a:rPr lang="nl-NL" sz="2000" u="sng" noProof="0" dirty="0"/>
              <a:t>data</a:t>
            </a:r>
            <a:r>
              <a:rPr lang="nl-NL" sz="2000" noProof="0" dirty="0"/>
              <a:t>.</a:t>
            </a:r>
          </a:p>
          <a:p>
            <a:endParaRPr lang="nl-NL" sz="2000" noProof="0" dirty="0"/>
          </a:p>
          <a:p>
            <a:r>
              <a:rPr lang="nl-NL" sz="2000" noProof="0" dirty="0"/>
              <a:t>Ondersteunt </a:t>
            </a:r>
            <a:r>
              <a:rPr lang="nl-NL" sz="2000" u="sng" noProof="0" dirty="0"/>
              <a:t>wijzigen</a:t>
            </a:r>
            <a:r>
              <a:rPr lang="nl-NL" sz="2000" noProof="0" dirty="0"/>
              <a:t> van data.</a:t>
            </a:r>
          </a:p>
          <a:p>
            <a:endParaRPr lang="nl-NL" sz="2000" noProof="0" dirty="0"/>
          </a:p>
          <a:p>
            <a:r>
              <a:rPr lang="nl-NL" sz="2000" noProof="0" dirty="0"/>
              <a:t>Ondersteunt indexering.</a:t>
            </a:r>
          </a:p>
          <a:p>
            <a:pPr marL="0" indent="0">
              <a:buNone/>
            </a:pPr>
            <a:endParaRPr lang="nl-NL" sz="2000" noProof="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C741A9-E44A-3F96-63DD-0A56A0910BB4}"/>
              </a:ext>
            </a:extLst>
          </p:cNvPr>
          <p:cNvCxnSpPr/>
          <p:nvPr/>
        </p:nvCxnSpPr>
        <p:spPr>
          <a:xfrm>
            <a:off x="6096000" y="1756533"/>
            <a:ext cx="0" cy="4420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526861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64467-1EE1-4316-7245-EFD687D29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279B3-C753-1AD7-9185-2D260280E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FB231B-AE1B-9FB5-5024-7906C86A4E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nl-NL" sz="2000" noProof="0" dirty="0"/>
              <a:t>Open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nl-NL" sz="2000" dirty="0"/>
              <a:t> en maak de volgende views:</a:t>
            </a:r>
            <a:endParaRPr lang="nl-NL" sz="2000" noProof="0" dirty="0"/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Het aantal verkochte producten en de omzet per transactie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Het aantal transacties en de totale omzet per klant en per maand.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De totale omzet per klant, aflopend gesorteerd op omzet.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noProof="0" dirty="0"/>
              <a:t>Tip: Schrijf eerst de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en maak er dan pas een view van.</a:t>
            </a:r>
          </a:p>
        </p:txBody>
      </p:sp>
    </p:spTree>
    <p:extLst>
      <p:ext uri="{BB962C8B-B14F-4D97-AF65-F5344CB8AC3E}">
        <p14:creationId xmlns:p14="http://schemas.microsoft.com/office/powerpoint/2010/main" val="34723608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01F3E-CB49-03B6-A9A1-EF324F50C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6FF54E-64FF-4096-770F-3700E4F6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/>
              <a:t>Indices en optimalisatie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39FB1B-A047-E71C-74C7-CFA610D12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9782600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31438-AD39-8DDC-81CD-9704B33C0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CAA9-9CD6-9AFA-B0FB-61BC33B4E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Versnellen met indices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066EDAB-8CCA-8796-E47D-3E6F15F780C3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noProof="0" dirty="0"/>
              <a:t>Een index kan een query flink versnellen, omdat niet de hele tabel ingelezen wordt.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Een index maak je aan op een of meer kolommen (vb.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Achternaam</a:t>
            </a:r>
            <a:r>
              <a:rPr lang="nl-NL" sz="2000" noProof="0" dirty="0"/>
              <a:t>).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index koppelt unieke waardes aan rijen.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Let </a:t>
            </a:r>
            <a:r>
              <a:rPr lang="nl-NL" sz="2000" noProof="0"/>
              <a:t>op: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Query bepaalt of index gebruikt wordt of niet!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AD61B5E5-5DD4-23BB-EDC9-EDA98A90B6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2355552"/>
              </p:ext>
            </p:extLst>
          </p:nvPr>
        </p:nvGraphicFramePr>
        <p:xfrm>
          <a:off x="838201" y="4626431"/>
          <a:ext cx="2901594" cy="963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0744">
                  <a:extLst>
                    <a:ext uri="{9D8B030D-6E8A-4147-A177-3AD203B41FA5}">
                      <a16:colId xmlns:a16="http://schemas.microsoft.com/office/drawing/2014/main" val="3558838648"/>
                    </a:ext>
                  </a:extLst>
                </a:gridCol>
                <a:gridCol w="1530850">
                  <a:extLst>
                    <a:ext uri="{9D8B030D-6E8A-4147-A177-3AD203B41FA5}">
                      <a16:colId xmlns:a16="http://schemas.microsoft.com/office/drawing/2014/main" val="481678826"/>
                    </a:ext>
                  </a:extLst>
                </a:gridCol>
              </a:tblGrid>
              <a:tr h="321188"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Achternaam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Rijen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1975932"/>
                  </a:ext>
                </a:extLst>
              </a:tr>
              <a:tr h="321188"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1, 2, 3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01941"/>
                  </a:ext>
                </a:extLst>
              </a:tr>
              <a:tr h="321188"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4, 5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2280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D036736-35A1-FC94-B9CF-FCA492BAC59F}"/>
              </a:ext>
            </a:extLst>
          </p:cNvPr>
          <p:cNvSpPr txBox="1"/>
          <p:nvPr/>
        </p:nvSpPr>
        <p:spPr>
          <a:xfrm>
            <a:off x="838200" y="4298195"/>
            <a:ext cx="16570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 err="1"/>
              <a:t>IndexAchternaam</a:t>
            </a:r>
            <a:endParaRPr lang="nl-NL" sz="1600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D04B05-4FB4-A30A-5BF3-B1E1317207F1}"/>
              </a:ext>
            </a:extLst>
          </p:cNvPr>
          <p:cNvSpPr txBox="1"/>
          <p:nvPr/>
        </p:nvSpPr>
        <p:spPr>
          <a:xfrm>
            <a:off x="838200" y="1825625"/>
            <a:ext cx="8185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Klanten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D6062823-815D-5F49-773B-CA269174D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036111"/>
              </p:ext>
            </p:extLst>
          </p:nvPr>
        </p:nvGraphicFramePr>
        <p:xfrm>
          <a:off x="838201" y="2147510"/>
          <a:ext cx="400811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710">
                  <a:extLst>
                    <a:ext uri="{9D8B030D-6E8A-4147-A177-3AD203B41FA5}">
                      <a16:colId xmlns:a16="http://schemas.microsoft.com/office/drawing/2014/main" val="2368219603"/>
                    </a:ext>
                  </a:extLst>
                </a:gridCol>
                <a:gridCol w="1105326">
                  <a:extLst>
                    <a:ext uri="{9D8B030D-6E8A-4147-A177-3AD203B41FA5}">
                      <a16:colId xmlns:a16="http://schemas.microsoft.com/office/drawing/2014/main" val="2819689573"/>
                    </a:ext>
                  </a:extLst>
                </a:gridCol>
                <a:gridCol w="1413803">
                  <a:extLst>
                    <a:ext uri="{9D8B030D-6E8A-4147-A177-3AD203B41FA5}">
                      <a16:colId xmlns:a16="http://schemas.microsoft.com/office/drawing/2014/main" val="31372077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1661682469"/>
                    </a:ext>
                  </a:extLst>
                </a:gridCol>
              </a:tblGrid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 err="1"/>
                        <a:t>Id</a:t>
                      </a:r>
                      <a:endParaRPr lang="nl-NL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/>
                        <a:t>Achternaam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Leeftijd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9908784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64401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7313966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5413940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2363350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5449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37092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E1DCB-9643-E99B-8802-8416C0F25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8B2AB-DB1C-897A-13BB-A9E7BD0BF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Hoe werkt een index?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5D6B1F5-EF90-615B-B829-DFC4C6F31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647543"/>
              </p:ext>
            </p:extLst>
          </p:nvPr>
        </p:nvGraphicFramePr>
        <p:xfrm>
          <a:off x="3725336" y="1732892"/>
          <a:ext cx="4741328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92666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042444892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44369270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82840074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91730115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23408546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05515535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1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98515"/>
                  </a:ext>
                </a:extLst>
              </a:tr>
            </a:tbl>
          </a:graphicData>
        </a:graphic>
      </p:graphicFrame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9337FF7-DF67-4C6C-C284-12158638C993}"/>
              </a:ext>
            </a:extLst>
          </p:cNvPr>
          <p:cNvSpPr txBox="1">
            <a:spLocks/>
          </p:cNvSpPr>
          <p:nvPr/>
        </p:nvSpPr>
        <p:spPr>
          <a:xfrm>
            <a:off x="2458915" y="3137095"/>
            <a:ext cx="7274169" cy="3011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= 30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Zonder index:</a:t>
            </a:r>
          </a:p>
          <a:p>
            <a:pPr>
              <a:buFontTx/>
              <a:buChar char="-"/>
            </a:pPr>
            <a:r>
              <a:rPr lang="nl-NL" sz="2000" noProof="0" dirty="0"/>
              <a:t>Scan alle waardes en verzamel rijen met waarde 30.</a:t>
            </a:r>
          </a:p>
          <a:p>
            <a:pPr>
              <a:buFontTx/>
              <a:buChar char="-"/>
            </a:pPr>
            <a:r>
              <a:rPr lang="nl-NL" sz="2000" noProof="0" dirty="0"/>
              <a:t>Retourneer rijen 1 en 7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FC5D596-41ED-49CB-F45D-B3B8496F49DB}"/>
              </a:ext>
            </a:extLst>
          </p:cNvPr>
          <p:cNvCxnSpPr/>
          <p:nvPr/>
        </p:nvCxnSpPr>
        <p:spPr>
          <a:xfrm>
            <a:off x="3725336" y="2536394"/>
            <a:ext cx="474133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6798F1C-1854-F297-BE08-3A077DBD65B3}"/>
              </a:ext>
            </a:extLst>
          </p:cNvPr>
          <p:cNvSpPr/>
          <p:nvPr/>
        </p:nvSpPr>
        <p:spPr>
          <a:xfrm>
            <a:off x="4322941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6DE555E-89D7-91DC-D7FF-3DDAFCEA80A2}"/>
              </a:ext>
            </a:extLst>
          </p:cNvPr>
          <p:cNvSpPr/>
          <p:nvPr/>
        </p:nvSpPr>
        <p:spPr>
          <a:xfrm>
            <a:off x="7873476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5963E4-11DA-D263-ADE9-11B9DCCEF3B7}"/>
              </a:ext>
            </a:extLst>
          </p:cNvPr>
          <p:cNvSpPr txBox="1"/>
          <p:nvPr/>
        </p:nvSpPr>
        <p:spPr>
          <a:xfrm>
            <a:off x="2543856" y="1690688"/>
            <a:ext cx="882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waarde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40BCE6-27F3-0C5C-8B3C-07D9D53E9AF5}"/>
              </a:ext>
            </a:extLst>
          </p:cNvPr>
          <p:cNvSpPr txBox="1"/>
          <p:nvPr/>
        </p:nvSpPr>
        <p:spPr>
          <a:xfrm>
            <a:off x="2543855" y="2010740"/>
            <a:ext cx="882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rij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62335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A7E08-43F5-6151-EA8C-1CADD88CD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7E691-D0D9-B8BD-FCF6-43571018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Hoe werkt een index?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208C1A2-9C4D-3B1D-E4B5-6F8C01AEB0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2833447"/>
              </p:ext>
            </p:extLst>
          </p:nvPr>
        </p:nvGraphicFramePr>
        <p:xfrm>
          <a:off x="3560908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F5C84A-5FBE-1C2B-A837-673C764B2F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0461783"/>
              </p:ext>
            </p:extLst>
          </p:nvPr>
        </p:nvGraphicFramePr>
        <p:xfrm>
          <a:off x="5885640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D992B4-CFF9-EEFC-7EAB-27A300E6A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856983"/>
              </p:ext>
            </p:extLst>
          </p:nvPr>
        </p:nvGraphicFramePr>
        <p:xfrm>
          <a:off x="7048006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C4B5D6-26C6-D1ED-5B8B-8F3D264D59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9881948"/>
              </p:ext>
            </p:extLst>
          </p:nvPr>
        </p:nvGraphicFramePr>
        <p:xfrm>
          <a:off x="9372735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FEB7-0CBF-9C70-F643-62A0AF2140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41390"/>
              </p:ext>
            </p:extLst>
          </p:nvPr>
        </p:nvGraphicFramePr>
        <p:xfrm>
          <a:off x="2398542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93485D0-2A5D-F184-640C-96F1B63A93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405442"/>
              </p:ext>
            </p:extLst>
          </p:nvPr>
        </p:nvGraphicFramePr>
        <p:xfrm>
          <a:off x="8210372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F56E14B-F963-D024-F82E-D8CC346CC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9064133"/>
              </p:ext>
            </p:extLst>
          </p:nvPr>
        </p:nvGraphicFramePr>
        <p:xfrm>
          <a:off x="4723274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1, 7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0D528DDA-C017-FCAE-42EA-CF8FA9DA3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691987"/>
              </p:ext>
            </p:extLst>
          </p:nvPr>
        </p:nvGraphicFramePr>
        <p:xfrm>
          <a:off x="3725336" y="1731448"/>
          <a:ext cx="4741328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92666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042444892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44369270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82840074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91730115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23408546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05515535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1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98515"/>
                  </a:ext>
                </a:extLst>
              </a:tr>
            </a:tbl>
          </a:graphicData>
        </a:graphic>
      </p:graphicFrame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209BFD2-7C09-447C-26B3-A1BA3B162AEE}"/>
              </a:ext>
            </a:extLst>
          </p:cNvPr>
          <p:cNvSpPr txBox="1">
            <a:spLocks/>
          </p:cNvSpPr>
          <p:nvPr/>
        </p:nvSpPr>
        <p:spPr>
          <a:xfrm>
            <a:off x="2468192" y="4389074"/>
            <a:ext cx="7243210" cy="190859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cs typeface="Courier New" panose="02070309020205020404" pitchFamily="49" charset="0"/>
              </a:rPr>
              <a:t>Met index:</a:t>
            </a:r>
          </a:p>
          <a:p>
            <a:pPr>
              <a:buFontTx/>
              <a:buChar char="-"/>
            </a:pPr>
            <a:r>
              <a:rPr lang="nl-NL" sz="2000" noProof="0" dirty="0">
                <a:cs typeface="Courier New" panose="02070309020205020404" pitchFamily="49" charset="0"/>
              </a:rPr>
              <a:t>Groepeer en sorteer alle unieke waardes.</a:t>
            </a:r>
          </a:p>
          <a:p>
            <a:pPr>
              <a:buFontTx/>
              <a:buChar char="-"/>
            </a:pPr>
            <a:r>
              <a:rPr lang="nl-NL" sz="2000" noProof="0" dirty="0">
                <a:cs typeface="Courier New" panose="02070309020205020404" pitchFamily="49" charset="0"/>
              </a:rPr>
              <a:t>Verzamel alleen de rijen uit de correcte groep.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cs typeface="Courier New" panose="02070309020205020404" pitchFamily="49" charset="0"/>
              </a:rPr>
              <a:t>Veel minder data in te lezen!</a:t>
            </a:r>
            <a:endParaRPr lang="nl-NL" sz="2000" noProof="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EB21274-AFA5-494E-FC2D-5419AE98FFB1}"/>
              </a:ext>
            </a:extLst>
          </p:cNvPr>
          <p:cNvCxnSpPr>
            <a:cxnSpLocks/>
          </p:cNvCxnSpPr>
          <p:nvPr/>
        </p:nvCxnSpPr>
        <p:spPr>
          <a:xfrm>
            <a:off x="2398542" y="3844930"/>
            <a:ext cx="25715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76D5D813-8A71-28B2-D83B-5C794EB48F8E}"/>
              </a:ext>
            </a:extLst>
          </p:cNvPr>
          <p:cNvSpPr/>
          <p:nvPr/>
        </p:nvSpPr>
        <p:spPr>
          <a:xfrm>
            <a:off x="4723271" y="3073851"/>
            <a:ext cx="549024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387390-231E-0BD3-9D57-FA183679B1C8}"/>
              </a:ext>
            </a:extLst>
          </p:cNvPr>
          <p:cNvSpPr txBox="1"/>
          <p:nvPr/>
        </p:nvSpPr>
        <p:spPr>
          <a:xfrm>
            <a:off x="2543856" y="1690688"/>
            <a:ext cx="882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waarde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8108A-ADD9-E4F3-FF53-12049DD053B1}"/>
              </a:ext>
            </a:extLst>
          </p:cNvPr>
          <p:cNvSpPr txBox="1"/>
          <p:nvPr/>
        </p:nvSpPr>
        <p:spPr>
          <a:xfrm>
            <a:off x="2543855" y="2010740"/>
            <a:ext cx="882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rij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4638F9-76AB-D1BB-C295-CA50E73E7B9C}"/>
              </a:ext>
            </a:extLst>
          </p:cNvPr>
          <p:cNvSpPr/>
          <p:nvPr/>
        </p:nvSpPr>
        <p:spPr>
          <a:xfrm>
            <a:off x="4322941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C9D467-B1FD-6BC1-B5E1-1617912E941B}"/>
              </a:ext>
            </a:extLst>
          </p:cNvPr>
          <p:cNvSpPr/>
          <p:nvPr/>
        </p:nvSpPr>
        <p:spPr>
          <a:xfrm>
            <a:off x="7873476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F1A6EA45-F632-4290-6F94-AFECF75209E0}"/>
              </a:ext>
            </a:extLst>
          </p:cNvPr>
          <p:cNvCxnSpPr>
            <a:stCxn id="16" idx="0"/>
            <a:endCxn id="14" idx="2"/>
          </p:cNvCxnSpPr>
          <p:nvPr/>
        </p:nvCxnSpPr>
        <p:spPr>
          <a:xfrm rot="16200000" flipV="1">
            <a:off x="4461770" y="2537838"/>
            <a:ext cx="693779" cy="37824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9F39301A-1FBC-87F1-E9A3-8A2AE9103DFE}"/>
              </a:ext>
            </a:extLst>
          </p:cNvPr>
          <p:cNvCxnSpPr>
            <a:stCxn id="16" idx="0"/>
            <a:endCxn id="17" idx="2"/>
          </p:cNvCxnSpPr>
          <p:nvPr/>
        </p:nvCxnSpPr>
        <p:spPr>
          <a:xfrm rot="5400000" flipH="1" flipV="1">
            <a:off x="6237037" y="1140819"/>
            <a:ext cx="693779" cy="317228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87220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18C0F-E223-4919-0DD3-F7CA08741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03DE2-F556-BDB6-61FD-3FF63EB76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Hoe werkt een index?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99AA90E-122A-D025-8AD3-19E98EF433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736543"/>
              </p:ext>
            </p:extLst>
          </p:nvPr>
        </p:nvGraphicFramePr>
        <p:xfrm>
          <a:off x="2902503" y="3429001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558944B-BE0A-756F-C2EE-956AA6F827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889779"/>
              </p:ext>
            </p:extLst>
          </p:nvPr>
        </p:nvGraphicFramePr>
        <p:xfrm>
          <a:off x="5757332" y="2668308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E911C59-96E9-698C-BC20-FF492F6D70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846628"/>
              </p:ext>
            </p:extLst>
          </p:nvPr>
        </p:nvGraphicFramePr>
        <p:xfrm>
          <a:off x="8612164" y="3429001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7BE3006-A086-8659-02E3-675C283CE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610970"/>
              </p:ext>
            </p:extLst>
          </p:nvPr>
        </p:nvGraphicFramePr>
        <p:xfrm>
          <a:off x="9999134" y="4280096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BB8A934-ADAF-10C5-1D39-7067F20EF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591194"/>
              </p:ext>
            </p:extLst>
          </p:nvPr>
        </p:nvGraphicFramePr>
        <p:xfrm>
          <a:off x="1872175" y="4280096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DB2919A-04BC-14CA-6BE1-8422670B4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513629"/>
              </p:ext>
            </p:extLst>
          </p:nvPr>
        </p:nvGraphicFramePr>
        <p:xfrm>
          <a:off x="7284331" y="4327354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B23F32-85A8-185F-5918-F1A4CEE6A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7893835"/>
              </p:ext>
            </p:extLst>
          </p:nvPr>
        </p:nvGraphicFramePr>
        <p:xfrm>
          <a:off x="3915377" y="4280096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1, 7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19361B2E-E954-D195-6C79-1029408433D0}"/>
              </a:ext>
            </a:extLst>
          </p:cNvPr>
          <p:cNvCxnSpPr>
            <a:cxnSpLocks/>
            <a:stCxn id="9" idx="1"/>
            <a:endCxn id="8" idx="0"/>
          </p:cNvCxnSpPr>
          <p:nvPr/>
        </p:nvCxnSpPr>
        <p:spPr>
          <a:xfrm rot="10800000" flipV="1">
            <a:off x="3241170" y="2991897"/>
            <a:ext cx="2516163" cy="437103"/>
          </a:xfrm>
          <a:prstGeom prst="bentConnector2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DDAFDA6-347C-AFC6-B485-CC80A530558C}"/>
              </a:ext>
            </a:extLst>
          </p:cNvPr>
          <p:cNvCxnSpPr>
            <a:cxnSpLocks/>
            <a:stCxn id="9" idx="3"/>
            <a:endCxn id="10" idx="0"/>
          </p:cNvCxnSpPr>
          <p:nvPr/>
        </p:nvCxnSpPr>
        <p:spPr>
          <a:xfrm>
            <a:off x="6434665" y="2991898"/>
            <a:ext cx="2516165" cy="4371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649C53D7-BA7C-F37F-45DA-E136A4D61D8C}"/>
              </a:ext>
            </a:extLst>
          </p:cNvPr>
          <p:cNvCxnSpPr>
            <a:cxnSpLocks/>
            <a:stCxn id="8" idx="1"/>
            <a:endCxn id="3" idx="0"/>
          </p:cNvCxnSpPr>
          <p:nvPr/>
        </p:nvCxnSpPr>
        <p:spPr>
          <a:xfrm rot="10800000" flipV="1">
            <a:off x="2210841" y="3752590"/>
            <a:ext cx="691662" cy="5275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BB0F1C2B-C0A1-1EFA-85B3-B5577091C1FC}"/>
              </a:ext>
            </a:extLst>
          </p:cNvPr>
          <p:cNvCxnSpPr>
            <a:cxnSpLocks/>
            <a:stCxn id="8" idx="3"/>
            <a:endCxn id="4" idx="0"/>
          </p:cNvCxnSpPr>
          <p:nvPr/>
        </p:nvCxnSpPr>
        <p:spPr>
          <a:xfrm>
            <a:off x="3579836" y="3752591"/>
            <a:ext cx="674207" cy="527505"/>
          </a:xfrm>
          <a:prstGeom prst="bentConnector2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DE11F16C-EF24-9111-BE3F-331D602E3618}"/>
              </a:ext>
            </a:extLst>
          </p:cNvPr>
          <p:cNvCxnSpPr>
            <a:cxnSpLocks/>
            <a:stCxn id="10" idx="1"/>
            <a:endCxn id="5" idx="0"/>
          </p:cNvCxnSpPr>
          <p:nvPr/>
        </p:nvCxnSpPr>
        <p:spPr>
          <a:xfrm rot="10800000" flipV="1">
            <a:off x="7622998" y="3752590"/>
            <a:ext cx="989167" cy="57476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AA9D834D-5188-FD3B-1444-B8E690CB8555}"/>
              </a:ext>
            </a:extLst>
          </p:cNvPr>
          <p:cNvCxnSpPr>
            <a:cxnSpLocks/>
            <a:stCxn id="10" idx="3"/>
            <a:endCxn id="11" idx="0"/>
          </p:cNvCxnSpPr>
          <p:nvPr/>
        </p:nvCxnSpPr>
        <p:spPr>
          <a:xfrm>
            <a:off x="9289497" y="3752591"/>
            <a:ext cx="1048303" cy="5275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2FBC6CE-6AFE-A133-55FF-984CABB99F14}"/>
              </a:ext>
            </a:extLst>
          </p:cNvPr>
          <p:cNvSpPr txBox="1">
            <a:spLocks/>
          </p:cNvSpPr>
          <p:nvPr/>
        </p:nvSpPr>
        <p:spPr>
          <a:xfrm>
            <a:off x="1992790" y="5564416"/>
            <a:ext cx="7651525" cy="4371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nl-NL" sz="2000" noProof="0" dirty="0"/>
              <a:t>Boomstructuur maakt nog efficiënter gebruik van de volgorde.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E1D33C-33CB-4D44-C88E-1F46043F8B8A}"/>
              </a:ext>
            </a:extLst>
          </p:cNvPr>
          <p:cNvSpPr txBox="1"/>
          <p:nvPr/>
        </p:nvSpPr>
        <p:spPr>
          <a:xfrm>
            <a:off x="4339459" y="2674265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&lt; 40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CA122B-3941-9C4D-CB3B-6CBC4F6F2E9C}"/>
              </a:ext>
            </a:extLst>
          </p:cNvPr>
          <p:cNvSpPr txBox="1"/>
          <p:nvPr/>
        </p:nvSpPr>
        <p:spPr>
          <a:xfrm>
            <a:off x="7035705" y="2673341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&gt; 40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FC18B0-3209-A96D-E6D2-FE7B0025FA21}"/>
              </a:ext>
            </a:extLst>
          </p:cNvPr>
          <p:cNvSpPr txBox="1"/>
          <p:nvPr/>
        </p:nvSpPr>
        <p:spPr>
          <a:xfrm>
            <a:off x="2138713" y="3441843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&lt; 20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079C28-690D-5294-29ED-3E4822DD01A6}"/>
              </a:ext>
            </a:extLst>
          </p:cNvPr>
          <p:cNvSpPr txBox="1"/>
          <p:nvPr/>
        </p:nvSpPr>
        <p:spPr>
          <a:xfrm>
            <a:off x="3860773" y="3450813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&gt; 20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D63D72-235F-1510-1F4F-2A1FBEBE2EE7}"/>
              </a:ext>
            </a:extLst>
          </p:cNvPr>
          <p:cNvSpPr txBox="1"/>
          <p:nvPr/>
        </p:nvSpPr>
        <p:spPr>
          <a:xfrm>
            <a:off x="7532957" y="3444123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&lt; 50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4AD9E0-91D6-37FF-D31A-6B76ED1B4BB2}"/>
              </a:ext>
            </a:extLst>
          </p:cNvPr>
          <p:cNvSpPr txBox="1"/>
          <p:nvPr/>
        </p:nvSpPr>
        <p:spPr>
          <a:xfrm>
            <a:off x="9932462" y="3447495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&gt; 50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494902-A537-BDA3-6B85-97B008A64629}"/>
              </a:ext>
            </a:extLst>
          </p:cNvPr>
          <p:cNvSpPr/>
          <p:nvPr/>
        </p:nvSpPr>
        <p:spPr>
          <a:xfrm>
            <a:off x="3915377" y="4276579"/>
            <a:ext cx="653626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3B979DD-5BEB-EDC6-C6E5-A1EB601F54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19926"/>
              </p:ext>
            </p:extLst>
          </p:nvPr>
        </p:nvGraphicFramePr>
        <p:xfrm>
          <a:off x="3725336" y="1731448"/>
          <a:ext cx="4741328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92666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042444892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44369270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82840074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91730115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23408546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05515535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1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9851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02182A9-E62E-A725-7676-4EF980DAA30D}"/>
              </a:ext>
            </a:extLst>
          </p:cNvPr>
          <p:cNvSpPr txBox="1"/>
          <p:nvPr/>
        </p:nvSpPr>
        <p:spPr>
          <a:xfrm>
            <a:off x="2543856" y="1690688"/>
            <a:ext cx="882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waarde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0E3B2-BBCD-D80F-CD36-53235EB43949}"/>
              </a:ext>
            </a:extLst>
          </p:cNvPr>
          <p:cNvSpPr txBox="1"/>
          <p:nvPr/>
        </p:nvSpPr>
        <p:spPr>
          <a:xfrm>
            <a:off x="2543855" y="2010740"/>
            <a:ext cx="882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rij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438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Syntax index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Klanten(Achternaam);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343481" y="1825625"/>
            <a:ext cx="40103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/>
              <a:t>maak je een index op één of meer kolommen.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5F74A41-A3CA-79AD-4811-55CE0734864F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27865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DCA06-4572-C0E4-2661-B656DCB45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DD0E3-3980-9749-4915-995A69702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Syntax index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F54DC-57A6-57C9-20CE-D8ACD4AA5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Klanten(Achternaam);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UNIQUE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IDX_NaamAchternaam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Klanten(Naam, Achternaam);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D04560D-E22E-B561-FC73-F5C2C167D979}"/>
              </a:ext>
            </a:extLst>
          </p:cNvPr>
          <p:cNvSpPr txBox="1">
            <a:spLocks/>
          </p:cNvSpPr>
          <p:nvPr/>
        </p:nvSpPr>
        <p:spPr>
          <a:xfrm>
            <a:off x="7343481" y="1825625"/>
            <a:ext cx="40103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/>
              <a:t>maak je een index op één of meer kolommen.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geef je aan dat de (combinatie van) waardes uniek is.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F8D051F-A466-05CA-EA75-1AB635C04213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763865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6AD6C-99DD-EFDD-580B-95546BFD3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BA4FB-1FF7-DB94-0F5B-32124FEC8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Syntax index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1DF9B-89CA-B657-6CC1-B5D361EB4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Klanten(Achternaam);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UNIQUE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IDX_NaamAchternaam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Klanten(Naam, Achternaam);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261F69B-4C0B-8EE5-8CE0-1FDD28B9FA74}"/>
              </a:ext>
            </a:extLst>
          </p:cNvPr>
          <p:cNvSpPr txBox="1">
            <a:spLocks/>
          </p:cNvSpPr>
          <p:nvPr/>
        </p:nvSpPr>
        <p:spPr>
          <a:xfrm>
            <a:off x="7343481" y="1825625"/>
            <a:ext cx="40103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/>
              <a:t>maak je een index op één of meer kolommen.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geef je aan dat de (combinatie van) waardes uniek is.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INDEX</a:t>
            </a:r>
            <a:r>
              <a:rPr lang="nl-NL" sz="2000" noProof="0" dirty="0"/>
              <a:t> verwijder je een index.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4BACAEE-9B6B-6428-B0FF-C2C0B45358D2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110972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Wordt de index gebruikt?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EXPLAIN QUERY PLAN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Achternaam =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362334" y="1825625"/>
            <a:ext cx="39914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EXPLAIN QUERY PLAN</a:t>
            </a:r>
            <a:r>
              <a:rPr lang="nl-NL" sz="2000" noProof="0" dirty="0"/>
              <a:t> zie je hoe </a:t>
            </a:r>
            <a:r>
              <a:rPr lang="nl-NL" sz="2000" noProof="0" dirty="0" err="1"/>
              <a:t>SQLite</a:t>
            </a:r>
            <a:r>
              <a:rPr lang="nl-NL" sz="2000" noProof="0" dirty="0"/>
              <a:t> een query uitvoert.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Als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SCAN TABLE</a:t>
            </a:r>
            <a:r>
              <a:rPr lang="nl-NL" sz="2000" noProof="0" dirty="0"/>
              <a:t> in de output staat wordt de hele tabel doorzocht…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Als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SEARCH TABLE ... USING INDEX</a:t>
            </a:r>
            <a:r>
              <a:rPr lang="nl-NL" sz="2000" noProof="0" dirty="0"/>
              <a:t> verschijnt wordt de index gebruikt!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B3FF13B-2B29-5C31-922A-C1F555453D2B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03849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nl-NL" sz="2000" noProof="0" dirty="0"/>
              <a:t>Gebruik voor deze oefening de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 tabel van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noProof="0" dirty="0"/>
              <a:t>.</a:t>
            </a:r>
          </a:p>
          <a:p>
            <a:pPr marL="0" indent="0">
              <a:spcBef>
                <a:spcPts val="600"/>
              </a:spcBef>
              <a:buNone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Schrijf een query om een willekeurig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r>
              <a:rPr lang="nl-NL" sz="2000" noProof="0" dirty="0"/>
              <a:t> te selecteren.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Bekijk het executieplan voor de query.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Voeg nu een index toe op de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r>
              <a:rPr lang="nl-NL" sz="2000" noProof="0" dirty="0"/>
              <a:t> kolom.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Bekijk opnieuw het executieplan; wordt de index gebruikt?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Wordt de index ook gebruikt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nl-NL" sz="2000" noProof="0" dirty="0"/>
              <a:t>? En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LOWER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nl-NL" sz="2000" noProof="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33870832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Huiswerk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944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De sales database was niet erg goed gemodelleerd....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/>
              <a:t>Kun jij de opzet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nl-NL" sz="2000" dirty="0"/>
              <a:t> 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Producten</a:t>
            </a:r>
            <a:r>
              <a:rPr lang="nl-NL" sz="2000" dirty="0"/>
              <a:t> verbeteren?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Maak een ERD waarin je de entiteiten en hun relaties weergeeft.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Maak een SQL script om de tabellen aan te maken.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3FB1EF2-5E0A-4A37-8F20-78CE7AFACEC9}"/>
              </a:ext>
            </a:extLst>
          </p:cNvPr>
          <p:cNvSpPr txBox="1">
            <a:spLocks/>
          </p:cNvSpPr>
          <p:nvPr/>
        </p:nvSpPr>
        <p:spPr>
          <a:xfrm>
            <a:off x="6284360" y="1825625"/>
            <a:ext cx="506944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nl-NL" sz="2000" noProof="0" dirty="0"/>
              <a:t>Hoe zou je de transacties netjes genormaliseerd opslaan (3NF)?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noProof="0" dirty="0"/>
              <a:t>Hoe ga je om met prijswijzigingen of tijdelijke kortingsacties?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Hoe </a:t>
            </a:r>
            <a:r>
              <a:rPr lang="nl-NL" sz="2000" dirty="0"/>
              <a:t>zou je</a:t>
            </a:r>
            <a:r>
              <a:rPr lang="nl-NL" sz="2000" noProof="0" dirty="0"/>
              <a:t> producten met heel veel verschillende </a:t>
            </a:r>
            <a:r>
              <a:rPr lang="nl-NL" sz="2000" noProof="0"/>
              <a:t>eigenschappen opslaan?</a:t>
            </a: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Hoe </a:t>
            </a:r>
            <a:r>
              <a:rPr lang="nl-NL" sz="2000" dirty="0"/>
              <a:t>ga je om met hiërarchische </a:t>
            </a:r>
            <a:r>
              <a:rPr lang="nl-NL" sz="2000" noProof="0" dirty="0"/>
              <a:t>product categorieën (levensmiddelen &gt; vers &gt; </a:t>
            </a:r>
            <a:r>
              <a:rPr lang="nl-NL" sz="2000" dirty="0"/>
              <a:t>f</a:t>
            </a:r>
            <a:r>
              <a:rPr lang="nl-NL" sz="2000" noProof="0" dirty="0"/>
              <a:t>ruit)?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4E5960F-5A4D-4A60-91C5-9D07E2269090}"/>
              </a:ext>
            </a:extLst>
          </p:cNvPr>
          <p:cNvCxnSpPr/>
          <p:nvPr/>
        </p:nvCxnSpPr>
        <p:spPr>
          <a:xfrm>
            <a:off x="6096000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38581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3235</Words>
  <Application>Microsoft Office PowerPoint</Application>
  <PresentationFormat>Widescreen</PresentationFormat>
  <Paragraphs>1007</Paragraphs>
  <Slides>60</Slides>
  <Notes>32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5" baseType="lpstr">
      <vt:lpstr>Arial</vt:lpstr>
      <vt:lpstr>Calibri</vt:lpstr>
      <vt:lpstr>Calibri Light</vt:lpstr>
      <vt:lpstr>Courier New</vt:lpstr>
      <vt:lpstr>Office Theme</vt:lpstr>
      <vt:lpstr>SQL - Cursus</vt:lpstr>
      <vt:lpstr>Agenda</vt:lpstr>
      <vt:lpstr>Structuur en normalisatie</vt:lpstr>
      <vt:lpstr>Entiteiten in tabellen</vt:lpstr>
      <vt:lpstr>Relaties tussen entiteiten</vt:lpstr>
      <vt:lpstr>Drie soorten relaties</vt:lpstr>
      <vt:lpstr>Drie soorten relaties</vt:lpstr>
      <vt:lpstr>Een op veel relaties</vt:lpstr>
      <vt:lpstr>Drie soorten relaties</vt:lpstr>
      <vt:lpstr>Veel op veel relaties</vt:lpstr>
      <vt:lpstr>Veel op veel relaties</vt:lpstr>
      <vt:lpstr>Normalisatie: Eerste vorm</vt:lpstr>
      <vt:lpstr>Normalisatie: Eerste vorm</vt:lpstr>
      <vt:lpstr>Normalisatie: Tweede vorm</vt:lpstr>
      <vt:lpstr>Normalisatie: Tweede vorm</vt:lpstr>
      <vt:lpstr>Normalisatie: Derde vorm</vt:lpstr>
      <vt:lpstr>Normalisatie: Derde vorm</vt:lpstr>
      <vt:lpstr>Normalisatie samenvatting</vt:lpstr>
      <vt:lpstr>Normalisatie overwegingen</vt:lpstr>
      <vt:lpstr>Oefeningen 1</vt:lpstr>
      <vt:lpstr>Oefeningen 1</vt:lpstr>
      <vt:lpstr>Entity Relationship Diagrams</vt:lpstr>
      <vt:lpstr>Entity Relationship Diagram</vt:lpstr>
      <vt:lpstr>Entity Relationship Diagram</vt:lpstr>
      <vt:lpstr>Oefeningen 2</vt:lpstr>
      <vt:lpstr>Oefeningen 2</vt:lpstr>
      <vt:lpstr>Oefeningen 2</vt:lpstr>
      <vt:lpstr>Tabellen en relaties in SQL</vt:lpstr>
      <vt:lpstr>Tabellen aanmaken</vt:lpstr>
      <vt:lpstr>SQLite data types</vt:lpstr>
      <vt:lpstr>Kolom opties</vt:lpstr>
      <vt:lpstr>Primaire sleutel</vt:lpstr>
      <vt:lpstr>Gekoppelde sleutel</vt:lpstr>
      <vt:lpstr>Wijzigingen in gekoppelde tabellen</vt:lpstr>
      <vt:lpstr>Unieke waardes</vt:lpstr>
      <vt:lpstr>Unieke waardes</vt:lpstr>
      <vt:lpstr>Controles op waardes</vt:lpstr>
      <vt:lpstr>Controles een naam geven</vt:lpstr>
      <vt:lpstr>Tabellen verwijderen</vt:lpstr>
      <vt:lpstr>Tabellen verwijderen</vt:lpstr>
      <vt:lpstr>Tabel wijzigen: Hernoemen</vt:lpstr>
      <vt:lpstr>Tabel wijzigen: Kolom hernoemen</vt:lpstr>
      <vt:lpstr>Tabel wijzigen: Kolom toevoegen</vt:lpstr>
      <vt:lpstr>Tabel wijzigen: Kolom verwijderen</vt:lpstr>
      <vt:lpstr>Oefeningen 3</vt:lpstr>
      <vt:lpstr>Views: Opgeslagen queries</vt:lpstr>
      <vt:lpstr>View aanmaken</vt:lpstr>
      <vt:lpstr>View versus tabel</vt:lpstr>
      <vt:lpstr>Oefeningen 4</vt:lpstr>
      <vt:lpstr>Indices en optimalisatie</vt:lpstr>
      <vt:lpstr>Versnellen met indices</vt:lpstr>
      <vt:lpstr>Hoe werkt een index?</vt:lpstr>
      <vt:lpstr>Hoe werkt een index?</vt:lpstr>
      <vt:lpstr>Hoe werkt een index?</vt:lpstr>
      <vt:lpstr>Syntax index aanmaken</vt:lpstr>
      <vt:lpstr>Syntax index aanmaken</vt:lpstr>
      <vt:lpstr>Syntax index aanmaken</vt:lpstr>
      <vt:lpstr>Wordt de index gebruikt?</vt:lpstr>
      <vt:lpstr>Oefeningen 5</vt:lpstr>
      <vt:lpstr>Huiswerk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Introductie</dc:title>
  <dc:creator>Lukas Koning</dc:creator>
  <cp:lastModifiedBy>Lukas Koning</cp:lastModifiedBy>
  <cp:revision>813</cp:revision>
  <dcterms:created xsi:type="dcterms:W3CDTF">2020-09-06T09:43:21Z</dcterms:created>
  <dcterms:modified xsi:type="dcterms:W3CDTF">2026-09-14T10:59:31Z</dcterms:modified>
</cp:coreProperties>
</file>