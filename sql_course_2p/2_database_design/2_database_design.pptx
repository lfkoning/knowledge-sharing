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6"/>
  </p:notesMasterIdLst>
  <p:sldIdLst>
    <p:sldId id="256" r:id="rId2"/>
    <p:sldId id="359" r:id="rId3"/>
    <p:sldId id="347" r:id="rId4"/>
    <p:sldId id="355" r:id="rId5"/>
    <p:sldId id="400" r:id="rId6"/>
    <p:sldId id="356" r:id="rId7"/>
    <p:sldId id="387" r:id="rId8"/>
    <p:sldId id="283" r:id="rId9"/>
    <p:sldId id="386" r:id="rId10"/>
    <p:sldId id="385" r:id="rId11"/>
    <p:sldId id="384" r:id="rId12"/>
    <p:sldId id="306" r:id="rId13"/>
    <p:sldId id="311" r:id="rId14"/>
    <p:sldId id="303" r:id="rId15"/>
    <p:sldId id="312" r:id="rId16"/>
    <p:sldId id="388" r:id="rId17"/>
    <p:sldId id="389" r:id="rId18"/>
    <p:sldId id="314" r:id="rId19"/>
    <p:sldId id="320" r:id="rId20"/>
    <p:sldId id="361" r:id="rId21"/>
    <p:sldId id="399" r:id="rId22"/>
    <p:sldId id="360" r:id="rId23"/>
    <p:sldId id="405" r:id="rId24"/>
    <p:sldId id="266" r:id="rId25"/>
    <p:sldId id="404" r:id="rId26"/>
    <p:sldId id="406" r:id="rId27"/>
    <p:sldId id="407" r:id="rId28"/>
    <p:sldId id="316" r:id="rId29"/>
    <p:sldId id="396" r:id="rId30"/>
    <p:sldId id="401" r:id="rId31"/>
    <p:sldId id="397" r:id="rId32"/>
    <p:sldId id="357" r:id="rId33"/>
    <p:sldId id="319" r:id="rId34"/>
    <p:sldId id="323" r:id="rId35"/>
    <p:sldId id="296" r:id="rId36"/>
    <p:sldId id="335" r:id="rId37"/>
    <p:sldId id="362" r:id="rId38"/>
    <p:sldId id="337" r:id="rId39"/>
    <p:sldId id="363" r:id="rId40"/>
    <p:sldId id="364" r:id="rId41"/>
    <p:sldId id="334" r:id="rId42"/>
    <p:sldId id="365" r:id="rId43"/>
    <p:sldId id="390" r:id="rId44"/>
    <p:sldId id="366" r:id="rId45"/>
    <p:sldId id="391" r:id="rId46"/>
    <p:sldId id="393" r:id="rId47"/>
    <p:sldId id="333" r:id="rId48"/>
    <p:sldId id="392" r:id="rId49"/>
    <p:sldId id="343" r:id="rId50"/>
    <p:sldId id="394" r:id="rId51"/>
    <p:sldId id="377" r:id="rId52"/>
    <p:sldId id="380" r:id="rId53"/>
    <p:sldId id="378" r:id="rId54"/>
    <p:sldId id="398" r:id="rId55"/>
    <p:sldId id="408" r:id="rId56"/>
    <p:sldId id="367" r:id="rId57"/>
    <p:sldId id="372" r:id="rId58"/>
    <p:sldId id="374" r:id="rId59"/>
    <p:sldId id="373" r:id="rId60"/>
    <p:sldId id="297" r:id="rId61"/>
    <p:sldId id="376" r:id="rId62"/>
    <p:sldId id="375" r:id="rId63"/>
    <p:sldId id="341" r:id="rId64"/>
    <p:sldId id="342" r:id="rId65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FD5EA"/>
    <a:srgbClr val="E9EBF5"/>
    <a:srgbClr val="AE5A21"/>
    <a:srgbClr val="ED7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526" autoAdjust="0"/>
  </p:normalViewPr>
  <p:slideViewPr>
    <p:cSldViewPr snapToGrid="0">
      <p:cViewPr varScale="1">
        <p:scale>
          <a:sx n="117" d="100"/>
          <a:sy n="117" d="100"/>
        </p:scale>
        <p:origin x="619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CE90D0-176A-4BE5-B54F-392F0A16E3B3}" type="datetimeFigureOut">
              <a:rPr lang="en-NL" smtClean="0"/>
              <a:t>21/10/2026</a:t>
            </a:fld>
            <a:endParaRPr lang="en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47AAA1-0A2D-4E17-BD7E-ECD1F2F24FF1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1983870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47AAA1-0A2D-4E17-BD7E-ECD1F2F24FF1}" type="slidenum">
              <a:rPr lang="en-NL" smtClean="0"/>
              <a:t>6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7199563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47AAA1-0A2D-4E17-BD7E-ECD1F2F24FF1}" type="slidenum">
              <a:rPr lang="en-NL" smtClean="0"/>
              <a:t>8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5107638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9D0818-3E9A-D850-68D2-33E5909C5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26967F-F265-1AA9-7B42-2C7A13FD75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1E2CCB-3FD7-023E-B10A-BC42A5B030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0A57B0-7CF6-B9C8-C9EB-C982A7E2D9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47AAA1-0A2D-4E17-BD7E-ECD1F2F24FF1}" type="slidenum">
              <a:rPr lang="en-NL" smtClean="0"/>
              <a:t>10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5459480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B364A-E0F2-D0DF-37EE-005ABE2FA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87DAFE-0020-275B-861D-3F762360EC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FFD797-B955-DED6-73C2-E551BF331C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561D1C-4349-6CFD-FC46-609F860A37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47AAA1-0A2D-4E17-BD7E-ECD1F2F24FF1}" type="slidenum">
              <a:rPr lang="en-NL" smtClean="0"/>
              <a:t>11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472498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47AAA1-0A2D-4E17-BD7E-ECD1F2F24FF1}" type="slidenum">
              <a:rPr lang="en-NL" smtClean="0"/>
              <a:t>12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0429918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dirty="0"/>
              <a:t>Merk op: Dubbele waardes in Sport kolom... Vaste categorieën =&gt; dimensie.</a:t>
            </a:r>
          </a:p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47AAA1-0A2D-4E17-BD7E-ECD1F2F24FF1}" type="slidenum">
              <a:rPr lang="en-NL" smtClean="0"/>
              <a:t>13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7881049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Merk op: dubbele waardes in </a:t>
            </a:r>
            <a:r>
              <a:rPr lang="nl-NL" dirty="0" err="1"/>
              <a:t>SportNaam</a:t>
            </a:r>
            <a:r>
              <a:rPr lang="nl-NL" dirty="0"/>
              <a:t> =&gt; Dimensie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47AAA1-0A2D-4E17-BD7E-ECD1F2F24FF1}" type="slidenum">
              <a:rPr lang="en-NL" smtClean="0"/>
              <a:t>14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8818676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47AAA1-0A2D-4E17-BD7E-ECD1F2F24FF1}" type="slidenum">
              <a:rPr lang="en-NL" smtClean="0"/>
              <a:t>15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4552803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47AAA1-0A2D-4E17-BD7E-ECD1F2F24FF1}" type="slidenum">
              <a:rPr lang="en-NL" smtClean="0"/>
              <a:t>33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8014865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47AAA1-0A2D-4E17-BD7E-ECD1F2F24FF1}" type="slidenum">
              <a:rPr lang="en-NL" smtClean="0"/>
              <a:t>34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3772413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47AAA1-0A2D-4E17-BD7E-ECD1F2F24FF1}" type="slidenum">
              <a:rPr lang="en-NL" smtClean="0"/>
              <a:t>35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1396265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47AAA1-0A2D-4E17-BD7E-ECD1F2F24FF1}" type="slidenum">
              <a:rPr lang="en-NL" smtClean="0"/>
              <a:t>36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7547529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8C19D-3B0B-408C-FF85-C9859980E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75BECA-AD2C-CA7F-DF0C-B9817A4369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D06E54-2986-05FC-E7FC-8395F5E18A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E366B3-475D-546B-56A5-09A73FDEFC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47AAA1-0A2D-4E17-BD7E-ECD1F2F24FF1}" type="slidenum">
              <a:rPr lang="en-NL" smtClean="0"/>
              <a:t>37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78397234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1_foreign_keys.sql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47AAA1-0A2D-4E17-BD7E-ECD1F2F24FF1}" type="slidenum">
              <a:rPr lang="en-NL" smtClean="0"/>
              <a:t>38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8408395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73E5D-816F-E2BF-3884-BB16C8BE5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10B711-9485-5047-ECB0-5862C66037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F0E5AC-A702-0C07-5DB6-1B8C4BCDB5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6CBAD1-51F5-B4FD-7655-F2403AB381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47AAA1-0A2D-4E17-BD7E-ECD1F2F24FF1}" type="slidenum">
              <a:rPr lang="en-NL" smtClean="0"/>
              <a:t>39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5318865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14C865-3B0C-E0A4-1A48-C300AC3B3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7E074C-469C-7EEA-8680-1519BF279C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30FF29-DB79-AD94-DBBF-B1BC4D79FC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8D4C32-F0DA-9697-2BA3-F2343AD2DB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47AAA1-0A2D-4E17-BD7E-ECD1F2F24FF1}" type="slidenum">
              <a:rPr lang="en-NL" smtClean="0"/>
              <a:t>40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15770581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OP: Een NULL </a:t>
            </a:r>
            <a:r>
              <a:rPr lang="en-US" dirty="0" err="1"/>
              <a:t>waarde</a:t>
            </a:r>
            <a:r>
              <a:rPr lang="en-US" dirty="0"/>
              <a:t> </a:t>
            </a:r>
            <a:r>
              <a:rPr lang="en-US" dirty="0" err="1"/>
              <a:t>voldoet</a:t>
            </a:r>
            <a:r>
              <a:rPr lang="en-US" dirty="0"/>
              <a:t> </a:t>
            </a:r>
            <a:r>
              <a:rPr lang="en-US" dirty="0" err="1"/>
              <a:t>aan</a:t>
            </a:r>
            <a:r>
              <a:rPr lang="en-US" dirty="0"/>
              <a:t> </a:t>
            </a:r>
            <a:r>
              <a:rPr lang="en-US" dirty="0" err="1"/>
              <a:t>deze</a:t>
            </a:r>
            <a:r>
              <a:rPr lang="en-US" dirty="0"/>
              <a:t> check!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47AAA1-0A2D-4E17-BD7E-ECD1F2F24FF1}" type="slidenum">
              <a:rPr lang="en-NL" smtClean="0"/>
              <a:t>41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31370291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531FA-01C6-005B-5818-FE8B4FF021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9582B3-48F9-C889-1D95-FE233AAE7D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2F2F3F-CA82-8CE0-05ED-87E36254D1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C77FAF-92EE-B52E-0042-E092BD2339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47AAA1-0A2D-4E17-BD7E-ECD1F2F24FF1}" type="slidenum">
              <a:rPr lang="en-NL" smtClean="0"/>
              <a:t>42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80786041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6F3350-EFC0-394A-1D8D-079AF7483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ECF58D-7E4B-FF63-F149-5EDAAAC464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78ED2A-7132-429A-DE1D-1BCE704C89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DC77A8-B0EE-CAA4-855C-A2FC944ECA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47AAA1-0A2D-4E17-BD7E-ECD1F2F24FF1}" type="slidenum">
              <a:rPr lang="en-NL" smtClean="0"/>
              <a:t>43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20091315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3F374-863F-7331-3B0D-9E290990F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B41D1F-4ADD-E724-CF27-01A1633010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06CFE8-26A0-E1EF-44E9-DA6CC9A726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823D76-9A58-8417-59BF-040B30EBBD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47AAA1-0A2D-4E17-BD7E-ECD1F2F24FF1}" type="slidenum">
              <a:rPr lang="en-NL" smtClean="0"/>
              <a:t>44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34375766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EB8630-86FA-AE9C-8420-1628DF274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9CEF4D-AFDF-B85A-B15B-16754896FC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57C2E1-EFB5-8C5A-5374-23DD2A719B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E431CF-4682-78B1-E002-04D1EB67BC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47AAA1-0A2D-4E17-BD7E-ECD1F2F24FF1}" type="slidenum">
              <a:rPr lang="en-NL" smtClean="0"/>
              <a:t>45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78053662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E78E9B-1377-CA8D-D7B3-C4EF60823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764EAA-B3A8-CC9B-BF5A-88A32A0452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DED71B-0005-E24D-0733-1AEE173B8A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14E70E-408D-8A1D-2625-3603216638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47AAA1-0A2D-4E17-BD7E-ECD1F2F24FF1}" type="slidenum">
              <a:rPr lang="en-NL" smtClean="0"/>
              <a:t>46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90693564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47AAA1-0A2D-4E17-BD7E-ECD1F2F24FF1}" type="slidenum">
              <a:rPr lang="en-NL" smtClean="0"/>
              <a:t>47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97409166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1DF25-D976-FE76-2131-7C08F05DC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FF9300-5C16-958C-165E-8FE6BEB230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983C2B-28AC-5307-0737-723DF20B45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CB7C19-57A7-8F82-AF70-126F5A6242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47AAA1-0A2D-4E17-BD7E-ECD1F2F24FF1}" type="slidenum">
              <a:rPr lang="en-NL" smtClean="0"/>
              <a:t>48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2717256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D06C9D-D285-240A-5082-D3B73EB99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ED4C2A-58DE-999E-88CD-A1BDD01C09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F2A6E7-4A93-A2E8-6C2C-1F2999C750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43F1BF-1DD6-FE7F-B3C8-87E72DF81D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47AAA1-0A2D-4E17-BD7E-ECD1F2F24FF1}" type="slidenum">
              <a:rPr lang="en-NL" smtClean="0"/>
              <a:t>56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72150762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E49E2D-3C86-B8A4-0BF0-9DB59A9CC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B69CBB-12E5-2B52-E874-1993F238C1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CEEA81-B5A7-4326-B0FC-78E4222AAF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05A12C-7362-63CE-E278-94AC44BB6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47AAA1-0A2D-4E17-BD7E-ECD1F2F24FF1}" type="slidenum">
              <a:rPr lang="en-NL" smtClean="0"/>
              <a:t>57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74626322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DE250-30DE-7AEA-1834-8588EEBE4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0F8D09-3660-2EBB-9E4A-33CAD63502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D32D69-DA70-099D-235E-72ECA16BBB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79FB81-53F3-361A-F5D2-94640B1AF4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47AAA1-0A2D-4E17-BD7E-ECD1F2F24FF1}" type="slidenum">
              <a:rPr lang="en-NL" smtClean="0"/>
              <a:t>58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7754401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095EA-6422-0DF1-856C-88227AE28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944B9D-E626-365F-6009-ECB5178442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858D50-99E6-D9DA-6D35-9D550BBC08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D00173-5CAC-B6F6-6863-D085DBDD61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47AAA1-0A2D-4E17-BD7E-ECD1F2F24FF1}" type="slidenum">
              <a:rPr lang="en-NL" smtClean="0"/>
              <a:t>59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24976088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47AAA1-0A2D-4E17-BD7E-ECD1F2F24FF1}" type="slidenum">
              <a:rPr lang="en-NL" smtClean="0"/>
              <a:t>60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31547576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0B374-5F6D-3EA5-DC53-0D2835870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0BF106-18B3-8F3E-9E03-894E4449EA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31FD4E-86A5-E83F-81A0-A8451BF4E0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68640A-4396-062B-233C-E06B7686A9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47AAA1-0A2D-4E17-BD7E-ECD1F2F24FF1}" type="slidenum">
              <a:rPr lang="en-NL" smtClean="0"/>
              <a:t>61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94989561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FD619B-60B3-1971-A43E-851D3D9FC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9D4329-EFBE-CE34-74E4-C78F5C234A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A42EAA-C927-8F22-3F1A-B0802540A8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82A95B-6A5E-8FB7-1E78-308DC77B00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47AAA1-0A2D-4E17-BD7E-ECD1F2F24FF1}" type="slidenum">
              <a:rPr lang="en-NL" smtClean="0"/>
              <a:t>62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71100837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47AAA1-0A2D-4E17-BD7E-ECD1F2F24FF1}" type="slidenum">
              <a:rPr lang="en-NL" smtClean="0"/>
              <a:t>63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2835321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50CC9-ED9D-4D4F-8C1E-EBA1D453D4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8E966D-7652-4557-A9F9-7DF935DAE8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FCB7AD-6354-4B46-A1B1-8AB8F13B3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5CBDA-B49C-4B0F-9869-5B15867EA611}" type="datetimeFigureOut">
              <a:rPr lang="en-NL" smtClean="0"/>
              <a:t>21/10/2026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AA64DE-EF41-4835-B7FB-322DD9145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2704FD-6460-4364-A0B8-96D160BBE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390F7-FAA2-4B68-BA07-56F074E5116B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8897431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FA4E2-0D21-4416-968C-C61A95E80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2712F5-D9DF-4F18-AB0B-0570F768C6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DE2A40-5B6A-435A-9505-0394EADD5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5CBDA-B49C-4B0F-9869-5B15867EA611}" type="datetimeFigureOut">
              <a:rPr lang="en-NL" smtClean="0"/>
              <a:t>21/10/2026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44E54C-44AC-49EA-ADDF-39EA1D73B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B0B503-6745-455E-9167-2332D1439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390F7-FAA2-4B68-BA07-56F074E5116B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954998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E36DE-605D-44B2-AA42-4AAAEA86B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495106-FE69-4402-9578-64BC2080BF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1488F4-C235-4C6F-84B7-3BD91417B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5CBDA-B49C-4B0F-9869-5B15867EA611}" type="datetimeFigureOut">
              <a:rPr lang="en-NL" smtClean="0"/>
              <a:t>21/10/2026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55E1DD-D3C1-4E79-94A6-35DA4A333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D6E79C-7AF9-4978-9B94-79E00D966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390F7-FAA2-4B68-BA07-56F074E5116B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0783259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42DDF-E3AE-4295-96E9-97CC8175F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B45F90-BA76-4780-A8D9-CD685DC741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6D3A87-C96D-44C9-8EF2-C5856D0E18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86C641-16CC-447F-941B-2A221036D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5CBDA-B49C-4B0F-9869-5B15867EA611}" type="datetimeFigureOut">
              <a:rPr lang="en-NL" smtClean="0"/>
              <a:t>21/10/2026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60114C-8219-4904-B12D-606CCA5DE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741C20-F59F-4984-9E7E-384413727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390F7-FAA2-4B68-BA07-56F074E5116B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179847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0CB04-7F85-457D-983B-717ECAC1A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B9FC22-D5B7-4E55-894C-F63B97378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156CE9-C92E-4B4C-8603-6950862901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445C1E-1E47-4FF1-8753-C33198D688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7E0C64-BF99-45A8-91AD-35BF431C04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B75584-3091-43F6-8D86-500DC9042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5CBDA-B49C-4B0F-9869-5B15867EA611}" type="datetimeFigureOut">
              <a:rPr lang="en-NL" smtClean="0"/>
              <a:t>21/10/2026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4089D8-0844-4346-9C6C-0D2C381D0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5E7C50-547D-49E9-951A-67EF9F3CF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390F7-FAA2-4B68-BA07-56F074E5116B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555388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00436-DC28-4112-95C6-55B0FBC0F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2EBB85-00C5-41BB-9448-F49184457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5CBDA-B49C-4B0F-9869-5B15867EA611}" type="datetimeFigureOut">
              <a:rPr lang="en-NL" smtClean="0"/>
              <a:t>21/10/2026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E020E7-2C2A-466B-ACE7-47462B1E4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B1D739-B63A-4BB5-BF5B-E376C50F5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390F7-FAA2-4B68-BA07-56F074E5116B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563474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3BCBF1-D4A7-4B82-9772-A3D7FB08E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5CBDA-B49C-4B0F-9869-5B15867EA611}" type="datetimeFigureOut">
              <a:rPr lang="en-NL" smtClean="0"/>
              <a:t>21/10/2026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CDDBC3-E0A3-4A22-AB03-E9EAE5E50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A5837C-C6F6-4CAF-BB73-E9984C752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390F7-FAA2-4B68-BA07-56F074E5116B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0731408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AC6B8-091C-4133-AECF-BCFA2FD66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12F084-4126-45E3-ACA0-7475A2E381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3BE3DF-44A3-4870-96ED-7175449015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B1E646-9206-4CFC-8110-78B874415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5CBDA-B49C-4B0F-9869-5B15867EA611}" type="datetimeFigureOut">
              <a:rPr lang="en-NL" smtClean="0"/>
              <a:t>21/10/2026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594BFF-1FC2-48F0-A7B4-13BEBF217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79ED3F-9BB2-4EEA-8C72-58F6B6287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390F7-FAA2-4B68-BA07-56F074E5116B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0663454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01235-EC3B-4A57-AC4C-5759D0949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EC46B4-56DD-4886-8BBC-49A6191DAF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23869C-90F1-498A-B310-9C050629C1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5CC9E3-D4DE-4D3A-B32C-1C978D6C1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5CBDA-B49C-4B0F-9869-5B15867EA611}" type="datetimeFigureOut">
              <a:rPr lang="en-NL" smtClean="0"/>
              <a:t>21/10/2026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FB6B80-0A18-40C3-9A3C-91852A471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91F956-F6E6-4E56-A2DA-271827C57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390F7-FAA2-4B68-BA07-56F074E5116B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2007013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92C93-0384-43C7-9270-53AA5CC40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727274-EF82-499F-9F62-8716430DA1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2AB32C-5ABC-47EE-BCBB-EBDD09F8C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5CBDA-B49C-4B0F-9869-5B15867EA611}" type="datetimeFigureOut">
              <a:rPr lang="en-NL" smtClean="0"/>
              <a:t>21/10/2026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579F4C-465F-432E-94F2-143817145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D3C283-364C-4E66-B8A1-E60281CF7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390F7-FAA2-4B68-BA07-56F074E5116B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6199743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83F3F4-3DB7-4772-B734-E3D4EC57AA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383D0B-A6E9-420B-BB32-2EE23BDD4A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56CBA8-F239-41EA-BB1B-F2AC50769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5CBDA-B49C-4B0F-9869-5B15867EA611}" type="datetimeFigureOut">
              <a:rPr lang="en-NL" smtClean="0"/>
              <a:t>21/10/2026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3F5E8E-4E02-43BB-BA09-E3DBD0A79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B5E216-2F85-4809-BCC5-7F592CD46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390F7-FAA2-4B68-BA07-56F074E5116B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3059115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7E9155-A6E4-486A-B6D8-6669D7412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770AE5-F952-4258-8970-EA7B89F3FD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2BE9F0-569D-4B38-94CC-CEF98F6818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15CBDA-B49C-4B0F-9869-5B15867EA611}" type="datetimeFigureOut">
              <a:rPr lang="en-NL" smtClean="0"/>
              <a:t>21/10/2026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F84339-0EC9-4B98-B74B-C84A1578DB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B0DA69-2268-4481-8C7E-C48F42FA30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E390F7-FAA2-4B68-BA07-56F074E5116B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309757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qlite.org/lang_altertable.html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qlite.org/lang_altertable.html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66FA2-7221-489B-AB51-A8440470F2F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noProof="0" dirty="0"/>
              <a:t>SQL - Cursus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D03C72-2A16-4BC3-8AC1-0B03137BE88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noProof="0" dirty="0"/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36014477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1D606-8DD1-369C-5C09-471CDD551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2D286-E049-0AAB-1360-B7157E11A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6267"/>
            <a:ext cx="10515600" cy="472069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nl-NL" sz="2000" noProof="0" dirty="0"/>
              <a:t>Structuur en normalisatie.</a:t>
            </a:r>
          </a:p>
          <a:p>
            <a:pPr>
              <a:spcAft>
                <a:spcPts val="600"/>
              </a:spcAft>
            </a:pPr>
            <a:endParaRPr lang="nl-NL" sz="2000" noProof="0" dirty="0"/>
          </a:p>
          <a:p>
            <a:pPr>
              <a:spcAft>
                <a:spcPts val="600"/>
              </a:spcAft>
            </a:pPr>
            <a:r>
              <a:rPr lang="nl-NL" sz="2000" noProof="0" dirty="0" err="1"/>
              <a:t>Entity</a:t>
            </a:r>
            <a:r>
              <a:rPr lang="nl-NL" sz="2000" noProof="0" dirty="0"/>
              <a:t> </a:t>
            </a:r>
            <a:r>
              <a:rPr lang="nl-NL" sz="2000" noProof="0" dirty="0" err="1"/>
              <a:t>Relationship</a:t>
            </a:r>
            <a:r>
              <a:rPr lang="nl-NL" sz="2000" noProof="0" dirty="0"/>
              <a:t> </a:t>
            </a:r>
            <a:r>
              <a:rPr lang="nl-NL" sz="2000" noProof="0" dirty="0" err="1"/>
              <a:t>Diagrams</a:t>
            </a:r>
            <a:r>
              <a:rPr lang="nl-NL" sz="2000" noProof="0" dirty="0"/>
              <a:t> (ERD).</a:t>
            </a:r>
          </a:p>
          <a:p>
            <a:pPr>
              <a:spcAft>
                <a:spcPts val="600"/>
              </a:spcAft>
            </a:pPr>
            <a:endParaRPr lang="nl-NL" sz="2000" noProof="0" dirty="0"/>
          </a:p>
          <a:p>
            <a:pPr>
              <a:spcAft>
                <a:spcPts val="600"/>
              </a:spcAft>
            </a:pPr>
            <a:r>
              <a:rPr lang="nl-NL" sz="2000" noProof="0" dirty="0"/>
              <a:t>Syntax tabellen en relaties aanmaken.</a:t>
            </a:r>
          </a:p>
          <a:p>
            <a:pPr>
              <a:spcAft>
                <a:spcPts val="600"/>
              </a:spcAft>
            </a:pPr>
            <a:endParaRPr lang="nl-NL" sz="2000" noProof="0" dirty="0"/>
          </a:p>
          <a:p>
            <a:pPr>
              <a:spcAft>
                <a:spcPts val="600"/>
              </a:spcAft>
            </a:pPr>
            <a:r>
              <a:rPr lang="nl-NL" sz="2000" noProof="0" dirty="0"/>
              <a:t>Indices en optimalisaties.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CD4BFA-BE16-2B70-772E-C4C5042A23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217736">
            <a:off x="8324075" y="3685187"/>
            <a:ext cx="2694468" cy="2415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6111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021A23A-264E-4F48-8D91-52361A485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4400" noProof="0" dirty="0"/>
              <a:t>Structuur en normalisatie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343CC5-EAA5-4394-8782-3BBA201EEC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27546179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FD261-0D2C-41B9-9E28-43DF575D4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600" noProof="0" dirty="0"/>
              <a:t>Entiteiten in tabellen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4B503-C44F-453E-9465-D42E4557DE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442825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2000" noProof="0" dirty="0"/>
              <a:t>Entiteiten en hun attributen slaan we op in tabellen:</a:t>
            </a:r>
          </a:p>
          <a:p>
            <a:pPr marL="0" indent="0">
              <a:buNone/>
            </a:pPr>
            <a:endParaRPr lang="nl-NL" sz="2000" noProof="0" dirty="0"/>
          </a:p>
          <a:p>
            <a:pPr marL="0" indent="0">
              <a:buNone/>
            </a:pPr>
            <a:endParaRPr lang="nl-NL" sz="2000" noProof="0" dirty="0"/>
          </a:p>
        </p:txBody>
      </p:sp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62CA46F3-D9D4-4F4A-856A-A943EE0F0F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8112305"/>
              </p:ext>
            </p:extLst>
          </p:nvPr>
        </p:nvGraphicFramePr>
        <p:xfrm>
          <a:off x="989028" y="2928721"/>
          <a:ext cx="1820160" cy="184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0160">
                  <a:extLst>
                    <a:ext uri="{9D8B030D-6E8A-4147-A177-3AD203B41FA5}">
                      <a16:colId xmlns:a16="http://schemas.microsoft.com/office/drawing/2014/main" val="250867733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nl-NL" noProof="0" dirty="0"/>
                        <a:t>Klanten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87910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b="0" noProof="0" dirty="0" err="1"/>
                        <a:t>KlantID</a:t>
                      </a:r>
                      <a:endParaRPr lang="nl-NL" b="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88119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noProof="0" dirty="0"/>
                        <a:t>Voornaam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4785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noProof="0" dirty="0"/>
                        <a:t>Achternaam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52621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noProof="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3937255"/>
                  </a:ext>
                </a:extLst>
              </a:tr>
            </a:tbl>
          </a:graphicData>
        </a:graphic>
      </p:graphicFrame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2F81CE1D-F9ED-02C0-0A6D-49B2EC941B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2633084"/>
              </p:ext>
            </p:extLst>
          </p:nvPr>
        </p:nvGraphicFramePr>
        <p:xfrm>
          <a:off x="4275840" y="2928721"/>
          <a:ext cx="1820160" cy="184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0160">
                  <a:extLst>
                    <a:ext uri="{9D8B030D-6E8A-4147-A177-3AD203B41FA5}">
                      <a16:colId xmlns:a16="http://schemas.microsoft.com/office/drawing/2014/main" val="250867733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nl-NL" noProof="0" dirty="0"/>
                        <a:t>Transacties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87910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b="0" noProof="0" dirty="0" err="1"/>
                        <a:t>KlantID</a:t>
                      </a:r>
                      <a:endParaRPr lang="nl-NL" b="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88119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b="0" noProof="0" dirty="0" err="1"/>
                        <a:t>ProductID</a:t>
                      </a:r>
                      <a:endParaRPr lang="nl-NL" b="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4785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noProof="0" dirty="0" err="1"/>
                        <a:t>DatumTijd</a:t>
                      </a:r>
                      <a:endParaRPr lang="nl-NL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52621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noProof="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3937255"/>
                  </a:ext>
                </a:extLst>
              </a:tr>
            </a:tbl>
          </a:graphicData>
        </a:graphic>
      </p:graphicFrame>
      <p:graphicFrame>
        <p:nvGraphicFramePr>
          <p:cNvPr id="8" name="Table 5">
            <a:extLst>
              <a:ext uri="{FF2B5EF4-FFF2-40B4-BE49-F238E27FC236}">
                <a16:creationId xmlns:a16="http://schemas.microsoft.com/office/drawing/2014/main" id="{F4917DC8-4826-215A-40A2-62AE8EF1EF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4981733"/>
              </p:ext>
            </p:extLst>
          </p:nvPr>
        </p:nvGraphicFramePr>
        <p:xfrm>
          <a:off x="7562652" y="2928721"/>
          <a:ext cx="1820160" cy="184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0160">
                  <a:extLst>
                    <a:ext uri="{9D8B030D-6E8A-4147-A177-3AD203B41FA5}">
                      <a16:colId xmlns:a16="http://schemas.microsoft.com/office/drawing/2014/main" val="250867733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nl-NL" noProof="0" dirty="0"/>
                        <a:t>Producten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87910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b="0" noProof="0" dirty="0" err="1"/>
                        <a:t>ProductID</a:t>
                      </a:r>
                      <a:endParaRPr lang="nl-NL" b="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88119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noProof="0" dirty="0"/>
                        <a:t>Naam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4785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noProof="0" dirty="0"/>
                        <a:t>Omschrijving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52621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noProof="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39372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09906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1D7E4-E4E1-DB28-2480-0E438C0A0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2A374-A371-A319-2249-C7A316039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600" noProof="0" dirty="0"/>
              <a:t>Relaties tussen entiteiten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18734E-B23B-45FD-7081-B7B9CBD0F0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442825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2000" noProof="0" dirty="0"/>
              <a:t>Entiteiten hebben vaak relaties met andere entiteiten:</a:t>
            </a:r>
          </a:p>
          <a:p>
            <a:pPr marL="0" indent="0">
              <a:buNone/>
            </a:pPr>
            <a:endParaRPr lang="nl-NL" sz="2000" noProof="0" dirty="0"/>
          </a:p>
          <a:p>
            <a:pPr marL="0" indent="0">
              <a:buNone/>
            </a:pPr>
            <a:endParaRPr lang="nl-NL" sz="2000" noProof="0" dirty="0"/>
          </a:p>
        </p:txBody>
      </p:sp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AB7E13FA-9F56-DA49-FDD8-3A0AC6314395}"/>
              </a:ext>
            </a:extLst>
          </p:cNvPr>
          <p:cNvGraphicFramePr>
            <a:graphicFrameLocks noGrp="1"/>
          </p:cNvGraphicFramePr>
          <p:nvPr/>
        </p:nvGraphicFramePr>
        <p:xfrm>
          <a:off x="989028" y="2928721"/>
          <a:ext cx="1820160" cy="184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0160">
                  <a:extLst>
                    <a:ext uri="{9D8B030D-6E8A-4147-A177-3AD203B41FA5}">
                      <a16:colId xmlns:a16="http://schemas.microsoft.com/office/drawing/2014/main" val="250867733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nl-NL" noProof="0" dirty="0"/>
                        <a:t>Klanten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87910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b="1" noProof="0" dirty="0" err="1"/>
                        <a:t>KlantID</a:t>
                      </a:r>
                      <a:endParaRPr lang="nl-NL" b="1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88119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noProof="0" dirty="0"/>
                        <a:t>Voornaam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4785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noProof="0" dirty="0"/>
                        <a:t>Achternaam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52621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noProof="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3937255"/>
                  </a:ext>
                </a:extLst>
              </a:tr>
            </a:tbl>
          </a:graphicData>
        </a:graphic>
      </p:graphicFrame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8F6904AC-D45A-B8CF-D155-AF22C0A793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2274245"/>
              </p:ext>
            </p:extLst>
          </p:nvPr>
        </p:nvGraphicFramePr>
        <p:xfrm>
          <a:off x="4275840" y="2928721"/>
          <a:ext cx="1820160" cy="184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0160">
                  <a:extLst>
                    <a:ext uri="{9D8B030D-6E8A-4147-A177-3AD203B41FA5}">
                      <a16:colId xmlns:a16="http://schemas.microsoft.com/office/drawing/2014/main" val="250867733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nl-NL" noProof="0" dirty="0"/>
                        <a:t>Transacties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87910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b="1" noProof="0" dirty="0" err="1"/>
                        <a:t>KlantID</a:t>
                      </a:r>
                      <a:endParaRPr lang="nl-NL" b="1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88119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b="1" noProof="0" dirty="0" err="1"/>
                        <a:t>ProductID</a:t>
                      </a:r>
                      <a:endParaRPr lang="nl-NL" b="1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4785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noProof="0" dirty="0" err="1"/>
                        <a:t>DatumTijd</a:t>
                      </a:r>
                      <a:endParaRPr lang="nl-NL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52621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noProof="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3937255"/>
                  </a:ext>
                </a:extLst>
              </a:tr>
            </a:tbl>
          </a:graphicData>
        </a:graphic>
      </p:graphicFrame>
      <p:graphicFrame>
        <p:nvGraphicFramePr>
          <p:cNvPr id="8" name="Table 5">
            <a:extLst>
              <a:ext uri="{FF2B5EF4-FFF2-40B4-BE49-F238E27FC236}">
                <a16:creationId xmlns:a16="http://schemas.microsoft.com/office/drawing/2014/main" id="{72D15F22-FBB5-9119-44F4-975437D91939}"/>
              </a:ext>
            </a:extLst>
          </p:cNvPr>
          <p:cNvGraphicFramePr>
            <a:graphicFrameLocks noGrp="1"/>
          </p:cNvGraphicFramePr>
          <p:nvPr/>
        </p:nvGraphicFramePr>
        <p:xfrm>
          <a:off x="7562652" y="2928721"/>
          <a:ext cx="1820160" cy="184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0160">
                  <a:extLst>
                    <a:ext uri="{9D8B030D-6E8A-4147-A177-3AD203B41FA5}">
                      <a16:colId xmlns:a16="http://schemas.microsoft.com/office/drawing/2014/main" val="250867733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nl-NL" noProof="0" dirty="0"/>
                        <a:t>Producten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87910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b="1" noProof="0" dirty="0" err="1"/>
                        <a:t>ProductID</a:t>
                      </a:r>
                      <a:endParaRPr lang="nl-NL" b="1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88119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noProof="0" dirty="0"/>
                        <a:t>Naam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4785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noProof="0" dirty="0"/>
                        <a:t>Omschrijving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52621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noProof="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3937255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C5CE9CE-1036-311F-D491-F8E252E57D9B}"/>
              </a:ext>
            </a:extLst>
          </p:cNvPr>
          <p:cNvCxnSpPr/>
          <p:nvPr/>
        </p:nvCxnSpPr>
        <p:spPr>
          <a:xfrm>
            <a:off x="2809188" y="3476135"/>
            <a:ext cx="146665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F4EEBDFA-2050-55B2-A4F3-A02F5C160EC2}"/>
              </a:ext>
            </a:extLst>
          </p:cNvPr>
          <p:cNvCxnSpPr/>
          <p:nvPr/>
        </p:nvCxnSpPr>
        <p:spPr>
          <a:xfrm flipV="1">
            <a:off x="6096000" y="3476135"/>
            <a:ext cx="1466652" cy="377146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01584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FD261-0D2C-41B9-9E28-43DF575D4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600" noProof="0" dirty="0"/>
              <a:t>Drie soorten relaties</a:t>
            </a:r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03C5159B-CC96-B768-65C5-6D3F2D1938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8666545"/>
              </p:ext>
            </p:extLst>
          </p:nvPr>
        </p:nvGraphicFramePr>
        <p:xfrm>
          <a:off x="838200" y="1635709"/>
          <a:ext cx="10442826" cy="17355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1868">
                  <a:extLst>
                    <a:ext uri="{9D8B030D-6E8A-4147-A177-3AD203B41FA5}">
                      <a16:colId xmlns:a16="http://schemas.microsoft.com/office/drawing/2014/main" val="2462131715"/>
                    </a:ext>
                  </a:extLst>
                </a:gridCol>
                <a:gridCol w="4424290">
                  <a:extLst>
                    <a:ext uri="{9D8B030D-6E8A-4147-A177-3AD203B41FA5}">
                      <a16:colId xmlns:a16="http://schemas.microsoft.com/office/drawing/2014/main" val="2197458734"/>
                    </a:ext>
                  </a:extLst>
                </a:gridCol>
                <a:gridCol w="4556668">
                  <a:extLst>
                    <a:ext uri="{9D8B030D-6E8A-4147-A177-3AD203B41FA5}">
                      <a16:colId xmlns:a16="http://schemas.microsoft.com/office/drawing/2014/main" val="1150342863"/>
                    </a:ext>
                  </a:extLst>
                </a:gridCol>
              </a:tblGrid>
              <a:tr h="456205">
                <a:tc>
                  <a:txBody>
                    <a:bodyPr/>
                    <a:lstStyle/>
                    <a:p>
                      <a:r>
                        <a:rPr lang="nl-NL" noProof="0" dirty="0"/>
                        <a:t>Soort relatie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NL" noProof="0" dirty="0"/>
                        <a:t>Voorbeeld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NL" noProof="0" dirty="0"/>
                        <a:t>Structuur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239531"/>
                  </a:ext>
                </a:extLst>
              </a:tr>
              <a:tr h="1279351">
                <a:tc>
                  <a:txBody>
                    <a:bodyPr/>
                    <a:lstStyle/>
                    <a:p>
                      <a:r>
                        <a:rPr lang="nl-NL" noProof="0" dirty="0"/>
                        <a:t>één op één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NL" noProof="0" dirty="0"/>
                        <a:t>Een klant heeft één BSN.</a:t>
                      </a:r>
                    </a:p>
                    <a:p>
                      <a:endParaRPr lang="nl-NL" noProof="0" dirty="0"/>
                    </a:p>
                    <a:p>
                      <a:r>
                        <a:rPr lang="nl-NL" noProof="0" dirty="0"/>
                        <a:t>Een BSN hoort bij één klant.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NL" noProof="0" dirty="0"/>
                        <a:t>Opnemen als attribuut in de tabel.</a:t>
                      </a:r>
                    </a:p>
                    <a:p>
                      <a:r>
                        <a:rPr lang="nl-NL" noProof="0" dirty="0"/>
                        <a:t>(</a:t>
                      </a:r>
                      <a:r>
                        <a:rPr lang="nl-NL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Klanten</a:t>
                      </a:r>
                      <a:r>
                        <a:rPr lang="nl-NL" noProof="0" dirty="0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88274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60870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B8F25-2BA0-5FDC-FB45-F996780A2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E9A4F-A86C-B709-8758-88D230BA3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600" noProof="0" dirty="0"/>
              <a:t>Drie soorten relaties</a:t>
            </a:r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BACF9B3A-4A0F-C35F-97CD-8486599260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4030726"/>
              </p:ext>
            </p:extLst>
          </p:nvPr>
        </p:nvGraphicFramePr>
        <p:xfrm>
          <a:off x="838200" y="1635709"/>
          <a:ext cx="10442826" cy="30149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1868">
                  <a:extLst>
                    <a:ext uri="{9D8B030D-6E8A-4147-A177-3AD203B41FA5}">
                      <a16:colId xmlns:a16="http://schemas.microsoft.com/office/drawing/2014/main" val="2462131715"/>
                    </a:ext>
                  </a:extLst>
                </a:gridCol>
                <a:gridCol w="4424290">
                  <a:extLst>
                    <a:ext uri="{9D8B030D-6E8A-4147-A177-3AD203B41FA5}">
                      <a16:colId xmlns:a16="http://schemas.microsoft.com/office/drawing/2014/main" val="2197458734"/>
                    </a:ext>
                  </a:extLst>
                </a:gridCol>
                <a:gridCol w="4556668">
                  <a:extLst>
                    <a:ext uri="{9D8B030D-6E8A-4147-A177-3AD203B41FA5}">
                      <a16:colId xmlns:a16="http://schemas.microsoft.com/office/drawing/2014/main" val="1150342863"/>
                    </a:ext>
                  </a:extLst>
                </a:gridCol>
              </a:tblGrid>
              <a:tr h="456205">
                <a:tc>
                  <a:txBody>
                    <a:bodyPr/>
                    <a:lstStyle/>
                    <a:p>
                      <a:r>
                        <a:rPr lang="nl-NL" noProof="0" dirty="0"/>
                        <a:t>Soort relatie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NL" noProof="0" dirty="0"/>
                        <a:t>Voorbeeld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NL" noProof="0" dirty="0"/>
                        <a:t>Structuur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239531"/>
                  </a:ext>
                </a:extLst>
              </a:tr>
              <a:tr h="1279351">
                <a:tc>
                  <a:txBody>
                    <a:bodyPr/>
                    <a:lstStyle/>
                    <a:p>
                      <a:r>
                        <a:rPr lang="nl-NL" noProof="0" dirty="0"/>
                        <a:t>één op één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NL" noProof="0" dirty="0"/>
                        <a:t>Een klant heeft één BSN.</a:t>
                      </a:r>
                    </a:p>
                    <a:p>
                      <a:endParaRPr lang="nl-NL" noProof="0" dirty="0"/>
                    </a:p>
                    <a:p>
                      <a:r>
                        <a:rPr lang="nl-NL" noProof="0" dirty="0"/>
                        <a:t>Een BSN hoort bij één klant.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NL" noProof="0" dirty="0"/>
                        <a:t>Opnemen als attribuut in de tabel.</a:t>
                      </a:r>
                    </a:p>
                    <a:p>
                      <a:r>
                        <a:rPr lang="nl-NL" noProof="0" dirty="0"/>
                        <a:t>(</a:t>
                      </a:r>
                      <a:r>
                        <a:rPr lang="nl-NL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Klanten</a:t>
                      </a:r>
                      <a:r>
                        <a:rPr lang="nl-NL" noProof="0" dirty="0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8827451"/>
                  </a:ext>
                </a:extLst>
              </a:tr>
              <a:tr h="1279351">
                <a:tc>
                  <a:txBody>
                    <a:bodyPr/>
                    <a:lstStyle/>
                    <a:p>
                      <a:r>
                        <a:rPr lang="nl-NL" noProof="0" dirty="0"/>
                        <a:t>één op veel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NL" noProof="0" dirty="0"/>
                        <a:t>Een klant heeft meerdere transacties.</a:t>
                      </a:r>
                    </a:p>
                    <a:p>
                      <a:endParaRPr lang="nl-NL" noProof="0" dirty="0"/>
                    </a:p>
                    <a:p>
                      <a:r>
                        <a:rPr lang="nl-NL" noProof="0" dirty="0"/>
                        <a:t>Elke transactie hoort maar bij één klant.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NL" noProof="0" dirty="0"/>
                        <a:t>Twee tabellen met koppel sleutel.</a:t>
                      </a:r>
                    </a:p>
                    <a:p>
                      <a:r>
                        <a:rPr lang="nl-NL" noProof="0" dirty="0"/>
                        <a:t>(</a:t>
                      </a:r>
                      <a:r>
                        <a:rPr lang="nl-NL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Klanten</a:t>
                      </a:r>
                      <a:r>
                        <a:rPr lang="nl-NL" noProof="0" dirty="0"/>
                        <a:t>, </a:t>
                      </a:r>
                      <a:r>
                        <a:rPr lang="nl-NL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Transacties</a:t>
                      </a:r>
                      <a:r>
                        <a:rPr lang="nl-NL" noProof="0" dirty="0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18344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80139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FD261-0D2C-41B9-9E28-43DF575D4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600" noProof="0" dirty="0"/>
              <a:t>Een op veel relaties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EE646E4-999D-41AE-9132-5F78A0893BBD}"/>
              </a:ext>
            </a:extLst>
          </p:cNvPr>
          <p:cNvSpPr txBox="1"/>
          <p:nvPr/>
        </p:nvSpPr>
        <p:spPr>
          <a:xfrm>
            <a:off x="838200" y="1706364"/>
            <a:ext cx="10515600" cy="120032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nl-NL" noProof="0" dirty="0"/>
              <a:t>Een klant heeft meerdere transacties.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nl-NL" noProof="0" dirty="0"/>
              <a:t>Elke transactie hoort maar bij één klant.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lang="nl-NL" noProof="0" dirty="0"/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nl-NL" noProof="0" dirty="0"/>
              <a:t>Gebruik twee tabellen met een verwijzende sleutel: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29E2D6-049D-42FA-B95C-E6C50295532D}"/>
              </a:ext>
            </a:extLst>
          </p:cNvPr>
          <p:cNvSpPr txBox="1"/>
          <p:nvPr/>
        </p:nvSpPr>
        <p:spPr>
          <a:xfrm>
            <a:off x="6562578" y="3471962"/>
            <a:ext cx="11070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600" noProof="0" dirty="0"/>
              <a:t>Transacties</a:t>
            </a:r>
          </a:p>
        </p:txBody>
      </p:sp>
      <p:graphicFrame>
        <p:nvGraphicFramePr>
          <p:cNvPr id="5" name="Table 9">
            <a:extLst>
              <a:ext uri="{FF2B5EF4-FFF2-40B4-BE49-F238E27FC236}">
                <a16:creationId xmlns:a16="http://schemas.microsoft.com/office/drawing/2014/main" id="{DE905074-C8A8-61E4-9E99-F3753F57AE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8126496"/>
              </p:ext>
            </p:extLst>
          </p:nvPr>
        </p:nvGraphicFramePr>
        <p:xfrm>
          <a:off x="6562578" y="3810516"/>
          <a:ext cx="4628269" cy="1249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9198">
                  <a:extLst>
                    <a:ext uri="{9D8B030D-6E8A-4147-A177-3AD203B41FA5}">
                      <a16:colId xmlns:a16="http://schemas.microsoft.com/office/drawing/2014/main" val="504571435"/>
                    </a:ext>
                  </a:extLst>
                </a:gridCol>
                <a:gridCol w="1228667">
                  <a:extLst>
                    <a:ext uri="{9D8B030D-6E8A-4147-A177-3AD203B41FA5}">
                      <a16:colId xmlns:a16="http://schemas.microsoft.com/office/drawing/2014/main" val="3584725378"/>
                    </a:ext>
                  </a:extLst>
                </a:gridCol>
                <a:gridCol w="2370404">
                  <a:extLst>
                    <a:ext uri="{9D8B030D-6E8A-4147-A177-3AD203B41FA5}">
                      <a16:colId xmlns:a16="http://schemas.microsoft.com/office/drawing/2014/main" val="249155997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nl-NL" sz="1600" noProof="0" dirty="0" err="1"/>
                        <a:t>TxId</a:t>
                      </a:r>
                      <a:endParaRPr lang="nl-NL" sz="16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600" b="1" noProof="0" dirty="0" err="1"/>
                        <a:t>KlantId</a:t>
                      </a:r>
                      <a:endParaRPr lang="nl-NL" sz="1600" b="1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600" noProof="0" dirty="0" err="1"/>
                        <a:t>DatumTijd</a:t>
                      </a:r>
                      <a:endParaRPr lang="nl-NL" sz="16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6219780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algn="ctr"/>
                      <a:r>
                        <a:rPr lang="nl-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TX0001</a:t>
                      </a:r>
                    </a:p>
                  </a:txBody>
                  <a:tcP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CST0003</a:t>
                      </a:r>
                    </a:p>
                  </a:txBody>
                  <a:tcP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2024-01-01 10:00:35</a:t>
                      </a:r>
                    </a:p>
                  </a:txBody>
                  <a:tcPr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9053236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algn="ctr"/>
                      <a:r>
                        <a:rPr lang="nl-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TX0002</a:t>
                      </a:r>
                    </a:p>
                  </a:txBody>
                  <a:tcP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CST0003</a:t>
                      </a:r>
                    </a:p>
                  </a:txBody>
                  <a:tcP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2024-01-01 11:05:15</a:t>
                      </a:r>
                    </a:p>
                  </a:txBody>
                  <a:tcPr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4142827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algn="ctr"/>
                      <a:r>
                        <a:rPr lang="nl-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TX0003</a:t>
                      </a:r>
                    </a:p>
                  </a:txBody>
                  <a:tcP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CST0003</a:t>
                      </a:r>
                    </a:p>
                  </a:txBody>
                  <a:tcP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2024-01-01 11:45:00</a:t>
                      </a:r>
                    </a:p>
                  </a:txBody>
                  <a:tcPr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41076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237315EF-15B4-3A54-30FA-9CD0CD7B641B}"/>
              </a:ext>
            </a:extLst>
          </p:cNvPr>
          <p:cNvSpPr txBox="1"/>
          <p:nvPr/>
        </p:nvSpPr>
        <p:spPr>
          <a:xfrm>
            <a:off x="838201" y="3482280"/>
            <a:ext cx="8185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600" noProof="0" dirty="0"/>
              <a:t>Klanten</a:t>
            </a:r>
          </a:p>
        </p:txBody>
      </p:sp>
      <p:graphicFrame>
        <p:nvGraphicFramePr>
          <p:cNvPr id="7" name="Table 9">
            <a:extLst>
              <a:ext uri="{FF2B5EF4-FFF2-40B4-BE49-F238E27FC236}">
                <a16:creationId xmlns:a16="http://schemas.microsoft.com/office/drawing/2014/main" id="{351B422C-F2F8-F754-4294-9F50953D7D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3385631"/>
              </p:ext>
            </p:extLst>
          </p:nvPr>
        </p:nvGraphicFramePr>
        <p:xfrm>
          <a:off x="838198" y="3810516"/>
          <a:ext cx="3888548" cy="1249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9414">
                  <a:extLst>
                    <a:ext uri="{9D8B030D-6E8A-4147-A177-3AD203B41FA5}">
                      <a16:colId xmlns:a16="http://schemas.microsoft.com/office/drawing/2014/main" val="504571435"/>
                    </a:ext>
                  </a:extLst>
                </a:gridCol>
                <a:gridCol w="1287194">
                  <a:extLst>
                    <a:ext uri="{9D8B030D-6E8A-4147-A177-3AD203B41FA5}">
                      <a16:colId xmlns:a16="http://schemas.microsoft.com/office/drawing/2014/main" val="2491559972"/>
                    </a:ext>
                  </a:extLst>
                </a:gridCol>
                <a:gridCol w="1441940">
                  <a:extLst>
                    <a:ext uri="{9D8B030D-6E8A-4147-A177-3AD203B41FA5}">
                      <a16:colId xmlns:a16="http://schemas.microsoft.com/office/drawing/2014/main" val="37590200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nl-NL" sz="1600" b="1" noProof="0" dirty="0" err="1"/>
                        <a:t>KlantId</a:t>
                      </a:r>
                      <a:endParaRPr lang="nl-NL" sz="1600" b="1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600" noProof="0" dirty="0"/>
                        <a:t>Naam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600" noProof="0" dirty="0"/>
                        <a:t>Achternaam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6219780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algn="ctr"/>
                      <a:r>
                        <a:rPr lang="nl-NL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CST0001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Henk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Knol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9053236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algn="ctr"/>
                      <a:r>
                        <a:rPr lang="nl-NL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CST0002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Ingrid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Jansen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4142827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algn="ctr"/>
                      <a:r>
                        <a:rPr lang="nl-NL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CST0003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5410762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2ED1903-FBF5-8775-737E-E2EB051CD49F}"/>
              </a:ext>
            </a:extLst>
          </p:cNvPr>
          <p:cNvCxnSpPr/>
          <p:nvPr/>
        </p:nvCxnSpPr>
        <p:spPr>
          <a:xfrm flipV="1">
            <a:off x="1230923" y="5060196"/>
            <a:ext cx="0" cy="6161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362A913-78C6-CB37-5C26-04214948329A}"/>
              </a:ext>
            </a:extLst>
          </p:cNvPr>
          <p:cNvCxnSpPr/>
          <p:nvPr/>
        </p:nvCxnSpPr>
        <p:spPr>
          <a:xfrm flipV="1">
            <a:off x="8297592" y="5053160"/>
            <a:ext cx="0" cy="6161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37BD224-420C-5AE4-2F50-7B16B8E9AB13}"/>
              </a:ext>
            </a:extLst>
          </p:cNvPr>
          <p:cNvCxnSpPr>
            <a:cxnSpLocks/>
          </p:cNvCxnSpPr>
          <p:nvPr/>
        </p:nvCxnSpPr>
        <p:spPr>
          <a:xfrm>
            <a:off x="1230923" y="5676314"/>
            <a:ext cx="707370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33295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81556-B02B-1EEA-D577-23FA7FF4B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6B273-A2F3-BCA2-10E2-B7817373A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600" noProof="0" dirty="0"/>
              <a:t>Drie soorten relaties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8671CF0F-62ED-D790-8C1B-D7F05C2BEC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653338"/>
              </p:ext>
            </p:extLst>
          </p:nvPr>
        </p:nvGraphicFramePr>
        <p:xfrm>
          <a:off x="838200" y="1635709"/>
          <a:ext cx="10442826" cy="42942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1868">
                  <a:extLst>
                    <a:ext uri="{9D8B030D-6E8A-4147-A177-3AD203B41FA5}">
                      <a16:colId xmlns:a16="http://schemas.microsoft.com/office/drawing/2014/main" val="2462131715"/>
                    </a:ext>
                  </a:extLst>
                </a:gridCol>
                <a:gridCol w="4424290">
                  <a:extLst>
                    <a:ext uri="{9D8B030D-6E8A-4147-A177-3AD203B41FA5}">
                      <a16:colId xmlns:a16="http://schemas.microsoft.com/office/drawing/2014/main" val="2197458734"/>
                    </a:ext>
                  </a:extLst>
                </a:gridCol>
                <a:gridCol w="4556668">
                  <a:extLst>
                    <a:ext uri="{9D8B030D-6E8A-4147-A177-3AD203B41FA5}">
                      <a16:colId xmlns:a16="http://schemas.microsoft.com/office/drawing/2014/main" val="1150342863"/>
                    </a:ext>
                  </a:extLst>
                </a:gridCol>
              </a:tblGrid>
              <a:tr h="456205">
                <a:tc>
                  <a:txBody>
                    <a:bodyPr/>
                    <a:lstStyle/>
                    <a:p>
                      <a:r>
                        <a:rPr lang="nl-NL" noProof="0" dirty="0"/>
                        <a:t>Soort relatie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NL" noProof="0" dirty="0"/>
                        <a:t>Voorbeeld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NL" noProof="0" dirty="0"/>
                        <a:t>Structuur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239531"/>
                  </a:ext>
                </a:extLst>
              </a:tr>
              <a:tr h="1279351">
                <a:tc>
                  <a:txBody>
                    <a:bodyPr/>
                    <a:lstStyle/>
                    <a:p>
                      <a:r>
                        <a:rPr lang="nl-NL" noProof="0" dirty="0"/>
                        <a:t>één op één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NL" noProof="0" dirty="0"/>
                        <a:t>Een klant heeft één BSN.</a:t>
                      </a:r>
                    </a:p>
                    <a:p>
                      <a:endParaRPr lang="nl-NL" noProof="0" dirty="0"/>
                    </a:p>
                    <a:p>
                      <a:r>
                        <a:rPr lang="nl-NL" noProof="0" dirty="0"/>
                        <a:t>Een BSN hoort bij één klant.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NL" noProof="0" dirty="0"/>
                        <a:t>Opnemen als attribuut in de tabel.</a:t>
                      </a:r>
                    </a:p>
                    <a:p>
                      <a:r>
                        <a:rPr lang="nl-NL" noProof="0" dirty="0"/>
                        <a:t>(</a:t>
                      </a:r>
                      <a:r>
                        <a:rPr lang="nl-NL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Klanten</a:t>
                      </a:r>
                      <a:r>
                        <a:rPr lang="nl-NL" noProof="0" dirty="0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8827451"/>
                  </a:ext>
                </a:extLst>
              </a:tr>
              <a:tr h="1279351">
                <a:tc>
                  <a:txBody>
                    <a:bodyPr/>
                    <a:lstStyle/>
                    <a:p>
                      <a:r>
                        <a:rPr lang="nl-NL" noProof="0" dirty="0"/>
                        <a:t>één op veel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NL" noProof="0" dirty="0"/>
                        <a:t>Een klant heeft meerdere transacties.</a:t>
                      </a:r>
                    </a:p>
                    <a:p>
                      <a:endParaRPr lang="nl-NL" noProof="0" dirty="0"/>
                    </a:p>
                    <a:p>
                      <a:r>
                        <a:rPr lang="nl-NL" noProof="0" dirty="0"/>
                        <a:t>Elke transactie hoort maar bij één klant.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NL" noProof="0" dirty="0"/>
                        <a:t>Twee tabellen met koppel sleutel (</a:t>
                      </a:r>
                      <a:r>
                        <a:rPr lang="nl-NL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Klanten</a:t>
                      </a:r>
                      <a:r>
                        <a:rPr lang="nl-NL" noProof="0" dirty="0"/>
                        <a:t>, </a:t>
                      </a:r>
                      <a:r>
                        <a:rPr lang="nl-NL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Transacties</a:t>
                      </a:r>
                      <a:r>
                        <a:rPr lang="nl-NL" noProof="0" dirty="0"/>
                        <a:t>).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1834448"/>
                  </a:ext>
                </a:extLst>
              </a:tr>
              <a:tr h="1279351">
                <a:tc>
                  <a:txBody>
                    <a:bodyPr/>
                    <a:lstStyle/>
                    <a:p>
                      <a:r>
                        <a:rPr lang="nl-NL" noProof="0" dirty="0"/>
                        <a:t>veel op veel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noProof="0" dirty="0"/>
                        <a:t>Een transactie omvat meerdere producten.</a:t>
                      </a:r>
                    </a:p>
                    <a:p>
                      <a:endParaRPr lang="nl-NL" noProof="0" dirty="0"/>
                    </a:p>
                    <a:p>
                      <a:r>
                        <a:rPr lang="nl-NL" noProof="0" dirty="0"/>
                        <a:t>Product komt op meerdere transacties voor.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NL" noProof="0" dirty="0"/>
                        <a:t>Twee tabellen (</a:t>
                      </a:r>
                      <a:r>
                        <a:rPr lang="nl-NL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Transacties</a:t>
                      </a:r>
                      <a:r>
                        <a:rPr lang="nl-NL" noProof="0" dirty="0"/>
                        <a:t>, </a:t>
                      </a:r>
                      <a:r>
                        <a:rPr lang="nl-NL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Producten</a:t>
                      </a:r>
                      <a:r>
                        <a:rPr lang="nl-NL" noProof="0" dirty="0"/>
                        <a:t>) en koppel tabel (</a:t>
                      </a:r>
                      <a:r>
                        <a:rPr lang="nl-NL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TransactieRegel</a:t>
                      </a:r>
                      <a:r>
                        <a:rPr lang="nl-NL" noProof="0" dirty="0"/>
                        <a:t>).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77232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51125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04761-3EBB-5321-63D2-FD31AE372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674EB-7C93-3BD0-464E-8287D58E4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600" noProof="0" dirty="0"/>
              <a:t>Veel op veel relaties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B0303D1-C5B5-4F32-2FC8-A8E944E9C787}"/>
              </a:ext>
            </a:extLst>
          </p:cNvPr>
          <p:cNvSpPr txBox="1"/>
          <p:nvPr/>
        </p:nvSpPr>
        <p:spPr>
          <a:xfrm>
            <a:off x="838200" y="1706364"/>
            <a:ext cx="10515600" cy="120032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nl-NL" noProof="0" dirty="0"/>
              <a:t>Een transactie omvat meerdere producten.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nl-NL" noProof="0" dirty="0"/>
              <a:t>Een product komt op meerdere transacties voor.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lang="nl-NL" noProof="0" dirty="0"/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nl-NL" noProof="0" dirty="0"/>
              <a:t>Gebruik twee tabellen met een koppeltabel: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1ECD7A-37BF-B16E-B968-44530A55DD15}"/>
              </a:ext>
            </a:extLst>
          </p:cNvPr>
          <p:cNvSpPr txBox="1"/>
          <p:nvPr/>
        </p:nvSpPr>
        <p:spPr>
          <a:xfrm>
            <a:off x="838200" y="3482280"/>
            <a:ext cx="11070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600" noProof="0" dirty="0"/>
              <a:t>Transacties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CA2EEC-4295-DE45-EBCD-662175043129}"/>
              </a:ext>
            </a:extLst>
          </p:cNvPr>
          <p:cNvSpPr txBox="1"/>
          <p:nvPr/>
        </p:nvSpPr>
        <p:spPr>
          <a:xfrm>
            <a:off x="7599284" y="3481621"/>
            <a:ext cx="1046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600" noProof="0" dirty="0"/>
              <a:t>Producten</a:t>
            </a:r>
          </a:p>
        </p:txBody>
      </p:sp>
      <p:graphicFrame>
        <p:nvGraphicFramePr>
          <p:cNvPr id="5" name="Table 9">
            <a:extLst>
              <a:ext uri="{FF2B5EF4-FFF2-40B4-BE49-F238E27FC236}">
                <a16:creationId xmlns:a16="http://schemas.microsoft.com/office/drawing/2014/main" id="{6DC2C539-2433-BE6A-7823-74E80279AC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3237036"/>
              </p:ext>
            </p:extLst>
          </p:nvPr>
        </p:nvGraphicFramePr>
        <p:xfrm>
          <a:off x="838199" y="3810516"/>
          <a:ext cx="3136428" cy="1249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7417">
                  <a:extLst>
                    <a:ext uri="{9D8B030D-6E8A-4147-A177-3AD203B41FA5}">
                      <a16:colId xmlns:a16="http://schemas.microsoft.com/office/drawing/2014/main" val="504571435"/>
                    </a:ext>
                  </a:extLst>
                </a:gridCol>
                <a:gridCol w="2209011">
                  <a:extLst>
                    <a:ext uri="{9D8B030D-6E8A-4147-A177-3AD203B41FA5}">
                      <a16:colId xmlns:a16="http://schemas.microsoft.com/office/drawing/2014/main" val="249155997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nl-NL" sz="1600" noProof="0" dirty="0" err="1"/>
                        <a:t>TxId</a:t>
                      </a:r>
                      <a:endParaRPr lang="nl-NL" sz="16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600" noProof="0" dirty="0" err="1"/>
                        <a:t>DatumTijd</a:t>
                      </a:r>
                      <a:endParaRPr lang="nl-NL" sz="16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6219780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algn="ctr"/>
                      <a:r>
                        <a:rPr lang="nl-NL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TX0001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2024-01-01 10:00:35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9053236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algn="ctr"/>
                      <a:r>
                        <a:rPr lang="nl-NL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TX0002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2024-01-01 11:05:15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4142827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algn="ctr"/>
                      <a:r>
                        <a:rPr lang="nl-NL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TX0003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2024-01-01 11:45:00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5410762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ECCBFED-1A46-B866-39C7-38CFE334D4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1553573"/>
              </p:ext>
            </p:extLst>
          </p:nvPr>
        </p:nvGraphicFramePr>
        <p:xfrm>
          <a:off x="7599284" y="3810516"/>
          <a:ext cx="3754516" cy="1249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456">
                  <a:extLst>
                    <a:ext uri="{9D8B030D-6E8A-4147-A177-3AD203B41FA5}">
                      <a16:colId xmlns:a16="http://schemas.microsoft.com/office/drawing/2014/main" val="2491559972"/>
                    </a:ext>
                  </a:extLst>
                </a:gridCol>
                <a:gridCol w="2247060">
                  <a:extLst>
                    <a:ext uri="{9D8B030D-6E8A-4147-A177-3AD203B41FA5}">
                      <a16:colId xmlns:a16="http://schemas.microsoft.com/office/drawing/2014/main" val="1242195512"/>
                    </a:ext>
                  </a:extLst>
                </a:gridCol>
              </a:tblGrid>
              <a:tr h="302969">
                <a:tc>
                  <a:txBody>
                    <a:bodyPr/>
                    <a:lstStyle/>
                    <a:p>
                      <a:pPr algn="ctr"/>
                      <a:r>
                        <a:rPr lang="nl-NL" sz="1600" noProof="0" dirty="0" err="1"/>
                        <a:t>ProductID</a:t>
                      </a:r>
                      <a:endParaRPr lang="nl-NL" sz="16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nl-NL" sz="1600" noProof="0" dirty="0"/>
                        <a:t>Omschrijving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6219780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algn="ctr"/>
                      <a:r>
                        <a:rPr lang="nl-NL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nl-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Wit brood (half)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9053236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PR0002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nl-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Halfvolle melk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4142827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algn="ctr"/>
                      <a:r>
                        <a:rPr lang="nl-NL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PR0003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nl-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Pindakaas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54107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18520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204575-6AE7-1DD2-FDF5-2FE0DDD5A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71195-475C-EDED-47C7-12BFF609D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600" noProof="0" dirty="0"/>
              <a:t>Veel op veel relaties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AC1465B-1F3A-B0A2-32A2-569B04D48AFB}"/>
              </a:ext>
            </a:extLst>
          </p:cNvPr>
          <p:cNvSpPr txBox="1"/>
          <p:nvPr/>
        </p:nvSpPr>
        <p:spPr>
          <a:xfrm>
            <a:off x="838200" y="1706364"/>
            <a:ext cx="10515600" cy="120032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nl-NL" noProof="0" dirty="0"/>
              <a:t>Een transactie omvat meerdere producten.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nl-NL" noProof="0" dirty="0"/>
              <a:t>Een product komt op meerdere transacties voor.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lang="nl-NL" noProof="0" dirty="0"/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nl-NL" noProof="0" dirty="0"/>
              <a:t>Gebruik twee tabellen met een koppeltabel: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EEE929-DF6C-74F1-EDF9-D835B7415572}"/>
              </a:ext>
            </a:extLst>
          </p:cNvPr>
          <p:cNvSpPr txBox="1"/>
          <p:nvPr/>
        </p:nvSpPr>
        <p:spPr>
          <a:xfrm>
            <a:off x="4534344" y="3481621"/>
            <a:ext cx="14816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600" noProof="0" dirty="0" err="1"/>
              <a:t>TransactieRegel</a:t>
            </a:r>
            <a:endParaRPr lang="nl-NL" sz="1600" noProof="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FC326EF-D532-C3C1-ECC2-930AD32BC6E7}"/>
              </a:ext>
            </a:extLst>
          </p:cNvPr>
          <p:cNvSpPr txBox="1"/>
          <p:nvPr/>
        </p:nvSpPr>
        <p:spPr>
          <a:xfrm>
            <a:off x="7599284" y="3481621"/>
            <a:ext cx="1046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600" noProof="0" dirty="0"/>
              <a:t>Producten</a:t>
            </a:r>
          </a:p>
        </p:txBody>
      </p:sp>
      <p:graphicFrame>
        <p:nvGraphicFramePr>
          <p:cNvPr id="5" name="Table 9">
            <a:extLst>
              <a:ext uri="{FF2B5EF4-FFF2-40B4-BE49-F238E27FC236}">
                <a16:creationId xmlns:a16="http://schemas.microsoft.com/office/drawing/2014/main" id="{B2E8BCAE-556F-EA52-AD2C-8CBBCB7428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9137798"/>
              </p:ext>
            </p:extLst>
          </p:nvPr>
        </p:nvGraphicFramePr>
        <p:xfrm>
          <a:off x="838199" y="3810516"/>
          <a:ext cx="3136428" cy="1249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7417">
                  <a:extLst>
                    <a:ext uri="{9D8B030D-6E8A-4147-A177-3AD203B41FA5}">
                      <a16:colId xmlns:a16="http://schemas.microsoft.com/office/drawing/2014/main" val="504571435"/>
                    </a:ext>
                  </a:extLst>
                </a:gridCol>
                <a:gridCol w="2209011">
                  <a:extLst>
                    <a:ext uri="{9D8B030D-6E8A-4147-A177-3AD203B41FA5}">
                      <a16:colId xmlns:a16="http://schemas.microsoft.com/office/drawing/2014/main" val="249155997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nl-NL" sz="1600" noProof="0" dirty="0" err="1"/>
                        <a:t>TxId</a:t>
                      </a:r>
                      <a:endParaRPr lang="nl-NL" sz="16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600" noProof="0" dirty="0" err="1"/>
                        <a:t>DatumTijd</a:t>
                      </a:r>
                      <a:endParaRPr lang="nl-NL" sz="16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6219780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algn="ctr"/>
                      <a:r>
                        <a:rPr lang="nl-NL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TX0001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2024-01-01 10:00:35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9053236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algn="ctr"/>
                      <a:r>
                        <a:rPr lang="nl-NL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TX0002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2024-01-01 11:05:15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4142827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algn="ctr"/>
                      <a:r>
                        <a:rPr lang="nl-NL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TX0003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2024-01-01 11:45:00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5410762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D38C66D-9475-5998-1D82-2F1899AAD9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1799093"/>
              </p:ext>
            </p:extLst>
          </p:nvPr>
        </p:nvGraphicFramePr>
        <p:xfrm>
          <a:off x="7599284" y="3810516"/>
          <a:ext cx="3754516" cy="1249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456">
                  <a:extLst>
                    <a:ext uri="{9D8B030D-6E8A-4147-A177-3AD203B41FA5}">
                      <a16:colId xmlns:a16="http://schemas.microsoft.com/office/drawing/2014/main" val="2491559972"/>
                    </a:ext>
                  </a:extLst>
                </a:gridCol>
                <a:gridCol w="2247060">
                  <a:extLst>
                    <a:ext uri="{9D8B030D-6E8A-4147-A177-3AD203B41FA5}">
                      <a16:colId xmlns:a16="http://schemas.microsoft.com/office/drawing/2014/main" val="1242195512"/>
                    </a:ext>
                  </a:extLst>
                </a:gridCol>
              </a:tblGrid>
              <a:tr h="302969">
                <a:tc>
                  <a:txBody>
                    <a:bodyPr/>
                    <a:lstStyle/>
                    <a:p>
                      <a:pPr algn="ctr"/>
                      <a:r>
                        <a:rPr lang="nl-NL" sz="1600" b="1" noProof="0" dirty="0" err="1"/>
                        <a:t>ProductID</a:t>
                      </a:r>
                      <a:endParaRPr lang="nl-NL" sz="1600" b="1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nl-NL" sz="1600" noProof="0" dirty="0"/>
                        <a:t>Omschrijving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6219780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algn="ctr"/>
                      <a:r>
                        <a:rPr lang="nl-NL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nl-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Wit brood (half)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9053236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PR0002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nl-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Halfvolle melk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4142827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algn="ctr"/>
                      <a:r>
                        <a:rPr lang="nl-NL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PR0003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nl-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Pindakaas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5410762"/>
                  </a:ext>
                </a:extLst>
              </a:tr>
            </a:tbl>
          </a:graphicData>
        </a:graphic>
      </p:graphicFrame>
      <p:graphicFrame>
        <p:nvGraphicFramePr>
          <p:cNvPr id="3" name="Table 9">
            <a:extLst>
              <a:ext uri="{FF2B5EF4-FFF2-40B4-BE49-F238E27FC236}">
                <a16:creationId xmlns:a16="http://schemas.microsoft.com/office/drawing/2014/main" id="{BD65D4A2-24BB-674C-0DCF-1F550B0A66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6148946"/>
              </p:ext>
            </p:extLst>
          </p:nvPr>
        </p:nvGraphicFramePr>
        <p:xfrm>
          <a:off x="4534344" y="3820175"/>
          <a:ext cx="2505223" cy="1249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4034">
                  <a:extLst>
                    <a:ext uri="{9D8B030D-6E8A-4147-A177-3AD203B41FA5}">
                      <a16:colId xmlns:a16="http://schemas.microsoft.com/office/drawing/2014/main" val="504571435"/>
                    </a:ext>
                  </a:extLst>
                </a:gridCol>
                <a:gridCol w="1531189">
                  <a:extLst>
                    <a:ext uri="{9D8B030D-6E8A-4147-A177-3AD203B41FA5}">
                      <a16:colId xmlns:a16="http://schemas.microsoft.com/office/drawing/2014/main" val="249155997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nl-NL" sz="1600" b="1" noProof="0" dirty="0" err="1"/>
                        <a:t>TxID</a:t>
                      </a:r>
                      <a:endParaRPr lang="nl-NL" sz="1600" b="1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600" b="1" noProof="0" dirty="0" err="1"/>
                        <a:t>ProductId</a:t>
                      </a:r>
                      <a:endParaRPr lang="nl-NL" sz="1600" b="1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6219780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algn="ctr"/>
                      <a:r>
                        <a:rPr lang="nl-NL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TX0001</a:t>
                      </a:r>
                    </a:p>
                  </a:txBody>
                  <a:tcP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PRD0001</a:t>
                      </a:r>
                    </a:p>
                  </a:txBody>
                  <a:tcPr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9053236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algn="ctr"/>
                      <a:r>
                        <a:rPr lang="nl-NL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TX0001</a:t>
                      </a:r>
                    </a:p>
                  </a:txBody>
                  <a:tcP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PRD0003</a:t>
                      </a:r>
                    </a:p>
                  </a:txBody>
                  <a:tcPr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4142827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algn="ctr"/>
                      <a:r>
                        <a:rPr lang="nl-NL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TX0002</a:t>
                      </a:r>
                    </a:p>
                  </a:txBody>
                  <a:tcP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PRD0002</a:t>
                      </a:r>
                    </a:p>
                  </a:txBody>
                  <a:tcPr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41076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51CDDBFE-A41A-8D75-73C2-E3260991D3CA}"/>
              </a:ext>
            </a:extLst>
          </p:cNvPr>
          <p:cNvSpPr txBox="1"/>
          <p:nvPr/>
        </p:nvSpPr>
        <p:spPr>
          <a:xfrm>
            <a:off x="838200" y="3482280"/>
            <a:ext cx="11070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600" noProof="0" dirty="0"/>
              <a:t>Transacties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0314E5B-C407-3613-877A-5A7550C8D685}"/>
              </a:ext>
            </a:extLst>
          </p:cNvPr>
          <p:cNvCxnSpPr/>
          <p:nvPr/>
        </p:nvCxnSpPr>
        <p:spPr>
          <a:xfrm flipV="1">
            <a:off x="1230923" y="5060196"/>
            <a:ext cx="0" cy="6161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BC1F4EF-4494-22A2-F1D3-4DEC1665C333}"/>
              </a:ext>
            </a:extLst>
          </p:cNvPr>
          <p:cNvCxnSpPr/>
          <p:nvPr/>
        </p:nvCxnSpPr>
        <p:spPr>
          <a:xfrm flipV="1">
            <a:off x="5054990" y="5060196"/>
            <a:ext cx="0" cy="6161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E665AE8-3414-72F1-B6BD-28AAB4FD4A17}"/>
              </a:ext>
            </a:extLst>
          </p:cNvPr>
          <p:cNvCxnSpPr/>
          <p:nvPr/>
        </p:nvCxnSpPr>
        <p:spPr>
          <a:xfrm flipV="1">
            <a:off x="6255433" y="5060196"/>
            <a:ext cx="0" cy="6161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685327C-E846-AFE4-4E57-6F7C6698CED4}"/>
              </a:ext>
            </a:extLst>
          </p:cNvPr>
          <p:cNvCxnSpPr/>
          <p:nvPr/>
        </p:nvCxnSpPr>
        <p:spPr>
          <a:xfrm flipV="1">
            <a:off x="8386689" y="5060196"/>
            <a:ext cx="0" cy="6161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ED97A9C-175B-1446-F880-D1643C4520C3}"/>
              </a:ext>
            </a:extLst>
          </p:cNvPr>
          <p:cNvCxnSpPr/>
          <p:nvPr/>
        </p:nvCxnSpPr>
        <p:spPr>
          <a:xfrm>
            <a:off x="1230923" y="5676314"/>
            <a:ext cx="382406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DC77B5B-3BA1-CABC-D545-532B1CFBC4BF}"/>
              </a:ext>
            </a:extLst>
          </p:cNvPr>
          <p:cNvCxnSpPr/>
          <p:nvPr/>
        </p:nvCxnSpPr>
        <p:spPr>
          <a:xfrm>
            <a:off x="6255433" y="5676314"/>
            <a:ext cx="213125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93541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FD261-0D2C-41B9-9E28-43DF575D4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600" noProof="0" dirty="0"/>
              <a:t>Normalisatie: Eerste vorm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4B503-C44F-453E-9465-D42E4557DE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nl-NL" sz="2000" noProof="0" dirty="0"/>
              <a:t>Elke rij is uniek (unieke combinatie van waardes).</a:t>
            </a:r>
          </a:p>
          <a:p>
            <a:pPr>
              <a:buFontTx/>
              <a:buChar char="-"/>
            </a:pPr>
            <a:r>
              <a:rPr lang="nl-NL" sz="2000" noProof="0" dirty="0"/>
              <a:t>Elke cel bevat één waarde.</a:t>
            </a:r>
          </a:p>
          <a:p>
            <a:pPr marL="0" indent="0">
              <a:buNone/>
            </a:pPr>
            <a:endParaRPr lang="nl-NL" sz="2000" b="1" noProof="0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67972CE-6F8C-4E39-9BC3-0C069E3D0A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7381372"/>
              </p:ext>
            </p:extLst>
          </p:nvPr>
        </p:nvGraphicFramePr>
        <p:xfrm>
          <a:off x="858747" y="3605033"/>
          <a:ext cx="4503733" cy="1249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5289">
                  <a:extLst>
                    <a:ext uri="{9D8B030D-6E8A-4147-A177-3AD203B41FA5}">
                      <a16:colId xmlns:a16="http://schemas.microsoft.com/office/drawing/2014/main" val="1242195512"/>
                    </a:ext>
                  </a:extLst>
                </a:gridCol>
                <a:gridCol w="3588444">
                  <a:extLst>
                    <a:ext uri="{9D8B030D-6E8A-4147-A177-3AD203B41FA5}">
                      <a16:colId xmlns:a16="http://schemas.microsoft.com/office/drawing/2014/main" val="2417860962"/>
                    </a:ext>
                  </a:extLst>
                </a:gridCol>
              </a:tblGrid>
              <a:tr h="302969">
                <a:tc>
                  <a:txBody>
                    <a:bodyPr/>
                    <a:lstStyle/>
                    <a:p>
                      <a:pPr algn="l"/>
                      <a:r>
                        <a:rPr lang="nl-NL" sz="1600" noProof="0" dirty="0"/>
                        <a:t>Naam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nl-NL" sz="1600" noProof="0" dirty="0"/>
                        <a:t>Sport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6219780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algn="l"/>
                      <a:r>
                        <a:rPr lang="nl-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Anna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40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Hardlopen, Roeien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9053236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algn="l"/>
                      <a:r>
                        <a:rPr lang="nl-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Henk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Wielrennen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4142827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algn="l"/>
                      <a:r>
                        <a:rPr lang="nl-NL" sz="140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Fatih</a:t>
                      </a:r>
                      <a:endParaRPr lang="nl-NL" sz="140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nl-NL" sz="140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Hardlopen, Fitness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54107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71388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FD261-0D2C-41B9-9E28-43DF575D4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600" noProof="0" dirty="0"/>
              <a:t>Normalisatie: Eerste vorm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4B503-C44F-453E-9465-D42E4557DE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nl-NL" sz="2000" noProof="0" dirty="0"/>
              <a:t>Elke rij is uniek (unieke combinatie van waardes).</a:t>
            </a:r>
          </a:p>
          <a:p>
            <a:pPr>
              <a:buFontTx/>
              <a:buChar char="-"/>
            </a:pPr>
            <a:r>
              <a:rPr lang="nl-NL" sz="2000" noProof="0" dirty="0"/>
              <a:t>Elke cel bevat één waarde.</a:t>
            </a:r>
          </a:p>
          <a:p>
            <a:pPr marL="0" indent="0">
              <a:buNone/>
            </a:pPr>
            <a:endParaRPr lang="nl-NL" sz="2000" b="1" noProof="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282B146-0DEC-4F3D-AEDA-F740100658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5333084"/>
              </p:ext>
            </p:extLst>
          </p:nvPr>
        </p:nvGraphicFramePr>
        <p:xfrm>
          <a:off x="7556643" y="3605033"/>
          <a:ext cx="3817705" cy="185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3852">
                  <a:extLst>
                    <a:ext uri="{9D8B030D-6E8A-4147-A177-3AD203B41FA5}">
                      <a16:colId xmlns:a16="http://schemas.microsoft.com/office/drawing/2014/main" val="1242195512"/>
                    </a:ext>
                  </a:extLst>
                </a:gridCol>
                <a:gridCol w="2923853">
                  <a:extLst>
                    <a:ext uri="{9D8B030D-6E8A-4147-A177-3AD203B41FA5}">
                      <a16:colId xmlns:a16="http://schemas.microsoft.com/office/drawing/2014/main" val="2417860962"/>
                    </a:ext>
                  </a:extLst>
                </a:gridCol>
              </a:tblGrid>
              <a:tr h="302969">
                <a:tc>
                  <a:txBody>
                    <a:bodyPr/>
                    <a:lstStyle/>
                    <a:p>
                      <a:pPr algn="l"/>
                      <a:r>
                        <a:rPr lang="nl-NL" sz="1600" noProof="0" dirty="0"/>
                        <a:t>Naam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nl-NL" sz="1600" noProof="0" dirty="0"/>
                        <a:t>Sport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6219780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algn="l"/>
                      <a:r>
                        <a:rPr lang="nl-NL" sz="1400" noProof="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Anna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400" noProof="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Hardlopen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9053236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algn="l"/>
                      <a:r>
                        <a:rPr lang="nl-NL" sz="1400" noProof="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Anna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400" noProof="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Roeien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7517245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algn="l"/>
                      <a:r>
                        <a:rPr lang="nl-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Henk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Wielrennen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4142827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algn="l"/>
                      <a:r>
                        <a:rPr lang="nl-NL" sz="1400" noProof="0" dirty="0" err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Fatih</a:t>
                      </a:r>
                      <a:endParaRPr lang="nl-NL" sz="1400" noProof="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nl-NL" sz="1400" noProof="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Hardlopen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5410762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algn="l"/>
                      <a:r>
                        <a:rPr lang="nl-NL" sz="1400" noProof="0" dirty="0" err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Fatih</a:t>
                      </a:r>
                      <a:endParaRPr lang="nl-NL" sz="1400" noProof="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nl-NL" sz="1400" noProof="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Fitness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3259304"/>
                  </a:ext>
                </a:extLst>
              </a:tr>
            </a:tbl>
          </a:graphicData>
        </a:graphic>
      </p:graphicFrame>
      <p:sp>
        <p:nvSpPr>
          <p:cNvPr id="6" name="Arrow: Right 5">
            <a:extLst>
              <a:ext uri="{FF2B5EF4-FFF2-40B4-BE49-F238E27FC236}">
                <a16:creationId xmlns:a16="http://schemas.microsoft.com/office/drawing/2014/main" id="{9EFD50A3-BCB1-4F9E-8D0A-DF89061FC8DC}"/>
              </a:ext>
            </a:extLst>
          </p:cNvPr>
          <p:cNvSpPr/>
          <p:nvPr/>
        </p:nvSpPr>
        <p:spPr>
          <a:xfrm>
            <a:off x="6173325" y="3982779"/>
            <a:ext cx="534256" cy="585627"/>
          </a:xfrm>
          <a:prstGeom prst="rightArrow">
            <a:avLst/>
          </a:prstGeom>
          <a:ln>
            <a:solidFill>
              <a:srgbClr val="AE5A2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noProof="0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67972CE-6F8C-4E39-9BC3-0C069E3D0A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7109372"/>
              </p:ext>
            </p:extLst>
          </p:nvPr>
        </p:nvGraphicFramePr>
        <p:xfrm>
          <a:off x="858747" y="3605033"/>
          <a:ext cx="4503733" cy="1249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5289">
                  <a:extLst>
                    <a:ext uri="{9D8B030D-6E8A-4147-A177-3AD203B41FA5}">
                      <a16:colId xmlns:a16="http://schemas.microsoft.com/office/drawing/2014/main" val="1242195512"/>
                    </a:ext>
                  </a:extLst>
                </a:gridCol>
                <a:gridCol w="3588444">
                  <a:extLst>
                    <a:ext uri="{9D8B030D-6E8A-4147-A177-3AD203B41FA5}">
                      <a16:colId xmlns:a16="http://schemas.microsoft.com/office/drawing/2014/main" val="2417860962"/>
                    </a:ext>
                  </a:extLst>
                </a:gridCol>
              </a:tblGrid>
              <a:tr h="302969">
                <a:tc>
                  <a:txBody>
                    <a:bodyPr/>
                    <a:lstStyle/>
                    <a:p>
                      <a:pPr algn="l"/>
                      <a:r>
                        <a:rPr lang="nl-NL" sz="1600" noProof="0" dirty="0"/>
                        <a:t>Naam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nl-NL" sz="1600" noProof="0" dirty="0"/>
                        <a:t>Sport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6219780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algn="l"/>
                      <a:r>
                        <a:rPr lang="nl-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Anna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40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Hardlopen, Roeien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9053236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algn="l"/>
                      <a:r>
                        <a:rPr lang="nl-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Henk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Wielrennen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4142827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algn="l"/>
                      <a:r>
                        <a:rPr lang="nl-NL" sz="140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Fatih</a:t>
                      </a:r>
                      <a:endParaRPr lang="nl-NL" sz="140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nl-NL" sz="140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Hardlopen, Fitness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54107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60438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FD261-0D2C-41B9-9E28-43DF575D4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600" noProof="0" dirty="0"/>
              <a:t>Normalisatie: Tweede vorm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4B503-C44F-453E-9465-D42E4557DE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nl-NL" sz="2000" noProof="0" dirty="0"/>
              <a:t>Alle eisen van 1NF.</a:t>
            </a:r>
          </a:p>
          <a:p>
            <a:pPr marL="0" indent="0">
              <a:buNone/>
            </a:pPr>
            <a:r>
              <a:rPr lang="nl-NL" sz="2000" noProof="0" dirty="0"/>
              <a:t>Waardes afhankelijk van </a:t>
            </a:r>
            <a:r>
              <a:rPr lang="nl-NL" sz="2000" u="sng" noProof="0" dirty="0"/>
              <a:t>de gehele sleutel</a:t>
            </a:r>
            <a:r>
              <a:rPr lang="nl-NL" sz="2000" noProof="0" dirty="0"/>
              <a:t>.</a:t>
            </a:r>
          </a:p>
          <a:p>
            <a:pPr>
              <a:buFontTx/>
              <a:buChar char="-"/>
            </a:pPr>
            <a:r>
              <a:rPr lang="nl-NL" sz="1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Persoon</a:t>
            </a:r>
            <a:r>
              <a:rPr lang="nl-NL" sz="1800" noProof="0" dirty="0"/>
              <a:t> en </a:t>
            </a:r>
            <a:r>
              <a:rPr lang="nl-NL" sz="1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Sport</a:t>
            </a:r>
            <a:r>
              <a:rPr lang="nl-NL" sz="1800" noProof="0" dirty="0"/>
              <a:t> vormen de sleutel.</a:t>
            </a:r>
          </a:p>
          <a:p>
            <a:pPr>
              <a:buFontTx/>
              <a:buChar char="-"/>
            </a:pPr>
            <a:r>
              <a:rPr lang="nl-NL" sz="1800" noProof="0" dirty="0"/>
              <a:t>Maar: </a:t>
            </a:r>
            <a:r>
              <a:rPr lang="nl-NL" sz="1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Categorie</a:t>
            </a:r>
            <a:r>
              <a:rPr lang="nl-NL" sz="1800" noProof="0" dirty="0"/>
              <a:t> hangt </a:t>
            </a:r>
            <a:r>
              <a:rPr lang="nl-NL" sz="1800" u="sng" noProof="0" dirty="0"/>
              <a:t>alleen</a:t>
            </a:r>
            <a:r>
              <a:rPr lang="nl-NL" sz="1800" noProof="0" dirty="0"/>
              <a:t> samen van </a:t>
            </a:r>
            <a:r>
              <a:rPr lang="nl-NL" sz="1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Sport</a:t>
            </a:r>
            <a:r>
              <a:rPr lang="nl-NL" sz="1800" noProof="0" dirty="0"/>
              <a:t>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59EA8CB-53AF-494D-A5B0-7C886F80B0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2674479"/>
              </p:ext>
            </p:extLst>
          </p:nvPr>
        </p:nvGraphicFramePr>
        <p:xfrm>
          <a:off x="838201" y="4001294"/>
          <a:ext cx="3652163" cy="185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8734">
                  <a:extLst>
                    <a:ext uri="{9D8B030D-6E8A-4147-A177-3AD203B41FA5}">
                      <a16:colId xmlns:a16="http://schemas.microsoft.com/office/drawing/2014/main" val="124219551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449702559"/>
                    </a:ext>
                  </a:extLst>
                </a:gridCol>
                <a:gridCol w="1261829">
                  <a:extLst>
                    <a:ext uri="{9D8B030D-6E8A-4147-A177-3AD203B41FA5}">
                      <a16:colId xmlns:a16="http://schemas.microsoft.com/office/drawing/2014/main" val="3648275770"/>
                    </a:ext>
                  </a:extLst>
                </a:gridCol>
              </a:tblGrid>
              <a:tr h="302969">
                <a:tc>
                  <a:txBody>
                    <a:bodyPr/>
                    <a:lstStyle/>
                    <a:p>
                      <a:pPr algn="l"/>
                      <a:r>
                        <a:rPr lang="nl-NL" sz="1600" noProof="0" dirty="0"/>
                        <a:t>Persoon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nl-NL" sz="1600" noProof="0" dirty="0"/>
                        <a:t>Sport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nl-NL" sz="1600" noProof="0" dirty="0"/>
                        <a:t>Categorie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6219780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algn="l"/>
                      <a:r>
                        <a:rPr lang="nl-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Anna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Hardlopen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40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Buiten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9053236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algn="l"/>
                      <a:r>
                        <a:rPr lang="nl-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Anna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Roeien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40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Buiten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7517245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algn="l"/>
                      <a:r>
                        <a:rPr lang="nl-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Henk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Wielrennen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40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Buiten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4142827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algn="l"/>
                      <a:r>
                        <a:rPr lang="nl-NL" sz="140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Fatih</a:t>
                      </a:r>
                      <a:endParaRPr lang="nl-NL" sz="140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nl-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Hardlopen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nl-NL" sz="140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Buiten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5410762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algn="l"/>
                      <a:r>
                        <a:rPr lang="nl-NL" sz="140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Fatih</a:t>
                      </a:r>
                      <a:endParaRPr lang="nl-NL" sz="140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nl-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Fitness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nl-NL" sz="140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Binnen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31231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42390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FD261-0D2C-41B9-9E28-43DF575D4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600" noProof="0" dirty="0"/>
              <a:t>Normalisatie: Tweede vorm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4B503-C44F-453E-9465-D42E4557DE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nl-NL" sz="2000" noProof="0" dirty="0"/>
              <a:t>Alle eisen van 1NF.</a:t>
            </a:r>
          </a:p>
          <a:p>
            <a:pPr marL="0" indent="0">
              <a:buNone/>
            </a:pPr>
            <a:r>
              <a:rPr lang="nl-NL" sz="2000" noProof="0" dirty="0"/>
              <a:t>Waardes afhankelijk van </a:t>
            </a:r>
            <a:r>
              <a:rPr lang="nl-NL" sz="2000" u="sng" noProof="0" dirty="0"/>
              <a:t>de gehele sleutel</a:t>
            </a:r>
            <a:r>
              <a:rPr lang="nl-NL" sz="2000" noProof="0" dirty="0"/>
              <a:t>.</a:t>
            </a:r>
          </a:p>
          <a:p>
            <a:pPr>
              <a:buFontTx/>
              <a:buChar char="-"/>
            </a:pPr>
            <a:r>
              <a:rPr lang="nl-NL" sz="1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Persoon</a:t>
            </a:r>
            <a:r>
              <a:rPr lang="nl-NL" sz="1800" noProof="0" dirty="0"/>
              <a:t> en </a:t>
            </a:r>
            <a:r>
              <a:rPr lang="nl-NL" sz="1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Sport</a:t>
            </a:r>
            <a:r>
              <a:rPr lang="nl-NL" sz="1800" noProof="0" dirty="0"/>
              <a:t> vormen de sleutel.</a:t>
            </a:r>
          </a:p>
          <a:p>
            <a:pPr>
              <a:buFontTx/>
              <a:buChar char="-"/>
            </a:pPr>
            <a:r>
              <a:rPr lang="nl-NL" sz="1800" noProof="0" dirty="0"/>
              <a:t>Maar: </a:t>
            </a:r>
            <a:r>
              <a:rPr lang="nl-NL" sz="1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Categorie</a:t>
            </a:r>
            <a:r>
              <a:rPr lang="nl-NL" sz="1800" noProof="0" dirty="0"/>
              <a:t> hangt </a:t>
            </a:r>
            <a:r>
              <a:rPr lang="nl-NL" sz="1800" u="sng" noProof="0" dirty="0"/>
              <a:t>alleen</a:t>
            </a:r>
            <a:r>
              <a:rPr lang="nl-NL" sz="1800" noProof="0" dirty="0"/>
              <a:t> samen van </a:t>
            </a:r>
            <a:r>
              <a:rPr lang="nl-NL" sz="1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Sport</a:t>
            </a:r>
            <a:r>
              <a:rPr lang="nl-NL" sz="1800" noProof="0" dirty="0"/>
              <a:t>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B85FE37-42C0-48CE-BBAA-2B945E7091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796947"/>
              </p:ext>
            </p:extLst>
          </p:nvPr>
        </p:nvGraphicFramePr>
        <p:xfrm>
          <a:off x="8721723" y="4001294"/>
          <a:ext cx="2632077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1924">
                  <a:extLst>
                    <a:ext uri="{9D8B030D-6E8A-4147-A177-3AD203B41FA5}">
                      <a16:colId xmlns:a16="http://schemas.microsoft.com/office/drawing/2014/main" val="2417860962"/>
                    </a:ext>
                  </a:extLst>
                </a:gridCol>
                <a:gridCol w="1230153">
                  <a:extLst>
                    <a:ext uri="{9D8B030D-6E8A-4147-A177-3AD203B41FA5}">
                      <a16:colId xmlns:a16="http://schemas.microsoft.com/office/drawing/2014/main" val="2449702559"/>
                    </a:ext>
                  </a:extLst>
                </a:gridCol>
              </a:tblGrid>
              <a:tr h="302969">
                <a:tc>
                  <a:txBody>
                    <a:bodyPr/>
                    <a:lstStyle/>
                    <a:p>
                      <a:pPr algn="l"/>
                      <a:r>
                        <a:rPr lang="nl-NL" sz="1600" noProof="0" dirty="0"/>
                        <a:t>Sport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nl-NL" sz="1600" noProof="0" dirty="0"/>
                        <a:t>Categorie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6219780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Hardlopen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400" noProof="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Buiten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9053236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Roeien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400" noProof="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Buiten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7517245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Wielrennen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400" noProof="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Buiten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4142827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algn="l"/>
                      <a:r>
                        <a:rPr lang="nl-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Fitness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nl-NL" sz="1400" noProof="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Binnen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312312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4CD8793-3BBF-4DC8-81C7-641FCAD53F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4877118"/>
              </p:ext>
            </p:extLst>
          </p:nvPr>
        </p:nvGraphicFramePr>
        <p:xfrm>
          <a:off x="5316169" y="4001294"/>
          <a:ext cx="2579749" cy="185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922">
                  <a:extLst>
                    <a:ext uri="{9D8B030D-6E8A-4147-A177-3AD203B41FA5}">
                      <a16:colId xmlns:a16="http://schemas.microsoft.com/office/drawing/2014/main" val="1242195512"/>
                    </a:ext>
                  </a:extLst>
                </a:gridCol>
                <a:gridCol w="1573827">
                  <a:extLst>
                    <a:ext uri="{9D8B030D-6E8A-4147-A177-3AD203B41FA5}">
                      <a16:colId xmlns:a16="http://schemas.microsoft.com/office/drawing/2014/main" val="2417860962"/>
                    </a:ext>
                  </a:extLst>
                </a:gridCol>
              </a:tblGrid>
              <a:tr h="302969">
                <a:tc>
                  <a:txBody>
                    <a:bodyPr/>
                    <a:lstStyle/>
                    <a:p>
                      <a:pPr algn="l"/>
                      <a:r>
                        <a:rPr lang="nl-NL" sz="1600" noProof="0" dirty="0"/>
                        <a:t>Persoon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nl-NL" sz="1600" noProof="0" dirty="0"/>
                        <a:t>Sport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6219780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algn="l"/>
                      <a:r>
                        <a:rPr lang="nl-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Anna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Hardlopen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9053236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algn="l"/>
                      <a:r>
                        <a:rPr lang="nl-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Anna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Roeien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7517245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algn="l"/>
                      <a:r>
                        <a:rPr lang="nl-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Henk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Wielrennen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4142827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algn="l"/>
                      <a:r>
                        <a:rPr lang="nl-NL" sz="140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Fatih</a:t>
                      </a:r>
                      <a:endParaRPr lang="nl-NL" sz="1400" noProof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nl-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Hardlopen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5410762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algn="l"/>
                      <a:r>
                        <a:rPr lang="nl-NL" sz="140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Fatih</a:t>
                      </a:r>
                      <a:endParaRPr lang="nl-NL" sz="1400" noProof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nl-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Fitness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3123129"/>
                  </a:ext>
                </a:extLst>
              </a:tr>
            </a:tbl>
          </a:graphicData>
        </a:graphic>
      </p:graphicFrame>
      <p:sp>
        <p:nvSpPr>
          <p:cNvPr id="7" name="Arrow: Right 6">
            <a:extLst>
              <a:ext uri="{FF2B5EF4-FFF2-40B4-BE49-F238E27FC236}">
                <a16:creationId xmlns:a16="http://schemas.microsoft.com/office/drawing/2014/main" id="{A4143C16-DB65-4BA4-98E0-382B1A826413}"/>
              </a:ext>
            </a:extLst>
          </p:cNvPr>
          <p:cNvSpPr/>
          <p:nvPr/>
        </p:nvSpPr>
        <p:spPr>
          <a:xfrm>
            <a:off x="4671826" y="4678102"/>
            <a:ext cx="462881" cy="507389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noProof="0" dirty="0"/>
          </a:p>
        </p:txBody>
      </p:sp>
      <p:sp>
        <p:nvSpPr>
          <p:cNvPr id="8" name="Plus Sign 7">
            <a:extLst>
              <a:ext uri="{FF2B5EF4-FFF2-40B4-BE49-F238E27FC236}">
                <a16:creationId xmlns:a16="http://schemas.microsoft.com/office/drawing/2014/main" id="{664F3F39-0F6D-4A94-AB76-F9DCF59CC7F4}"/>
              </a:ext>
            </a:extLst>
          </p:cNvPr>
          <p:cNvSpPr/>
          <p:nvPr/>
        </p:nvSpPr>
        <p:spPr>
          <a:xfrm>
            <a:off x="8036555" y="4658668"/>
            <a:ext cx="544531" cy="544531"/>
          </a:xfrm>
          <a:prstGeom prst="mathPlus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noProof="0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36BD451B-2133-84D7-D84B-F1BFA33CC5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3766141"/>
              </p:ext>
            </p:extLst>
          </p:nvPr>
        </p:nvGraphicFramePr>
        <p:xfrm>
          <a:off x="838201" y="4001294"/>
          <a:ext cx="3652163" cy="185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8734">
                  <a:extLst>
                    <a:ext uri="{9D8B030D-6E8A-4147-A177-3AD203B41FA5}">
                      <a16:colId xmlns:a16="http://schemas.microsoft.com/office/drawing/2014/main" val="124219551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449702559"/>
                    </a:ext>
                  </a:extLst>
                </a:gridCol>
                <a:gridCol w="1261829">
                  <a:extLst>
                    <a:ext uri="{9D8B030D-6E8A-4147-A177-3AD203B41FA5}">
                      <a16:colId xmlns:a16="http://schemas.microsoft.com/office/drawing/2014/main" val="3648275770"/>
                    </a:ext>
                  </a:extLst>
                </a:gridCol>
              </a:tblGrid>
              <a:tr h="302969">
                <a:tc>
                  <a:txBody>
                    <a:bodyPr/>
                    <a:lstStyle/>
                    <a:p>
                      <a:pPr algn="l"/>
                      <a:r>
                        <a:rPr lang="nl-NL" sz="1600" noProof="0" dirty="0"/>
                        <a:t>Persoon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nl-NL" sz="1600" noProof="0" dirty="0"/>
                        <a:t>Sport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nl-NL" sz="1600" noProof="0" dirty="0"/>
                        <a:t>Categorie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6219780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algn="l"/>
                      <a:r>
                        <a:rPr lang="nl-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Anna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Hardlopen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40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Buiten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9053236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algn="l"/>
                      <a:r>
                        <a:rPr lang="nl-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Anna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Roeien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40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Buiten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7517245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algn="l"/>
                      <a:r>
                        <a:rPr lang="nl-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Henk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Wielrennen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40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Buiten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4142827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algn="l"/>
                      <a:r>
                        <a:rPr lang="nl-NL" sz="140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Fatih</a:t>
                      </a:r>
                      <a:endParaRPr lang="nl-NL" sz="140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nl-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Hardlopen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nl-NL" sz="140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Buiten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5410762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algn="l"/>
                      <a:r>
                        <a:rPr lang="nl-NL" sz="140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Fatih</a:t>
                      </a:r>
                      <a:endParaRPr lang="nl-NL" sz="140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nl-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Fitness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nl-NL" sz="140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Binnen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31231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41552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2568C-5B64-19ED-86D2-F92212997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765F9-9F54-0DB4-BE3C-A2826373F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600" noProof="0" dirty="0"/>
              <a:t>Normalisatie: Derde vorm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E3F5A9-F55B-F6E7-EA13-3B699E174A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nl-NL" sz="2000" noProof="0" dirty="0"/>
              <a:t>Alle eisen van 2NF.</a:t>
            </a:r>
          </a:p>
          <a:p>
            <a:pPr marL="0" indent="0">
              <a:buNone/>
            </a:pPr>
            <a:r>
              <a:rPr lang="nl-NL" sz="2000" noProof="0" dirty="0"/>
              <a:t>Waardes </a:t>
            </a:r>
            <a:r>
              <a:rPr lang="nl-NL" sz="2000" u="sng" noProof="0" dirty="0"/>
              <a:t>alleen afhankelijk</a:t>
            </a:r>
            <a:r>
              <a:rPr lang="nl-NL" sz="2000" noProof="0" dirty="0"/>
              <a:t> van de sleutel.</a:t>
            </a:r>
          </a:p>
          <a:p>
            <a:pPr>
              <a:buFontTx/>
              <a:buChar char="-"/>
            </a:pPr>
            <a:r>
              <a:rPr lang="nl-NL" sz="1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Jaar</a:t>
            </a:r>
            <a:r>
              <a:rPr lang="nl-NL" sz="1800" noProof="0" dirty="0"/>
              <a:t> en </a:t>
            </a:r>
            <a:r>
              <a:rPr lang="nl-NL" sz="1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Toernooi</a:t>
            </a:r>
            <a:r>
              <a:rPr lang="nl-NL" sz="1800" noProof="0" dirty="0"/>
              <a:t> vormen de sleutel.</a:t>
            </a:r>
          </a:p>
          <a:p>
            <a:pPr>
              <a:buFontTx/>
              <a:buChar char="-"/>
            </a:pPr>
            <a:r>
              <a:rPr lang="nl-NL" sz="1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Winnaar</a:t>
            </a:r>
            <a:r>
              <a:rPr lang="nl-NL" sz="1800" noProof="0" dirty="0"/>
              <a:t> en </a:t>
            </a:r>
            <a:r>
              <a:rPr lang="nl-NL" sz="18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GeboorteDatum</a:t>
            </a:r>
            <a:r>
              <a:rPr lang="nl-NL" sz="1800" noProof="0" dirty="0"/>
              <a:t> hangen af van </a:t>
            </a:r>
            <a:r>
              <a:rPr lang="nl-NL" sz="1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Jaar</a:t>
            </a:r>
            <a:r>
              <a:rPr lang="nl-NL" sz="1800" noProof="0" dirty="0"/>
              <a:t> en </a:t>
            </a:r>
            <a:r>
              <a:rPr lang="nl-NL" sz="1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Toernooi</a:t>
            </a:r>
            <a:r>
              <a:rPr lang="nl-NL" sz="1800" noProof="0" dirty="0"/>
              <a:t>...</a:t>
            </a:r>
          </a:p>
          <a:p>
            <a:pPr>
              <a:buFontTx/>
              <a:buChar char="-"/>
            </a:pPr>
            <a:r>
              <a:rPr lang="nl-NL" sz="1800" noProof="0" dirty="0"/>
              <a:t>Maar: </a:t>
            </a:r>
            <a:r>
              <a:rPr lang="nl-NL" sz="18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GeboorteDatum</a:t>
            </a:r>
            <a:r>
              <a:rPr lang="nl-NL" sz="1800" noProof="0" dirty="0"/>
              <a:t> indirect via de </a:t>
            </a:r>
            <a:r>
              <a:rPr lang="nl-NL" sz="1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Winnaar</a:t>
            </a:r>
            <a:r>
              <a:rPr lang="nl-NL" sz="1800" noProof="0" dirty="0"/>
              <a:t>.</a:t>
            </a:r>
          </a:p>
          <a:p>
            <a:pPr marL="0" indent="0">
              <a:buNone/>
            </a:pPr>
            <a:endParaRPr lang="nl-NL" sz="2000" b="1" noProof="0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2EFD87A-8836-1199-0E92-EC9802DF12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5440923"/>
              </p:ext>
            </p:extLst>
          </p:nvPr>
        </p:nvGraphicFramePr>
        <p:xfrm>
          <a:off x="838201" y="4001294"/>
          <a:ext cx="4332154" cy="15887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4693">
                  <a:extLst>
                    <a:ext uri="{9D8B030D-6E8A-4147-A177-3AD203B41FA5}">
                      <a16:colId xmlns:a16="http://schemas.microsoft.com/office/drawing/2014/main" val="2417860962"/>
                    </a:ext>
                  </a:extLst>
                </a:gridCol>
                <a:gridCol w="981266">
                  <a:extLst>
                    <a:ext uri="{9D8B030D-6E8A-4147-A177-3AD203B41FA5}">
                      <a16:colId xmlns:a16="http://schemas.microsoft.com/office/drawing/2014/main" val="726608696"/>
                    </a:ext>
                  </a:extLst>
                </a:gridCol>
                <a:gridCol w="1067067">
                  <a:extLst>
                    <a:ext uri="{9D8B030D-6E8A-4147-A177-3AD203B41FA5}">
                      <a16:colId xmlns:a16="http://schemas.microsoft.com/office/drawing/2014/main" val="2401307065"/>
                    </a:ext>
                  </a:extLst>
                </a:gridCol>
                <a:gridCol w="1569128">
                  <a:extLst>
                    <a:ext uri="{9D8B030D-6E8A-4147-A177-3AD203B41FA5}">
                      <a16:colId xmlns:a16="http://schemas.microsoft.com/office/drawing/2014/main" val="2449702559"/>
                    </a:ext>
                  </a:extLst>
                </a:gridCol>
              </a:tblGrid>
              <a:tr h="302969">
                <a:tc>
                  <a:txBody>
                    <a:bodyPr/>
                    <a:lstStyle/>
                    <a:p>
                      <a:pPr algn="ctr"/>
                      <a:r>
                        <a:rPr lang="nl-NL" sz="1600" noProof="0" dirty="0"/>
                        <a:t>Jaar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600" noProof="0" dirty="0" err="1"/>
                        <a:t>Tournooi</a:t>
                      </a:r>
                      <a:endParaRPr lang="nl-NL" sz="16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600" noProof="0" dirty="0"/>
                        <a:t>Winnaar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600" noProof="0" dirty="0" err="1"/>
                        <a:t>GeboorteDatum</a:t>
                      </a:r>
                      <a:endParaRPr lang="nl-NL" sz="16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6219780"/>
                  </a:ext>
                </a:extLst>
              </a:tr>
              <a:tr h="33910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Anna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40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2004-05-03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9053236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40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Fatih</a:t>
                      </a:r>
                      <a:endParaRPr lang="nl-NL" sz="1400" noProof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40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2002-09-14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7517245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Anna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40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2004-05-03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4142827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algn="ctr"/>
                      <a:r>
                        <a:rPr lang="nl-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Anna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40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2004-05-03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54107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49097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F37B1-16B4-1BCF-F73A-47A9609E6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459E9-3D96-BE49-709E-645D74F01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600" noProof="0" dirty="0"/>
              <a:t>Normalisatie: Derde vorm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71F1CF-433E-9191-CAE5-28CA4C342E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nl-NL" sz="2000" noProof="0" dirty="0"/>
              <a:t>Alle eisen van 2NF.</a:t>
            </a:r>
          </a:p>
          <a:p>
            <a:pPr marL="0" indent="0">
              <a:buNone/>
            </a:pPr>
            <a:r>
              <a:rPr lang="nl-NL" sz="2000" noProof="0" dirty="0"/>
              <a:t>Waardes </a:t>
            </a:r>
            <a:r>
              <a:rPr lang="nl-NL" sz="2000" u="sng" noProof="0" dirty="0"/>
              <a:t>alleen afhankelijk</a:t>
            </a:r>
            <a:r>
              <a:rPr lang="nl-NL" sz="2000" noProof="0" dirty="0"/>
              <a:t> van de sleutel.</a:t>
            </a:r>
          </a:p>
          <a:p>
            <a:pPr>
              <a:buFontTx/>
              <a:buChar char="-"/>
            </a:pPr>
            <a:r>
              <a:rPr lang="nl-NL" sz="1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Jaar</a:t>
            </a:r>
            <a:r>
              <a:rPr lang="nl-NL" sz="1800" noProof="0" dirty="0"/>
              <a:t> en </a:t>
            </a:r>
            <a:r>
              <a:rPr lang="nl-NL" sz="1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Toernooi</a:t>
            </a:r>
            <a:r>
              <a:rPr lang="nl-NL" sz="1800" noProof="0" dirty="0"/>
              <a:t> vormen de sleutel.</a:t>
            </a:r>
          </a:p>
          <a:p>
            <a:pPr>
              <a:buFontTx/>
              <a:buChar char="-"/>
            </a:pPr>
            <a:r>
              <a:rPr lang="nl-NL" sz="1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Winnaar</a:t>
            </a:r>
            <a:r>
              <a:rPr lang="nl-NL" sz="1800" noProof="0" dirty="0"/>
              <a:t> en </a:t>
            </a:r>
            <a:r>
              <a:rPr lang="nl-NL" sz="18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GeboorteDatum</a:t>
            </a:r>
            <a:r>
              <a:rPr lang="nl-NL" sz="1800" noProof="0" dirty="0"/>
              <a:t> hangen af van </a:t>
            </a:r>
            <a:r>
              <a:rPr lang="nl-NL" sz="1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Jaar</a:t>
            </a:r>
            <a:r>
              <a:rPr lang="nl-NL" sz="1800" noProof="0" dirty="0"/>
              <a:t> en </a:t>
            </a:r>
            <a:r>
              <a:rPr lang="nl-NL" sz="1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Toernooi</a:t>
            </a:r>
            <a:r>
              <a:rPr lang="nl-NL" sz="1800" noProof="0" dirty="0"/>
              <a:t>...</a:t>
            </a:r>
          </a:p>
          <a:p>
            <a:pPr>
              <a:buFontTx/>
              <a:buChar char="-"/>
            </a:pPr>
            <a:r>
              <a:rPr lang="nl-NL" sz="1800" noProof="0" dirty="0"/>
              <a:t>Maar: </a:t>
            </a:r>
            <a:r>
              <a:rPr lang="nl-NL" sz="18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GeboorteDatum</a:t>
            </a:r>
            <a:r>
              <a:rPr lang="nl-NL" sz="1800" noProof="0" dirty="0"/>
              <a:t> indirect via de </a:t>
            </a:r>
            <a:r>
              <a:rPr lang="nl-NL" sz="1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Winnaar</a:t>
            </a:r>
            <a:r>
              <a:rPr lang="nl-NL" sz="1800" noProof="0" dirty="0"/>
              <a:t>.</a:t>
            </a:r>
            <a:endParaRPr lang="nl-NL" sz="1600" noProof="0" dirty="0"/>
          </a:p>
          <a:p>
            <a:pPr marL="0" indent="0">
              <a:buNone/>
            </a:pPr>
            <a:endParaRPr lang="nl-NL" sz="2000" b="1" noProof="0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806A267-3E3B-4EAC-BBD1-3F7B0070E8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8752548"/>
              </p:ext>
            </p:extLst>
          </p:nvPr>
        </p:nvGraphicFramePr>
        <p:xfrm>
          <a:off x="838201" y="4001294"/>
          <a:ext cx="4332154" cy="15887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4693">
                  <a:extLst>
                    <a:ext uri="{9D8B030D-6E8A-4147-A177-3AD203B41FA5}">
                      <a16:colId xmlns:a16="http://schemas.microsoft.com/office/drawing/2014/main" val="2417860962"/>
                    </a:ext>
                  </a:extLst>
                </a:gridCol>
                <a:gridCol w="981266">
                  <a:extLst>
                    <a:ext uri="{9D8B030D-6E8A-4147-A177-3AD203B41FA5}">
                      <a16:colId xmlns:a16="http://schemas.microsoft.com/office/drawing/2014/main" val="726608696"/>
                    </a:ext>
                  </a:extLst>
                </a:gridCol>
                <a:gridCol w="1067067">
                  <a:extLst>
                    <a:ext uri="{9D8B030D-6E8A-4147-A177-3AD203B41FA5}">
                      <a16:colId xmlns:a16="http://schemas.microsoft.com/office/drawing/2014/main" val="2401307065"/>
                    </a:ext>
                  </a:extLst>
                </a:gridCol>
                <a:gridCol w="1569128">
                  <a:extLst>
                    <a:ext uri="{9D8B030D-6E8A-4147-A177-3AD203B41FA5}">
                      <a16:colId xmlns:a16="http://schemas.microsoft.com/office/drawing/2014/main" val="2449702559"/>
                    </a:ext>
                  </a:extLst>
                </a:gridCol>
              </a:tblGrid>
              <a:tr h="302969">
                <a:tc>
                  <a:txBody>
                    <a:bodyPr/>
                    <a:lstStyle/>
                    <a:p>
                      <a:pPr algn="ctr"/>
                      <a:r>
                        <a:rPr lang="nl-NL" sz="1600" noProof="0" dirty="0"/>
                        <a:t>Jaar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600" noProof="0" dirty="0" err="1"/>
                        <a:t>Tournooi</a:t>
                      </a:r>
                      <a:endParaRPr lang="nl-NL" sz="16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600" noProof="0" dirty="0"/>
                        <a:t>Winnaar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600" noProof="0" dirty="0" err="1"/>
                        <a:t>GeboorteDatum</a:t>
                      </a:r>
                      <a:endParaRPr lang="nl-NL" sz="16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6219780"/>
                  </a:ext>
                </a:extLst>
              </a:tr>
              <a:tr h="33910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Anna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40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2004-05-03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9053236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40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Fatih</a:t>
                      </a:r>
                      <a:endParaRPr lang="nl-NL" sz="1400" noProof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40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2002-09-14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7517245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Anna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40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2004-05-03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4142827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algn="ctr"/>
                      <a:r>
                        <a:rPr lang="nl-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Anna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40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2004-05-03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5410762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ECD4029-33CB-A1CE-C893-5CC006E620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8415395"/>
              </p:ext>
            </p:extLst>
          </p:nvPr>
        </p:nvGraphicFramePr>
        <p:xfrm>
          <a:off x="5808788" y="4001294"/>
          <a:ext cx="2717950" cy="15887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5043">
                  <a:extLst>
                    <a:ext uri="{9D8B030D-6E8A-4147-A177-3AD203B41FA5}">
                      <a16:colId xmlns:a16="http://schemas.microsoft.com/office/drawing/2014/main" val="2417860962"/>
                    </a:ext>
                  </a:extLst>
                </a:gridCol>
                <a:gridCol w="945294">
                  <a:extLst>
                    <a:ext uri="{9D8B030D-6E8A-4147-A177-3AD203B41FA5}">
                      <a16:colId xmlns:a16="http://schemas.microsoft.com/office/drawing/2014/main" val="726608696"/>
                    </a:ext>
                  </a:extLst>
                </a:gridCol>
                <a:gridCol w="1067613">
                  <a:extLst>
                    <a:ext uri="{9D8B030D-6E8A-4147-A177-3AD203B41FA5}">
                      <a16:colId xmlns:a16="http://schemas.microsoft.com/office/drawing/2014/main" val="2401307065"/>
                    </a:ext>
                  </a:extLst>
                </a:gridCol>
              </a:tblGrid>
              <a:tr h="302969">
                <a:tc>
                  <a:txBody>
                    <a:bodyPr/>
                    <a:lstStyle/>
                    <a:p>
                      <a:pPr algn="ctr"/>
                      <a:r>
                        <a:rPr lang="nl-NL" sz="1600" noProof="0" dirty="0"/>
                        <a:t>Jaar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600" noProof="0" dirty="0" err="1"/>
                        <a:t>Tournooi</a:t>
                      </a:r>
                      <a:endParaRPr lang="nl-NL" sz="16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600" noProof="0" dirty="0"/>
                        <a:t>Winnaar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6219780"/>
                  </a:ext>
                </a:extLst>
              </a:tr>
              <a:tr h="33910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Anna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9053236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40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Fatih</a:t>
                      </a:r>
                      <a:endParaRPr lang="nl-NL" sz="1400" noProof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7517245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Anna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4142827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algn="ctr"/>
                      <a:r>
                        <a:rPr lang="nl-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Anna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5410762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9A2BD49-EB82-E5E9-7D15-D7AFF9BD40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7182466"/>
              </p:ext>
            </p:extLst>
          </p:nvPr>
        </p:nvGraphicFramePr>
        <p:xfrm>
          <a:off x="9221372" y="4001294"/>
          <a:ext cx="2504050" cy="9791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2940">
                  <a:extLst>
                    <a:ext uri="{9D8B030D-6E8A-4147-A177-3AD203B41FA5}">
                      <a16:colId xmlns:a16="http://schemas.microsoft.com/office/drawing/2014/main" val="3528763588"/>
                    </a:ext>
                  </a:extLst>
                </a:gridCol>
                <a:gridCol w="1591110">
                  <a:extLst>
                    <a:ext uri="{9D8B030D-6E8A-4147-A177-3AD203B41FA5}">
                      <a16:colId xmlns:a16="http://schemas.microsoft.com/office/drawing/2014/main" val="3349736252"/>
                    </a:ext>
                  </a:extLst>
                </a:gridCol>
              </a:tblGrid>
              <a:tr h="302969">
                <a:tc>
                  <a:txBody>
                    <a:bodyPr/>
                    <a:lstStyle/>
                    <a:p>
                      <a:pPr algn="ctr"/>
                      <a:r>
                        <a:rPr lang="nl-NL" sz="1600" noProof="0" dirty="0"/>
                        <a:t>Sporter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600" noProof="0" dirty="0" err="1"/>
                        <a:t>GeboorteDatum</a:t>
                      </a:r>
                      <a:endParaRPr lang="nl-NL" sz="16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0101435"/>
                  </a:ext>
                </a:extLst>
              </a:tr>
              <a:tr h="339103">
                <a:tc>
                  <a:txBody>
                    <a:bodyPr/>
                    <a:lstStyle/>
                    <a:p>
                      <a:pPr algn="ctr"/>
                      <a:r>
                        <a:rPr lang="nl-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Anna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2004-05-03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7858793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algn="ctr"/>
                      <a:r>
                        <a:rPr lang="nl-NL" sz="140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Fatih</a:t>
                      </a:r>
                      <a:endParaRPr lang="nl-NL" sz="1400" noProof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2002-09-14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5839212"/>
                  </a:ext>
                </a:extLst>
              </a:tr>
            </a:tbl>
          </a:graphicData>
        </a:graphic>
      </p:graphicFrame>
      <p:sp>
        <p:nvSpPr>
          <p:cNvPr id="8" name="Arrow: Right 7">
            <a:extLst>
              <a:ext uri="{FF2B5EF4-FFF2-40B4-BE49-F238E27FC236}">
                <a16:creationId xmlns:a16="http://schemas.microsoft.com/office/drawing/2014/main" id="{43A62B4F-319D-EFDF-602C-1FA43F2CBF73}"/>
              </a:ext>
            </a:extLst>
          </p:cNvPr>
          <p:cNvSpPr/>
          <p:nvPr/>
        </p:nvSpPr>
        <p:spPr>
          <a:xfrm>
            <a:off x="5269703" y="4565561"/>
            <a:ext cx="462881" cy="507389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noProof="0" dirty="0"/>
          </a:p>
        </p:txBody>
      </p:sp>
      <p:sp>
        <p:nvSpPr>
          <p:cNvPr id="9" name="Plus Sign 8">
            <a:extLst>
              <a:ext uri="{FF2B5EF4-FFF2-40B4-BE49-F238E27FC236}">
                <a16:creationId xmlns:a16="http://schemas.microsoft.com/office/drawing/2014/main" id="{1F1E9D95-4405-FE79-E812-59B22F0E7E4D}"/>
              </a:ext>
            </a:extLst>
          </p:cNvPr>
          <p:cNvSpPr/>
          <p:nvPr/>
        </p:nvSpPr>
        <p:spPr>
          <a:xfrm>
            <a:off x="8601789" y="4546989"/>
            <a:ext cx="544531" cy="544531"/>
          </a:xfrm>
          <a:prstGeom prst="mathPlus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34685187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FD261-0D2C-41B9-9E28-43DF575D4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600" noProof="0" dirty="0"/>
              <a:t>Normalisatie samenvatting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4B503-C44F-453E-9465-D42E4557DE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nl-NL" sz="2000" noProof="0" dirty="0"/>
              <a:t>1NF :		Eén waarde per cel, alle rijen uniek.</a:t>
            </a:r>
          </a:p>
          <a:p>
            <a:pPr marL="0" indent="0">
              <a:buNone/>
            </a:pPr>
            <a:endParaRPr lang="nl-NL" sz="2000" noProof="0" dirty="0"/>
          </a:p>
          <a:p>
            <a:pPr marL="0" indent="0">
              <a:buNone/>
            </a:pPr>
            <a:r>
              <a:rPr lang="nl-NL" sz="2000" noProof="0" dirty="0"/>
              <a:t>2NF:		1NF + waardes afhankelijk van </a:t>
            </a:r>
            <a:r>
              <a:rPr lang="nl-NL" sz="2000" u="sng" noProof="0" dirty="0"/>
              <a:t>gehele</a:t>
            </a:r>
            <a:r>
              <a:rPr lang="nl-NL" sz="2000" noProof="0" dirty="0"/>
              <a:t> sleutel.</a:t>
            </a:r>
          </a:p>
          <a:p>
            <a:pPr marL="0" indent="0">
              <a:buNone/>
            </a:pPr>
            <a:endParaRPr lang="nl-NL" sz="2000" noProof="0" dirty="0"/>
          </a:p>
          <a:p>
            <a:pPr marL="0" indent="0">
              <a:buNone/>
            </a:pPr>
            <a:r>
              <a:rPr lang="nl-NL" sz="2000" noProof="0" dirty="0"/>
              <a:t>3NF:		2NF + waardes </a:t>
            </a:r>
            <a:r>
              <a:rPr lang="nl-NL" sz="2000" u="sng" noProof="0" dirty="0"/>
              <a:t>alleen afhankelijk</a:t>
            </a:r>
            <a:r>
              <a:rPr lang="nl-NL" sz="2000" noProof="0" dirty="0"/>
              <a:t> van de sleutel.</a:t>
            </a:r>
          </a:p>
          <a:p>
            <a:pPr marL="0" indent="0">
              <a:buNone/>
            </a:pPr>
            <a:endParaRPr lang="nl-NL" sz="2000" noProof="0" dirty="0"/>
          </a:p>
          <a:p>
            <a:pPr marL="0" indent="0">
              <a:buNone/>
            </a:pPr>
            <a:endParaRPr lang="nl-NL" sz="2000" noProof="0" dirty="0"/>
          </a:p>
          <a:p>
            <a:pPr marL="0" indent="0" algn="ctr">
              <a:buNone/>
            </a:pPr>
            <a:r>
              <a:rPr lang="nl-NL" sz="2000" b="1" noProof="0" dirty="0"/>
              <a:t>The data </a:t>
            </a:r>
            <a:r>
              <a:rPr lang="nl-NL" sz="2000" b="1" noProof="0" dirty="0" err="1"/>
              <a:t>depends</a:t>
            </a:r>
            <a:r>
              <a:rPr lang="nl-NL" sz="2000" b="1" noProof="0" dirty="0"/>
              <a:t> on </a:t>
            </a:r>
            <a:r>
              <a:rPr lang="nl-NL" sz="2000" b="1" noProof="0" dirty="0" err="1"/>
              <a:t>the</a:t>
            </a:r>
            <a:r>
              <a:rPr lang="nl-NL" sz="2000" b="1" noProof="0" dirty="0"/>
              <a:t> </a:t>
            </a:r>
            <a:r>
              <a:rPr lang="nl-NL" sz="2000" b="1" noProof="0" dirty="0" err="1"/>
              <a:t>key</a:t>
            </a:r>
            <a:r>
              <a:rPr lang="nl-NL" sz="2000" b="1" noProof="0" dirty="0"/>
              <a:t> [1NF], </a:t>
            </a:r>
            <a:r>
              <a:rPr lang="nl-NL" sz="2000" b="1" noProof="0" dirty="0" err="1"/>
              <a:t>the</a:t>
            </a:r>
            <a:r>
              <a:rPr lang="nl-NL" sz="2000" b="1" noProof="0" dirty="0"/>
              <a:t> </a:t>
            </a:r>
            <a:r>
              <a:rPr lang="nl-NL" sz="2000" b="1" noProof="0" dirty="0" err="1"/>
              <a:t>whole</a:t>
            </a:r>
            <a:r>
              <a:rPr lang="nl-NL" sz="2000" b="1" noProof="0" dirty="0"/>
              <a:t> </a:t>
            </a:r>
            <a:r>
              <a:rPr lang="nl-NL" sz="2000" b="1" noProof="0" dirty="0" err="1"/>
              <a:t>key</a:t>
            </a:r>
            <a:r>
              <a:rPr lang="nl-NL" sz="2000" b="1" noProof="0" dirty="0"/>
              <a:t> [2NF] </a:t>
            </a:r>
            <a:r>
              <a:rPr lang="nl-NL" sz="2000" b="1" noProof="0" dirty="0" err="1"/>
              <a:t>and</a:t>
            </a:r>
            <a:r>
              <a:rPr lang="nl-NL" sz="2000" b="1" noProof="0" dirty="0"/>
              <a:t> </a:t>
            </a:r>
            <a:r>
              <a:rPr lang="nl-NL" sz="2000" b="1" noProof="0" dirty="0" err="1"/>
              <a:t>nothing</a:t>
            </a:r>
            <a:r>
              <a:rPr lang="nl-NL" sz="2000" b="1" noProof="0" dirty="0"/>
              <a:t> but </a:t>
            </a:r>
            <a:r>
              <a:rPr lang="nl-NL" sz="2000" b="1" noProof="0" dirty="0" err="1"/>
              <a:t>the</a:t>
            </a:r>
            <a:r>
              <a:rPr lang="nl-NL" sz="2000" b="1" noProof="0" dirty="0"/>
              <a:t> </a:t>
            </a:r>
            <a:r>
              <a:rPr lang="nl-NL" sz="2000" b="1" noProof="0" dirty="0" err="1"/>
              <a:t>key</a:t>
            </a:r>
            <a:r>
              <a:rPr lang="nl-NL" sz="2000" b="1" noProof="0" dirty="0"/>
              <a:t> [3NF]</a:t>
            </a:r>
          </a:p>
        </p:txBody>
      </p:sp>
    </p:spTree>
    <p:extLst>
      <p:ext uri="{BB962C8B-B14F-4D97-AF65-F5344CB8AC3E}">
        <p14:creationId xmlns:p14="http://schemas.microsoft.com/office/powerpoint/2010/main" val="15594997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FD261-0D2C-41B9-9E28-43DF575D4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600" noProof="0" dirty="0"/>
              <a:t>Normalisatie overwegingen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4B503-C44F-453E-9465-D42E4557DE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7200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2000" b="1" noProof="0" dirty="0"/>
              <a:t>Voordelen:</a:t>
            </a:r>
          </a:p>
          <a:p>
            <a:pPr>
              <a:buFontTx/>
              <a:buChar char="-"/>
            </a:pPr>
            <a:endParaRPr lang="nl-NL" sz="2000" noProof="0" dirty="0"/>
          </a:p>
          <a:p>
            <a:pPr>
              <a:buFontTx/>
              <a:buChar char="-"/>
            </a:pPr>
            <a:r>
              <a:rPr lang="nl-NL" sz="2000" noProof="0" dirty="0"/>
              <a:t>Voorkomt herhaling van waardes</a:t>
            </a:r>
          </a:p>
          <a:p>
            <a:pPr>
              <a:buFontTx/>
              <a:buChar char="-"/>
            </a:pPr>
            <a:endParaRPr lang="nl-NL" sz="2000" noProof="0" dirty="0"/>
          </a:p>
          <a:p>
            <a:pPr>
              <a:buFontTx/>
              <a:buChar char="-"/>
            </a:pPr>
            <a:r>
              <a:rPr lang="nl-NL" sz="2000" noProof="0" dirty="0"/>
              <a:t>Consistentie in waardes.</a:t>
            </a:r>
          </a:p>
          <a:p>
            <a:pPr>
              <a:buFontTx/>
              <a:buChar char="-"/>
            </a:pPr>
            <a:endParaRPr lang="nl-NL" sz="2000" noProof="0" dirty="0"/>
          </a:p>
          <a:p>
            <a:pPr>
              <a:buFontTx/>
              <a:buChar char="-"/>
            </a:pPr>
            <a:r>
              <a:rPr lang="nl-NL" sz="2000" noProof="0" dirty="0"/>
              <a:t>Efficiënt qua data opslag.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DED2657-BC9A-49C3-8121-A60A481FD11C}"/>
              </a:ext>
            </a:extLst>
          </p:cNvPr>
          <p:cNvSpPr txBox="1">
            <a:spLocks/>
          </p:cNvSpPr>
          <p:nvPr/>
        </p:nvSpPr>
        <p:spPr>
          <a:xfrm>
            <a:off x="6096000" y="1825625"/>
            <a:ext cx="507200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nl-NL" sz="2000" b="1" noProof="0" dirty="0"/>
              <a:t>Nadelen:</a:t>
            </a:r>
          </a:p>
          <a:p>
            <a:pPr marL="0" indent="0">
              <a:buNone/>
            </a:pPr>
            <a:endParaRPr lang="nl-NL" sz="2000" noProof="0" dirty="0"/>
          </a:p>
          <a:p>
            <a:pPr>
              <a:buFontTx/>
              <a:buChar char="-"/>
            </a:pPr>
            <a:r>
              <a:rPr lang="nl-NL" sz="2000" noProof="0" dirty="0"/>
              <a:t>Toegenomen complexiteit (veel </a:t>
            </a:r>
            <a:r>
              <a:rPr lang="nl-NL" sz="2000" noProof="0" dirty="0" err="1"/>
              <a:t>JOINs</a:t>
            </a:r>
            <a:r>
              <a:rPr lang="nl-NL" sz="2000" noProof="0" dirty="0"/>
              <a:t>).</a:t>
            </a:r>
          </a:p>
          <a:p>
            <a:pPr>
              <a:buFontTx/>
              <a:buChar char="-"/>
            </a:pPr>
            <a:endParaRPr lang="nl-NL" sz="2000" noProof="0" dirty="0"/>
          </a:p>
          <a:p>
            <a:pPr>
              <a:buFontTx/>
              <a:buChar char="-"/>
            </a:pPr>
            <a:r>
              <a:rPr lang="nl-NL" sz="2000" noProof="0" dirty="0"/>
              <a:t>Tabellen op zichzelf minder leesbaar.</a:t>
            </a:r>
          </a:p>
          <a:p>
            <a:pPr>
              <a:buFontTx/>
              <a:buChar char="-"/>
            </a:pPr>
            <a:endParaRPr lang="nl-NL" sz="2000" noProof="0" dirty="0"/>
          </a:p>
          <a:p>
            <a:pPr>
              <a:buFontTx/>
              <a:buChar char="-"/>
            </a:pPr>
            <a:r>
              <a:rPr lang="nl-NL" sz="2000" noProof="0" dirty="0"/>
              <a:t>Minder efficiënt qua rekenkracht.</a:t>
            </a:r>
          </a:p>
          <a:p>
            <a:pPr>
              <a:buFontTx/>
              <a:buChar char="-"/>
            </a:pPr>
            <a:endParaRPr lang="nl-NL" sz="2000" noProof="0" dirty="0"/>
          </a:p>
        </p:txBody>
      </p:sp>
    </p:spTree>
    <p:extLst>
      <p:ext uri="{BB962C8B-B14F-4D97-AF65-F5344CB8AC3E}">
        <p14:creationId xmlns:p14="http://schemas.microsoft.com/office/powerpoint/2010/main" val="35775033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F9C09-FC02-5228-6A61-AFC785A2D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26310-9DC0-6AAC-493A-CC8D72724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600" noProof="0" dirty="0"/>
              <a:t>Oefeningen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CFF3DE-DA11-A7C8-8682-8F636AA6B9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457200" indent="-457200">
              <a:buAutoNum type="arabicPeriod"/>
            </a:pPr>
            <a:r>
              <a:rPr lang="nl-NL" sz="2000" noProof="0" dirty="0"/>
              <a:t>Open </a:t>
            </a: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0_data/</a:t>
            </a:r>
            <a:r>
              <a:rPr lang="nl-NL" sz="20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sales_data.db</a:t>
            </a:r>
            <a:r>
              <a:rPr lang="nl-NL" sz="2000" noProof="0" dirty="0"/>
              <a:t> en bekijk de structuur:</a:t>
            </a:r>
          </a:p>
          <a:p>
            <a:pPr marL="914400" lvl="1" indent="-457200">
              <a:buAutoNum type="arabicPeriod"/>
            </a:pPr>
            <a:endParaRPr lang="nl-NL" sz="2000" noProof="0" dirty="0"/>
          </a:p>
          <a:p>
            <a:pPr lvl="1"/>
            <a:r>
              <a:rPr lang="nl-NL" sz="2000" noProof="0" dirty="0"/>
              <a:t>Wat voor type relatie zit er tussen </a:t>
            </a:r>
            <a:r>
              <a:rPr lang="nl-NL" sz="2000" noProof="0" dirty="0">
                <a:cs typeface="Courier New" panose="02070309020205020404" pitchFamily="49" charset="0"/>
              </a:rPr>
              <a:t>klanten</a:t>
            </a:r>
            <a:r>
              <a:rPr lang="nl-NL" sz="2000" noProof="0" dirty="0"/>
              <a:t> en </a:t>
            </a:r>
            <a:r>
              <a:rPr lang="nl-NL" sz="2000" noProof="0" dirty="0">
                <a:cs typeface="Courier New" panose="02070309020205020404" pitchFamily="49" charset="0"/>
              </a:rPr>
              <a:t>transacties</a:t>
            </a:r>
            <a:r>
              <a:rPr lang="nl-NL" sz="2000" noProof="0" dirty="0"/>
              <a:t>?</a:t>
            </a:r>
          </a:p>
          <a:p>
            <a:pPr lvl="1"/>
            <a:r>
              <a:rPr lang="nl-NL" sz="2000" noProof="0" dirty="0"/>
              <a:t>En tussen transacties en producten?</a:t>
            </a:r>
          </a:p>
          <a:p>
            <a:pPr marL="457200" indent="-457200">
              <a:buAutoNum type="arabicPeriod"/>
            </a:pPr>
            <a:endParaRPr lang="nl-NL" sz="2000" noProof="0" dirty="0"/>
          </a:p>
          <a:p>
            <a:pPr marL="457200" indent="-457200">
              <a:buAutoNum type="arabicPeriod"/>
            </a:pPr>
            <a:r>
              <a:rPr lang="nl-NL" sz="2000" noProof="0" dirty="0"/>
              <a:t>Bekijk de </a:t>
            </a: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Transacties</a:t>
            </a:r>
            <a:r>
              <a:rPr lang="nl-NL" sz="2000" noProof="0" dirty="0"/>
              <a:t> tabel:</a:t>
            </a:r>
          </a:p>
          <a:p>
            <a:pPr marL="457200" indent="-457200">
              <a:buAutoNum type="arabicPeriod"/>
            </a:pPr>
            <a:endParaRPr lang="nl-NL" sz="2000" noProof="0" dirty="0"/>
          </a:p>
          <a:p>
            <a:pPr lvl="1"/>
            <a:r>
              <a:rPr lang="nl-NL" sz="2000" noProof="0" dirty="0"/>
              <a:t>Welke kolommen vormen de sleutel van deze tabel?</a:t>
            </a:r>
          </a:p>
          <a:p>
            <a:pPr lvl="1"/>
            <a:r>
              <a:rPr lang="nl-NL" sz="2000" noProof="0" dirty="0"/>
              <a:t>Voldoet de tabel aan de eerste vorm van normalisatie?</a:t>
            </a:r>
          </a:p>
          <a:p>
            <a:pPr lvl="1"/>
            <a:r>
              <a:rPr lang="nl-NL" sz="2000" noProof="0" dirty="0"/>
              <a:t>En aan de tweede vorm van normalisatie?</a:t>
            </a:r>
          </a:p>
          <a:p>
            <a:pPr lvl="1"/>
            <a:r>
              <a:rPr lang="nl-NL" sz="2000" noProof="0" dirty="0"/>
              <a:t>Welke kolom voldoet niet aan de derde vorm van normalisatie?</a:t>
            </a:r>
          </a:p>
          <a:p>
            <a:pPr marL="0" indent="0">
              <a:buNone/>
            </a:pPr>
            <a:endParaRPr lang="nl-NL" sz="2000" noProof="0" dirty="0"/>
          </a:p>
        </p:txBody>
      </p:sp>
    </p:spTree>
    <p:extLst>
      <p:ext uri="{BB962C8B-B14F-4D97-AF65-F5344CB8AC3E}">
        <p14:creationId xmlns:p14="http://schemas.microsoft.com/office/powerpoint/2010/main" val="1454000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A2BC8-747F-838A-B983-08423503F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4F4BC-538E-F94B-6E6A-3F58B3A3E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600" noProof="0" dirty="0"/>
              <a:t>Oefeningen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AF7F78-D302-5667-ECCC-314C3A2441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39617" cy="4351338"/>
          </a:xfrm>
        </p:spPr>
        <p:txBody>
          <a:bodyPr>
            <a:noAutofit/>
          </a:bodyPr>
          <a:lstStyle/>
          <a:p>
            <a:pPr marL="457200" indent="-457200">
              <a:buAutoNum type="arabicPeriod"/>
            </a:pPr>
            <a:r>
              <a:rPr lang="nl-NL" sz="2000" noProof="0" dirty="0"/>
              <a:t>Open </a:t>
            </a: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0_data/</a:t>
            </a:r>
            <a:r>
              <a:rPr lang="nl-NL" sz="20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sales_data.db</a:t>
            </a:r>
            <a:r>
              <a:rPr lang="nl-NL" sz="2000" noProof="0" dirty="0"/>
              <a:t> en bekijk de structuur:</a:t>
            </a:r>
          </a:p>
          <a:p>
            <a:pPr marL="914400" lvl="1" indent="-457200">
              <a:buAutoNum type="arabicPeriod"/>
            </a:pPr>
            <a:endParaRPr lang="nl-NL" sz="2000" noProof="0" dirty="0"/>
          </a:p>
          <a:p>
            <a:pPr lvl="1"/>
            <a:r>
              <a:rPr lang="nl-NL" sz="2000" noProof="0" dirty="0"/>
              <a:t>Relatie </a:t>
            </a:r>
            <a:r>
              <a:rPr lang="nl-NL" sz="2000" noProof="0" dirty="0">
                <a:cs typeface="Courier New" panose="02070309020205020404" pitchFamily="49" charset="0"/>
              </a:rPr>
              <a:t>klanten</a:t>
            </a:r>
            <a:r>
              <a:rPr lang="nl-NL" sz="2000" noProof="0" dirty="0"/>
              <a:t> en </a:t>
            </a:r>
            <a:r>
              <a:rPr lang="nl-NL" sz="2000" noProof="0" dirty="0">
                <a:cs typeface="Courier New" panose="02070309020205020404" pitchFamily="49" charset="0"/>
              </a:rPr>
              <a:t>transacties</a:t>
            </a:r>
            <a:r>
              <a:rPr lang="nl-NL" sz="2000" dirty="0">
                <a:cs typeface="Courier New" panose="02070309020205020404" pitchFamily="49" charset="0"/>
              </a:rPr>
              <a:t>:	één op veel</a:t>
            </a:r>
            <a:endParaRPr lang="nl-NL" sz="2000" noProof="0" dirty="0"/>
          </a:p>
          <a:p>
            <a:pPr lvl="1"/>
            <a:r>
              <a:rPr lang="nl-NL" sz="2000" noProof="0" dirty="0"/>
              <a:t>Relatie transacties en producten:	veel op veel... maar één op veel per regel.</a:t>
            </a:r>
          </a:p>
          <a:p>
            <a:pPr marL="457200" indent="-457200">
              <a:buAutoNum type="arabicPeriod"/>
            </a:pPr>
            <a:endParaRPr lang="nl-NL" sz="2000" noProof="0" dirty="0"/>
          </a:p>
          <a:p>
            <a:pPr marL="457200" indent="-457200">
              <a:buAutoNum type="arabicPeriod"/>
            </a:pPr>
            <a:r>
              <a:rPr lang="nl-NL" sz="2000" noProof="0" dirty="0"/>
              <a:t>Bekijk de </a:t>
            </a: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Transacties</a:t>
            </a:r>
            <a:r>
              <a:rPr lang="nl-NL" sz="2000" noProof="0" dirty="0"/>
              <a:t> tabel:</a:t>
            </a:r>
          </a:p>
          <a:p>
            <a:pPr marL="457200" indent="-457200">
              <a:buAutoNum type="arabicPeriod"/>
            </a:pPr>
            <a:endParaRPr lang="nl-NL" sz="2000" noProof="0" dirty="0"/>
          </a:p>
          <a:p>
            <a:pPr lvl="1"/>
            <a:r>
              <a:rPr lang="nl-NL" sz="2000" noProof="0" dirty="0"/>
              <a:t>Sleutel kolommen:		</a:t>
            </a:r>
            <a:r>
              <a:rPr lang="nl-NL" sz="20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TransactieId</a:t>
            </a:r>
            <a:r>
              <a:rPr lang="nl-NL" sz="2000" noProof="0" dirty="0"/>
              <a:t> + </a:t>
            </a:r>
            <a:r>
              <a:rPr lang="nl-NL" sz="20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RegelNummer</a:t>
            </a:r>
            <a:endParaRPr lang="nl-NL" sz="20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				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TransactieId</a:t>
            </a:r>
            <a:r>
              <a:rPr lang="nl-NL" sz="2000" dirty="0"/>
              <a:t> + 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KlantID</a:t>
            </a:r>
            <a:r>
              <a:rPr lang="nl-NL" sz="2000" dirty="0"/>
              <a:t> + 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ProductId</a:t>
            </a:r>
            <a:endParaRPr lang="nl-NL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nl-NL" sz="2000" noProof="0" dirty="0"/>
              <a:t>Voldoet aan 1NF:		Ja, unieke rijen met enkele waardes.</a:t>
            </a:r>
          </a:p>
          <a:p>
            <a:pPr lvl="1"/>
            <a:r>
              <a:rPr lang="nl-NL" sz="2000" noProof="0" dirty="0"/>
              <a:t>Voldoet aan 2NF:		Nee, </a:t>
            </a:r>
            <a:r>
              <a:rPr lang="nl-NL" sz="20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DatumTijd</a:t>
            </a:r>
            <a:r>
              <a:rPr lang="nl-NL" sz="2000" dirty="0">
                <a:cs typeface="Courier New" panose="02070309020205020404" pitchFamily="49" charset="0"/>
              </a:rPr>
              <a:t> hangt alleen af van 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TransactieId</a:t>
            </a:r>
            <a:r>
              <a:rPr lang="nl-NL" sz="2000" dirty="0">
                <a:cs typeface="Courier New" panose="02070309020205020404" pitchFamily="49" charset="0"/>
              </a:rPr>
              <a:t>.</a:t>
            </a:r>
            <a:endParaRPr lang="nl-NL" sz="2000" noProof="0" dirty="0"/>
          </a:p>
          <a:p>
            <a:pPr lvl="1"/>
            <a:r>
              <a:rPr lang="nl-NL" sz="2000" noProof="0" dirty="0"/>
              <a:t>Niet 3NF kolom:		</a:t>
            </a: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Regelnummer</a:t>
            </a:r>
            <a:r>
              <a:rPr lang="nl-NL" sz="2000" noProof="0" dirty="0"/>
              <a:t> indirect gebaseerd op 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TransactieId</a:t>
            </a:r>
            <a:r>
              <a:rPr lang="nl-NL" sz="2000" noProof="0" dirty="0"/>
              <a:t>.</a:t>
            </a:r>
          </a:p>
          <a:p>
            <a:pPr marL="0" indent="0">
              <a:buNone/>
            </a:pPr>
            <a:endParaRPr lang="nl-NL" sz="2000" noProof="0" dirty="0"/>
          </a:p>
        </p:txBody>
      </p:sp>
    </p:spTree>
    <p:extLst>
      <p:ext uri="{BB962C8B-B14F-4D97-AF65-F5344CB8AC3E}">
        <p14:creationId xmlns:p14="http://schemas.microsoft.com/office/powerpoint/2010/main" val="31750857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BA452-30BF-3301-3FBF-305E076FD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1F8DAA8-C1ED-2685-2024-790CF25A9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4400" noProof="0" dirty="0" err="1"/>
              <a:t>Entity</a:t>
            </a:r>
            <a:r>
              <a:rPr lang="nl-NL" sz="4400" noProof="0" dirty="0"/>
              <a:t> </a:t>
            </a:r>
            <a:r>
              <a:rPr lang="nl-NL" sz="4400" noProof="0" dirty="0" err="1"/>
              <a:t>Relationship</a:t>
            </a:r>
            <a:r>
              <a:rPr lang="nl-NL" sz="4400" noProof="0" dirty="0"/>
              <a:t> </a:t>
            </a:r>
            <a:r>
              <a:rPr lang="nl-NL" sz="4400" noProof="0" dirty="0" err="1"/>
              <a:t>Diagrams</a:t>
            </a:r>
            <a:endParaRPr lang="nl-NL" sz="4400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4568CD-0814-172F-2BC3-3718617133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37578581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2B7072-42E0-1C93-A111-AEEF56AD6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57E3C-6A73-6BCB-B89D-E7B6BFFCF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600" noProof="0" dirty="0" err="1"/>
              <a:t>Entity</a:t>
            </a:r>
            <a:r>
              <a:rPr lang="nl-NL" sz="3600" noProof="0" dirty="0"/>
              <a:t> </a:t>
            </a:r>
            <a:r>
              <a:rPr lang="nl-NL" sz="3600" noProof="0" dirty="0" err="1"/>
              <a:t>Relationship</a:t>
            </a:r>
            <a:r>
              <a:rPr lang="nl-NL" sz="3600" noProof="0" dirty="0"/>
              <a:t> Diagram</a:t>
            </a:r>
          </a:p>
        </p:txBody>
      </p:sp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B4AFF9D1-BC48-C797-8DFB-5161A8EE2D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8916895"/>
              </p:ext>
            </p:extLst>
          </p:nvPr>
        </p:nvGraphicFramePr>
        <p:xfrm>
          <a:off x="1648701" y="2739310"/>
          <a:ext cx="1820160" cy="184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0160">
                  <a:extLst>
                    <a:ext uri="{9D8B030D-6E8A-4147-A177-3AD203B41FA5}">
                      <a16:colId xmlns:a16="http://schemas.microsoft.com/office/drawing/2014/main" val="250867733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nl-NL" noProof="0" dirty="0"/>
                        <a:t>Klanten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87910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b="1" noProof="0" dirty="0" err="1"/>
                        <a:t>KlantID</a:t>
                      </a:r>
                      <a:endParaRPr lang="nl-NL" b="1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88119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noProof="0" dirty="0"/>
                        <a:t>Voornaam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4785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noProof="0" dirty="0"/>
                        <a:t>Achternaam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52621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noProof="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3937255"/>
                  </a:ext>
                </a:extLst>
              </a:tr>
            </a:tbl>
          </a:graphicData>
        </a:graphic>
      </p:graphicFrame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C2A55ACE-E5DB-A221-27A8-C3AB9CEFFF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3823693"/>
              </p:ext>
            </p:extLst>
          </p:nvPr>
        </p:nvGraphicFramePr>
        <p:xfrm>
          <a:off x="4935513" y="2739310"/>
          <a:ext cx="1820160" cy="184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0160">
                  <a:extLst>
                    <a:ext uri="{9D8B030D-6E8A-4147-A177-3AD203B41FA5}">
                      <a16:colId xmlns:a16="http://schemas.microsoft.com/office/drawing/2014/main" val="250867733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nl-NL" noProof="0" dirty="0"/>
                        <a:t>Transacties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87910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b="1" noProof="0" dirty="0" err="1"/>
                        <a:t>KlantID</a:t>
                      </a:r>
                      <a:endParaRPr lang="nl-NL" b="1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88119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b="1" noProof="0" dirty="0" err="1"/>
                        <a:t>ProductID</a:t>
                      </a:r>
                      <a:endParaRPr lang="nl-NL" b="1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4785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noProof="0" dirty="0" err="1"/>
                        <a:t>DatumTijd</a:t>
                      </a:r>
                      <a:endParaRPr lang="nl-NL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52621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noProof="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3937255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B2F0FA9-DBA0-156B-765B-4D434E8F32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547547"/>
              </p:ext>
            </p:extLst>
          </p:nvPr>
        </p:nvGraphicFramePr>
        <p:xfrm>
          <a:off x="8222325" y="2739310"/>
          <a:ext cx="1820160" cy="184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0160">
                  <a:extLst>
                    <a:ext uri="{9D8B030D-6E8A-4147-A177-3AD203B41FA5}">
                      <a16:colId xmlns:a16="http://schemas.microsoft.com/office/drawing/2014/main" val="250867733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nl-NL" noProof="0" dirty="0"/>
                        <a:t>Producten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87910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b="1" noProof="0" dirty="0" err="1"/>
                        <a:t>ProductID</a:t>
                      </a:r>
                      <a:endParaRPr lang="nl-NL" b="1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88119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noProof="0" dirty="0"/>
                        <a:t>Naam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4785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noProof="0" dirty="0"/>
                        <a:t>Omschrijving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52621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noProof="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3937255"/>
                  </a:ext>
                </a:extLst>
              </a:tr>
            </a:tbl>
          </a:graphicData>
        </a:graphic>
      </p:graphicFrame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6BB5C44-277E-29D4-B822-09106ED59C30}"/>
              </a:ext>
            </a:extLst>
          </p:cNvPr>
          <p:cNvCxnSpPr/>
          <p:nvPr/>
        </p:nvCxnSpPr>
        <p:spPr>
          <a:xfrm>
            <a:off x="3468861" y="3286724"/>
            <a:ext cx="146665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6CFA13DB-24FD-1986-BD94-8555CC25F067}"/>
              </a:ext>
            </a:extLst>
          </p:cNvPr>
          <p:cNvCxnSpPr/>
          <p:nvPr/>
        </p:nvCxnSpPr>
        <p:spPr>
          <a:xfrm flipV="1">
            <a:off x="6755673" y="3286724"/>
            <a:ext cx="1466652" cy="377146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26526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FD261-0D2C-41B9-9E28-43DF575D4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600" noProof="0" dirty="0" err="1"/>
              <a:t>Entity</a:t>
            </a:r>
            <a:r>
              <a:rPr lang="nl-NL" sz="3600" noProof="0" dirty="0"/>
              <a:t> </a:t>
            </a:r>
            <a:r>
              <a:rPr lang="nl-NL" sz="3600" noProof="0" dirty="0" err="1"/>
              <a:t>Relationship</a:t>
            </a:r>
            <a:r>
              <a:rPr lang="nl-NL" sz="3600" noProof="0" dirty="0"/>
              <a:t> Diagram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E106014-0E0C-D961-578D-CAA43902F6DE}"/>
              </a:ext>
            </a:extLst>
          </p:cNvPr>
          <p:cNvGrpSpPr/>
          <p:nvPr/>
        </p:nvGrpSpPr>
        <p:grpSpPr>
          <a:xfrm>
            <a:off x="838200" y="5488374"/>
            <a:ext cx="4962814" cy="400110"/>
            <a:chOff x="838200" y="5488374"/>
            <a:chExt cx="4962814" cy="400110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B4252F8-7AC7-4F56-8C2B-0A04D93245BA}"/>
                </a:ext>
              </a:extLst>
            </p:cNvPr>
            <p:cNvCxnSpPr>
              <a:cxnSpLocks/>
            </p:cNvCxnSpPr>
            <p:nvPr/>
          </p:nvCxnSpPr>
          <p:spPr>
            <a:xfrm>
              <a:off x="838200" y="5684696"/>
              <a:ext cx="1078787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6197A061-2864-459C-BFA6-17A37BFD3A4E}"/>
                </a:ext>
              </a:extLst>
            </p:cNvPr>
            <p:cNvSpPr txBox="1"/>
            <p:nvPr/>
          </p:nvSpPr>
          <p:spPr>
            <a:xfrm>
              <a:off x="3000054" y="5488374"/>
              <a:ext cx="28009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sz="2000" noProof="0" dirty="0"/>
                <a:t>Koppelt minimaal 0 rijen.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C00E1AF-ACC1-0682-D7CB-12D46E6C5D2B}"/>
              </a:ext>
            </a:extLst>
          </p:cNvPr>
          <p:cNvGrpSpPr/>
          <p:nvPr/>
        </p:nvGrpSpPr>
        <p:grpSpPr>
          <a:xfrm>
            <a:off x="838201" y="2011753"/>
            <a:ext cx="4737624" cy="400110"/>
            <a:chOff x="838201" y="2011753"/>
            <a:chExt cx="4737624" cy="400110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CB7151BA-7E44-4FCD-9788-108FFCD14FF3}"/>
                </a:ext>
              </a:extLst>
            </p:cNvPr>
            <p:cNvGrpSpPr/>
            <p:nvPr/>
          </p:nvGrpSpPr>
          <p:grpSpPr>
            <a:xfrm>
              <a:off x="838201" y="2103930"/>
              <a:ext cx="1078787" cy="215757"/>
              <a:chOff x="1075360" y="3953384"/>
              <a:chExt cx="1078787" cy="215757"/>
            </a:xfrm>
          </p:grpSpPr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AC529D53-9D63-4A7F-BFFD-A359D4DF770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75360" y="4061262"/>
                <a:ext cx="1078787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19D64D46-4266-4650-B276-5B88D8AA4FE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00034" y="3953384"/>
                <a:ext cx="0" cy="215757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BEFCBCEA-AC54-4D46-BE30-530D176D7975}"/>
                </a:ext>
              </a:extLst>
            </p:cNvPr>
            <p:cNvSpPr txBox="1"/>
            <p:nvPr/>
          </p:nvSpPr>
          <p:spPr>
            <a:xfrm>
              <a:off x="3000055" y="2011753"/>
              <a:ext cx="257577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sz="2000" noProof="0" dirty="0"/>
                <a:t>Koppelt maximaal 1 rij.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5FEF1EC-04F3-8519-E5B4-5891267853F7}"/>
              </a:ext>
            </a:extLst>
          </p:cNvPr>
          <p:cNvGrpSpPr/>
          <p:nvPr/>
        </p:nvGrpSpPr>
        <p:grpSpPr>
          <a:xfrm>
            <a:off x="838201" y="2880908"/>
            <a:ext cx="5896080" cy="400110"/>
            <a:chOff x="838201" y="2895535"/>
            <a:chExt cx="5896080" cy="400110"/>
          </a:xfrm>
        </p:grpSpPr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B37AC42C-DD88-4E6F-9F5C-9AC299D7177F}"/>
                </a:ext>
              </a:extLst>
            </p:cNvPr>
            <p:cNvGrpSpPr/>
            <p:nvPr/>
          </p:nvGrpSpPr>
          <p:grpSpPr>
            <a:xfrm>
              <a:off x="838201" y="2982575"/>
              <a:ext cx="1080821" cy="225273"/>
              <a:chOff x="1068510" y="2917861"/>
              <a:chExt cx="1080821" cy="225273"/>
            </a:xfrm>
          </p:grpSpPr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4519A11E-4702-4131-A051-175AD50F858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68510" y="3034837"/>
                <a:ext cx="1078787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68C0F807-DA23-496A-82F5-4A3F438706FD}"/>
                  </a:ext>
                </a:extLst>
              </p:cNvPr>
              <p:cNvCxnSpPr/>
              <p:nvPr/>
            </p:nvCxnSpPr>
            <p:spPr>
              <a:xfrm flipV="1">
                <a:off x="1837362" y="2917861"/>
                <a:ext cx="309936" cy="113015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17473C12-0F05-43CD-B7AD-EF5D74FA664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839395" y="3030119"/>
                <a:ext cx="309936" cy="113015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37A5A238-1CDE-4F86-9FB0-35ADFB66A373}"/>
                </a:ext>
              </a:extLst>
            </p:cNvPr>
            <p:cNvSpPr txBox="1"/>
            <p:nvPr/>
          </p:nvSpPr>
          <p:spPr>
            <a:xfrm>
              <a:off x="3000054" y="2895535"/>
              <a:ext cx="373422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sz="2000" noProof="0" dirty="0"/>
                <a:t>Koppelt maximaal meerdere rijen.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59BBC84-B018-8ED6-B815-DCEA1EFB9662}"/>
              </a:ext>
            </a:extLst>
          </p:cNvPr>
          <p:cNvGrpSpPr/>
          <p:nvPr/>
        </p:nvGrpSpPr>
        <p:grpSpPr>
          <a:xfrm>
            <a:off x="838200" y="4619218"/>
            <a:ext cx="4699921" cy="400110"/>
            <a:chOff x="838200" y="4587532"/>
            <a:chExt cx="4699921" cy="40011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35650B31-B0FA-4D57-BF86-299B4C8D369B}"/>
                </a:ext>
              </a:extLst>
            </p:cNvPr>
            <p:cNvGrpSpPr/>
            <p:nvPr/>
          </p:nvGrpSpPr>
          <p:grpSpPr>
            <a:xfrm>
              <a:off x="838200" y="4680244"/>
              <a:ext cx="1078787" cy="215757"/>
              <a:chOff x="1068510" y="2921821"/>
              <a:chExt cx="1078787" cy="215757"/>
            </a:xfrm>
          </p:grpSpPr>
          <p:cxnSp>
            <p:nvCxnSpPr>
              <p:cNvPr id="4" name="Straight Connector 3">
                <a:extLst>
                  <a:ext uri="{FF2B5EF4-FFF2-40B4-BE49-F238E27FC236}">
                    <a16:creationId xmlns:a16="http://schemas.microsoft.com/office/drawing/2014/main" id="{A3D1A325-EC92-4ABC-8E25-E4FD2EFEBD5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68510" y="3034837"/>
                <a:ext cx="1078787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" name="Straight Connector 4">
                <a:extLst>
                  <a:ext uri="{FF2B5EF4-FFF2-40B4-BE49-F238E27FC236}">
                    <a16:creationId xmlns:a16="http://schemas.microsoft.com/office/drawing/2014/main" id="{F36C3A80-429E-448F-B3CA-9136715A5051}"/>
                  </a:ext>
                </a:extLst>
              </p:cNvPr>
              <p:cNvCxnSpPr/>
              <p:nvPr/>
            </p:nvCxnSpPr>
            <p:spPr>
              <a:xfrm>
                <a:off x="1837360" y="2921821"/>
                <a:ext cx="0" cy="215757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FA87921-06EB-488E-8B3F-0F359A4E4237}"/>
                </a:ext>
              </a:extLst>
            </p:cNvPr>
            <p:cNvSpPr txBox="1"/>
            <p:nvPr/>
          </p:nvSpPr>
          <p:spPr>
            <a:xfrm>
              <a:off x="3000054" y="4587532"/>
              <a:ext cx="253806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sz="2000" noProof="0" dirty="0"/>
                <a:t>Koppelt minimaal 1 rij.</a:t>
              </a:r>
            </a:p>
          </p:txBody>
        </p:sp>
      </p:grpSp>
      <p:sp>
        <p:nvSpPr>
          <p:cNvPr id="18" name="Oval 17">
            <a:extLst>
              <a:ext uri="{FF2B5EF4-FFF2-40B4-BE49-F238E27FC236}">
                <a16:creationId xmlns:a16="http://schemas.microsoft.com/office/drawing/2014/main" id="{D0F48EE8-318D-C3C4-8F6E-1F9FBB19691C}"/>
              </a:ext>
            </a:extLst>
          </p:cNvPr>
          <p:cNvSpPr/>
          <p:nvPr/>
        </p:nvSpPr>
        <p:spPr>
          <a:xfrm>
            <a:off x="1395289" y="5574817"/>
            <a:ext cx="219758" cy="219758"/>
          </a:xfrm>
          <a:prstGeom prst="ellipse">
            <a:avLst/>
          </a:prstGeom>
          <a:solidFill>
            <a:schemeClr val="bg1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8126387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629DCA-E02B-1923-6162-A2DA657A6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58D6D-D80B-CFD6-6A04-B3AE336C0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600" noProof="0" dirty="0" err="1"/>
              <a:t>Entity</a:t>
            </a:r>
            <a:r>
              <a:rPr lang="nl-NL" sz="3600" noProof="0" dirty="0"/>
              <a:t> </a:t>
            </a:r>
            <a:r>
              <a:rPr lang="nl-NL" sz="3600" noProof="0" dirty="0" err="1"/>
              <a:t>Relationship</a:t>
            </a:r>
            <a:r>
              <a:rPr lang="nl-NL" sz="3600" noProof="0" dirty="0"/>
              <a:t> Diagram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815F81B-674D-8D7C-AD56-5409D810762A}"/>
              </a:ext>
            </a:extLst>
          </p:cNvPr>
          <p:cNvGrpSpPr/>
          <p:nvPr/>
        </p:nvGrpSpPr>
        <p:grpSpPr>
          <a:xfrm>
            <a:off x="838200" y="2011753"/>
            <a:ext cx="5213972" cy="400110"/>
            <a:chOff x="838201" y="2011753"/>
            <a:chExt cx="5213972" cy="400110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08E9D982-9F29-B7CD-926D-C0F03C001E6F}"/>
                </a:ext>
              </a:extLst>
            </p:cNvPr>
            <p:cNvGrpSpPr/>
            <p:nvPr/>
          </p:nvGrpSpPr>
          <p:grpSpPr>
            <a:xfrm>
              <a:off x="838201" y="2103930"/>
              <a:ext cx="1078787" cy="215757"/>
              <a:chOff x="1075360" y="3953384"/>
              <a:chExt cx="1078787" cy="215757"/>
            </a:xfrm>
          </p:grpSpPr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1C2DDDD0-B6B5-7CEA-4E3E-A38095BAC66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75360" y="4061262"/>
                <a:ext cx="1078787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18890CB1-A3AA-FBE2-2CF6-7CEAA203ABE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00034" y="3953384"/>
                <a:ext cx="0" cy="215757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4C9C14AA-5A23-4147-0C5D-F00896DC5766}"/>
                </a:ext>
              </a:extLst>
            </p:cNvPr>
            <p:cNvSpPr txBox="1"/>
            <p:nvPr/>
          </p:nvSpPr>
          <p:spPr>
            <a:xfrm>
              <a:off x="3000055" y="2011753"/>
              <a:ext cx="305211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sz="2000" noProof="0" dirty="0"/>
                <a:t>Koppelt met maximaal 1 rij.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AE4B46B-4BF7-4163-B5D2-06173997045D}"/>
              </a:ext>
            </a:extLst>
          </p:cNvPr>
          <p:cNvGrpSpPr/>
          <p:nvPr/>
        </p:nvGrpSpPr>
        <p:grpSpPr>
          <a:xfrm>
            <a:off x="838200" y="2525692"/>
            <a:ext cx="5439354" cy="400110"/>
            <a:chOff x="838200" y="2544636"/>
            <a:chExt cx="5439354" cy="40011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E8D6A73-8C00-481B-00F3-89702959B16B}"/>
                </a:ext>
              </a:extLst>
            </p:cNvPr>
            <p:cNvSpPr txBox="1"/>
            <p:nvPr/>
          </p:nvSpPr>
          <p:spPr>
            <a:xfrm>
              <a:off x="3000054" y="2544636"/>
              <a:ext cx="32775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sz="2000" noProof="0" dirty="0"/>
                <a:t>Koppelt 0 of 1 rij  -  optioneel.</a:t>
              </a:r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180E096F-E2DF-DA66-77F0-F0378B624B9B}"/>
                </a:ext>
              </a:extLst>
            </p:cNvPr>
            <p:cNvGrpSpPr/>
            <p:nvPr/>
          </p:nvGrpSpPr>
          <p:grpSpPr>
            <a:xfrm>
              <a:off x="838200" y="2623050"/>
              <a:ext cx="1078787" cy="229520"/>
              <a:chOff x="838200" y="2623050"/>
              <a:chExt cx="1078787" cy="229520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2D8F2B73-67C0-1871-67DD-7CDB13B0A8D9}"/>
                  </a:ext>
                </a:extLst>
              </p:cNvPr>
              <p:cNvGrpSpPr/>
              <p:nvPr/>
            </p:nvGrpSpPr>
            <p:grpSpPr>
              <a:xfrm>
                <a:off x="838200" y="2636813"/>
                <a:ext cx="1078787" cy="215757"/>
                <a:chOff x="1075360" y="3953384"/>
                <a:chExt cx="1078787" cy="215757"/>
              </a:xfrm>
            </p:grpSpPr>
            <p:cxnSp>
              <p:nvCxnSpPr>
                <p:cNvPr id="9" name="Straight Connector 8">
                  <a:extLst>
                    <a:ext uri="{FF2B5EF4-FFF2-40B4-BE49-F238E27FC236}">
                      <a16:creationId xmlns:a16="http://schemas.microsoft.com/office/drawing/2014/main" id="{5E278793-19B8-6D69-DCC5-FBE2ECFAF78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75360" y="4061262"/>
                  <a:ext cx="1078787" cy="0"/>
                </a:xfrm>
                <a:prstGeom prst="line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Straight Connector 12">
                  <a:extLst>
                    <a:ext uri="{FF2B5EF4-FFF2-40B4-BE49-F238E27FC236}">
                      <a16:creationId xmlns:a16="http://schemas.microsoft.com/office/drawing/2014/main" id="{376C9FA0-1019-D396-DEA2-211C322C15F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000034" y="3953384"/>
                  <a:ext cx="0" cy="215757"/>
                </a:xfrm>
                <a:prstGeom prst="line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E30A26A8-B97F-4706-8A8D-2A5879200238}"/>
                  </a:ext>
                </a:extLst>
              </p:cNvPr>
              <p:cNvSpPr/>
              <p:nvPr/>
            </p:nvSpPr>
            <p:spPr>
              <a:xfrm>
                <a:off x="1395289" y="2623050"/>
                <a:ext cx="219758" cy="219758"/>
              </a:xfrm>
              <a:prstGeom prst="ellipse">
                <a:avLst/>
              </a:prstGeom>
              <a:solidFill>
                <a:schemeClr val="bg1"/>
              </a:solidFill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nl-NL" noProof="0" dirty="0"/>
              </a:p>
            </p:txBody>
          </p:sp>
        </p:grp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D8998830-094C-1908-5CBB-D30FA14F6776}"/>
              </a:ext>
            </a:extLst>
          </p:cNvPr>
          <p:cNvGrpSpPr/>
          <p:nvPr/>
        </p:nvGrpSpPr>
        <p:grpSpPr>
          <a:xfrm>
            <a:off x="838200" y="3039631"/>
            <a:ext cx="5385429" cy="400110"/>
            <a:chOff x="844122" y="2985342"/>
            <a:chExt cx="5385429" cy="400110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042E6BA-DF33-0A6F-9C71-36F58B6A52DA}"/>
                </a:ext>
              </a:extLst>
            </p:cNvPr>
            <p:cNvSpPr txBox="1"/>
            <p:nvPr/>
          </p:nvSpPr>
          <p:spPr>
            <a:xfrm>
              <a:off x="3005976" y="2985342"/>
              <a:ext cx="322357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sz="2000" noProof="0" dirty="0"/>
                <a:t>Koppelt exact 1 rij - verplicht.</a:t>
              </a:r>
            </a:p>
          </p:txBody>
        </p: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4C59BE87-777D-C5AB-88D3-C73DEB71EA58}"/>
                </a:ext>
              </a:extLst>
            </p:cNvPr>
            <p:cNvGrpSpPr/>
            <p:nvPr/>
          </p:nvGrpSpPr>
          <p:grpSpPr>
            <a:xfrm>
              <a:off x="844122" y="3077519"/>
              <a:ext cx="1078787" cy="215757"/>
              <a:chOff x="844122" y="3077519"/>
              <a:chExt cx="1078787" cy="215757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FE9A4221-E1A8-182F-3C82-A7E7CB55FEC6}"/>
                  </a:ext>
                </a:extLst>
              </p:cNvPr>
              <p:cNvGrpSpPr/>
              <p:nvPr/>
            </p:nvGrpSpPr>
            <p:grpSpPr>
              <a:xfrm>
                <a:off x="844122" y="3077519"/>
                <a:ext cx="1078787" cy="215757"/>
                <a:chOff x="1075360" y="3953384"/>
                <a:chExt cx="1078787" cy="215757"/>
              </a:xfrm>
            </p:grpSpPr>
            <p:cxnSp>
              <p:nvCxnSpPr>
                <p:cNvPr id="22" name="Straight Connector 21">
                  <a:extLst>
                    <a:ext uri="{FF2B5EF4-FFF2-40B4-BE49-F238E27FC236}">
                      <a16:creationId xmlns:a16="http://schemas.microsoft.com/office/drawing/2014/main" id="{21B187D2-3B69-4F46-DE25-41ECA910A5D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75360" y="4061262"/>
                  <a:ext cx="1078787" cy="0"/>
                </a:xfrm>
                <a:prstGeom prst="line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FCF2B2AB-7635-8E83-A477-3CCD498F8FF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000034" y="3953384"/>
                  <a:ext cx="0" cy="215757"/>
                </a:xfrm>
                <a:prstGeom prst="line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182D6ED0-7A2E-B9D4-4E0C-A51A5819797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25672" y="3077519"/>
                <a:ext cx="0" cy="215757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CA3C02A6-3678-6BF6-9F23-B11BB84E164D}"/>
              </a:ext>
            </a:extLst>
          </p:cNvPr>
          <p:cNvSpPr txBox="1"/>
          <p:nvPr/>
        </p:nvSpPr>
        <p:spPr>
          <a:xfrm>
            <a:off x="2946129" y="4132253"/>
            <a:ext cx="31453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000" noProof="0" dirty="0"/>
              <a:t>Koppelt met meerdere rijen.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F4746B3-5C06-F973-097D-F49DE581D4D5}"/>
              </a:ext>
            </a:extLst>
          </p:cNvPr>
          <p:cNvSpPr txBox="1"/>
          <p:nvPr/>
        </p:nvSpPr>
        <p:spPr>
          <a:xfrm>
            <a:off x="2946129" y="4646192"/>
            <a:ext cx="44359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000" noProof="0" dirty="0"/>
              <a:t>Koppelt 0 of </a:t>
            </a:r>
            <a:r>
              <a:rPr lang="nl-NL" sz="2000" dirty="0"/>
              <a:t>meerdere </a:t>
            </a:r>
            <a:r>
              <a:rPr lang="nl-NL" sz="2000" noProof="0" dirty="0"/>
              <a:t>rijen  -  optioneel.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34D5304-AB8A-2C07-B65F-BFEDCE7FF2BD}"/>
              </a:ext>
            </a:extLst>
          </p:cNvPr>
          <p:cNvSpPr txBox="1"/>
          <p:nvPr/>
        </p:nvSpPr>
        <p:spPr>
          <a:xfrm>
            <a:off x="2946129" y="5160131"/>
            <a:ext cx="42911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000" noProof="0" dirty="0"/>
              <a:t>Koppelt 1 of meerdere rijen - verplicht.</a:t>
            </a:r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F841ECEE-A2AD-FA04-DCA2-F274D2A17EAB}"/>
              </a:ext>
            </a:extLst>
          </p:cNvPr>
          <p:cNvGrpSpPr/>
          <p:nvPr/>
        </p:nvGrpSpPr>
        <p:grpSpPr>
          <a:xfrm>
            <a:off x="835628" y="4219672"/>
            <a:ext cx="1080821" cy="231804"/>
            <a:chOff x="1068510" y="2917861"/>
            <a:chExt cx="1080821" cy="231804"/>
          </a:xfrm>
        </p:grpSpPr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3AD3324-9DE3-9808-355D-541F2E02613D}"/>
                </a:ext>
              </a:extLst>
            </p:cNvPr>
            <p:cNvCxnSpPr>
              <a:cxnSpLocks/>
            </p:cNvCxnSpPr>
            <p:nvPr/>
          </p:nvCxnSpPr>
          <p:spPr>
            <a:xfrm>
              <a:off x="1068510" y="3034837"/>
              <a:ext cx="1078787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BC12D186-758C-5449-10A4-72D59497666A}"/>
                </a:ext>
              </a:extLst>
            </p:cNvPr>
            <p:cNvCxnSpPr/>
            <p:nvPr/>
          </p:nvCxnSpPr>
          <p:spPr>
            <a:xfrm flipV="1">
              <a:off x="1837362" y="2917861"/>
              <a:ext cx="309936" cy="113015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D33F8CC0-6B52-46A6-E4F2-F292EB80A1F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839395" y="3036650"/>
              <a:ext cx="309936" cy="113015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BE14B8C7-6477-74CD-DF08-D5144495D201}"/>
              </a:ext>
            </a:extLst>
          </p:cNvPr>
          <p:cNvGrpSpPr/>
          <p:nvPr/>
        </p:nvGrpSpPr>
        <p:grpSpPr>
          <a:xfrm>
            <a:off x="835628" y="5247550"/>
            <a:ext cx="1080821" cy="225273"/>
            <a:chOff x="835628" y="5242792"/>
            <a:chExt cx="1080821" cy="225273"/>
          </a:xfrm>
        </p:grpSpPr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E15FD825-301B-F744-C32E-C967EE268443}"/>
                </a:ext>
              </a:extLst>
            </p:cNvPr>
            <p:cNvCxnSpPr>
              <a:cxnSpLocks/>
            </p:cNvCxnSpPr>
            <p:nvPr/>
          </p:nvCxnSpPr>
          <p:spPr>
            <a:xfrm>
              <a:off x="1591950" y="5252308"/>
              <a:ext cx="0" cy="215757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59613A2C-CD30-5DF6-8DD0-C620E1A763B3}"/>
                </a:ext>
              </a:extLst>
            </p:cNvPr>
            <p:cNvGrpSpPr/>
            <p:nvPr/>
          </p:nvGrpSpPr>
          <p:grpSpPr>
            <a:xfrm>
              <a:off x="835628" y="5242792"/>
              <a:ext cx="1080821" cy="225273"/>
              <a:chOff x="1068510" y="2917861"/>
              <a:chExt cx="1080821" cy="225273"/>
            </a:xfrm>
          </p:grpSpPr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4C235641-97AE-9484-BE2B-C8884807DC4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68510" y="3034837"/>
                <a:ext cx="1078787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033842E4-6459-6F92-7942-09D572E54775}"/>
                  </a:ext>
                </a:extLst>
              </p:cNvPr>
              <p:cNvCxnSpPr/>
              <p:nvPr/>
            </p:nvCxnSpPr>
            <p:spPr>
              <a:xfrm flipV="1">
                <a:off x="1837362" y="2917861"/>
                <a:ext cx="309936" cy="113015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0B45F8BA-A6CE-9C47-E8C0-9939239E93C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839395" y="3030119"/>
                <a:ext cx="309936" cy="113015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ED7D9082-EE6C-D87B-1807-66E9D7902E53}"/>
              </a:ext>
            </a:extLst>
          </p:cNvPr>
          <p:cNvGrpSpPr/>
          <p:nvPr/>
        </p:nvGrpSpPr>
        <p:grpSpPr>
          <a:xfrm>
            <a:off x="835628" y="4733611"/>
            <a:ext cx="1080821" cy="231804"/>
            <a:chOff x="835628" y="4719091"/>
            <a:chExt cx="1080821" cy="231804"/>
          </a:xfrm>
        </p:grpSpPr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7783C02A-8F03-EF2B-FF86-00B7B20C0E4E}"/>
                </a:ext>
              </a:extLst>
            </p:cNvPr>
            <p:cNvGrpSpPr/>
            <p:nvPr/>
          </p:nvGrpSpPr>
          <p:grpSpPr>
            <a:xfrm>
              <a:off x="835628" y="4719091"/>
              <a:ext cx="1080821" cy="231804"/>
              <a:chOff x="1068510" y="2917861"/>
              <a:chExt cx="1080821" cy="231804"/>
            </a:xfrm>
          </p:grpSpPr>
          <p:cxnSp>
            <p:nvCxnSpPr>
              <p:cNvPr id="75" name="Straight Connector 74">
                <a:extLst>
                  <a:ext uri="{FF2B5EF4-FFF2-40B4-BE49-F238E27FC236}">
                    <a16:creationId xmlns:a16="http://schemas.microsoft.com/office/drawing/2014/main" id="{D2E78841-1CDB-5957-3CCF-0D7C25C891E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68510" y="3034837"/>
                <a:ext cx="1078787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FAA6EAA2-E8F7-9A83-5E7D-B8D866501215}"/>
                  </a:ext>
                </a:extLst>
              </p:cNvPr>
              <p:cNvCxnSpPr/>
              <p:nvPr/>
            </p:nvCxnSpPr>
            <p:spPr>
              <a:xfrm flipV="1">
                <a:off x="1837362" y="2917861"/>
                <a:ext cx="309936" cy="113015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5C483F5F-CAA3-ED03-8DC6-2358FB9FD86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839395" y="3036650"/>
                <a:ext cx="309936" cy="113015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7112AC6F-021A-99BE-4E52-A7B6E2466A6E}"/>
                </a:ext>
              </a:extLst>
            </p:cNvPr>
            <p:cNvSpPr/>
            <p:nvPr/>
          </p:nvSpPr>
          <p:spPr>
            <a:xfrm>
              <a:off x="1341364" y="4724606"/>
              <a:ext cx="219758" cy="219758"/>
            </a:xfrm>
            <a:prstGeom prst="ellipse">
              <a:avLst/>
            </a:prstGeom>
            <a:solidFill>
              <a:schemeClr val="bg1"/>
            </a:solidFill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nl-NL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16441976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78D1E1-4A36-5CF2-891E-1A97033AC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CC011-4611-DBC9-FA67-3919BE726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600" noProof="0" dirty="0" err="1"/>
              <a:t>Entity</a:t>
            </a:r>
            <a:r>
              <a:rPr lang="nl-NL" sz="3600" noProof="0" dirty="0"/>
              <a:t> </a:t>
            </a:r>
            <a:r>
              <a:rPr lang="nl-NL" sz="3600" noProof="0" dirty="0" err="1"/>
              <a:t>Relationship</a:t>
            </a:r>
            <a:r>
              <a:rPr lang="nl-NL" sz="3600" noProof="0" dirty="0"/>
              <a:t> Diagram</a:t>
            </a:r>
          </a:p>
        </p:txBody>
      </p:sp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C0401C16-DFD8-1EB3-A1CE-2996673F487A}"/>
              </a:ext>
            </a:extLst>
          </p:cNvPr>
          <p:cNvGraphicFramePr>
            <a:graphicFrameLocks noGrp="1"/>
          </p:cNvGraphicFramePr>
          <p:nvPr/>
        </p:nvGraphicFramePr>
        <p:xfrm>
          <a:off x="1648701" y="2739310"/>
          <a:ext cx="1820160" cy="184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0160">
                  <a:extLst>
                    <a:ext uri="{9D8B030D-6E8A-4147-A177-3AD203B41FA5}">
                      <a16:colId xmlns:a16="http://schemas.microsoft.com/office/drawing/2014/main" val="250867733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nl-NL" noProof="0" dirty="0"/>
                        <a:t>Klanten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87910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b="1" noProof="0" dirty="0" err="1"/>
                        <a:t>KlantID</a:t>
                      </a:r>
                      <a:endParaRPr lang="nl-NL" b="1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88119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noProof="0" dirty="0"/>
                        <a:t>Voornaam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4785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noProof="0" dirty="0"/>
                        <a:t>Achternaam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52621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noProof="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3937255"/>
                  </a:ext>
                </a:extLst>
              </a:tr>
            </a:tbl>
          </a:graphicData>
        </a:graphic>
      </p:graphicFrame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FF32D2C7-1CCB-74D4-B83B-30A7AFB97D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4013599"/>
              </p:ext>
            </p:extLst>
          </p:nvPr>
        </p:nvGraphicFramePr>
        <p:xfrm>
          <a:off x="4935513" y="2739310"/>
          <a:ext cx="1820160" cy="184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0160">
                  <a:extLst>
                    <a:ext uri="{9D8B030D-6E8A-4147-A177-3AD203B41FA5}">
                      <a16:colId xmlns:a16="http://schemas.microsoft.com/office/drawing/2014/main" val="250867733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nl-NL" noProof="0" dirty="0"/>
                        <a:t>Transacties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87910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b="1" noProof="0" dirty="0" err="1"/>
                        <a:t>KlantID</a:t>
                      </a:r>
                      <a:endParaRPr lang="nl-NL" b="1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88119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b="1" noProof="0" dirty="0" err="1"/>
                        <a:t>ProductID</a:t>
                      </a:r>
                      <a:endParaRPr lang="nl-NL" b="1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4785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noProof="0" dirty="0" err="1"/>
                        <a:t>DatumTijd</a:t>
                      </a:r>
                      <a:endParaRPr lang="nl-NL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52621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noProof="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3937255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770C52F-B3AC-5B9B-DB21-8A179A8AF5F5}"/>
              </a:ext>
            </a:extLst>
          </p:cNvPr>
          <p:cNvGraphicFramePr>
            <a:graphicFrameLocks noGrp="1"/>
          </p:cNvGraphicFramePr>
          <p:nvPr/>
        </p:nvGraphicFramePr>
        <p:xfrm>
          <a:off x="8222325" y="2739310"/>
          <a:ext cx="1820160" cy="184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0160">
                  <a:extLst>
                    <a:ext uri="{9D8B030D-6E8A-4147-A177-3AD203B41FA5}">
                      <a16:colId xmlns:a16="http://schemas.microsoft.com/office/drawing/2014/main" val="250867733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nl-NL" noProof="0" dirty="0"/>
                        <a:t>Producten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87910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b="1" noProof="0" dirty="0" err="1"/>
                        <a:t>ProductID</a:t>
                      </a:r>
                      <a:endParaRPr lang="nl-NL" b="1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88119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noProof="0" dirty="0"/>
                        <a:t>Naam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4785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noProof="0" dirty="0"/>
                        <a:t>Omschrijving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52621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noProof="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3937255"/>
                  </a:ext>
                </a:extLst>
              </a:tr>
            </a:tbl>
          </a:graphicData>
        </a:graphic>
      </p:graphicFrame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E917044-D04C-FD25-E334-CB3ED6E4ECA1}"/>
              </a:ext>
            </a:extLst>
          </p:cNvPr>
          <p:cNvCxnSpPr/>
          <p:nvPr/>
        </p:nvCxnSpPr>
        <p:spPr>
          <a:xfrm>
            <a:off x="3468861" y="3286724"/>
            <a:ext cx="1466652" cy="0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9C94CDC4-19D1-F628-9E48-74A4F23687E3}"/>
              </a:ext>
            </a:extLst>
          </p:cNvPr>
          <p:cNvCxnSpPr/>
          <p:nvPr/>
        </p:nvCxnSpPr>
        <p:spPr>
          <a:xfrm flipV="1">
            <a:off x="6755673" y="3286724"/>
            <a:ext cx="1466652" cy="377146"/>
          </a:xfrm>
          <a:prstGeom prst="bentConnector3">
            <a:avLst/>
          </a:prstGeom>
          <a:ln>
            <a:headEnd type="none"/>
            <a:tailEnd type="non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31412D9-C418-9264-F5F8-0BB67AB81618}"/>
              </a:ext>
            </a:extLst>
          </p:cNvPr>
          <p:cNvCxnSpPr>
            <a:cxnSpLocks/>
          </p:cNvCxnSpPr>
          <p:nvPr/>
        </p:nvCxnSpPr>
        <p:spPr>
          <a:xfrm>
            <a:off x="3562065" y="3179928"/>
            <a:ext cx="0" cy="23542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123ADF1-BFA0-6ED8-839B-DD5E444FDF92}"/>
              </a:ext>
            </a:extLst>
          </p:cNvPr>
          <p:cNvGrpSpPr/>
          <p:nvPr/>
        </p:nvGrpSpPr>
        <p:grpSpPr>
          <a:xfrm>
            <a:off x="4517408" y="3179928"/>
            <a:ext cx="420377" cy="218252"/>
            <a:chOff x="4517408" y="3179928"/>
            <a:chExt cx="420377" cy="218252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D47FCF8-8035-EB2C-2DA6-6C1FF4B99340}"/>
                </a:ext>
              </a:extLst>
            </p:cNvPr>
            <p:cNvCxnSpPr/>
            <p:nvPr/>
          </p:nvCxnSpPr>
          <p:spPr>
            <a:xfrm flipV="1">
              <a:off x="4653887" y="3179928"/>
              <a:ext cx="281626" cy="106796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B050758-D83A-3A72-B42A-D562E3EE8B12}"/>
                </a:ext>
              </a:extLst>
            </p:cNvPr>
            <p:cNvCxnSpPr>
              <a:cxnSpLocks/>
            </p:cNvCxnSpPr>
            <p:nvPr/>
          </p:nvCxnSpPr>
          <p:spPr>
            <a:xfrm>
              <a:off x="4656159" y="3291384"/>
              <a:ext cx="281626" cy="106796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9EE86F8E-A119-6347-CDB8-0B31BE75579E}"/>
                </a:ext>
              </a:extLst>
            </p:cNvPr>
            <p:cNvSpPr/>
            <p:nvPr/>
          </p:nvSpPr>
          <p:spPr>
            <a:xfrm>
              <a:off x="4517408" y="3215073"/>
              <a:ext cx="156950" cy="15695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D83E8C-FA22-834C-14FB-D8B162A9CF4F}"/>
              </a:ext>
            </a:extLst>
          </p:cNvPr>
          <p:cNvGrpSpPr/>
          <p:nvPr/>
        </p:nvGrpSpPr>
        <p:grpSpPr>
          <a:xfrm>
            <a:off x="6748849" y="3557519"/>
            <a:ext cx="290297" cy="222798"/>
            <a:chOff x="6748849" y="3557519"/>
            <a:chExt cx="290297" cy="222798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89B7704F-9796-3504-9DB3-E9D2E5600DBA}"/>
                </a:ext>
              </a:extLst>
            </p:cNvPr>
            <p:cNvCxnSpPr/>
            <p:nvPr/>
          </p:nvCxnSpPr>
          <p:spPr>
            <a:xfrm flipV="1">
              <a:off x="6748849" y="3673521"/>
              <a:ext cx="281626" cy="106796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2B0BE99-6465-4333-BBAE-D85EA3AFC4C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757520" y="3557519"/>
              <a:ext cx="281626" cy="106796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F88DD12-4A25-9D0C-49F6-CFCD05184F97}"/>
              </a:ext>
            </a:extLst>
          </p:cNvPr>
          <p:cNvGrpSpPr/>
          <p:nvPr/>
        </p:nvGrpSpPr>
        <p:grpSpPr>
          <a:xfrm flipH="1">
            <a:off x="7943829" y="3179928"/>
            <a:ext cx="283473" cy="215974"/>
            <a:chOff x="6755673" y="3557519"/>
            <a:chExt cx="283473" cy="215974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415CF515-ECE5-52B7-46C2-0523919B554F}"/>
                </a:ext>
              </a:extLst>
            </p:cNvPr>
            <p:cNvCxnSpPr/>
            <p:nvPr/>
          </p:nvCxnSpPr>
          <p:spPr>
            <a:xfrm flipV="1">
              <a:off x="6755673" y="3666697"/>
              <a:ext cx="281626" cy="106796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C294D05F-42D8-9C8B-C00D-98A67C41CDB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757520" y="3557519"/>
              <a:ext cx="281626" cy="106796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4" name="Oval 23">
            <a:extLst>
              <a:ext uri="{FF2B5EF4-FFF2-40B4-BE49-F238E27FC236}">
                <a16:creationId xmlns:a16="http://schemas.microsoft.com/office/drawing/2014/main" id="{ECBF176C-E856-2F5A-1286-B2DB9D7813A2}"/>
              </a:ext>
            </a:extLst>
          </p:cNvPr>
          <p:cNvSpPr/>
          <p:nvPr/>
        </p:nvSpPr>
        <p:spPr>
          <a:xfrm>
            <a:off x="7037299" y="3585618"/>
            <a:ext cx="156950" cy="15695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A179944-92BB-5F01-A959-455F43B48E6F}"/>
              </a:ext>
            </a:extLst>
          </p:cNvPr>
          <p:cNvCxnSpPr>
            <a:cxnSpLocks/>
          </p:cNvCxnSpPr>
          <p:nvPr/>
        </p:nvCxnSpPr>
        <p:spPr>
          <a:xfrm>
            <a:off x="7932455" y="3179928"/>
            <a:ext cx="0" cy="23542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51947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CF56A-3FA2-AC13-A186-38187B09A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F6E31-125E-0D37-91E4-D6CA36646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600" noProof="0" dirty="0" err="1"/>
              <a:t>Entity</a:t>
            </a:r>
            <a:r>
              <a:rPr lang="nl-NL" sz="3600" noProof="0" dirty="0"/>
              <a:t> </a:t>
            </a:r>
            <a:r>
              <a:rPr lang="nl-NL" sz="3600" noProof="0" dirty="0" err="1"/>
              <a:t>Relationship</a:t>
            </a:r>
            <a:r>
              <a:rPr lang="nl-NL" sz="3600" noProof="0" dirty="0"/>
              <a:t> Diagram</a:t>
            </a:r>
          </a:p>
        </p:txBody>
      </p:sp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AA8FEB27-9C7F-59D3-DA02-8E327FDFF5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8623466"/>
              </p:ext>
            </p:extLst>
          </p:nvPr>
        </p:nvGraphicFramePr>
        <p:xfrm>
          <a:off x="838200" y="2742244"/>
          <a:ext cx="1820160" cy="184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0160">
                  <a:extLst>
                    <a:ext uri="{9D8B030D-6E8A-4147-A177-3AD203B41FA5}">
                      <a16:colId xmlns:a16="http://schemas.microsoft.com/office/drawing/2014/main" val="250867733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nl-NL" noProof="0" dirty="0"/>
                        <a:t>Klanten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87910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b="1" noProof="0" dirty="0" err="1"/>
                        <a:t>KlantID</a:t>
                      </a:r>
                      <a:endParaRPr lang="nl-NL" b="1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88119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noProof="0" dirty="0"/>
                        <a:t>Voornaam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4785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noProof="0" dirty="0"/>
                        <a:t>Achternaam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52621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noProof="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3937255"/>
                  </a:ext>
                </a:extLst>
              </a:tr>
            </a:tbl>
          </a:graphicData>
        </a:graphic>
      </p:graphicFrame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51A20DB0-CC71-AEF8-51FD-3A98091656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9959082"/>
              </p:ext>
            </p:extLst>
          </p:nvPr>
        </p:nvGraphicFramePr>
        <p:xfrm>
          <a:off x="3736680" y="2739310"/>
          <a:ext cx="1820160" cy="184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0160">
                  <a:extLst>
                    <a:ext uri="{9D8B030D-6E8A-4147-A177-3AD203B41FA5}">
                      <a16:colId xmlns:a16="http://schemas.microsoft.com/office/drawing/2014/main" val="250867733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nl-NL" noProof="0" dirty="0"/>
                        <a:t>Transacties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87910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b="1" noProof="0" dirty="0" err="1"/>
                        <a:t>TransactieID</a:t>
                      </a:r>
                      <a:endParaRPr lang="nl-NL" b="1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88119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b="1" noProof="0" dirty="0" err="1"/>
                        <a:t>KlantID</a:t>
                      </a:r>
                      <a:endParaRPr lang="nl-NL" b="1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4785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noProof="0" dirty="0" err="1"/>
                        <a:t>DatumTijd</a:t>
                      </a:r>
                      <a:endParaRPr lang="nl-NL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52621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noProof="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3937255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EE3EF51-C571-2FC7-6AAB-F72BD92E28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233839"/>
              </p:ext>
            </p:extLst>
          </p:nvPr>
        </p:nvGraphicFramePr>
        <p:xfrm>
          <a:off x="9533640" y="2739310"/>
          <a:ext cx="1820160" cy="184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0160">
                  <a:extLst>
                    <a:ext uri="{9D8B030D-6E8A-4147-A177-3AD203B41FA5}">
                      <a16:colId xmlns:a16="http://schemas.microsoft.com/office/drawing/2014/main" val="250867733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nl-NL" noProof="0" dirty="0"/>
                        <a:t>Producten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87910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b="1" noProof="0" dirty="0" err="1"/>
                        <a:t>ProductID</a:t>
                      </a:r>
                      <a:endParaRPr lang="nl-NL" b="1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88119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noProof="0" dirty="0"/>
                        <a:t>Naam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4785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noProof="0" dirty="0"/>
                        <a:t>Omschrijving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52621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noProof="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3937255"/>
                  </a:ext>
                </a:extLst>
              </a:tr>
            </a:tbl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9605622-39D9-FB15-2956-D363D4FB9A9F}"/>
              </a:ext>
            </a:extLst>
          </p:cNvPr>
          <p:cNvCxnSpPr>
            <a:cxnSpLocks/>
          </p:cNvCxnSpPr>
          <p:nvPr/>
        </p:nvCxnSpPr>
        <p:spPr>
          <a:xfrm>
            <a:off x="2806156" y="3182862"/>
            <a:ext cx="0" cy="23542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3" name="Table 5">
            <a:extLst>
              <a:ext uri="{FF2B5EF4-FFF2-40B4-BE49-F238E27FC236}">
                <a16:creationId xmlns:a16="http://schemas.microsoft.com/office/drawing/2014/main" id="{A4EB329D-ED8C-16E3-A335-5FBB5398EA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6306379"/>
              </p:ext>
            </p:extLst>
          </p:nvPr>
        </p:nvGraphicFramePr>
        <p:xfrm>
          <a:off x="6635160" y="2739310"/>
          <a:ext cx="1820160" cy="184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0160">
                  <a:extLst>
                    <a:ext uri="{9D8B030D-6E8A-4147-A177-3AD203B41FA5}">
                      <a16:colId xmlns:a16="http://schemas.microsoft.com/office/drawing/2014/main" val="250867733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nl-NL" noProof="0" dirty="0" err="1"/>
                        <a:t>TransactieRegel</a:t>
                      </a:r>
                      <a:endParaRPr lang="nl-NL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87910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b="1" noProof="0" dirty="0" err="1"/>
                        <a:t>TransactieID</a:t>
                      </a:r>
                      <a:endParaRPr lang="nl-NL" b="1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88119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b="1" noProof="0" dirty="0" err="1"/>
                        <a:t>ProductID</a:t>
                      </a:r>
                      <a:endParaRPr lang="nl-NL" b="1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4785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noProof="0" dirty="0"/>
                        <a:t>Aantal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52621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noProof="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3937255"/>
                  </a:ext>
                </a:extLst>
              </a:tr>
            </a:tbl>
          </a:graphicData>
        </a:graphic>
      </p:graphicFrame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717D134E-2AD3-E7C9-4341-7559C8725F6B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2658360" y="3287328"/>
            <a:ext cx="1078320" cy="376542"/>
          </a:xfrm>
          <a:prstGeom prst="bentConnector3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30D0D5A-4771-632C-0B86-FAB01AE832C2}"/>
              </a:ext>
            </a:extLst>
          </p:cNvPr>
          <p:cNvGrpSpPr/>
          <p:nvPr/>
        </p:nvGrpSpPr>
        <p:grpSpPr>
          <a:xfrm>
            <a:off x="3316303" y="3554744"/>
            <a:ext cx="420377" cy="218252"/>
            <a:chOff x="4517408" y="3179928"/>
            <a:chExt cx="420377" cy="218252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47FF55E-BD00-7C06-2CC4-BEAC8C97904D}"/>
                </a:ext>
              </a:extLst>
            </p:cNvPr>
            <p:cNvCxnSpPr/>
            <p:nvPr/>
          </p:nvCxnSpPr>
          <p:spPr>
            <a:xfrm flipV="1">
              <a:off x="4653887" y="3179928"/>
              <a:ext cx="281626" cy="106796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8332148B-762B-2BFC-F0A3-D0163A705AE9}"/>
                </a:ext>
              </a:extLst>
            </p:cNvPr>
            <p:cNvCxnSpPr>
              <a:cxnSpLocks/>
            </p:cNvCxnSpPr>
            <p:nvPr/>
          </p:nvCxnSpPr>
          <p:spPr>
            <a:xfrm>
              <a:off x="4656159" y="3291384"/>
              <a:ext cx="281626" cy="106796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3247B54-DE92-933F-06F0-D67B8D559D82}"/>
                </a:ext>
              </a:extLst>
            </p:cNvPr>
            <p:cNvSpPr/>
            <p:nvPr/>
          </p:nvSpPr>
          <p:spPr>
            <a:xfrm>
              <a:off x="4517408" y="3215073"/>
              <a:ext cx="156950" cy="15695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C3C52FA-D756-4868-0F25-1CD24788F133}"/>
              </a:ext>
            </a:extLst>
          </p:cNvPr>
          <p:cNvCxnSpPr>
            <a:cxnSpLocks/>
          </p:cNvCxnSpPr>
          <p:nvPr/>
        </p:nvCxnSpPr>
        <p:spPr>
          <a:xfrm>
            <a:off x="5556840" y="3287328"/>
            <a:ext cx="107832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2E4C1A5-46DB-D404-C6E7-29A37C7A0443}"/>
              </a:ext>
            </a:extLst>
          </p:cNvPr>
          <p:cNvCxnSpPr>
            <a:cxnSpLocks/>
          </p:cNvCxnSpPr>
          <p:nvPr/>
        </p:nvCxnSpPr>
        <p:spPr>
          <a:xfrm>
            <a:off x="5681285" y="3176129"/>
            <a:ext cx="0" cy="23542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36" name="Group 35">
            <a:extLst>
              <a:ext uri="{FF2B5EF4-FFF2-40B4-BE49-F238E27FC236}">
                <a16:creationId xmlns:a16="http://schemas.microsoft.com/office/drawing/2014/main" id="{9AF5600D-8E35-0A67-086C-5CA21FD32F81}"/>
              </a:ext>
            </a:extLst>
          </p:cNvPr>
          <p:cNvGrpSpPr/>
          <p:nvPr/>
        </p:nvGrpSpPr>
        <p:grpSpPr>
          <a:xfrm>
            <a:off x="6351262" y="3176129"/>
            <a:ext cx="283898" cy="235424"/>
            <a:chOff x="6351262" y="3176129"/>
            <a:chExt cx="283898" cy="235424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400EDB9A-6A30-515E-025A-B320E9CE84C1}"/>
                </a:ext>
              </a:extLst>
            </p:cNvPr>
            <p:cNvGrpSpPr/>
            <p:nvPr/>
          </p:nvGrpSpPr>
          <p:grpSpPr>
            <a:xfrm>
              <a:off x="6351262" y="3182862"/>
              <a:ext cx="283898" cy="218252"/>
              <a:chOff x="4653887" y="3179928"/>
              <a:chExt cx="283898" cy="218252"/>
            </a:xfrm>
          </p:grpSpPr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789441D5-52F4-5432-3C1D-1DB7CC9C2670}"/>
                  </a:ext>
                </a:extLst>
              </p:cNvPr>
              <p:cNvCxnSpPr/>
              <p:nvPr/>
            </p:nvCxnSpPr>
            <p:spPr>
              <a:xfrm flipV="1">
                <a:off x="4653887" y="3179928"/>
                <a:ext cx="281626" cy="106796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6ECAAB99-D429-EB7B-5B18-D2F1BB7E415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56159" y="3291384"/>
                <a:ext cx="281626" cy="106796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33516A98-46E4-CCCD-2E48-8BB42BD09327}"/>
                </a:ext>
              </a:extLst>
            </p:cNvPr>
            <p:cNvCxnSpPr>
              <a:cxnSpLocks/>
            </p:cNvCxnSpPr>
            <p:nvPr/>
          </p:nvCxnSpPr>
          <p:spPr>
            <a:xfrm>
              <a:off x="6351262" y="3176129"/>
              <a:ext cx="0" cy="235424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D55458A1-B209-D18E-6ADB-B528AF528E7C}"/>
              </a:ext>
            </a:extLst>
          </p:cNvPr>
          <p:cNvCxnSpPr/>
          <p:nvPr/>
        </p:nvCxnSpPr>
        <p:spPr>
          <a:xfrm flipV="1">
            <a:off x="8455320" y="3287328"/>
            <a:ext cx="1078320" cy="374212"/>
          </a:xfrm>
          <a:prstGeom prst="bentConnector3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39" name="Group 38">
            <a:extLst>
              <a:ext uri="{FF2B5EF4-FFF2-40B4-BE49-F238E27FC236}">
                <a16:creationId xmlns:a16="http://schemas.microsoft.com/office/drawing/2014/main" id="{59286771-4D4F-A34A-61EB-3B9911933778}"/>
              </a:ext>
            </a:extLst>
          </p:cNvPr>
          <p:cNvGrpSpPr/>
          <p:nvPr/>
        </p:nvGrpSpPr>
        <p:grpSpPr>
          <a:xfrm flipH="1">
            <a:off x="8448496" y="3552414"/>
            <a:ext cx="420377" cy="218252"/>
            <a:chOff x="4517408" y="3179928"/>
            <a:chExt cx="420377" cy="218252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2D266EC7-2AC6-C322-832E-191BACF42758}"/>
                </a:ext>
              </a:extLst>
            </p:cNvPr>
            <p:cNvCxnSpPr/>
            <p:nvPr/>
          </p:nvCxnSpPr>
          <p:spPr>
            <a:xfrm flipV="1">
              <a:off x="4653887" y="3179928"/>
              <a:ext cx="281626" cy="106796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BD832632-265B-E57C-0066-5E1431E7CC94}"/>
                </a:ext>
              </a:extLst>
            </p:cNvPr>
            <p:cNvCxnSpPr>
              <a:cxnSpLocks/>
            </p:cNvCxnSpPr>
            <p:nvPr/>
          </p:nvCxnSpPr>
          <p:spPr>
            <a:xfrm>
              <a:off x="4656159" y="3291384"/>
              <a:ext cx="281626" cy="106796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B25974B9-1C75-99A0-7579-1FE6582F9498}"/>
                </a:ext>
              </a:extLst>
            </p:cNvPr>
            <p:cNvSpPr/>
            <p:nvPr/>
          </p:nvSpPr>
          <p:spPr>
            <a:xfrm>
              <a:off x="4517408" y="3215073"/>
              <a:ext cx="156950" cy="15695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BEFB49EB-AC1E-BB12-F712-09743CF3961E}"/>
              </a:ext>
            </a:extLst>
          </p:cNvPr>
          <p:cNvCxnSpPr>
            <a:cxnSpLocks/>
          </p:cNvCxnSpPr>
          <p:nvPr/>
        </p:nvCxnSpPr>
        <p:spPr>
          <a:xfrm>
            <a:off x="9409398" y="3176622"/>
            <a:ext cx="0" cy="23542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28399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FD261-0D2C-41B9-9E28-43DF575D4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600" noProof="0" dirty="0"/>
              <a:t>Oefeningen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4B503-C44F-453E-9465-D42E4557DE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9888415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2000" noProof="0" dirty="0"/>
              <a:t>Een sportclub vraagt je om hun database te ontwerpen.</a:t>
            </a:r>
          </a:p>
          <a:p>
            <a:pPr marL="0" indent="0">
              <a:buNone/>
            </a:pPr>
            <a:r>
              <a:rPr lang="nl-NL" sz="2000" noProof="0" dirty="0"/>
              <a:t>Identificeer welke entiteiten en relaties je nodig hebt:</a:t>
            </a:r>
          </a:p>
          <a:p>
            <a:pPr marL="0" indent="0">
              <a:buNone/>
            </a:pPr>
            <a:endParaRPr lang="nl-NL" sz="2000" noProof="0" dirty="0"/>
          </a:p>
          <a:p>
            <a:pPr>
              <a:buFontTx/>
              <a:buChar char="-"/>
            </a:pPr>
            <a:r>
              <a:rPr lang="nl-NL" sz="2000" dirty="0"/>
              <a:t>Leden spelen in een categorie; beginner, ervaren en expert.</a:t>
            </a:r>
          </a:p>
          <a:p>
            <a:pPr>
              <a:buFontTx/>
              <a:buChar char="-"/>
            </a:pPr>
            <a:r>
              <a:rPr lang="nl-NL" sz="2000" noProof="0" dirty="0"/>
              <a:t>De club organiseert toernooien waarop leden zich kunnen inschrijven.</a:t>
            </a:r>
          </a:p>
          <a:p>
            <a:pPr>
              <a:buFontTx/>
              <a:buChar char="-"/>
            </a:pPr>
            <a:r>
              <a:rPr lang="nl-NL" sz="2000" noProof="0" dirty="0"/>
              <a:t>Voor elke toernooi inschrijving betaalt het lid inschrijfgeld.</a:t>
            </a:r>
          </a:p>
          <a:p>
            <a:pPr>
              <a:buFontTx/>
              <a:buChar char="-"/>
            </a:pPr>
            <a:r>
              <a:rPr lang="nl-NL" sz="2000" dirty="0"/>
              <a:t>Naast toernooien betalen de leden ook een jaarlijks contributie.</a:t>
            </a:r>
          </a:p>
          <a:p>
            <a:pPr>
              <a:buFontTx/>
              <a:buChar char="-"/>
            </a:pPr>
            <a:r>
              <a:rPr lang="nl-NL" sz="2000" dirty="0"/>
              <a:t>De status van betalingen wordt vastgelegd; open, herinnering 1 - 3, betaald.</a:t>
            </a:r>
          </a:p>
          <a:p>
            <a:pPr marL="0" indent="0">
              <a:buNone/>
            </a:pPr>
            <a:endParaRPr lang="nl-NL" sz="2000" noProof="0" dirty="0"/>
          </a:p>
          <a:p>
            <a:pPr marL="0" indent="0">
              <a:buNone/>
            </a:pPr>
            <a:r>
              <a:rPr lang="nl-NL" sz="2000" noProof="0" dirty="0"/>
              <a:t>Tip: Je kunt draw.io gebruiken om het ERD te tekenen!</a:t>
            </a:r>
          </a:p>
          <a:p>
            <a:pPr marL="0" indent="0">
              <a:buNone/>
            </a:pPr>
            <a:endParaRPr lang="nl-NL" sz="2000" noProof="0" dirty="0"/>
          </a:p>
          <a:p>
            <a:pPr marL="457200" indent="-457200">
              <a:buAutoNum type="arabicPeriod"/>
            </a:pPr>
            <a:endParaRPr lang="nl-NL" sz="2000" noProof="0" dirty="0"/>
          </a:p>
        </p:txBody>
      </p:sp>
    </p:spTree>
    <p:extLst>
      <p:ext uri="{BB962C8B-B14F-4D97-AF65-F5344CB8AC3E}">
        <p14:creationId xmlns:p14="http://schemas.microsoft.com/office/powerpoint/2010/main" val="26741169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BC1331-56EA-4765-E492-87CE3FE7E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20E4F-ED55-F2F9-56B2-73B6A3CE3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600" noProof="0" dirty="0"/>
              <a:t>Oefeningen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BAEBBD-F800-E76F-75F0-957EF7B8F7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3658173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2000" b="1" noProof="0" dirty="0"/>
              <a:t>Entiteiten:</a:t>
            </a:r>
          </a:p>
          <a:p>
            <a:pPr marL="0" indent="0">
              <a:buNone/>
            </a:pPr>
            <a:endParaRPr lang="nl-NL" sz="2000" noProof="0" dirty="0"/>
          </a:p>
          <a:p>
            <a:pPr>
              <a:buFontTx/>
              <a:buChar char="-"/>
            </a:pPr>
            <a:r>
              <a:rPr lang="nl-NL" sz="2000" noProof="0" dirty="0"/>
              <a:t>Leden</a:t>
            </a:r>
          </a:p>
          <a:p>
            <a:pPr>
              <a:buFontTx/>
              <a:buChar char="-"/>
            </a:pPr>
            <a:r>
              <a:rPr lang="nl-NL" sz="2000" dirty="0"/>
              <a:t>Speler categorie</a:t>
            </a:r>
          </a:p>
          <a:p>
            <a:pPr>
              <a:buFontTx/>
              <a:buChar char="-"/>
            </a:pPr>
            <a:r>
              <a:rPr lang="nl-NL" sz="2000" noProof="0" dirty="0"/>
              <a:t>Toernooien</a:t>
            </a:r>
          </a:p>
          <a:p>
            <a:pPr>
              <a:buFontTx/>
              <a:buChar char="-"/>
            </a:pPr>
            <a:r>
              <a:rPr lang="nl-NL" sz="2000" dirty="0"/>
              <a:t>Toernooi inschrijvingen</a:t>
            </a:r>
          </a:p>
          <a:p>
            <a:pPr>
              <a:buFontTx/>
              <a:buChar char="-"/>
            </a:pPr>
            <a:r>
              <a:rPr lang="nl-NL" sz="2000" noProof="0" dirty="0"/>
              <a:t>Betaalstatus: Inschrijving</a:t>
            </a:r>
          </a:p>
          <a:p>
            <a:pPr>
              <a:buFontTx/>
              <a:buChar char="-"/>
            </a:pPr>
            <a:r>
              <a:rPr lang="nl-NL" sz="2000" dirty="0"/>
              <a:t>Contributie</a:t>
            </a:r>
          </a:p>
          <a:p>
            <a:pPr>
              <a:buFontTx/>
              <a:buChar char="-"/>
            </a:pPr>
            <a:r>
              <a:rPr lang="nl-NL" sz="2000" noProof="0" dirty="0"/>
              <a:t>Betaalstatus: </a:t>
            </a:r>
            <a:r>
              <a:rPr lang="nl-NL" sz="2000" dirty="0"/>
              <a:t>Contributie</a:t>
            </a:r>
            <a:endParaRPr lang="nl-NL" sz="2000" noProof="0" dirty="0"/>
          </a:p>
        </p:txBody>
      </p:sp>
    </p:spTree>
    <p:extLst>
      <p:ext uri="{BB962C8B-B14F-4D97-AF65-F5344CB8AC3E}">
        <p14:creationId xmlns:p14="http://schemas.microsoft.com/office/powerpoint/2010/main" val="15971865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4B139-4C31-6C5A-A13E-D42F10877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C888E-4C1E-FC04-CB9E-0A98BEB32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600" noProof="0" dirty="0"/>
              <a:t>Oefeningen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B960F8-DD7E-03E7-D6EA-51D3F9AC5F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3658173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2000" b="1" noProof="0" dirty="0"/>
              <a:t>Entiteiten:</a:t>
            </a:r>
          </a:p>
          <a:p>
            <a:pPr marL="0" indent="0">
              <a:buNone/>
            </a:pPr>
            <a:endParaRPr lang="nl-NL" sz="2000" noProof="0" dirty="0"/>
          </a:p>
          <a:p>
            <a:pPr>
              <a:buFontTx/>
              <a:buChar char="-"/>
            </a:pPr>
            <a:r>
              <a:rPr lang="nl-NL" sz="2000" noProof="0" dirty="0"/>
              <a:t>Leden</a:t>
            </a:r>
          </a:p>
          <a:p>
            <a:pPr>
              <a:buFontTx/>
              <a:buChar char="-"/>
            </a:pPr>
            <a:r>
              <a:rPr lang="nl-NL" sz="2000" dirty="0"/>
              <a:t>Speler categorie</a:t>
            </a:r>
          </a:p>
          <a:p>
            <a:pPr>
              <a:buFontTx/>
              <a:buChar char="-"/>
            </a:pPr>
            <a:r>
              <a:rPr lang="nl-NL" sz="2000" noProof="0" dirty="0"/>
              <a:t>Toernooien</a:t>
            </a:r>
          </a:p>
          <a:p>
            <a:pPr>
              <a:buFontTx/>
              <a:buChar char="-"/>
            </a:pPr>
            <a:r>
              <a:rPr lang="nl-NL" sz="2000" dirty="0"/>
              <a:t>Toernooi inschrijvingen</a:t>
            </a:r>
          </a:p>
          <a:p>
            <a:pPr>
              <a:buFontTx/>
              <a:buChar char="-"/>
            </a:pPr>
            <a:r>
              <a:rPr lang="nl-NL" sz="2000" noProof="0" dirty="0"/>
              <a:t>Betaalstatus: Inschrijving</a:t>
            </a:r>
          </a:p>
          <a:p>
            <a:pPr>
              <a:buFontTx/>
              <a:buChar char="-"/>
            </a:pPr>
            <a:r>
              <a:rPr lang="nl-NL" sz="2000" dirty="0"/>
              <a:t>Contributie</a:t>
            </a:r>
          </a:p>
          <a:p>
            <a:pPr>
              <a:buFontTx/>
              <a:buChar char="-"/>
            </a:pPr>
            <a:r>
              <a:rPr lang="nl-NL" sz="2000" noProof="0" dirty="0"/>
              <a:t>Betaalstatus: </a:t>
            </a:r>
            <a:r>
              <a:rPr lang="nl-NL" sz="2000" dirty="0"/>
              <a:t>Contributie</a:t>
            </a:r>
            <a:endParaRPr lang="nl-NL" sz="2000" noProof="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C2D687D-468A-B1C4-F94C-2F63C893877C}"/>
              </a:ext>
            </a:extLst>
          </p:cNvPr>
          <p:cNvSpPr txBox="1">
            <a:spLocks/>
          </p:cNvSpPr>
          <p:nvPr/>
        </p:nvSpPr>
        <p:spPr>
          <a:xfrm>
            <a:off x="5725550" y="1825625"/>
            <a:ext cx="590726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nl-NL" sz="2000" b="1" noProof="0" dirty="0"/>
              <a:t>Relaties: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nl-NL" sz="2000" noProof="0" dirty="0"/>
          </a:p>
          <a:p>
            <a:pPr>
              <a:buFontTx/>
              <a:buChar char="-"/>
            </a:pPr>
            <a:r>
              <a:rPr lang="nl-NL" sz="2000" dirty="0"/>
              <a:t>Leden    =&gt;    Speler categorie 		           n:1</a:t>
            </a:r>
          </a:p>
          <a:p>
            <a:pPr>
              <a:buFontTx/>
              <a:buChar char="-"/>
            </a:pPr>
            <a:r>
              <a:rPr lang="nl-NL" sz="2000" noProof="0" dirty="0"/>
              <a:t>Leden    =&gt;    Toernooi inschrijving	           1:n</a:t>
            </a:r>
          </a:p>
          <a:p>
            <a:pPr>
              <a:buFontTx/>
              <a:buChar char="-"/>
            </a:pPr>
            <a:r>
              <a:rPr lang="nl-NL" sz="2000" dirty="0"/>
              <a:t>Leden    =&gt;    Betaalstatus: Contributie	           1:n</a:t>
            </a:r>
          </a:p>
          <a:p>
            <a:pPr marL="0" indent="0">
              <a:buNone/>
            </a:pPr>
            <a:endParaRPr lang="nl-NL" sz="2000" dirty="0"/>
          </a:p>
          <a:p>
            <a:pPr>
              <a:buFontTx/>
              <a:buChar char="-"/>
            </a:pPr>
            <a:r>
              <a:rPr lang="nl-NL" sz="2000" dirty="0"/>
              <a:t>Toernooien    =&gt;    Toernooi inschrijving	           1:n</a:t>
            </a:r>
          </a:p>
          <a:p>
            <a:pPr>
              <a:buFontTx/>
              <a:buChar char="-"/>
            </a:pPr>
            <a:r>
              <a:rPr lang="nl-NL" sz="2000" dirty="0"/>
              <a:t>Inschrijving    </a:t>
            </a:r>
            <a:r>
              <a:rPr lang="nl-NL" sz="2000"/>
              <a:t>=&gt;    Betaalstatus</a:t>
            </a:r>
            <a:r>
              <a:rPr lang="nl-NL" sz="2000" dirty="0"/>
              <a:t>: </a:t>
            </a:r>
            <a:r>
              <a:rPr lang="nl-NL" sz="2000"/>
              <a:t>Inschrijving         </a:t>
            </a:r>
            <a:r>
              <a:rPr lang="nl-NL" sz="2000" dirty="0"/>
              <a:t>1:n</a:t>
            </a:r>
          </a:p>
          <a:p>
            <a:pPr marL="0" indent="0">
              <a:buNone/>
            </a:pPr>
            <a:endParaRPr lang="nl-NL" sz="2000" dirty="0"/>
          </a:p>
          <a:p>
            <a:pPr>
              <a:buFontTx/>
              <a:buChar char="-"/>
            </a:pPr>
            <a:r>
              <a:rPr lang="nl-NL" sz="2000" dirty="0"/>
              <a:t>Contributie    =&gt;    Betaalstatus: Contributie         1:n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FDABF7A-40C3-79B5-07FB-8640045B592F}"/>
              </a:ext>
            </a:extLst>
          </p:cNvPr>
          <p:cNvCxnSpPr>
            <a:cxnSpLocks/>
          </p:cNvCxnSpPr>
          <p:nvPr/>
        </p:nvCxnSpPr>
        <p:spPr>
          <a:xfrm>
            <a:off x="5071597" y="1582615"/>
            <a:ext cx="0" cy="439615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32636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ABBCA-12BF-1B61-7721-F2A61205F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4AFBC5B-5616-8037-8D68-C8DC799A59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2604" y="495046"/>
            <a:ext cx="9586791" cy="5867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2081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021A23A-264E-4F48-8D91-52361A485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4400" noProof="0" dirty="0"/>
              <a:t>Tabellen en relaties in SQL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343CC5-EAA5-4394-8782-3BBA201EEC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287529868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FD261-0D2C-41B9-9E28-43DF575D4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600" noProof="0" dirty="0"/>
              <a:t>Tabellen aanmaken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4B503-C44F-453E-9465-D42E4557DE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1806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2000" noProof="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 TABLE</a:t>
            </a: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Klanten (</a:t>
            </a:r>
          </a:p>
          <a:p>
            <a:pPr marL="0" indent="0">
              <a:buNone/>
            </a:pP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 Naam         </a:t>
            </a:r>
            <a:r>
              <a:rPr lang="nl-NL" sz="2000" noProof="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TEXT</a:t>
            </a: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0" indent="0">
              <a:buNone/>
            </a:pP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 Achternaam   </a:t>
            </a:r>
            <a:r>
              <a:rPr lang="nl-NL" sz="2000" noProof="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TEXT</a:t>
            </a: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0" indent="0">
              <a:buNone/>
            </a:pP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 Leeftijd     </a:t>
            </a:r>
            <a:r>
              <a:rPr lang="nl-NL" sz="2000" noProof="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INTEGER</a:t>
            </a:r>
          </a:p>
          <a:p>
            <a:pPr marL="0" indent="0">
              <a:buNone/>
            </a:pP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8BBDAC7-28CB-4019-A508-03C63F0A9D12}"/>
              </a:ext>
            </a:extLst>
          </p:cNvPr>
          <p:cNvSpPr txBox="1">
            <a:spLocks/>
          </p:cNvSpPr>
          <p:nvPr/>
        </p:nvSpPr>
        <p:spPr>
          <a:xfrm>
            <a:off x="6627047" y="1758156"/>
            <a:ext cx="5257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nl-NL" sz="2000" noProof="0" dirty="0"/>
              <a:t>Met </a:t>
            </a:r>
            <a:r>
              <a:rPr lang="nl-NL" sz="2000" noProof="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 TABLE</a:t>
            </a:r>
            <a:r>
              <a:rPr lang="nl-NL" sz="2000" noProof="0" dirty="0"/>
              <a:t> maak je een nieuwe tabel aan.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nl-NL" sz="2000" noProof="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nl-NL" sz="2000" noProof="0" dirty="0"/>
              <a:t>Tussen de haken geef je de kolomnamen op.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nl-NL" sz="2000" noProof="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nl-NL" sz="2000" noProof="0" dirty="0"/>
              <a:t>Achter de naam geef je het data type op.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269538C-D7B2-E5E9-CEB1-10C0947C6332}"/>
              </a:ext>
            </a:extLst>
          </p:cNvPr>
          <p:cNvCxnSpPr/>
          <p:nvPr/>
        </p:nvCxnSpPr>
        <p:spPr>
          <a:xfrm>
            <a:off x="6254736" y="1825625"/>
            <a:ext cx="0" cy="435133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622315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FD261-0D2C-41B9-9E28-43DF575D4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600" noProof="0" dirty="0" err="1"/>
              <a:t>SQLite</a:t>
            </a:r>
            <a:r>
              <a:rPr lang="nl-NL" sz="3600" noProof="0" dirty="0"/>
              <a:t> data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4B503-C44F-453E-9465-D42E4557DE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99417"/>
            <a:ext cx="8975103" cy="33823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2000" noProof="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TEXT</a:t>
            </a: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nl-NL" sz="2000" noProof="0" dirty="0">
                <a:cs typeface="Courier New" panose="02070309020205020404" pitchFamily="49" charset="0"/>
              </a:rPr>
              <a:t>Tekst data (met variabele lengte).</a:t>
            </a:r>
          </a:p>
          <a:p>
            <a:pPr marL="0" indent="0">
              <a:buNone/>
            </a:pPr>
            <a:r>
              <a:rPr lang="nl-NL" sz="2000" noProof="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INTEGER</a:t>
            </a: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nl-NL" sz="2000" noProof="0" dirty="0">
                <a:cs typeface="Courier New" panose="02070309020205020404" pitchFamily="49" charset="0"/>
              </a:rPr>
              <a:t>Geheel getal inclusief teken (max 8 bytes).</a:t>
            </a:r>
          </a:p>
          <a:p>
            <a:pPr marL="0" indent="0">
              <a:buNone/>
            </a:pPr>
            <a:r>
              <a:rPr lang="nl-NL" sz="2000" noProof="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REAL</a:t>
            </a: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nl-NL" sz="2000" noProof="0" dirty="0">
                <a:cs typeface="Courier New" panose="02070309020205020404" pitchFamily="49" charset="0"/>
              </a:rPr>
              <a:t>Breuk inclusief teken (max 8 bytes).</a:t>
            </a:r>
          </a:p>
          <a:p>
            <a:pPr marL="0" indent="0">
              <a:buNone/>
            </a:pPr>
            <a:r>
              <a:rPr lang="nl-NL" sz="2000" noProof="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BLOB</a:t>
            </a: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nl-NL" sz="2000" noProof="0" dirty="0">
                <a:cs typeface="Courier New" panose="02070309020205020404" pitchFamily="49" charset="0"/>
              </a:rPr>
              <a:t>Ruwe data in binaire vorm.</a:t>
            </a:r>
          </a:p>
          <a:p>
            <a:pPr marL="0" indent="0">
              <a:buNone/>
            </a:pPr>
            <a:endParaRPr lang="nl-NL" sz="20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2000" noProof="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DATE</a:t>
            </a: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nl-NL" sz="2000" noProof="0" dirty="0">
                <a:cs typeface="Courier New" panose="02070309020205020404" pitchFamily="49" charset="0"/>
              </a:rPr>
              <a:t>Datum als tekst </a:t>
            </a:r>
            <a:r>
              <a:rPr lang="nl-NL" sz="2000" noProof="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'YYYY-MM-DD'</a:t>
            </a: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pPr marL="0" indent="0">
              <a:buNone/>
            </a:pPr>
            <a:r>
              <a:rPr lang="nl-NL" sz="2000" noProof="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TIME</a:t>
            </a: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nl-NL" sz="2000" noProof="0" dirty="0">
                <a:cs typeface="Courier New" panose="02070309020205020404" pitchFamily="49" charset="0"/>
              </a:rPr>
              <a:t>Tijd als tekst </a:t>
            </a:r>
            <a:r>
              <a:rPr lang="nl-NL" sz="2000" noProof="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'HH:MM:SS'</a:t>
            </a: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pPr marL="0" indent="0">
              <a:buNone/>
            </a:pPr>
            <a:r>
              <a:rPr lang="nl-NL" sz="2000" noProof="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TIMESTAMP</a:t>
            </a: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nl-NL" sz="2000" noProof="0" dirty="0">
                <a:cs typeface="Courier New" panose="02070309020205020404" pitchFamily="49" charset="0"/>
              </a:rPr>
              <a:t>Datum en tijd als tekst </a:t>
            </a:r>
            <a:r>
              <a:rPr lang="nl-NL" sz="2000" noProof="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'YYYY-MM-DD HH:MM:SS'</a:t>
            </a:r>
          </a:p>
          <a:p>
            <a:pPr marL="0" indent="0">
              <a:buNone/>
            </a:pPr>
            <a:endParaRPr lang="nl-NL" sz="20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587842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FD261-0D2C-41B9-9E28-43DF575D4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600" noProof="0" dirty="0"/>
              <a:t>Kolom opties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4B503-C44F-453E-9465-D42E4557DE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541495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2000" noProof="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 TABLE</a:t>
            </a: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Klanten (</a:t>
            </a:r>
          </a:p>
          <a:p>
            <a:pPr marL="0" indent="0">
              <a:buNone/>
            </a:pPr>
            <a:endParaRPr lang="nl-NL" sz="20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nl-NL" sz="20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KlantId</a:t>
            </a: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nl-NL" sz="2000" noProof="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INTEGER </a:t>
            </a:r>
            <a:r>
              <a:rPr lang="nl-NL" sz="2000" b="1" noProof="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PRIMARY KEY</a:t>
            </a: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0" indent="0">
              <a:buNone/>
            </a:pP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 Naam         </a:t>
            </a:r>
            <a:r>
              <a:rPr lang="nl-NL" sz="2000" noProof="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TEXT    </a:t>
            </a:r>
            <a:r>
              <a:rPr lang="nl-NL" sz="2000" b="1" noProof="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NOT NULL</a:t>
            </a: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0" indent="0">
              <a:buNone/>
            </a:pP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 Achternaam   </a:t>
            </a:r>
            <a:r>
              <a:rPr lang="nl-NL" sz="2000" noProof="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</a:t>
            </a: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nl-NL" sz="2000" noProof="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    </a:t>
            </a:r>
            <a:r>
              <a:rPr lang="nl-NL" sz="2000" b="1" noProof="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NOT NULL</a:t>
            </a: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0" indent="0">
              <a:buNone/>
            </a:pP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 Nieuwsbrief  </a:t>
            </a:r>
            <a:r>
              <a:rPr lang="nl-NL" sz="2000" noProof="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INTEGER </a:t>
            </a:r>
            <a:r>
              <a:rPr lang="nl-NL" sz="2000" b="1" noProof="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DEFAULT 0</a:t>
            </a:r>
          </a:p>
          <a:p>
            <a:pPr marL="0" indent="0">
              <a:buNone/>
            </a:pPr>
            <a:endParaRPr lang="nl-NL" sz="20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8BBDAC7-28CB-4019-A508-03C63F0A9D12}"/>
              </a:ext>
            </a:extLst>
          </p:cNvPr>
          <p:cNvSpPr txBox="1">
            <a:spLocks/>
          </p:cNvSpPr>
          <p:nvPr/>
        </p:nvSpPr>
        <p:spPr>
          <a:xfrm>
            <a:off x="7220933" y="1825625"/>
            <a:ext cx="433083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nl-NL" sz="2000" noProof="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PRIMARY KEY / UNIQUE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nl-NL" sz="2000" noProof="0" dirty="0"/>
              <a:t>Unieke waardes om rijen mee te identificeren.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nl-NL" sz="2000" noProof="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nl-NL" sz="2000" noProof="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NOT NULL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nl-NL" sz="2000" noProof="0" dirty="0"/>
              <a:t>Kolom moet gevuld zijn anders foutmelding.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nl-NL" sz="2000" noProof="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nl-NL" sz="2000" noProof="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DEFAULT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nl-NL" sz="2000" noProof="0" dirty="0"/>
              <a:t>Standaard waarde als kolom leeg wordt gelaten.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E7C30C7-776C-5670-7240-7680901A692A}"/>
              </a:ext>
            </a:extLst>
          </p:cNvPr>
          <p:cNvCxnSpPr/>
          <p:nvPr/>
        </p:nvCxnSpPr>
        <p:spPr>
          <a:xfrm>
            <a:off x="6792065" y="1825625"/>
            <a:ext cx="0" cy="435133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630780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FD261-0D2C-41B9-9E28-43DF575D4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600" noProof="0" dirty="0"/>
              <a:t>Primaire sleutel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4B503-C44F-453E-9465-D42E4557DE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014663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2000" noProof="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 TABLE </a:t>
            </a: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Klanten (</a:t>
            </a:r>
          </a:p>
          <a:p>
            <a:pPr marL="0" indent="0">
              <a:buNone/>
            </a:pP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  <a:p>
            <a:pPr marL="0" indent="0">
              <a:buNone/>
            </a:pP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 Naam         </a:t>
            </a:r>
            <a:r>
              <a:rPr lang="nl-NL" sz="2000" noProof="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TEXT NOT NULL</a:t>
            </a: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0" indent="0">
              <a:buNone/>
            </a:pP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 Achternaam   </a:t>
            </a:r>
            <a:r>
              <a:rPr lang="nl-NL" sz="2000" noProof="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TEXT NOT NULL</a:t>
            </a: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0" indent="0">
              <a:buNone/>
            </a:pP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  <a:p>
            <a:pPr marL="0" indent="0">
              <a:buNone/>
            </a:pPr>
            <a:r>
              <a:rPr lang="nl-NL" sz="2000" noProof="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nl-NL" sz="2000" b="1" noProof="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PRIMARY KEY</a:t>
            </a: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(Naam, Achternaam)</a:t>
            </a:r>
          </a:p>
          <a:p>
            <a:pPr marL="0" indent="0">
              <a:buNone/>
            </a:pPr>
            <a:endParaRPr lang="nl-NL" sz="20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8BBDAC7-28CB-4019-A508-03C63F0A9D12}"/>
              </a:ext>
            </a:extLst>
          </p:cNvPr>
          <p:cNvSpPr txBox="1">
            <a:spLocks/>
          </p:cNvSpPr>
          <p:nvPr/>
        </p:nvSpPr>
        <p:spPr>
          <a:xfrm>
            <a:off x="7222732" y="1825625"/>
            <a:ext cx="4131067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nl-NL" sz="2000" noProof="0" dirty="0"/>
              <a:t>Geef met </a:t>
            </a:r>
            <a:r>
              <a:rPr lang="nl-NL" sz="2000" noProof="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PRIMARY KEY</a:t>
            </a:r>
            <a:r>
              <a:rPr lang="nl-NL" sz="2000" noProof="0" dirty="0"/>
              <a:t> een of meer kolommen op als sleutel.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nl-NL" sz="2000" noProof="0" dirty="0"/>
          </a:p>
          <a:p>
            <a:pPr marL="0" indent="0">
              <a:buFont typeface="Arial" panose="020B0604020202020204" pitchFamily="34" charset="0"/>
              <a:buNone/>
            </a:pPr>
            <a:endParaRPr lang="nl-NL" sz="2000" noProof="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nl-NL" sz="2000" noProof="0" dirty="0"/>
              <a:t>De combinatie van waardes moet uniek zijn.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nl-NL" sz="2000" noProof="0" dirty="0"/>
          </a:p>
          <a:p>
            <a:pPr marL="0" indent="0">
              <a:buFont typeface="Arial" panose="020B0604020202020204" pitchFamily="34" charset="0"/>
              <a:buNone/>
            </a:pPr>
            <a:endParaRPr lang="nl-NL" sz="2000" noProof="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nl-NL" sz="2000" noProof="0" dirty="0"/>
              <a:t>Een kolom met (automatisch) ID is vaak een betere oplossing!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29AA1CC-DF24-6816-AB3C-036242589958}"/>
              </a:ext>
            </a:extLst>
          </p:cNvPr>
          <p:cNvCxnSpPr/>
          <p:nvPr/>
        </p:nvCxnSpPr>
        <p:spPr>
          <a:xfrm>
            <a:off x="6792065" y="1825625"/>
            <a:ext cx="0" cy="435133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0693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9167D5-3650-91D9-9016-DF0056AEF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16487-F7B7-228E-0B3F-ED27A5FC6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600" noProof="0" dirty="0"/>
              <a:t>Koppel sleutel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73A4AC-4825-4C3D-6EB7-FBB8D76317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014663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2000" noProof="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 TABLE </a:t>
            </a: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Transacties(</a:t>
            </a:r>
          </a:p>
          <a:p>
            <a:pPr marL="0" indent="0">
              <a:buNone/>
            </a:pP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  <a:p>
            <a:pPr marL="0" indent="0">
              <a:buNone/>
            </a:pP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nl-NL" sz="20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KlantId</a:t>
            </a: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2000" noProof="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INTEGER</a:t>
            </a: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0" indent="0">
              <a:buNone/>
            </a:pPr>
            <a:endParaRPr lang="nl-NL" sz="20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nl-NL" sz="2000" b="1" noProof="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FOREIGN KEY</a:t>
            </a: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nl-NL" sz="20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KlantId</a:t>
            </a: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nl-NL" sz="2000" b="1" noProof="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REFERENCES</a:t>
            </a: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Klanten(</a:t>
            </a:r>
            <a:r>
              <a:rPr lang="nl-NL" sz="20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KlantId</a:t>
            </a: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endParaRPr lang="nl-NL" sz="20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B5A03FB-8FB0-9406-0FE3-D48070028447}"/>
              </a:ext>
            </a:extLst>
          </p:cNvPr>
          <p:cNvSpPr txBox="1">
            <a:spLocks/>
          </p:cNvSpPr>
          <p:nvPr/>
        </p:nvSpPr>
        <p:spPr>
          <a:xfrm>
            <a:off x="7222732" y="1825625"/>
            <a:ext cx="4131067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nl-NL" sz="2000" noProof="0" dirty="0"/>
              <a:t>Sleutel om een relatie vast te leggen.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nl-NL" sz="2000" noProof="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nl-NL" sz="2000" noProof="0" dirty="0"/>
              <a:t>Waardes in de kolommen van beide tabellen moeten overeenkomen.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nl-NL" sz="2000" noProof="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nl-NL" sz="2000" noProof="0" dirty="0"/>
              <a:t>Geef bij </a:t>
            </a:r>
            <a:r>
              <a:rPr lang="nl-NL" sz="2000" noProof="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FOREIGN KEY</a:t>
            </a:r>
            <a:r>
              <a:rPr lang="nl-NL" sz="2000" noProof="0" dirty="0"/>
              <a:t> de kolom in de huidige tabel op.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nl-NL" sz="2000" noProof="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nl-NL" sz="2000" noProof="0" dirty="0"/>
              <a:t>Geef bij </a:t>
            </a:r>
            <a:r>
              <a:rPr lang="nl-NL" sz="2000" noProof="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REFERENCES</a:t>
            </a:r>
            <a:r>
              <a:rPr lang="nl-NL" sz="2000" noProof="0" dirty="0"/>
              <a:t> de tabel en kolom op waarnaar verwezen wordt.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619D79-9DCF-ADD3-4CD4-BCC221F46CC0}"/>
              </a:ext>
            </a:extLst>
          </p:cNvPr>
          <p:cNvCxnSpPr/>
          <p:nvPr/>
        </p:nvCxnSpPr>
        <p:spPr>
          <a:xfrm>
            <a:off x="6792065" y="1825625"/>
            <a:ext cx="0" cy="435133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078483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FD261-0D2C-41B9-9E28-43DF575D4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600" noProof="0" dirty="0"/>
              <a:t>Wijzigingen in gekoppelde tabellen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4B503-C44F-453E-9465-D42E4557DE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891373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nl-NL" sz="2000" noProof="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 TABLE </a:t>
            </a: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Transacties(</a:t>
            </a:r>
          </a:p>
          <a:p>
            <a:pPr marL="0" indent="0">
              <a:buNone/>
            </a:pP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  <a:p>
            <a:pPr marL="0" indent="0">
              <a:buNone/>
            </a:pP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nl-NL" sz="20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KlantId</a:t>
            </a: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2000" noProof="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INTEGER</a:t>
            </a: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0" indent="0">
              <a:buNone/>
            </a:pPr>
            <a:endParaRPr lang="nl-NL" sz="20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nl-NL" sz="2000" noProof="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FOREIGN KEY</a:t>
            </a: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nl-NL" sz="20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KlantId</a:t>
            </a: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nl-NL" sz="2000" noProof="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REFERENCES</a:t>
            </a: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Klanten(</a:t>
            </a:r>
            <a:r>
              <a:rPr lang="nl-NL" sz="20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KlantId</a:t>
            </a: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nl-NL" sz="2000" noProof="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nl-NL" sz="2000" b="1" noProof="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 DELETE CASCADE</a:t>
            </a:r>
          </a:p>
          <a:p>
            <a:pPr marL="0" indent="0">
              <a:buNone/>
            </a:pP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nl-NL" sz="2000" b="1" noProof="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 UPDATE CASCADE</a:t>
            </a:r>
          </a:p>
          <a:p>
            <a:pPr marL="0" indent="0">
              <a:buNone/>
            </a:pP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8BBDAC7-28CB-4019-A508-03C63F0A9D12}"/>
              </a:ext>
            </a:extLst>
          </p:cNvPr>
          <p:cNvSpPr txBox="1">
            <a:spLocks/>
          </p:cNvSpPr>
          <p:nvPr/>
        </p:nvSpPr>
        <p:spPr>
          <a:xfrm>
            <a:off x="6636470" y="1825625"/>
            <a:ext cx="4924719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nl-NL" sz="2000" noProof="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 DELETE / UPDATE</a:t>
            </a:r>
            <a:r>
              <a:rPr lang="nl-NL" sz="2000" noProof="0" dirty="0"/>
              <a:t>: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nl-NL" sz="2000" noProof="0" dirty="0"/>
          </a:p>
          <a:p>
            <a:pPr marL="0" indent="0">
              <a:buNone/>
            </a:pPr>
            <a:r>
              <a:rPr lang="nl-NL" sz="2000" noProof="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CASCADE</a:t>
            </a:r>
            <a:r>
              <a:rPr lang="nl-NL" sz="2000" noProof="0" dirty="0"/>
              <a:t>		Maak wijziging ook in de</a:t>
            </a:r>
          </a:p>
          <a:p>
            <a:pPr marL="0" indent="0">
              <a:buNone/>
            </a:pPr>
            <a:r>
              <a:rPr lang="nl-NL" sz="2000" noProof="0" dirty="0"/>
              <a:t>		gekoppelde tabel.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nl-NL" sz="2000" noProof="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nl-NL" sz="2000" noProof="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 ACTION</a:t>
            </a:r>
            <a:r>
              <a:rPr lang="nl-NL" sz="2000" noProof="0" dirty="0"/>
              <a:t>	Laat gekoppelde tabel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nl-NL" sz="2000" noProof="0" dirty="0"/>
              <a:t>		ongewijzigd (inconsistent).</a:t>
            </a:r>
          </a:p>
          <a:p>
            <a:pPr marL="0" indent="0">
              <a:buNone/>
            </a:pPr>
            <a:endParaRPr lang="nl-NL" sz="2000" noProof="0" dirty="0"/>
          </a:p>
          <a:p>
            <a:pPr marL="0" indent="0">
              <a:buNone/>
            </a:pPr>
            <a:r>
              <a:rPr lang="nl-NL" sz="2000" noProof="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RESTRICT</a:t>
            </a:r>
            <a:r>
              <a:rPr lang="nl-NL" sz="2000" noProof="0" dirty="0"/>
              <a:t>	Sta geen wijzigingen toe als er</a:t>
            </a:r>
          </a:p>
          <a:p>
            <a:pPr marL="0" indent="0">
              <a:buNone/>
            </a:pPr>
            <a:r>
              <a:rPr lang="nl-NL" sz="2000" noProof="0" dirty="0"/>
              <a:t>		verwijzingen zijn.</a:t>
            </a:r>
          </a:p>
          <a:p>
            <a:pPr marL="0" indent="0">
              <a:buNone/>
            </a:pPr>
            <a:endParaRPr lang="nl-NL" sz="2000" noProof="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nl-NL" sz="2000" noProof="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 NULL</a:t>
            </a:r>
            <a:r>
              <a:rPr lang="nl-NL" sz="2000" noProof="0" dirty="0"/>
              <a:t>	Reset naar NULL of de standaard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nl-NL" sz="2000" noProof="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 DEFAULT</a:t>
            </a:r>
            <a:r>
              <a:rPr lang="nl-NL" sz="2000" noProof="0" dirty="0"/>
              <a:t>	waarde.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D01F7C8-8420-060C-46A9-EE1193CC7D1E}"/>
              </a:ext>
            </a:extLst>
          </p:cNvPr>
          <p:cNvCxnSpPr/>
          <p:nvPr/>
        </p:nvCxnSpPr>
        <p:spPr>
          <a:xfrm>
            <a:off x="6199695" y="1825625"/>
            <a:ext cx="0" cy="435133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84D2571-ABA5-5200-B904-E1F7D662D97D}"/>
              </a:ext>
            </a:extLst>
          </p:cNvPr>
          <p:cNvSpPr txBox="1"/>
          <p:nvPr/>
        </p:nvSpPr>
        <p:spPr>
          <a:xfrm>
            <a:off x="734505" y="6214383"/>
            <a:ext cx="536149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D: 1_foreign_keys.sql</a:t>
            </a:r>
            <a:endParaRPr lang="en-NL" sz="1100" dirty="0"/>
          </a:p>
        </p:txBody>
      </p:sp>
    </p:spTree>
    <p:extLst>
      <p:ext uri="{BB962C8B-B14F-4D97-AF65-F5344CB8AC3E}">
        <p14:creationId xmlns:p14="http://schemas.microsoft.com/office/powerpoint/2010/main" val="422240458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F25D1-C241-CA86-E717-5F850D9FD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945F7-55ED-5D7C-9025-D13725819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600" noProof="0" dirty="0"/>
              <a:t>Unieke waardes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CEB232-698A-A3FF-538C-555F0E799A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014663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2000" noProof="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 TABLE </a:t>
            </a: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Klanten(</a:t>
            </a:r>
          </a:p>
          <a:p>
            <a:pPr marL="0" indent="0">
              <a:buNone/>
            </a:pPr>
            <a:endParaRPr lang="nl-NL" sz="20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Naam         </a:t>
            </a:r>
            <a:r>
              <a:rPr lang="nl-NL" sz="2000" noProof="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TEXT </a:t>
            </a:r>
            <a:r>
              <a:rPr lang="nl-NL" sz="2000" b="1" noProof="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UNIQUE</a:t>
            </a: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0" indent="0">
              <a:buNone/>
            </a:pP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 Achternaam   </a:t>
            </a:r>
            <a:r>
              <a:rPr lang="nl-NL" sz="2000" noProof="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TEXT </a:t>
            </a:r>
            <a:r>
              <a:rPr lang="nl-NL" sz="2000" b="1" noProof="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UNIQUE</a:t>
            </a:r>
            <a:endParaRPr lang="nl-NL" sz="2000" b="1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nl-NL" sz="20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1E60B7B-EFAA-BD48-6E27-CA7B081CA953}"/>
              </a:ext>
            </a:extLst>
          </p:cNvPr>
          <p:cNvSpPr txBox="1">
            <a:spLocks/>
          </p:cNvSpPr>
          <p:nvPr/>
        </p:nvSpPr>
        <p:spPr>
          <a:xfrm>
            <a:off x="7222732" y="1825625"/>
            <a:ext cx="4131067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nl-NL" sz="2000" noProof="0" dirty="0"/>
          </a:p>
          <a:p>
            <a:pPr marL="0" indent="0">
              <a:buFont typeface="Arial" panose="020B0604020202020204" pitchFamily="34" charset="0"/>
              <a:buNone/>
            </a:pPr>
            <a:endParaRPr lang="nl-NL" sz="2000" noProof="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nl-NL" sz="2000" noProof="0" dirty="0"/>
              <a:t>Met </a:t>
            </a:r>
            <a:r>
              <a:rPr lang="nl-NL" sz="2000" noProof="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UNIQUE</a:t>
            </a:r>
            <a:r>
              <a:rPr lang="nl-NL" sz="2000" noProof="0" dirty="0"/>
              <a:t> geef je aan dat kolom waardes uniek moeten zijn.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7CFCCE8-ACCE-B4BE-6451-EFF53DFC4A4C}"/>
              </a:ext>
            </a:extLst>
          </p:cNvPr>
          <p:cNvCxnSpPr/>
          <p:nvPr/>
        </p:nvCxnSpPr>
        <p:spPr>
          <a:xfrm>
            <a:off x="6792065" y="1825625"/>
            <a:ext cx="0" cy="435133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258207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14DD67-F51E-67A9-9A01-0B15F298D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00D6E-89C6-9445-F8CB-2C8EF9654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600" noProof="0" dirty="0"/>
              <a:t>Unieke waardes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6174A-2DA1-B602-5392-E1404C8A0F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014663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2000" noProof="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 TABLE </a:t>
            </a: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Klanten(</a:t>
            </a:r>
          </a:p>
          <a:p>
            <a:pPr marL="0" indent="0">
              <a:buNone/>
            </a:pPr>
            <a:endParaRPr lang="nl-NL" sz="20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 Naam         </a:t>
            </a:r>
            <a:r>
              <a:rPr lang="nl-NL" sz="2000" noProof="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TEXT</a:t>
            </a: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0" indent="0">
              <a:buNone/>
            </a:pP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 Achternaam   </a:t>
            </a:r>
            <a:r>
              <a:rPr lang="nl-NL" sz="2000" noProof="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TEXT</a:t>
            </a: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0" indent="0">
              <a:buNone/>
            </a:pPr>
            <a:endParaRPr lang="nl-NL" sz="20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nl-NL" sz="2000" b="1" noProof="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UNIQUE</a:t>
            </a: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(Naam, Achternaam)</a:t>
            </a:r>
          </a:p>
          <a:p>
            <a:pPr marL="0" indent="0">
              <a:buNone/>
            </a:pPr>
            <a:endParaRPr lang="nl-NL" sz="20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7630341-E73F-164A-CB8E-6AC5697D3FBF}"/>
              </a:ext>
            </a:extLst>
          </p:cNvPr>
          <p:cNvSpPr txBox="1">
            <a:spLocks/>
          </p:cNvSpPr>
          <p:nvPr/>
        </p:nvSpPr>
        <p:spPr>
          <a:xfrm>
            <a:off x="7222732" y="1825625"/>
            <a:ext cx="4131067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nl-NL" sz="2000" noProof="0" dirty="0"/>
          </a:p>
          <a:p>
            <a:pPr marL="0" indent="0">
              <a:buFont typeface="Arial" panose="020B0604020202020204" pitchFamily="34" charset="0"/>
              <a:buNone/>
            </a:pPr>
            <a:endParaRPr lang="nl-NL" sz="2000" noProof="0" dirty="0"/>
          </a:p>
          <a:p>
            <a:pPr marL="0" indent="0">
              <a:buFont typeface="Arial" panose="020B0604020202020204" pitchFamily="34" charset="0"/>
              <a:buNone/>
            </a:pPr>
            <a:endParaRPr lang="nl-NL" sz="2000" noProof="0" dirty="0"/>
          </a:p>
          <a:p>
            <a:pPr marL="0" indent="0">
              <a:buFont typeface="Arial" panose="020B0604020202020204" pitchFamily="34" charset="0"/>
              <a:buNone/>
            </a:pPr>
            <a:endParaRPr lang="nl-NL" sz="2000" noProof="0" dirty="0"/>
          </a:p>
          <a:p>
            <a:pPr marL="0" indent="0">
              <a:buFont typeface="Arial" panose="020B0604020202020204" pitchFamily="34" charset="0"/>
              <a:buNone/>
            </a:pPr>
            <a:endParaRPr lang="nl-NL" sz="2000" noProof="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nl-NL" sz="2000" noProof="0" dirty="0"/>
              <a:t>Je kunt </a:t>
            </a:r>
            <a:r>
              <a:rPr lang="nl-NL" sz="2000" noProof="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UNIQUE</a:t>
            </a:r>
            <a:r>
              <a:rPr lang="nl-NL" sz="2000" noProof="0" dirty="0"/>
              <a:t> ook gebruiken op een combinatie van kolommen.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B25EE02-F4A8-3D21-0F5E-D49BE5756D48}"/>
              </a:ext>
            </a:extLst>
          </p:cNvPr>
          <p:cNvCxnSpPr/>
          <p:nvPr/>
        </p:nvCxnSpPr>
        <p:spPr>
          <a:xfrm>
            <a:off x="6792065" y="1825625"/>
            <a:ext cx="0" cy="435133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692469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FD261-0D2C-41B9-9E28-43DF575D4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600" noProof="0" dirty="0"/>
              <a:t>Controles op waardes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4B503-C44F-453E-9465-D42E4557DE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994115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2000" noProof="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 TABLE</a:t>
            </a: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Klanten (</a:t>
            </a:r>
          </a:p>
          <a:p>
            <a:pPr marL="0" indent="0">
              <a:buNone/>
            </a:pP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 Naam         </a:t>
            </a:r>
            <a:r>
              <a:rPr lang="nl-NL" sz="2000" noProof="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TEXT</a:t>
            </a: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0" indent="0">
              <a:buNone/>
            </a:pP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 Achternaam   </a:t>
            </a:r>
            <a:r>
              <a:rPr lang="nl-NL" sz="2000" noProof="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TEXT</a:t>
            </a: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0" indent="0">
              <a:buNone/>
            </a:pP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 Leeftijd     </a:t>
            </a:r>
            <a:r>
              <a:rPr lang="nl-NL" sz="2000" noProof="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INTEGER</a:t>
            </a: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0" indent="0">
              <a:buNone/>
            </a:pPr>
            <a:endParaRPr lang="nl-NL" sz="2000" b="1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nl-NL" sz="2000" b="1" noProof="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CHECK</a:t>
            </a: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(Leeftijd </a:t>
            </a:r>
            <a:r>
              <a:rPr lang="nl-NL" sz="2000" noProof="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BETWEEN</a:t>
            </a: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0 </a:t>
            </a:r>
            <a:r>
              <a:rPr lang="nl-NL" sz="2000" noProof="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AND</a:t>
            </a: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120)</a:t>
            </a:r>
          </a:p>
          <a:p>
            <a:pPr marL="0" indent="0">
              <a:buNone/>
            </a:pPr>
            <a:endParaRPr lang="nl-NL" sz="20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8BBDAC7-28CB-4019-A508-03C63F0A9D12}"/>
              </a:ext>
            </a:extLst>
          </p:cNvPr>
          <p:cNvSpPr txBox="1">
            <a:spLocks/>
          </p:cNvSpPr>
          <p:nvPr/>
        </p:nvSpPr>
        <p:spPr>
          <a:xfrm>
            <a:off x="7222732" y="1825625"/>
            <a:ext cx="4131067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nl-NL" sz="2000" noProof="0" dirty="0"/>
              <a:t>Met </a:t>
            </a:r>
            <a:r>
              <a:rPr lang="nl-NL" sz="2000" noProof="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CHECK</a:t>
            </a:r>
            <a:r>
              <a:rPr lang="nl-NL" sz="2000" noProof="0" dirty="0"/>
              <a:t> kun je een controle instellen op een tabel.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nl-NL" sz="2000" noProof="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nl-NL" sz="2000" noProof="0" dirty="0"/>
              <a:t>De controle in dit voorbeeld is op het bereik van </a:t>
            </a: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Leeftijd</a:t>
            </a:r>
            <a:r>
              <a:rPr lang="nl-NL" sz="2000" noProof="0" dirty="0"/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nl-NL" sz="2000" noProof="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nl-NL" sz="2000" noProof="0" dirty="0"/>
              <a:t>Rijen die niet aan de controle voldoen geven een foutmelding.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C4C5F3F-2CF0-35C8-02B0-2F9CB90E3A3B}"/>
              </a:ext>
            </a:extLst>
          </p:cNvPr>
          <p:cNvCxnSpPr>
            <a:cxnSpLocks/>
          </p:cNvCxnSpPr>
          <p:nvPr/>
        </p:nvCxnSpPr>
        <p:spPr>
          <a:xfrm>
            <a:off x="6794609" y="1555423"/>
            <a:ext cx="0" cy="46215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938657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E01D9-4E80-079C-F5DC-729D580CE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042DA-BDBA-7DE1-926F-8868915E2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600" noProof="0" dirty="0"/>
              <a:t>Controles een naam geven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5FF3E5-F8A1-35B6-59A8-EA7783237B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994115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nl-NL" sz="2000" noProof="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 TABLE</a:t>
            </a: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Klanten (</a:t>
            </a:r>
          </a:p>
          <a:p>
            <a:pPr marL="0" indent="0">
              <a:buNone/>
            </a:pP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nl-NL" sz="20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KlantId</a:t>
            </a: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     INTEGER,</a:t>
            </a:r>
          </a:p>
          <a:p>
            <a:pPr marL="0" indent="0">
              <a:buNone/>
            </a:pP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 Naam         </a:t>
            </a:r>
            <a:r>
              <a:rPr lang="nl-NL" sz="2000" noProof="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TEXT</a:t>
            </a: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0" indent="0">
              <a:buNone/>
            </a:pP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 Achternaam   </a:t>
            </a:r>
            <a:r>
              <a:rPr lang="nl-NL" sz="2000" noProof="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TEXT</a:t>
            </a: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0" indent="0">
              <a:buNone/>
            </a:pPr>
            <a:endParaRPr lang="nl-NL" sz="2000" b="1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nl-NL" sz="2000" b="1" noProof="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CONSTRAINT</a:t>
            </a: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20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PK_KlantId</a:t>
            </a:r>
            <a:endParaRPr lang="nl-NL" sz="20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nl-NL" sz="2000" noProof="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PRIMARY KEY</a:t>
            </a: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nl-NL" sz="20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KlantId</a:t>
            </a: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endParaRPr lang="nl-NL" sz="2000" b="1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2000" b="1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2000" b="1" noProof="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CONSTRAINT</a:t>
            </a: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20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UQ_Naam_Achternaam</a:t>
            </a:r>
            <a:endParaRPr lang="nl-NL" sz="20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nl-NL" sz="2000" noProof="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UNIQUE</a:t>
            </a: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(Naam, Achternaam)</a:t>
            </a:r>
          </a:p>
          <a:p>
            <a:pPr marL="0" indent="0">
              <a:buNone/>
            </a:pPr>
            <a:endParaRPr lang="nl-NL" sz="20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B7F6534-8E96-1666-8498-2E50ED49EF18}"/>
              </a:ext>
            </a:extLst>
          </p:cNvPr>
          <p:cNvSpPr txBox="1">
            <a:spLocks/>
          </p:cNvSpPr>
          <p:nvPr/>
        </p:nvSpPr>
        <p:spPr>
          <a:xfrm>
            <a:off x="7222732" y="1825625"/>
            <a:ext cx="4131067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nl-NL" sz="2000" noProof="0" dirty="0"/>
              <a:t>Met </a:t>
            </a:r>
            <a:r>
              <a:rPr lang="nl-NL" sz="2000" noProof="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CONSTRAINT</a:t>
            </a:r>
            <a:r>
              <a:rPr lang="nl-NL" sz="2000" noProof="0" dirty="0"/>
              <a:t> kun je een naam geven aan een controle.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nl-NL" sz="2000" noProof="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nl-NL" sz="2000" noProof="0" dirty="0"/>
              <a:t>Controles zijn: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nl-NL" sz="2000" noProof="0" dirty="0"/>
          </a:p>
          <a:p>
            <a:pPr>
              <a:buFontTx/>
              <a:buChar char="-"/>
            </a:pPr>
            <a:r>
              <a:rPr lang="nl-NL" sz="2000" noProof="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PRIMARY KEY</a:t>
            </a:r>
          </a:p>
          <a:p>
            <a:pPr>
              <a:buFontTx/>
              <a:buChar char="-"/>
            </a:pPr>
            <a:r>
              <a:rPr lang="nl-NL" sz="2000" noProof="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FOREIGN KEY</a:t>
            </a:r>
          </a:p>
          <a:p>
            <a:pPr>
              <a:buFontTx/>
              <a:buChar char="-"/>
            </a:pPr>
            <a:r>
              <a:rPr lang="nl-NL" sz="2000" noProof="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UNIQUE</a:t>
            </a:r>
          </a:p>
          <a:p>
            <a:pPr>
              <a:buFontTx/>
              <a:buChar char="-"/>
            </a:pPr>
            <a:r>
              <a:rPr lang="nl-NL" sz="2000" noProof="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CHECK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E96F5D3-09A8-02FC-9C4A-817C05484610}"/>
              </a:ext>
            </a:extLst>
          </p:cNvPr>
          <p:cNvCxnSpPr>
            <a:cxnSpLocks/>
          </p:cNvCxnSpPr>
          <p:nvPr/>
        </p:nvCxnSpPr>
        <p:spPr>
          <a:xfrm>
            <a:off x="6794609" y="1555423"/>
            <a:ext cx="0" cy="46215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567970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556EF9-B4AB-F27C-D5A0-6A8BE90D2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99355-8885-9BED-E9E1-A5C4D3BC8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600" noProof="0" dirty="0"/>
              <a:t>Tabellen verwijderen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04E2BD-A854-02B1-59A6-620EA1E9FA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1806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2000" noProof="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DROP TABLE </a:t>
            </a: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Klanten;</a:t>
            </a:r>
          </a:p>
          <a:p>
            <a:pPr marL="0" indent="0">
              <a:buNone/>
            </a:pPr>
            <a:endParaRPr lang="nl-NL" sz="20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nl-NL" sz="20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16F9E51-F48B-63CB-9C3C-1E481365AB6F}"/>
              </a:ext>
            </a:extLst>
          </p:cNvPr>
          <p:cNvSpPr txBox="1">
            <a:spLocks/>
          </p:cNvSpPr>
          <p:nvPr/>
        </p:nvSpPr>
        <p:spPr>
          <a:xfrm>
            <a:off x="7211507" y="1825625"/>
            <a:ext cx="447223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nl-NL" sz="2000" noProof="0" dirty="0"/>
              <a:t>Verwijder tabellen met </a:t>
            </a:r>
            <a:r>
              <a:rPr lang="nl-NL" sz="2000" noProof="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DROP TABLE</a:t>
            </a:r>
            <a:r>
              <a:rPr lang="nl-NL" sz="2000" noProof="0" dirty="0"/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nl-NL" sz="2000" noProof="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nl-NL" sz="2000" b="1" noProof="0" dirty="0"/>
              <a:t>LET OP: Verwijderd ook alle data!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nl-NL" sz="2000" b="1" noProof="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1E8BC32-422E-7616-804B-49BCA248CDD7}"/>
              </a:ext>
            </a:extLst>
          </p:cNvPr>
          <p:cNvCxnSpPr/>
          <p:nvPr/>
        </p:nvCxnSpPr>
        <p:spPr>
          <a:xfrm>
            <a:off x="6792065" y="1825625"/>
            <a:ext cx="0" cy="435133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397925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296BB-8F70-E7FE-8362-9D7386EDC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2E7A2-45BD-17CF-D01B-CCC605553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600" noProof="0" dirty="0"/>
              <a:t>Tabellen verwijderen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1788ED-9C15-43B3-99F6-22C7ACDB02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1806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2000" noProof="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DROP TABLE </a:t>
            </a: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Klanten;</a:t>
            </a:r>
          </a:p>
          <a:p>
            <a:pPr marL="0" indent="0">
              <a:buNone/>
            </a:pPr>
            <a:endParaRPr lang="nl-NL" sz="20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nl-NL" sz="20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nl-NL" sz="2000" noProof="0" dirty="0">
              <a:solidFill>
                <a:schemeClr val="accent5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nl-NL" sz="2000" noProof="0" dirty="0">
              <a:solidFill>
                <a:schemeClr val="accent5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nl-NL" sz="2000" noProof="0" dirty="0">
              <a:solidFill>
                <a:schemeClr val="accent5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2000" noProof="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DROP TABLE IF EXISTS </a:t>
            </a: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Klanten;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B787107-DAB9-F752-582B-C7D6733BEF64}"/>
              </a:ext>
            </a:extLst>
          </p:cNvPr>
          <p:cNvSpPr txBox="1">
            <a:spLocks/>
          </p:cNvSpPr>
          <p:nvPr/>
        </p:nvSpPr>
        <p:spPr>
          <a:xfrm>
            <a:off x="7211507" y="1825625"/>
            <a:ext cx="447223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nl-NL" sz="2000" noProof="0" dirty="0"/>
              <a:t>Verwijder tabellen met </a:t>
            </a:r>
            <a:r>
              <a:rPr lang="nl-NL" sz="2000" noProof="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DROP TABLE</a:t>
            </a:r>
            <a:r>
              <a:rPr lang="nl-NL" sz="2000" noProof="0" dirty="0"/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nl-NL" sz="2000" noProof="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nl-NL" sz="2000" b="1" noProof="0" dirty="0"/>
              <a:t>LET OP: Verwijderd ook alle data!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nl-NL" sz="2000" noProof="0" dirty="0"/>
          </a:p>
          <a:p>
            <a:pPr marL="0" indent="0">
              <a:buFont typeface="Arial" panose="020B0604020202020204" pitchFamily="34" charset="0"/>
              <a:buNone/>
            </a:pPr>
            <a:endParaRPr lang="nl-NL" sz="2000" noProof="0" dirty="0"/>
          </a:p>
          <a:p>
            <a:pPr marL="0" indent="0">
              <a:buFont typeface="Arial" panose="020B0604020202020204" pitchFamily="34" charset="0"/>
              <a:buNone/>
            </a:pPr>
            <a:endParaRPr lang="nl-NL" sz="2000" noProof="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nl-NL" sz="2000" dirty="0"/>
              <a:t>Met</a:t>
            </a:r>
            <a:r>
              <a:rPr lang="nl-NL" sz="2000" noProof="0" dirty="0"/>
              <a:t> </a:t>
            </a:r>
            <a:r>
              <a:rPr lang="nl-NL" sz="2000" noProof="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EXISTS</a:t>
            </a:r>
            <a:r>
              <a:rPr lang="nl-NL" sz="2000" noProof="0" dirty="0"/>
              <a:t> voorkom je foutmelding als tabel niet bestaat.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F66B5A8-7259-ADFC-346C-33FA1F36504C}"/>
              </a:ext>
            </a:extLst>
          </p:cNvPr>
          <p:cNvCxnSpPr/>
          <p:nvPr/>
        </p:nvCxnSpPr>
        <p:spPr>
          <a:xfrm>
            <a:off x="6792065" y="1825625"/>
            <a:ext cx="0" cy="435133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708930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E6652-4434-E2A6-BC5E-61B4B8D9C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2C1DA-8DE2-9A8D-BFDA-795DC5089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600" noProof="0" dirty="0"/>
              <a:t>Tabel wijzigen: Hernoemen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3AD022-36ED-727D-36BF-8020F160D7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1806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2000" noProof="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ALTER TABLE </a:t>
            </a: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Klanten</a:t>
            </a:r>
          </a:p>
          <a:p>
            <a:pPr marL="0" indent="0">
              <a:buNone/>
            </a:pP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nl-NL" sz="2000" noProof="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RENAME TO</a:t>
            </a: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20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KlantenOud</a:t>
            </a:r>
            <a:endParaRPr lang="nl-NL" sz="20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endParaRPr lang="nl-NL" sz="20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nl-NL" sz="20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160B36B-7066-CEBB-27C0-B0ECE01B4036}"/>
              </a:ext>
            </a:extLst>
          </p:cNvPr>
          <p:cNvSpPr txBox="1">
            <a:spLocks/>
          </p:cNvSpPr>
          <p:nvPr/>
        </p:nvSpPr>
        <p:spPr>
          <a:xfrm>
            <a:off x="7211507" y="1825625"/>
            <a:ext cx="447223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nl-NL" sz="2000" noProof="0" dirty="0"/>
              <a:t>Wijzigen van tabellen kun met </a:t>
            </a:r>
            <a:r>
              <a:rPr lang="nl-NL" sz="2000" noProof="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ALTER TABLE</a:t>
            </a:r>
            <a:r>
              <a:rPr lang="nl-NL" sz="2000" noProof="0" dirty="0"/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nl-NL" sz="2000" noProof="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nl-NL" sz="2000" noProof="0" dirty="0"/>
              <a:t>Achter </a:t>
            </a:r>
            <a:r>
              <a:rPr lang="nl-NL" sz="2000" noProof="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RENAME TO</a:t>
            </a:r>
            <a:r>
              <a:rPr lang="nl-NL" sz="2000" noProof="0" dirty="0">
                <a:cs typeface="Courier New" panose="02070309020205020404" pitchFamily="49" charset="0"/>
              </a:rPr>
              <a:t> geef je een nieuwe naam voor de tabel op</a:t>
            </a:r>
            <a:r>
              <a:rPr lang="nl-NL" sz="2000" noProof="0" dirty="0"/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nl-NL" sz="2000" noProof="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nl-NL" sz="2000" dirty="0"/>
              <a:t>R</a:t>
            </a:r>
            <a:r>
              <a:rPr lang="nl-NL" sz="2000" noProof="0" dirty="0" err="1"/>
              <a:t>ecente</a:t>
            </a:r>
            <a:r>
              <a:rPr lang="nl-NL" sz="2000" noProof="0" dirty="0"/>
              <a:t> </a:t>
            </a:r>
            <a:r>
              <a:rPr lang="nl-NL" sz="2000" noProof="0" dirty="0" err="1"/>
              <a:t>SQLite</a:t>
            </a:r>
            <a:r>
              <a:rPr lang="nl-NL" sz="2000" noProof="0" dirty="0"/>
              <a:t> versies werken ook referenties bij (vb. verwijzende sleutel).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A3597EC-1A64-0121-27BD-18B2F2204F03}"/>
              </a:ext>
            </a:extLst>
          </p:cNvPr>
          <p:cNvCxnSpPr/>
          <p:nvPr/>
        </p:nvCxnSpPr>
        <p:spPr>
          <a:xfrm>
            <a:off x="6792065" y="1825625"/>
            <a:ext cx="0" cy="435133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598546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8435E-69FE-29D9-7EAA-BB9BA9CB7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B3298-DE29-A2D0-8EAE-18796AC0F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600" noProof="0" dirty="0"/>
              <a:t>Tabel wijzigen: Kolom hernoemen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8B3753-68E0-3C1E-9008-99DF5A08BF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1806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2000" noProof="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ALTER TABLE </a:t>
            </a: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Klanten</a:t>
            </a:r>
          </a:p>
          <a:p>
            <a:pPr marL="0" indent="0">
              <a:buNone/>
            </a:pP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nl-NL" sz="2000" noProof="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RENAME COLUMN </a:t>
            </a:r>
            <a:r>
              <a:rPr lang="nl-NL" sz="20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</a:t>
            </a:r>
            <a:r>
              <a:rPr lang="nl-NL" sz="2000" noProof="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TO</a:t>
            </a: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20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KlantId</a:t>
            </a:r>
            <a:endParaRPr lang="nl-NL" sz="20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endParaRPr lang="nl-NL" sz="20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nl-NL" sz="20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D86EF44-77CE-8B36-4BE5-E724E2A1765E}"/>
              </a:ext>
            </a:extLst>
          </p:cNvPr>
          <p:cNvSpPr txBox="1">
            <a:spLocks/>
          </p:cNvSpPr>
          <p:nvPr/>
        </p:nvSpPr>
        <p:spPr>
          <a:xfrm>
            <a:off x="7211507" y="1825625"/>
            <a:ext cx="447223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nl-NL" sz="2000" noProof="0" dirty="0"/>
              <a:t>Met </a:t>
            </a:r>
            <a:r>
              <a:rPr lang="nl-NL" sz="2000" noProof="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RENAME COLUMN ... TO</a:t>
            </a:r>
            <a:r>
              <a:rPr lang="nl-NL" sz="2000" noProof="0" dirty="0">
                <a:cs typeface="Courier New" panose="02070309020205020404" pitchFamily="49" charset="0"/>
              </a:rPr>
              <a:t> hernoem je een kolom</a:t>
            </a:r>
            <a:r>
              <a:rPr lang="nl-NL" sz="2000" noProof="0" dirty="0"/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nl-NL" sz="2000" noProof="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nl-NL" sz="2000" noProof="0" dirty="0"/>
              <a:t>Geef de oude en nieuwe kolomnaam op.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nl-NL" sz="2000" noProof="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nl-NL" sz="2000" noProof="0" dirty="0"/>
              <a:t>Referenties worden automatisch bijgewerkt.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F42A93A-5A79-549C-DB83-D8E249AA1AD3}"/>
              </a:ext>
            </a:extLst>
          </p:cNvPr>
          <p:cNvCxnSpPr/>
          <p:nvPr/>
        </p:nvCxnSpPr>
        <p:spPr>
          <a:xfrm>
            <a:off x="6792065" y="1825625"/>
            <a:ext cx="0" cy="435133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762926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FD261-0D2C-41B9-9E28-43DF575D4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600" noProof="0" dirty="0"/>
              <a:t>Tabel wijzigen: Kolom toevoegen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4B503-C44F-453E-9465-D42E4557DE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1806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2000" noProof="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ALTER TABLE </a:t>
            </a: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Klanten</a:t>
            </a:r>
          </a:p>
          <a:p>
            <a:pPr marL="0" indent="0">
              <a:buNone/>
            </a:pP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nl-NL" sz="2000" noProof="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 COLUMN</a:t>
            </a:r>
          </a:p>
          <a:p>
            <a:pPr marL="0" indent="0">
              <a:buNone/>
            </a:pPr>
            <a:r>
              <a:rPr lang="nl-NL" sz="2000" noProof="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Mailing </a:t>
            </a:r>
            <a:r>
              <a:rPr lang="nl-NL" sz="2000" noProof="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INTEGER DEFAULT</a:t>
            </a: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0</a:t>
            </a:r>
          </a:p>
          <a:p>
            <a:pPr marL="0" indent="0">
              <a:buNone/>
            </a:pP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endParaRPr lang="nl-NL" sz="20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nl-NL" sz="20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8BBDAC7-28CB-4019-A508-03C63F0A9D12}"/>
              </a:ext>
            </a:extLst>
          </p:cNvPr>
          <p:cNvSpPr txBox="1">
            <a:spLocks/>
          </p:cNvSpPr>
          <p:nvPr/>
        </p:nvSpPr>
        <p:spPr>
          <a:xfrm>
            <a:off x="7211507" y="1825625"/>
            <a:ext cx="447223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nl-NL" sz="2000" noProof="0" dirty="0"/>
              <a:t>Voeg een kolom </a:t>
            </a:r>
            <a:r>
              <a:rPr lang="nl-NL" sz="2000" noProof="0" dirty="0" err="1"/>
              <a:t>to</a:t>
            </a:r>
            <a:r>
              <a:rPr lang="nl-NL" sz="2000" dirty="0"/>
              <a:t>e met</a:t>
            </a:r>
            <a:r>
              <a:rPr lang="nl-NL" sz="2000" noProof="0" dirty="0"/>
              <a:t> </a:t>
            </a:r>
            <a:r>
              <a:rPr lang="nl-NL" sz="2000" noProof="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 COLUMN</a:t>
            </a:r>
            <a:r>
              <a:rPr lang="nl-NL" sz="2000" noProof="0" dirty="0"/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nl-NL" sz="2000" noProof="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nl-NL" sz="2000" noProof="0" dirty="0"/>
              <a:t>Geef naam en data type op en eventueel een standaard waarde.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nl-NL" sz="2000" noProof="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nl-NL" sz="2000" noProof="0" dirty="0"/>
              <a:t>Beperkingen:</a:t>
            </a:r>
          </a:p>
          <a:p>
            <a:pPr>
              <a:buFontTx/>
              <a:buChar char="-"/>
            </a:pPr>
            <a:r>
              <a:rPr lang="nl-NL" sz="2000" dirty="0"/>
              <a:t>Geen </a:t>
            </a: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PRIMARY KEY / UNIQUE</a:t>
            </a:r>
            <a:r>
              <a:rPr lang="nl-NL" sz="2000" dirty="0"/>
              <a:t>.</a:t>
            </a:r>
          </a:p>
          <a:p>
            <a:pPr>
              <a:buFontTx/>
              <a:buChar char="-"/>
            </a:pPr>
            <a:r>
              <a:rPr lang="nl-NL" sz="2000" noProof="0" dirty="0"/>
              <a:t>Beperkingen op standaard waardes.</a:t>
            </a:r>
          </a:p>
          <a:p>
            <a:pPr marL="0" indent="0">
              <a:buNone/>
            </a:pPr>
            <a:endParaRPr lang="nl-NL" sz="2000" noProof="0" dirty="0"/>
          </a:p>
          <a:p>
            <a:pPr marL="0" indent="0">
              <a:buNone/>
            </a:pPr>
            <a:endParaRPr lang="nl-NL" sz="2000" noProof="0" dirty="0"/>
          </a:p>
          <a:p>
            <a:pPr marL="0" indent="0">
              <a:buNone/>
            </a:pPr>
            <a:r>
              <a:rPr lang="nl-NL" sz="1800" noProof="0" dirty="0">
                <a:hlinkClick r:id="rId3"/>
              </a:rPr>
              <a:t>https://www.sqlite.org/lang_altertable.html</a:t>
            </a:r>
            <a:endParaRPr lang="nl-NL" sz="1800" noProof="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EF16A4D-E52A-231F-821F-F106ABC949FD}"/>
              </a:ext>
            </a:extLst>
          </p:cNvPr>
          <p:cNvCxnSpPr/>
          <p:nvPr/>
        </p:nvCxnSpPr>
        <p:spPr>
          <a:xfrm>
            <a:off x="6792065" y="1825625"/>
            <a:ext cx="0" cy="435133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945327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36D230-69A0-1FEB-2FF3-24D62A651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8D547-9501-E2EC-4116-981E9517E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600" noProof="0" dirty="0"/>
              <a:t>Tabel wijzigen: Kolom verwijderen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9BE948-0E5F-9ED6-BE5B-52FFA92B4F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1806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2000" noProof="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ALTER TABLE </a:t>
            </a: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Klanten</a:t>
            </a:r>
          </a:p>
          <a:p>
            <a:pPr marL="0" indent="0">
              <a:buNone/>
            </a:pP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nl-NL" sz="2000" noProof="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DROP COLUMN </a:t>
            </a: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Mailing</a:t>
            </a:r>
          </a:p>
          <a:p>
            <a:pPr marL="0" indent="0">
              <a:buNone/>
            </a:pP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endParaRPr lang="nl-NL" sz="20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nl-NL" sz="20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C1A7184-EBE3-84C7-FF64-AB9953B08BC0}"/>
              </a:ext>
            </a:extLst>
          </p:cNvPr>
          <p:cNvSpPr txBox="1">
            <a:spLocks/>
          </p:cNvSpPr>
          <p:nvPr/>
        </p:nvSpPr>
        <p:spPr>
          <a:xfrm>
            <a:off x="7211507" y="1825625"/>
            <a:ext cx="447223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nl-NL" sz="2000" noProof="0" dirty="0"/>
              <a:t>Met </a:t>
            </a:r>
            <a:r>
              <a:rPr lang="nl-NL" sz="2000" noProof="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DROP COLUMN</a:t>
            </a:r>
            <a:r>
              <a:rPr lang="nl-NL" sz="2000" noProof="0" dirty="0">
                <a:cs typeface="Courier New" panose="02070309020205020404" pitchFamily="49" charset="0"/>
              </a:rPr>
              <a:t> verwijder je een bestaande kolom</a:t>
            </a:r>
            <a:r>
              <a:rPr lang="nl-NL" sz="2000" noProof="0" dirty="0"/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nl-NL" sz="2000" noProof="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nl-NL" sz="2000" b="1" noProof="0" dirty="0"/>
              <a:t>Let op: Verwijdert ook de data!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nl-NL" sz="2000" noProof="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nl-NL" sz="2000" noProof="0" dirty="0"/>
              <a:t>Beperkingen:</a:t>
            </a:r>
          </a:p>
          <a:p>
            <a:pPr>
              <a:buFontTx/>
              <a:buChar char="-"/>
            </a:pPr>
            <a:r>
              <a:rPr lang="nl-NL" sz="2000" noProof="0" dirty="0"/>
              <a:t>Niet </a:t>
            </a:r>
            <a:r>
              <a:rPr lang="nl-NL" sz="2000" noProof="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PRIMARY KEY</a:t>
            </a:r>
            <a:r>
              <a:rPr lang="nl-NL" sz="2000" noProof="0" dirty="0"/>
              <a:t> / </a:t>
            </a:r>
            <a:r>
              <a:rPr lang="nl-NL" sz="2000" noProof="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UNIQUE</a:t>
            </a:r>
            <a:r>
              <a:rPr lang="nl-NL" sz="2000" noProof="0" dirty="0"/>
              <a:t>.</a:t>
            </a:r>
          </a:p>
          <a:p>
            <a:pPr>
              <a:buFontTx/>
              <a:buChar char="-"/>
            </a:pPr>
            <a:r>
              <a:rPr lang="nl-NL" sz="2000" noProof="0" dirty="0"/>
              <a:t>Geen </a:t>
            </a:r>
            <a:r>
              <a:rPr lang="nl-NL" sz="2000" noProof="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FOREIGN KEY</a:t>
            </a:r>
            <a:r>
              <a:rPr lang="nl-NL" sz="2000" noProof="0" dirty="0"/>
              <a:t>.</a:t>
            </a:r>
          </a:p>
          <a:p>
            <a:pPr>
              <a:buFontTx/>
              <a:buChar char="-"/>
            </a:pPr>
            <a:r>
              <a:rPr lang="nl-NL" sz="2000" noProof="0" dirty="0"/>
              <a:t>Geen kolom met een index.</a:t>
            </a:r>
          </a:p>
          <a:p>
            <a:pPr marL="0" indent="0">
              <a:buNone/>
            </a:pPr>
            <a:endParaRPr lang="nl-NL" sz="2000" noProof="0" dirty="0"/>
          </a:p>
          <a:p>
            <a:pPr marL="0" indent="0">
              <a:buNone/>
            </a:pPr>
            <a:r>
              <a:rPr lang="nl-NL" sz="1800" noProof="0" dirty="0">
                <a:hlinkClick r:id="rId3"/>
              </a:rPr>
              <a:t>https://www.sqlite.org/lang_altertable.html</a:t>
            </a:r>
            <a:endParaRPr lang="nl-NL" sz="1800" noProof="0" dirty="0"/>
          </a:p>
          <a:p>
            <a:pPr>
              <a:buFontTx/>
              <a:buChar char="-"/>
            </a:pPr>
            <a:endParaRPr lang="nl-NL" sz="2000" noProof="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C34A69A-2E39-1E9E-08BA-1D73E823F568}"/>
              </a:ext>
            </a:extLst>
          </p:cNvPr>
          <p:cNvCxnSpPr/>
          <p:nvPr/>
        </p:nvCxnSpPr>
        <p:spPr>
          <a:xfrm>
            <a:off x="6792065" y="1825625"/>
            <a:ext cx="0" cy="435133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18588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FD261-0D2C-41B9-9E28-43DF575D4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600" noProof="0" dirty="0"/>
              <a:t>Oefeningen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4B503-C44F-453E-9465-D42E4557DE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nl-NL" sz="2000" noProof="0" dirty="0"/>
              <a:t>In oefening 2 heb je database ontwerp gemaakt voor een sportclub:</a:t>
            </a:r>
          </a:p>
          <a:p>
            <a:pPr marL="0" indent="0">
              <a:buNone/>
            </a:pPr>
            <a:endParaRPr lang="nl-NL" sz="2000" noProof="0" dirty="0"/>
          </a:p>
          <a:p>
            <a:pPr>
              <a:buFontTx/>
              <a:buChar char="-"/>
            </a:pPr>
            <a:r>
              <a:rPr lang="nl-NL" sz="2000" noProof="0" dirty="0"/>
              <a:t>Implementeer de structuur in een </a:t>
            </a:r>
            <a:r>
              <a:rPr lang="nl-NL" sz="2000" noProof="0" dirty="0" err="1"/>
              <a:t>SQLite</a:t>
            </a:r>
            <a:r>
              <a:rPr lang="nl-NL" sz="2000" noProof="0" dirty="0"/>
              <a:t> database.</a:t>
            </a:r>
          </a:p>
          <a:p>
            <a:pPr>
              <a:buFontTx/>
              <a:buChar char="-"/>
            </a:pPr>
            <a:r>
              <a:rPr lang="nl-NL" sz="2000" noProof="0" dirty="0"/>
              <a:t>Maak alle tabellen aan.</a:t>
            </a:r>
          </a:p>
          <a:p>
            <a:pPr>
              <a:buFontTx/>
              <a:buChar char="-"/>
            </a:pPr>
            <a:r>
              <a:rPr lang="nl-NL" sz="2000" noProof="0" dirty="0"/>
              <a:t>Definieer kolommen inclusief data types (minimale set).</a:t>
            </a:r>
          </a:p>
          <a:p>
            <a:pPr>
              <a:buFontTx/>
              <a:buChar char="-"/>
            </a:pPr>
            <a:r>
              <a:rPr lang="nl-NL" sz="2000" noProof="0" dirty="0"/>
              <a:t>Leg relaties vast met verwijzende sleutels.</a:t>
            </a:r>
          </a:p>
          <a:p>
            <a:pPr marL="0" indent="0">
              <a:buNone/>
            </a:pPr>
            <a:endParaRPr lang="nl-NL" sz="2000" noProof="0" dirty="0"/>
          </a:p>
          <a:p>
            <a:pPr marL="0" indent="0">
              <a:buNone/>
            </a:pPr>
            <a:endParaRPr lang="nl-NL" sz="2000" noProof="0" dirty="0"/>
          </a:p>
          <a:p>
            <a:pPr marL="0" indent="0">
              <a:buNone/>
            </a:pPr>
            <a:r>
              <a:rPr lang="nl-NL" sz="2000" noProof="0" dirty="0"/>
              <a:t>Let op: Verwijzende sleutels bepalen de volgorde waarop je tabellen definieert!</a:t>
            </a:r>
          </a:p>
          <a:p>
            <a:pPr marL="0" indent="0">
              <a:buNone/>
            </a:pPr>
            <a:endParaRPr lang="nl-NL" sz="2000" noProof="0" dirty="0"/>
          </a:p>
        </p:txBody>
      </p:sp>
    </p:spTree>
    <p:extLst>
      <p:ext uri="{BB962C8B-B14F-4D97-AF65-F5344CB8AC3E}">
        <p14:creationId xmlns:p14="http://schemas.microsoft.com/office/powerpoint/2010/main" val="374032777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01F3E-CB49-03B6-A9A1-EF324F50C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E6FF54E-64FF-4096-770F-3700E4F68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4400" noProof="0" dirty="0"/>
              <a:t>Views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39FB1B-A047-E71C-74C7-CFA610D12E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279782600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DE829-6C23-396D-336E-27FE9A497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A1034-0C31-E3F4-BCF6-1D24907F7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600" noProof="0" dirty="0"/>
              <a:t>Views: Opgeslagen </a:t>
            </a:r>
            <a:r>
              <a:rPr lang="nl-NL" sz="3600" noProof="0" dirty="0" err="1"/>
              <a:t>queries</a:t>
            </a:r>
            <a:endParaRPr lang="nl-NL" sz="360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0ADAB-2CD5-79AC-20FA-0E0A993DE0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2000" noProof="0" dirty="0"/>
              <a:t>View is een opgeslagen query in de database.</a:t>
            </a:r>
          </a:p>
          <a:p>
            <a:pPr marL="0" indent="0">
              <a:buNone/>
            </a:pPr>
            <a:endParaRPr lang="nl-NL" sz="2000" noProof="0" dirty="0"/>
          </a:p>
          <a:p>
            <a:pPr marL="0" indent="0">
              <a:buNone/>
            </a:pPr>
            <a:endParaRPr lang="nl-NL" sz="2000" noProof="0" dirty="0"/>
          </a:p>
          <a:p>
            <a:pPr marL="0" indent="0">
              <a:buNone/>
            </a:pPr>
            <a:r>
              <a:rPr lang="nl-NL" sz="2000" noProof="0" dirty="0"/>
              <a:t>Dit is handig als je regelmatig dezelfde doorsnedes maakt van de data.</a:t>
            </a:r>
          </a:p>
          <a:p>
            <a:pPr marL="0" indent="0">
              <a:buNone/>
            </a:pPr>
            <a:endParaRPr lang="nl-NL" sz="2000" noProof="0" dirty="0"/>
          </a:p>
          <a:p>
            <a:pPr marL="0" indent="0">
              <a:buNone/>
            </a:pPr>
            <a:endParaRPr lang="nl-NL" sz="2000" noProof="0" dirty="0"/>
          </a:p>
          <a:p>
            <a:pPr marL="0" indent="0">
              <a:buNone/>
            </a:pPr>
            <a:r>
              <a:rPr lang="nl-NL" sz="2000" noProof="0" dirty="0"/>
              <a:t>In </a:t>
            </a:r>
            <a:r>
              <a:rPr lang="nl-NL" sz="2000" noProof="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nl-NL" sz="2000" noProof="0" dirty="0"/>
              <a:t> queries werkt een view als een tabel.</a:t>
            </a:r>
          </a:p>
          <a:p>
            <a:pPr marL="0" indent="0">
              <a:buNone/>
            </a:pPr>
            <a:endParaRPr lang="nl-NL" sz="2000" dirty="0"/>
          </a:p>
          <a:p>
            <a:pPr marL="0" indent="0">
              <a:buNone/>
            </a:pPr>
            <a:r>
              <a:rPr lang="nl-NL" sz="2000" dirty="0"/>
              <a:t>Je kunt data niet wijzigen in een view!</a:t>
            </a:r>
            <a:endParaRPr lang="nl-NL" sz="2000" noProof="0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D15C0EF-8425-4BAD-1286-1798C0E3D4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8494626"/>
              </p:ext>
            </p:extLst>
          </p:nvPr>
        </p:nvGraphicFramePr>
        <p:xfrm>
          <a:off x="6095999" y="2018350"/>
          <a:ext cx="5257801" cy="15166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2861">
                  <a:extLst>
                    <a:ext uri="{9D8B030D-6E8A-4147-A177-3AD203B41FA5}">
                      <a16:colId xmlns:a16="http://schemas.microsoft.com/office/drawing/2014/main" val="1242195512"/>
                    </a:ext>
                  </a:extLst>
                </a:gridCol>
                <a:gridCol w="2052341">
                  <a:extLst>
                    <a:ext uri="{9D8B030D-6E8A-4147-A177-3AD203B41FA5}">
                      <a16:colId xmlns:a16="http://schemas.microsoft.com/office/drawing/2014/main" val="849288735"/>
                    </a:ext>
                  </a:extLst>
                </a:gridCol>
                <a:gridCol w="1093642">
                  <a:extLst>
                    <a:ext uri="{9D8B030D-6E8A-4147-A177-3AD203B41FA5}">
                      <a16:colId xmlns:a16="http://schemas.microsoft.com/office/drawing/2014/main" val="2417860962"/>
                    </a:ext>
                  </a:extLst>
                </a:gridCol>
                <a:gridCol w="775672">
                  <a:extLst>
                    <a:ext uri="{9D8B030D-6E8A-4147-A177-3AD203B41FA5}">
                      <a16:colId xmlns:a16="http://schemas.microsoft.com/office/drawing/2014/main" val="547730345"/>
                    </a:ext>
                  </a:extLst>
                </a:gridCol>
                <a:gridCol w="843285">
                  <a:extLst>
                    <a:ext uri="{9D8B030D-6E8A-4147-A177-3AD203B41FA5}">
                      <a16:colId xmlns:a16="http://schemas.microsoft.com/office/drawing/2014/main" val="810622425"/>
                    </a:ext>
                  </a:extLst>
                </a:gridCol>
              </a:tblGrid>
              <a:tr h="302969">
                <a:tc>
                  <a:txBody>
                    <a:bodyPr/>
                    <a:lstStyle/>
                    <a:p>
                      <a:pPr algn="ctr"/>
                      <a:r>
                        <a:rPr lang="nl-NL" sz="1400" noProof="0" dirty="0" err="1"/>
                        <a:t>Id</a:t>
                      </a:r>
                      <a:endParaRPr lang="nl-NL" sz="14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400" noProof="0" dirty="0" err="1"/>
                        <a:t>DatumTijd</a:t>
                      </a:r>
                      <a:endParaRPr lang="nl-NL" sz="14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400" noProof="0" dirty="0"/>
                        <a:t>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400" noProof="0" dirty="0"/>
                        <a:t>Aantal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400" noProof="0" dirty="0"/>
                        <a:t>Prijs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6219780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algn="ctr"/>
                      <a:r>
                        <a:rPr lang="nl-NL" sz="12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2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2025-01-01 10:12:56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2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Product 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2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2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1.99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9053236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algn="ctr"/>
                      <a:r>
                        <a:rPr lang="nl-NL" sz="12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2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2025-01-01 15:32:21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2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Product 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2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2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7.49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4142827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algn="ctr"/>
                      <a:r>
                        <a:rPr lang="nl-NL" sz="12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2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2025-01-02 09:01:00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nl-NL" sz="12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Product 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nl-NL" sz="12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nl-NL" sz="12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1.99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5410762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algn="ctr"/>
                      <a:r>
                        <a:rPr lang="nl-NL" sz="12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</a:p>
                  </a:txBody>
                  <a:tcPr anchor="ctr"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2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2025-01-02 13:56:10</a:t>
                      </a:r>
                    </a:p>
                  </a:txBody>
                  <a:tcPr anchor="ctr"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nl-NL" sz="12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Product A</a:t>
                      </a:r>
                    </a:p>
                  </a:txBody>
                  <a:tcPr anchor="ctr"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nl-NL" sz="12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</a:p>
                  </a:txBody>
                  <a:tcPr anchor="ctr"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nl-NL" sz="12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1.99</a:t>
                      </a:r>
                    </a:p>
                  </a:txBody>
                  <a:tcPr anchor="ctr"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2477267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C1E9905-24DE-ADEA-043C-B9A26B068F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9615433"/>
              </p:ext>
            </p:extLst>
          </p:nvPr>
        </p:nvGraphicFramePr>
        <p:xfrm>
          <a:off x="7097769" y="5007723"/>
          <a:ext cx="3735527" cy="9107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0021">
                  <a:extLst>
                    <a:ext uri="{9D8B030D-6E8A-4147-A177-3AD203B41FA5}">
                      <a16:colId xmlns:a16="http://schemas.microsoft.com/office/drawing/2014/main" val="2417860962"/>
                    </a:ext>
                  </a:extLst>
                </a:gridCol>
                <a:gridCol w="1241547">
                  <a:extLst>
                    <a:ext uri="{9D8B030D-6E8A-4147-A177-3AD203B41FA5}">
                      <a16:colId xmlns:a16="http://schemas.microsoft.com/office/drawing/2014/main" val="547730345"/>
                    </a:ext>
                  </a:extLst>
                </a:gridCol>
                <a:gridCol w="1203959">
                  <a:extLst>
                    <a:ext uri="{9D8B030D-6E8A-4147-A177-3AD203B41FA5}">
                      <a16:colId xmlns:a16="http://schemas.microsoft.com/office/drawing/2014/main" val="600075027"/>
                    </a:ext>
                  </a:extLst>
                </a:gridCol>
              </a:tblGrid>
              <a:tr h="302969">
                <a:tc>
                  <a:txBody>
                    <a:bodyPr/>
                    <a:lstStyle/>
                    <a:p>
                      <a:pPr algn="ctr"/>
                      <a:r>
                        <a:rPr lang="nl-NL" sz="1400" noProof="0" dirty="0"/>
                        <a:t>Datum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400" noProof="0" dirty="0"/>
                        <a:t>Totaal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400" noProof="0" dirty="0"/>
                        <a:t>Omzet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6219780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2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2025-01-01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2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2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7.96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9053236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algn="ctr"/>
                      <a:r>
                        <a:rPr lang="nl-NL" sz="12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2025-01-02</a:t>
                      </a:r>
                    </a:p>
                  </a:txBody>
                  <a:tcP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nl-NL" sz="12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</a:t>
                      </a:r>
                    </a:p>
                  </a:txBody>
                  <a:tcPr anchor="ctr"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nl-NL" sz="12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11.94</a:t>
                      </a:r>
                    </a:p>
                  </a:txBody>
                  <a:tcPr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41076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2870106-A279-3F9D-71C6-859C374DAE11}"/>
              </a:ext>
            </a:extLst>
          </p:cNvPr>
          <p:cNvSpPr txBox="1"/>
          <p:nvPr/>
        </p:nvSpPr>
        <p:spPr>
          <a:xfrm>
            <a:off x="6095998" y="1690688"/>
            <a:ext cx="11070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600" noProof="0" dirty="0"/>
              <a:t>Transacties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6F10EA-8ACF-7470-3B73-6118BC79140B}"/>
              </a:ext>
            </a:extLst>
          </p:cNvPr>
          <p:cNvSpPr txBox="1"/>
          <p:nvPr/>
        </p:nvSpPr>
        <p:spPr>
          <a:xfrm>
            <a:off x="7097769" y="4669169"/>
            <a:ext cx="19341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600" noProof="0" dirty="0" err="1"/>
              <a:t>vwProductADagelijks</a:t>
            </a:r>
            <a:endParaRPr lang="nl-NL" sz="1600" noProof="0" dirty="0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6194598A-37B1-20B4-037E-9D3163805645}"/>
              </a:ext>
            </a:extLst>
          </p:cNvPr>
          <p:cNvSpPr/>
          <p:nvPr/>
        </p:nvSpPr>
        <p:spPr>
          <a:xfrm rot="5400000">
            <a:off x="8812667" y="4038938"/>
            <a:ext cx="305728" cy="464873"/>
          </a:xfrm>
          <a:prstGeom prst="rightArrow">
            <a:avLst>
              <a:gd name="adj1" fmla="val 50000"/>
              <a:gd name="adj2" fmla="val 48508"/>
            </a:avLst>
          </a:prstGeom>
          <a:solidFill>
            <a:schemeClr val="accent2"/>
          </a:solidFill>
          <a:ln>
            <a:solidFill>
              <a:srgbClr val="AE5A2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135778817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678CBD-7C66-BAD4-A82A-923BE171E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B0679-6644-7A2C-E25E-77865166F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600" noProof="0" dirty="0"/>
              <a:t>View aanmaken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A55CB7-88C1-24A6-C930-4EDE0ACCE0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56163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2000" noProof="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 VIEW </a:t>
            </a:r>
            <a:r>
              <a:rPr lang="nl-NL" sz="20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vwProductADag</a:t>
            </a: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2000" noProof="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</a:p>
          <a:p>
            <a:pPr marL="0" indent="0">
              <a:buNone/>
            </a:pPr>
            <a:r>
              <a:rPr lang="nl-NL" sz="2000" noProof="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</a:p>
          <a:p>
            <a:pPr marL="0" indent="0">
              <a:buNone/>
            </a:pP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nl-NL" sz="2000" noProof="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DATE</a:t>
            </a: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nl-NL" sz="20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DatumTijd</a:t>
            </a: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nl-NL" sz="2000" noProof="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Datum,</a:t>
            </a:r>
          </a:p>
          <a:p>
            <a:pPr marL="0" indent="0">
              <a:buNone/>
            </a:pP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nl-NL" sz="2000" noProof="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SUM</a:t>
            </a: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(Aantal) </a:t>
            </a:r>
            <a:r>
              <a:rPr lang="nl-NL" sz="2000" noProof="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Totaal,</a:t>
            </a:r>
          </a:p>
          <a:p>
            <a:pPr marL="0" indent="0">
              <a:buNone/>
            </a:pP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nl-NL" sz="2000" noProof="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SUM</a:t>
            </a: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(Aantal * Prijs) </a:t>
            </a:r>
            <a:r>
              <a:rPr lang="nl-NL" sz="2000" noProof="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Omzet</a:t>
            </a:r>
          </a:p>
          <a:p>
            <a:pPr marL="0" indent="0">
              <a:buNone/>
            </a:pPr>
            <a:r>
              <a:rPr lang="nl-NL" sz="2000" noProof="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Transacties</a:t>
            </a:r>
          </a:p>
          <a:p>
            <a:pPr marL="0" indent="0">
              <a:buNone/>
            </a:pPr>
            <a:r>
              <a:rPr lang="nl-NL" sz="2000" noProof="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WHERE</a:t>
            </a: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Product = </a:t>
            </a:r>
            <a:r>
              <a:rPr lang="nl-NL" sz="2000" noProof="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'Product A'</a:t>
            </a:r>
          </a:p>
          <a:p>
            <a:pPr marL="0" indent="0">
              <a:buNone/>
            </a:pPr>
            <a:r>
              <a:rPr lang="nl-NL" sz="2000" noProof="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GROUP BY </a:t>
            </a: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Datum</a:t>
            </a:r>
          </a:p>
          <a:p>
            <a:pPr marL="0" indent="0">
              <a:buNone/>
            </a:pP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endParaRPr lang="nl-NL" sz="20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1C1DD90-611C-7CBC-BD9E-8403D1BAEA0E}"/>
              </a:ext>
            </a:extLst>
          </p:cNvPr>
          <p:cNvSpPr txBox="1">
            <a:spLocks/>
          </p:cNvSpPr>
          <p:nvPr/>
        </p:nvSpPr>
        <p:spPr>
          <a:xfrm>
            <a:off x="6295292" y="1825625"/>
            <a:ext cx="505616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nl-NL" sz="2000" noProof="0" dirty="0"/>
              <a:t>Maak een view aan met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nl-NL" sz="2000" noProof="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 VIEW  ... AS</a:t>
            </a:r>
            <a:r>
              <a:rPr lang="nl-NL" sz="2000" noProof="0" dirty="0"/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nl-NL" sz="2000" noProof="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nl-NL" sz="2000" noProof="0" dirty="0"/>
              <a:t>Geef daarna de </a:t>
            </a:r>
            <a:r>
              <a:rPr lang="nl-NL" sz="2000" noProof="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nl-NL" sz="2000" noProof="0" dirty="0"/>
              <a:t> query op die opgeslagen moet worden.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nl-NL" sz="2000" noProof="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nl-NL" sz="2000" noProof="0" dirty="0"/>
              <a:t>De </a:t>
            </a:r>
            <a:r>
              <a:rPr lang="nl-NL" sz="2000" noProof="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nl-NL" sz="2000" noProof="0" dirty="0"/>
              <a:t> query kan complex zijn, inclusief berekeningen, aggregaties, </a:t>
            </a:r>
            <a:r>
              <a:rPr lang="nl-NL" sz="2000" noProof="0" dirty="0" err="1"/>
              <a:t>CTEs</a:t>
            </a:r>
            <a:r>
              <a:rPr lang="nl-NL" sz="2000" noProof="0" dirty="0"/>
              <a:t>, et cetera.</a:t>
            </a:r>
          </a:p>
          <a:p>
            <a:pPr marL="0" indent="0">
              <a:buNone/>
            </a:pPr>
            <a:endParaRPr lang="nl-NL" sz="2000" noProof="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EA425BF-16E9-1C33-058E-8D0DAABA9D5A}"/>
              </a:ext>
            </a:extLst>
          </p:cNvPr>
          <p:cNvCxnSpPr/>
          <p:nvPr/>
        </p:nvCxnSpPr>
        <p:spPr>
          <a:xfrm>
            <a:off x="6096000" y="1756533"/>
            <a:ext cx="0" cy="442043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495002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82936-65EB-3D2A-EAB6-9D280C62F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C61D9-DADB-92BD-4F86-675E0D974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600" noProof="0" dirty="0"/>
              <a:t>View versus tabel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0D79A6-BD03-275C-1F9E-0A3C7DA0D5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56163" cy="4351338"/>
          </a:xfrm>
        </p:spPr>
        <p:txBody>
          <a:bodyPr>
            <a:norm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nl-NL" sz="2000" b="1" noProof="0" dirty="0"/>
              <a:t>View</a:t>
            </a:r>
            <a:endParaRPr lang="nl-NL" sz="2000" noProof="0" dirty="0"/>
          </a:p>
          <a:p>
            <a:pPr marL="0" indent="0">
              <a:buFont typeface="Arial" panose="020B0604020202020204" pitchFamily="34" charset="0"/>
              <a:buNone/>
            </a:pPr>
            <a:endParaRPr lang="nl-NL" sz="2000" noProof="0" dirty="0"/>
          </a:p>
          <a:p>
            <a:r>
              <a:rPr lang="nl-NL" sz="2000" noProof="0" dirty="0"/>
              <a:t>Bevat zelf </a:t>
            </a:r>
            <a:r>
              <a:rPr lang="nl-NL" sz="2000" u="sng" noProof="0" dirty="0"/>
              <a:t>geen</a:t>
            </a:r>
            <a:r>
              <a:rPr lang="nl-NL" sz="2000" noProof="0" dirty="0"/>
              <a:t> data.</a:t>
            </a:r>
          </a:p>
          <a:p>
            <a:endParaRPr lang="nl-NL" sz="2000" noProof="0" dirty="0"/>
          </a:p>
          <a:p>
            <a:r>
              <a:rPr lang="nl-NL" sz="2000" noProof="0" dirty="0"/>
              <a:t>Alleen </a:t>
            </a:r>
            <a:r>
              <a:rPr lang="nl-NL" sz="2000" u="sng" noProof="0" dirty="0"/>
              <a:t>lezen</a:t>
            </a:r>
            <a:r>
              <a:rPr lang="nl-NL" sz="2000" noProof="0" dirty="0"/>
              <a:t> van data.</a:t>
            </a:r>
          </a:p>
          <a:p>
            <a:endParaRPr lang="nl-NL" sz="2000" noProof="0" dirty="0"/>
          </a:p>
          <a:p>
            <a:r>
              <a:rPr lang="nl-NL" sz="2000" noProof="0" dirty="0"/>
              <a:t>Geen eigen indexering.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C6C6B10-821C-12DF-5F50-4567B8C7303E}"/>
              </a:ext>
            </a:extLst>
          </p:cNvPr>
          <p:cNvSpPr txBox="1">
            <a:spLocks/>
          </p:cNvSpPr>
          <p:nvPr/>
        </p:nvSpPr>
        <p:spPr>
          <a:xfrm>
            <a:off x="6295292" y="1825625"/>
            <a:ext cx="505616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2000" b="1" noProof="0" dirty="0"/>
              <a:t>Tabel</a:t>
            </a:r>
            <a:endParaRPr lang="nl-NL" sz="2000" noProof="0" dirty="0"/>
          </a:p>
          <a:p>
            <a:pPr marL="0" indent="0">
              <a:buNone/>
            </a:pPr>
            <a:endParaRPr lang="nl-NL" sz="2000" b="1" noProof="0" dirty="0"/>
          </a:p>
          <a:p>
            <a:r>
              <a:rPr lang="nl-NL" sz="2000" noProof="0" dirty="0"/>
              <a:t>Bevat daadwerkelijk </a:t>
            </a:r>
            <a:r>
              <a:rPr lang="nl-NL" sz="2000" u="sng" noProof="0" dirty="0"/>
              <a:t>data</a:t>
            </a:r>
            <a:r>
              <a:rPr lang="nl-NL" sz="2000" noProof="0" dirty="0"/>
              <a:t>.</a:t>
            </a:r>
          </a:p>
          <a:p>
            <a:endParaRPr lang="nl-NL" sz="2000" noProof="0" dirty="0"/>
          </a:p>
          <a:p>
            <a:r>
              <a:rPr lang="nl-NL" sz="2000" noProof="0" dirty="0"/>
              <a:t>Ondersteunt </a:t>
            </a:r>
            <a:r>
              <a:rPr lang="nl-NL" sz="2000" u="sng" noProof="0" dirty="0"/>
              <a:t>wijzigen</a:t>
            </a:r>
            <a:r>
              <a:rPr lang="nl-NL" sz="2000" noProof="0" dirty="0"/>
              <a:t> van data.</a:t>
            </a:r>
          </a:p>
          <a:p>
            <a:endParaRPr lang="nl-NL" sz="2000" noProof="0" dirty="0"/>
          </a:p>
          <a:p>
            <a:r>
              <a:rPr lang="nl-NL" sz="2000" noProof="0" dirty="0"/>
              <a:t>Ondersteunt indexering.</a:t>
            </a:r>
          </a:p>
          <a:p>
            <a:pPr marL="0" indent="0">
              <a:buNone/>
            </a:pPr>
            <a:endParaRPr lang="nl-NL" sz="2000" noProof="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AC741A9-E44A-3F96-63DD-0A56A0910BB4}"/>
              </a:ext>
            </a:extLst>
          </p:cNvPr>
          <p:cNvCxnSpPr/>
          <p:nvPr/>
        </p:nvCxnSpPr>
        <p:spPr>
          <a:xfrm>
            <a:off x="6096000" y="1756533"/>
            <a:ext cx="0" cy="442043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526861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564467-1EE1-4316-7245-EFD687D29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279B3-C753-1AD7-9185-2D260280E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600" noProof="0" dirty="0"/>
              <a:t>Oefeningen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FB231B-AE1B-9FB5-5024-7906C86A4E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nl-NL" sz="2000" noProof="0" dirty="0"/>
              <a:t>Open </a:t>
            </a: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0_data/</a:t>
            </a:r>
            <a:r>
              <a:rPr lang="nl-NL" sz="20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sales_data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db</a:t>
            </a:r>
            <a:r>
              <a:rPr lang="nl-NL" sz="2000" dirty="0"/>
              <a:t> en maak de volgende views:</a:t>
            </a:r>
            <a:endParaRPr lang="nl-NL" sz="2000" noProof="0" dirty="0"/>
          </a:p>
          <a:p>
            <a:pPr>
              <a:buFontTx/>
              <a:buChar char="-"/>
            </a:pPr>
            <a:endParaRPr lang="nl-NL" sz="2000" noProof="0" dirty="0"/>
          </a:p>
          <a:p>
            <a:pPr>
              <a:buFontTx/>
              <a:buChar char="-"/>
            </a:pPr>
            <a:r>
              <a:rPr lang="nl-NL" sz="2000" dirty="0"/>
              <a:t>De totale omzet per klant, aflopend gesorteerd op omzet.</a:t>
            </a:r>
          </a:p>
          <a:p>
            <a:pPr>
              <a:buFontTx/>
              <a:buChar char="-"/>
            </a:pPr>
            <a:endParaRPr lang="nl-NL" sz="2000" dirty="0"/>
          </a:p>
          <a:p>
            <a:pPr>
              <a:buFontTx/>
              <a:buChar char="-"/>
            </a:pPr>
            <a:r>
              <a:rPr lang="nl-NL" sz="2000" dirty="0"/>
              <a:t>Het aantal verkochte producten en de omzet per transactie</a:t>
            </a:r>
            <a:r>
              <a:rPr lang="nl-NL" sz="2000" noProof="0" dirty="0"/>
              <a:t>.</a:t>
            </a:r>
          </a:p>
          <a:p>
            <a:pPr>
              <a:buFontTx/>
              <a:buChar char="-"/>
            </a:pPr>
            <a:endParaRPr lang="nl-NL" sz="2000" noProof="0" dirty="0"/>
          </a:p>
          <a:p>
            <a:pPr>
              <a:buFontTx/>
              <a:buChar char="-"/>
            </a:pPr>
            <a:r>
              <a:rPr lang="nl-NL" sz="2000" noProof="0" dirty="0"/>
              <a:t>Het aantal transacties en de omzet per klant en per maand.</a:t>
            </a:r>
            <a:endParaRPr lang="nl-NL" sz="2000" dirty="0"/>
          </a:p>
          <a:p>
            <a:pPr marL="0" indent="0">
              <a:buNone/>
            </a:pPr>
            <a:endParaRPr lang="nl-NL" sz="2000" noProof="0" dirty="0"/>
          </a:p>
          <a:p>
            <a:pPr marL="0" indent="0">
              <a:buNone/>
            </a:pPr>
            <a:endParaRPr lang="nl-NL" sz="2000" dirty="0"/>
          </a:p>
          <a:p>
            <a:pPr marL="0" indent="0">
              <a:buNone/>
            </a:pPr>
            <a:r>
              <a:rPr lang="nl-NL" sz="2000" noProof="0" dirty="0"/>
              <a:t>Tip: Schrijf eerst de </a:t>
            </a:r>
            <a:r>
              <a:rPr lang="nl-NL" sz="2000" noProof="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nl-NL" sz="2000" noProof="0" dirty="0"/>
              <a:t> query en maak er daarna een view van.</a:t>
            </a:r>
          </a:p>
        </p:txBody>
      </p:sp>
    </p:spTree>
    <p:extLst>
      <p:ext uri="{BB962C8B-B14F-4D97-AF65-F5344CB8AC3E}">
        <p14:creationId xmlns:p14="http://schemas.microsoft.com/office/powerpoint/2010/main" val="347236089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170319-3824-F997-6292-EF74F0208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92571A1-C7A1-FC26-3B89-9AE3F9A6E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4400" noProof="0" dirty="0"/>
              <a:t>Indices en optimalisatie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493E2C-AEC1-5878-DD0C-9AEAB99691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213144651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831438-AD39-8DDC-81CD-9704B33C0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FCAA9-9CD6-9AFA-B0FB-61BC33B4E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600" noProof="0" dirty="0"/>
              <a:t>Versnellen met indices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066EDAB-8CCA-8796-E47D-3E6F15F780C3}"/>
              </a:ext>
            </a:extLst>
          </p:cNvPr>
          <p:cNvSpPr txBox="1">
            <a:spLocks/>
          </p:cNvSpPr>
          <p:nvPr/>
        </p:nvSpPr>
        <p:spPr>
          <a:xfrm>
            <a:off x="6096000" y="1825625"/>
            <a:ext cx="5257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2000" noProof="0" dirty="0"/>
              <a:t>Een index kan een query flink versnellen, omdat niet de hele tabel doorzocht wordt.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nl-NL" sz="2000" noProof="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nl-NL" sz="2000" noProof="0" dirty="0"/>
              <a:t>Een index maak je aan op een of meer kolommen (vb. </a:t>
            </a: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Achternaam</a:t>
            </a:r>
            <a:r>
              <a:rPr lang="nl-NL" sz="2000" noProof="0" dirty="0"/>
              <a:t>).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nl-NL" sz="2000" noProof="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nl-NL" sz="2000" noProof="0" dirty="0"/>
              <a:t>De index koppelt unieke waardes aan rijen.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nl-NL" sz="2000" noProof="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nl-NL" sz="2000" noProof="0" dirty="0"/>
              <a:t>Query bepaalt of index gebruikt wordt of niet!</a:t>
            </a: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AD61B5E5-5DD4-23BB-EDC9-EDA98A90B6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2355552"/>
              </p:ext>
            </p:extLst>
          </p:nvPr>
        </p:nvGraphicFramePr>
        <p:xfrm>
          <a:off x="838201" y="4626431"/>
          <a:ext cx="2901594" cy="9635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0744">
                  <a:extLst>
                    <a:ext uri="{9D8B030D-6E8A-4147-A177-3AD203B41FA5}">
                      <a16:colId xmlns:a16="http://schemas.microsoft.com/office/drawing/2014/main" val="3558838648"/>
                    </a:ext>
                  </a:extLst>
                </a:gridCol>
                <a:gridCol w="1530850">
                  <a:extLst>
                    <a:ext uri="{9D8B030D-6E8A-4147-A177-3AD203B41FA5}">
                      <a16:colId xmlns:a16="http://schemas.microsoft.com/office/drawing/2014/main" val="481678826"/>
                    </a:ext>
                  </a:extLst>
                </a:gridCol>
              </a:tblGrid>
              <a:tr h="321188">
                <a:tc>
                  <a:txBody>
                    <a:bodyPr/>
                    <a:lstStyle/>
                    <a:p>
                      <a:r>
                        <a:rPr lang="nl-NL" sz="1400" noProof="0" dirty="0"/>
                        <a:t>Achternaam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400" noProof="0" dirty="0"/>
                        <a:t>Rijen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1975932"/>
                  </a:ext>
                </a:extLst>
              </a:tr>
              <a:tr h="321188">
                <a:tc>
                  <a:txBody>
                    <a:bodyPr/>
                    <a:lstStyle/>
                    <a:p>
                      <a:r>
                        <a:rPr lang="nl-NL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Jansen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1, 2, 3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01941"/>
                  </a:ext>
                </a:extLst>
              </a:tr>
              <a:tr h="321188">
                <a:tc>
                  <a:txBody>
                    <a:bodyPr/>
                    <a:lstStyle/>
                    <a:p>
                      <a:r>
                        <a:rPr lang="nl-NL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Klaver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4, 5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122803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4D036736-35A1-FC94-B9CF-FCA492BAC59F}"/>
              </a:ext>
            </a:extLst>
          </p:cNvPr>
          <p:cNvSpPr txBox="1"/>
          <p:nvPr/>
        </p:nvSpPr>
        <p:spPr>
          <a:xfrm>
            <a:off x="838200" y="4298195"/>
            <a:ext cx="16570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600" noProof="0" dirty="0" err="1"/>
              <a:t>IndexAchternaam</a:t>
            </a:r>
            <a:endParaRPr lang="nl-NL" sz="1600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D04B05-4FB4-A30A-5BF3-B1E1317207F1}"/>
              </a:ext>
            </a:extLst>
          </p:cNvPr>
          <p:cNvSpPr txBox="1"/>
          <p:nvPr/>
        </p:nvSpPr>
        <p:spPr>
          <a:xfrm>
            <a:off x="838200" y="1825625"/>
            <a:ext cx="8185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600" noProof="0" dirty="0"/>
              <a:t>Klanten</a:t>
            </a:r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D6062823-815D-5F49-773B-CA269174D6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036111"/>
              </p:ext>
            </p:extLst>
          </p:nvPr>
        </p:nvGraphicFramePr>
        <p:xfrm>
          <a:off x="838201" y="2147510"/>
          <a:ext cx="4008119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1710">
                  <a:extLst>
                    <a:ext uri="{9D8B030D-6E8A-4147-A177-3AD203B41FA5}">
                      <a16:colId xmlns:a16="http://schemas.microsoft.com/office/drawing/2014/main" val="2368219603"/>
                    </a:ext>
                  </a:extLst>
                </a:gridCol>
                <a:gridCol w="1105326">
                  <a:extLst>
                    <a:ext uri="{9D8B030D-6E8A-4147-A177-3AD203B41FA5}">
                      <a16:colId xmlns:a16="http://schemas.microsoft.com/office/drawing/2014/main" val="2819689573"/>
                    </a:ext>
                  </a:extLst>
                </a:gridCol>
                <a:gridCol w="1413803">
                  <a:extLst>
                    <a:ext uri="{9D8B030D-6E8A-4147-A177-3AD203B41FA5}">
                      <a16:colId xmlns:a16="http://schemas.microsoft.com/office/drawing/2014/main" val="31372077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1661682469"/>
                    </a:ext>
                  </a:extLst>
                </a:gridCol>
              </a:tblGrid>
              <a:tr h="289918">
                <a:tc>
                  <a:txBody>
                    <a:bodyPr/>
                    <a:lstStyle/>
                    <a:p>
                      <a:r>
                        <a:rPr lang="nl-NL" sz="1400" noProof="0" dirty="0" err="1"/>
                        <a:t>Id</a:t>
                      </a:r>
                      <a:endParaRPr lang="nl-NL" sz="14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400" noProof="0" dirty="0"/>
                        <a:t>Naam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400" b="1" noProof="0" dirty="0"/>
                        <a:t>Achternaam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400" noProof="0" dirty="0"/>
                        <a:t>Leeftijd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9908784"/>
                  </a:ext>
                </a:extLst>
              </a:tr>
              <a:tr h="289918">
                <a:tc>
                  <a:txBody>
                    <a:bodyPr/>
                    <a:lstStyle/>
                    <a:p>
                      <a:r>
                        <a:rPr lang="nl-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Anna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Jansen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864401"/>
                  </a:ext>
                </a:extLst>
              </a:tr>
              <a:tr h="289918">
                <a:tc>
                  <a:txBody>
                    <a:bodyPr/>
                    <a:lstStyle/>
                    <a:p>
                      <a:r>
                        <a:rPr lang="nl-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Freek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Jansen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7313966"/>
                  </a:ext>
                </a:extLst>
              </a:tr>
              <a:tr h="289918">
                <a:tc>
                  <a:txBody>
                    <a:bodyPr/>
                    <a:lstStyle/>
                    <a:p>
                      <a:r>
                        <a:rPr lang="nl-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Paul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Jansen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5413940"/>
                  </a:ext>
                </a:extLst>
              </a:tr>
              <a:tr h="289918">
                <a:tc>
                  <a:txBody>
                    <a:bodyPr/>
                    <a:lstStyle/>
                    <a:p>
                      <a:r>
                        <a:rPr lang="nl-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Klaver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2363350"/>
                  </a:ext>
                </a:extLst>
              </a:tr>
              <a:tr h="289918">
                <a:tc>
                  <a:txBody>
                    <a:bodyPr/>
                    <a:lstStyle/>
                    <a:p>
                      <a:r>
                        <a:rPr lang="nl-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Marion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Klaver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54498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437092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E1DCB-9643-E99B-8802-8416C0F25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8B2AB-DB1C-897A-13BB-A9E7BD0BF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600" noProof="0" dirty="0"/>
              <a:t>Query zonder index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5D6B1F5-EF90-615B-B829-DFC4C6F31C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3647543"/>
              </p:ext>
            </p:extLst>
          </p:nvPr>
        </p:nvGraphicFramePr>
        <p:xfrm>
          <a:off x="3725336" y="1732892"/>
          <a:ext cx="4741328" cy="6471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92666">
                  <a:extLst>
                    <a:ext uri="{9D8B030D-6E8A-4147-A177-3AD203B41FA5}">
                      <a16:colId xmlns:a16="http://schemas.microsoft.com/office/drawing/2014/main" val="4102303439"/>
                    </a:ext>
                  </a:extLst>
                </a:gridCol>
                <a:gridCol w="592666">
                  <a:extLst>
                    <a:ext uri="{9D8B030D-6E8A-4147-A177-3AD203B41FA5}">
                      <a16:colId xmlns:a16="http://schemas.microsoft.com/office/drawing/2014/main" val="1218678177"/>
                    </a:ext>
                  </a:extLst>
                </a:gridCol>
                <a:gridCol w="592666">
                  <a:extLst>
                    <a:ext uri="{9D8B030D-6E8A-4147-A177-3AD203B41FA5}">
                      <a16:colId xmlns:a16="http://schemas.microsoft.com/office/drawing/2014/main" val="2042444892"/>
                    </a:ext>
                  </a:extLst>
                </a:gridCol>
                <a:gridCol w="592666">
                  <a:extLst>
                    <a:ext uri="{9D8B030D-6E8A-4147-A177-3AD203B41FA5}">
                      <a16:colId xmlns:a16="http://schemas.microsoft.com/office/drawing/2014/main" val="2644369270"/>
                    </a:ext>
                  </a:extLst>
                </a:gridCol>
                <a:gridCol w="592666">
                  <a:extLst>
                    <a:ext uri="{9D8B030D-6E8A-4147-A177-3AD203B41FA5}">
                      <a16:colId xmlns:a16="http://schemas.microsoft.com/office/drawing/2014/main" val="782840074"/>
                    </a:ext>
                  </a:extLst>
                </a:gridCol>
                <a:gridCol w="592666">
                  <a:extLst>
                    <a:ext uri="{9D8B030D-6E8A-4147-A177-3AD203B41FA5}">
                      <a16:colId xmlns:a16="http://schemas.microsoft.com/office/drawing/2014/main" val="791730115"/>
                    </a:ext>
                  </a:extLst>
                </a:gridCol>
                <a:gridCol w="592666">
                  <a:extLst>
                    <a:ext uri="{9D8B030D-6E8A-4147-A177-3AD203B41FA5}">
                      <a16:colId xmlns:a16="http://schemas.microsoft.com/office/drawing/2014/main" val="2623408546"/>
                    </a:ext>
                  </a:extLst>
                </a:gridCol>
                <a:gridCol w="592666">
                  <a:extLst>
                    <a:ext uri="{9D8B030D-6E8A-4147-A177-3AD203B41FA5}">
                      <a16:colId xmlns:a16="http://schemas.microsoft.com/office/drawing/2014/main" val="2605515535"/>
                    </a:ext>
                  </a:extLst>
                </a:gridCol>
              </a:tblGrid>
              <a:tr h="311900">
                <a:tc>
                  <a:txBody>
                    <a:bodyPr/>
                    <a:lstStyle/>
                    <a:p>
                      <a:pPr algn="ctr"/>
                      <a:r>
                        <a:rPr lang="nl-NL" sz="1600" b="1" noProof="0" dirty="0"/>
                        <a:t>10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600" b="1" noProof="0" dirty="0"/>
                        <a:t>30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600" b="1" noProof="0" dirty="0"/>
                        <a:t>70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600" b="1" noProof="0" dirty="0"/>
                        <a:t>40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600" b="1" noProof="0" dirty="0"/>
                        <a:t>50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600" b="1" noProof="0" dirty="0"/>
                        <a:t>20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600" b="1" noProof="0" dirty="0"/>
                        <a:t>60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600" b="1" noProof="0" dirty="0"/>
                        <a:t>30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8928135"/>
                  </a:ext>
                </a:extLst>
              </a:tr>
              <a:tr h="311900">
                <a:tc>
                  <a:txBody>
                    <a:bodyPr/>
                    <a:lstStyle/>
                    <a:p>
                      <a:pPr algn="ctr"/>
                      <a:r>
                        <a:rPr lang="nl-NL" sz="1200" b="0" noProof="0" dirty="0"/>
                        <a:t>0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200" b="0" noProof="0" dirty="0"/>
                        <a:t>1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200" b="0" noProof="0" dirty="0"/>
                        <a:t>2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200" b="0" noProof="0" dirty="0"/>
                        <a:t>3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200" b="0" noProof="0" dirty="0"/>
                        <a:t>4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200" b="0" noProof="0" dirty="0"/>
                        <a:t>5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200" b="0" noProof="0" dirty="0"/>
                        <a:t>6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200" b="0" noProof="0" dirty="0"/>
                        <a:t>7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5098515"/>
                  </a:ext>
                </a:extLst>
              </a:tr>
            </a:tbl>
          </a:graphicData>
        </a:graphic>
      </p:graphicFrame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19337FF7-DF67-4C6C-C284-12158638C993}"/>
              </a:ext>
            </a:extLst>
          </p:cNvPr>
          <p:cNvSpPr txBox="1">
            <a:spLocks/>
          </p:cNvSpPr>
          <p:nvPr/>
        </p:nvSpPr>
        <p:spPr>
          <a:xfrm>
            <a:off x="2458915" y="3137095"/>
            <a:ext cx="7274169" cy="30117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nl-NL" sz="2000" noProof="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  <a:r>
              <a:rPr lang="nl-NL" sz="2000" noProof="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WHERE</a:t>
            </a: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Leeftijd = 30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nl-NL" sz="2000" noProof="0" dirty="0"/>
          </a:p>
          <a:p>
            <a:pPr marL="0" indent="0">
              <a:buFont typeface="Arial" panose="020B0604020202020204" pitchFamily="34" charset="0"/>
              <a:buNone/>
            </a:pPr>
            <a:endParaRPr lang="nl-NL" sz="2000" noProof="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nl-NL" sz="2000" noProof="0" dirty="0"/>
              <a:t>Zonder index:</a:t>
            </a:r>
          </a:p>
          <a:p>
            <a:pPr>
              <a:buFontTx/>
              <a:buChar char="-"/>
            </a:pPr>
            <a:r>
              <a:rPr lang="nl-NL" sz="2000" noProof="0" dirty="0"/>
              <a:t>Scan alle rijen en verzamel rijen met </a:t>
            </a: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Leeftijd = 30</a:t>
            </a:r>
            <a:r>
              <a:rPr lang="nl-NL" sz="2000" noProof="0" dirty="0"/>
              <a:t>.</a:t>
            </a:r>
          </a:p>
          <a:p>
            <a:pPr>
              <a:buFontTx/>
              <a:buChar char="-"/>
            </a:pPr>
            <a:r>
              <a:rPr lang="nl-NL" sz="2000" noProof="0" dirty="0"/>
              <a:t>Retourneer rijen 1 en 7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FC5D596-41ED-49CB-F45D-B3B8496F49DB}"/>
              </a:ext>
            </a:extLst>
          </p:cNvPr>
          <p:cNvCxnSpPr/>
          <p:nvPr/>
        </p:nvCxnSpPr>
        <p:spPr>
          <a:xfrm>
            <a:off x="3725336" y="2536394"/>
            <a:ext cx="474133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E6798F1C-1854-F297-BE08-3A077DBD65B3}"/>
              </a:ext>
            </a:extLst>
          </p:cNvPr>
          <p:cNvSpPr/>
          <p:nvPr/>
        </p:nvSpPr>
        <p:spPr>
          <a:xfrm>
            <a:off x="4322941" y="1732892"/>
            <a:ext cx="593188" cy="64718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noProof="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6DE555E-89D7-91DC-D7FF-3DDAFCEA80A2}"/>
              </a:ext>
            </a:extLst>
          </p:cNvPr>
          <p:cNvSpPr/>
          <p:nvPr/>
        </p:nvSpPr>
        <p:spPr>
          <a:xfrm>
            <a:off x="7873476" y="1732892"/>
            <a:ext cx="593188" cy="64718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noProof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5963E4-11DA-D263-ADE9-11B9DCCEF3B7}"/>
              </a:ext>
            </a:extLst>
          </p:cNvPr>
          <p:cNvSpPr txBox="1"/>
          <p:nvPr/>
        </p:nvSpPr>
        <p:spPr>
          <a:xfrm>
            <a:off x="2538599" y="1690688"/>
            <a:ext cx="8879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/>
              <a:t>Leeftijd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40BCE6-27F3-0C5C-8B3C-07D9D53E9AF5}"/>
              </a:ext>
            </a:extLst>
          </p:cNvPr>
          <p:cNvSpPr txBox="1"/>
          <p:nvPr/>
        </p:nvSpPr>
        <p:spPr>
          <a:xfrm>
            <a:off x="2543855" y="2010740"/>
            <a:ext cx="882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err="1"/>
              <a:t>rij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623357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DA7E08-43F5-6151-EA8C-1CADD88CD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7E691-D0D9-B8BD-FCF6-435710186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600" dirty="0"/>
              <a:t>Query met index</a:t>
            </a:r>
            <a:endParaRPr lang="nl-NL" sz="3600" noProof="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208C1A2-9C4D-3B1D-E4B5-6F8C01AEB0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2833447"/>
              </p:ext>
            </p:extLst>
          </p:nvPr>
        </p:nvGraphicFramePr>
        <p:xfrm>
          <a:off x="3560908" y="3070209"/>
          <a:ext cx="549024" cy="6471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49024">
                  <a:extLst>
                    <a:ext uri="{9D8B030D-6E8A-4147-A177-3AD203B41FA5}">
                      <a16:colId xmlns:a16="http://schemas.microsoft.com/office/drawing/2014/main" val="1218678177"/>
                    </a:ext>
                  </a:extLst>
                </a:gridCol>
              </a:tblGrid>
              <a:tr h="311900">
                <a:tc>
                  <a:txBody>
                    <a:bodyPr/>
                    <a:lstStyle/>
                    <a:p>
                      <a:pPr algn="ctr"/>
                      <a:r>
                        <a:rPr lang="nl-NL" sz="1600" b="1" noProof="0" dirty="0"/>
                        <a:t>20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2420150"/>
                  </a:ext>
                </a:extLst>
              </a:tr>
              <a:tr h="311900">
                <a:tc>
                  <a:txBody>
                    <a:bodyPr/>
                    <a:lstStyle/>
                    <a:p>
                      <a:pPr algn="ctr"/>
                      <a:r>
                        <a:rPr lang="nl-NL" sz="1200" noProof="0" dirty="0"/>
                        <a:t>5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8928135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9F5C84A-5FBE-1C2B-A837-673C764B2F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0461783"/>
              </p:ext>
            </p:extLst>
          </p:nvPr>
        </p:nvGraphicFramePr>
        <p:xfrm>
          <a:off x="5885640" y="3070209"/>
          <a:ext cx="549024" cy="6471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49024">
                  <a:extLst>
                    <a:ext uri="{9D8B030D-6E8A-4147-A177-3AD203B41FA5}">
                      <a16:colId xmlns:a16="http://schemas.microsoft.com/office/drawing/2014/main" val="1218678177"/>
                    </a:ext>
                  </a:extLst>
                </a:gridCol>
              </a:tblGrid>
              <a:tr h="311900">
                <a:tc>
                  <a:txBody>
                    <a:bodyPr/>
                    <a:lstStyle/>
                    <a:p>
                      <a:pPr algn="ctr"/>
                      <a:r>
                        <a:rPr lang="nl-NL" sz="1600" b="1" noProof="0" dirty="0"/>
                        <a:t>40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2420150"/>
                  </a:ext>
                </a:extLst>
              </a:tr>
              <a:tr h="311900">
                <a:tc>
                  <a:txBody>
                    <a:bodyPr/>
                    <a:lstStyle/>
                    <a:p>
                      <a:pPr algn="ctr"/>
                      <a:r>
                        <a:rPr lang="nl-NL" sz="1200" noProof="0" dirty="0"/>
                        <a:t>3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8928135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1D992B4-CFF9-EEFC-7EAB-27A300E6A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3856983"/>
              </p:ext>
            </p:extLst>
          </p:nvPr>
        </p:nvGraphicFramePr>
        <p:xfrm>
          <a:off x="7048006" y="3070209"/>
          <a:ext cx="549024" cy="6471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49024">
                  <a:extLst>
                    <a:ext uri="{9D8B030D-6E8A-4147-A177-3AD203B41FA5}">
                      <a16:colId xmlns:a16="http://schemas.microsoft.com/office/drawing/2014/main" val="410230343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nl-NL" sz="1600" b="1" noProof="0" dirty="0"/>
                        <a:t>50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2420150"/>
                  </a:ext>
                </a:extLst>
              </a:tr>
              <a:tr h="311900">
                <a:tc>
                  <a:txBody>
                    <a:bodyPr/>
                    <a:lstStyle/>
                    <a:p>
                      <a:pPr algn="ctr"/>
                      <a:r>
                        <a:rPr lang="nl-NL" sz="1200" noProof="0" dirty="0"/>
                        <a:t>4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8928135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DC4B5D6-26C6-D1ED-5B8B-8F3D264D59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9881948"/>
              </p:ext>
            </p:extLst>
          </p:nvPr>
        </p:nvGraphicFramePr>
        <p:xfrm>
          <a:off x="9372735" y="3070209"/>
          <a:ext cx="549024" cy="6471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49024">
                  <a:extLst>
                    <a:ext uri="{9D8B030D-6E8A-4147-A177-3AD203B41FA5}">
                      <a16:colId xmlns:a16="http://schemas.microsoft.com/office/drawing/2014/main" val="1218678177"/>
                    </a:ext>
                  </a:extLst>
                </a:gridCol>
              </a:tblGrid>
              <a:tr h="311900">
                <a:tc>
                  <a:txBody>
                    <a:bodyPr/>
                    <a:lstStyle/>
                    <a:p>
                      <a:pPr algn="ctr"/>
                      <a:r>
                        <a:rPr lang="nl-NL" sz="1600" b="1" noProof="0" dirty="0"/>
                        <a:t>70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2420150"/>
                  </a:ext>
                </a:extLst>
              </a:tr>
              <a:tr h="311900">
                <a:tc>
                  <a:txBody>
                    <a:bodyPr/>
                    <a:lstStyle/>
                    <a:p>
                      <a:pPr algn="ctr"/>
                      <a:r>
                        <a:rPr lang="nl-NL" sz="1200" noProof="0" dirty="0"/>
                        <a:t>2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8928135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AB2FEB7-0CBF-9C70-F643-62A0AF2140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0641390"/>
              </p:ext>
            </p:extLst>
          </p:nvPr>
        </p:nvGraphicFramePr>
        <p:xfrm>
          <a:off x="2398542" y="3070209"/>
          <a:ext cx="549024" cy="6471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49024">
                  <a:extLst>
                    <a:ext uri="{9D8B030D-6E8A-4147-A177-3AD203B41FA5}">
                      <a16:colId xmlns:a16="http://schemas.microsoft.com/office/drawing/2014/main" val="4102303439"/>
                    </a:ext>
                  </a:extLst>
                </a:gridCol>
              </a:tblGrid>
              <a:tr h="311900">
                <a:tc>
                  <a:txBody>
                    <a:bodyPr/>
                    <a:lstStyle/>
                    <a:p>
                      <a:pPr algn="ctr"/>
                      <a:r>
                        <a:rPr lang="nl-NL" sz="1600" b="1" noProof="0" dirty="0"/>
                        <a:t>10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2420150"/>
                  </a:ext>
                </a:extLst>
              </a:tr>
              <a:tr h="311900">
                <a:tc>
                  <a:txBody>
                    <a:bodyPr/>
                    <a:lstStyle/>
                    <a:p>
                      <a:pPr algn="ctr"/>
                      <a:r>
                        <a:rPr lang="nl-NL" sz="1200" noProof="0" dirty="0"/>
                        <a:t>0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8928135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93485D0-2A5D-F184-640C-96F1B63A93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7405442"/>
              </p:ext>
            </p:extLst>
          </p:nvPr>
        </p:nvGraphicFramePr>
        <p:xfrm>
          <a:off x="8210372" y="3070209"/>
          <a:ext cx="549024" cy="6471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49024">
                  <a:extLst>
                    <a:ext uri="{9D8B030D-6E8A-4147-A177-3AD203B41FA5}">
                      <a16:colId xmlns:a16="http://schemas.microsoft.com/office/drawing/2014/main" val="1218678177"/>
                    </a:ext>
                  </a:extLst>
                </a:gridCol>
              </a:tblGrid>
              <a:tr h="311900">
                <a:tc>
                  <a:txBody>
                    <a:bodyPr/>
                    <a:lstStyle/>
                    <a:p>
                      <a:pPr algn="ctr"/>
                      <a:r>
                        <a:rPr lang="nl-NL" sz="1600" b="1" noProof="0" dirty="0"/>
                        <a:t>60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2420150"/>
                  </a:ext>
                </a:extLst>
              </a:tr>
              <a:tr h="311900">
                <a:tc>
                  <a:txBody>
                    <a:bodyPr/>
                    <a:lstStyle/>
                    <a:p>
                      <a:pPr algn="ctr"/>
                      <a:r>
                        <a:rPr lang="nl-NL" sz="1200" noProof="0" dirty="0"/>
                        <a:t>6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8928135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F56E14B-F963-D024-F82E-D8CC346CCE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9064133"/>
              </p:ext>
            </p:extLst>
          </p:nvPr>
        </p:nvGraphicFramePr>
        <p:xfrm>
          <a:off x="4723274" y="3070209"/>
          <a:ext cx="549024" cy="6471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49024">
                  <a:extLst>
                    <a:ext uri="{9D8B030D-6E8A-4147-A177-3AD203B41FA5}">
                      <a16:colId xmlns:a16="http://schemas.microsoft.com/office/drawing/2014/main" val="4102303439"/>
                    </a:ext>
                  </a:extLst>
                </a:gridCol>
              </a:tblGrid>
              <a:tr h="311900">
                <a:tc>
                  <a:txBody>
                    <a:bodyPr/>
                    <a:lstStyle/>
                    <a:p>
                      <a:pPr algn="ctr"/>
                      <a:r>
                        <a:rPr lang="nl-NL" sz="1600" b="1" noProof="0" dirty="0"/>
                        <a:t>30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2420150"/>
                  </a:ext>
                </a:extLst>
              </a:tr>
              <a:tr h="311900">
                <a:tc>
                  <a:txBody>
                    <a:bodyPr/>
                    <a:lstStyle/>
                    <a:p>
                      <a:pPr algn="ctr"/>
                      <a:r>
                        <a:rPr lang="nl-NL" sz="1200" noProof="0" dirty="0"/>
                        <a:t>1, 7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8928135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0D528DDA-C017-FCAE-42EA-CF8FA9DA3E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5691987"/>
              </p:ext>
            </p:extLst>
          </p:nvPr>
        </p:nvGraphicFramePr>
        <p:xfrm>
          <a:off x="3725336" y="1731448"/>
          <a:ext cx="4741328" cy="6471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92666">
                  <a:extLst>
                    <a:ext uri="{9D8B030D-6E8A-4147-A177-3AD203B41FA5}">
                      <a16:colId xmlns:a16="http://schemas.microsoft.com/office/drawing/2014/main" val="4102303439"/>
                    </a:ext>
                  </a:extLst>
                </a:gridCol>
                <a:gridCol w="592666">
                  <a:extLst>
                    <a:ext uri="{9D8B030D-6E8A-4147-A177-3AD203B41FA5}">
                      <a16:colId xmlns:a16="http://schemas.microsoft.com/office/drawing/2014/main" val="1218678177"/>
                    </a:ext>
                  </a:extLst>
                </a:gridCol>
                <a:gridCol w="592666">
                  <a:extLst>
                    <a:ext uri="{9D8B030D-6E8A-4147-A177-3AD203B41FA5}">
                      <a16:colId xmlns:a16="http://schemas.microsoft.com/office/drawing/2014/main" val="2042444892"/>
                    </a:ext>
                  </a:extLst>
                </a:gridCol>
                <a:gridCol w="592666">
                  <a:extLst>
                    <a:ext uri="{9D8B030D-6E8A-4147-A177-3AD203B41FA5}">
                      <a16:colId xmlns:a16="http://schemas.microsoft.com/office/drawing/2014/main" val="2644369270"/>
                    </a:ext>
                  </a:extLst>
                </a:gridCol>
                <a:gridCol w="592666">
                  <a:extLst>
                    <a:ext uri="{9D8B030D-6E8A-4147-A177-3AD203B41FA5}">
                      <a16:colId xmlns:a16="http://schemas.microsoft.com/office/drawing/2014/main" val="782840074"/>
                    </a:ext>
                  </a:extLst>
                </a:gridCol>
                <a:gridCol w="592666">
                  <a:extLst>
                    <a:ext uri="{9D8B030D-6E8A-4147-A177-3AD203B41FA5}">
                      <a16:colId xmlns:a16="http://schemas.microsoft.com/office/drawing/2014/main" val="791730115"/>
                    </a:ext>
                  </a:extLst>
                </a:gridCol>
                <a:gridCol w="592666">
                  <a:extLst>
                    <a:ext uri="{9D8B030D-6E8A-4147-A177-3AD203B41FA5}">
                      <a16:colId xmlns:a16="http://schemas.microsoft.com/office/drawing/2014/main" val="2623408546"/>
                    </a:ext>
                  </a:extLst>
                </a:gridCol>
                <a:gridCol w="592666">
                  <a:extLst>
                    <a:ext uri="{9D8B030D-6E8A-4147-A177-3AD203B41FA5}">
                      <a16:colId xmlns:a16="http://schemas.microsoft.com/office/drawing/2014/main" val="2605515535"/>
                    </a:ext>
                  </a:extLst>
                </a:gridCol>
              </a:tblGrid>
              <a:tr h="311900">
                <a:tc>
                  <a:txBody>
                    <a:bodyPr/>
                    <a:lstStyle/>
                    <a:p>
                      <a:pPr algn="ctr"/>
                      <a:r>
                        <a:rPr lang="nl-NL" sz="1600" b="1" noProof="0" dirty="0"/>
                        <a:t>10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600" b="1" noProof="0" dirty="0"/>
                        <a:t>30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600" b="1" noProof="0" dirty="0"/>
                        <a:t>70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600" b="1" noProof="0" dirty="0"/>
                        <a:t>40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600" b="1" noProof="0" dirty="0"/>
                        <a:t>50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600" b="1" noProof="0" dirty="0"/>
                        <a:t>20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600" b="1" noProof="0" dirty="0"/>
                        <a:t>60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600" b="1" noProof="0" dirty="0"/>
                        <a:t>30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8928135"/>
                  </a:ext>
                </a:extLst>
              </a:tr>
              <a:tr h="311900">
                <a:tc>
                  <a:txBody>
                    <a:bodyPr/>
                    <a:lstStyle/>
                    <a:p>
                      <a:pPr algn="ctr"/>
                      <a:r>
                        <a:rPr lang="nl-NL" sz="1200" b="0" noProof="0" dirty="0"/>
                        <a:t>0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200" b="0" noProof="0" dirty="0"/>
                        <a:t>1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200" b="0" noProof="0" dirty="0"/>
                        <a:t>2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200" b="0" noProof="0" dirty="0"/>
                        <a:t>3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200" b="0" noProof="0" dirty="0"/>
                        <a:t>4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200" b="0" noProof="0" dirty="0"/>
                        <a:t>5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200" b="0" noProof="0" dirty="0"/>
                        <a:t>6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200" b="0" noProof="0" dirty="0"/>
                        <a:t>7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5098515"/>
                  </a:ext>
                </a:extLst>
              </a:tr>
            </a:tbl>
          </a:graphicData>
        </a:graphic>
      </p:graphicFrame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4209BFD2-7C09-447C-26B3-A1BA3B162AEE}"/>
              </a:ext>
            </a:extLst>
          </p:cNvPr>
          <p:cNvSpPr txBox="1">
            <a:spLocks/>
          </p:cNvSpPr>
          <p:nvPr/>
        </p:nvSpPr>
        <p:spPr>
          <a:xfrm>
            <a:off x="2468192" y="4389074"/>
            <a:ext cx="7243210" cy="19085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nl-NL" sz="2000" noProof="0" dirty="0">
                <a:cs typeface="Courier New" panose="02070309020205020404" pitchFamily="49" charset="0"/>
              </a:rPr>
              <a:t>Met index:</a:t>
            </a:r>
          </a:p>
          <a:p>
            <a:pPr>
              <a:buFontTx/>
              <a:buChar char="-"/>
            </a:pPr>
            <a:r>
              <a:rPr lang="nl-NL" sz="2000" noProof="0" dirty="0">
                <a:cs typeface="Courier New" panose="02070309020205020404" pitchFamily="49" charset="0"/>
              </a:rPr>
              <a:t>Index bevat rijen gegroepeerd op </a:t>
            </a: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Leeftijd</a:t>
            </a:r>
            <a:r>
              <a:rPr lang="nl-NL" sz="2000" noProof="0" dirty="0">
                <a:cs typeface="Courier New" panose="02070309020205020404" pitchFamily="49" charset="0"/>
              </a:rPr>
              <a:t>.</a:t>
            </a:r>
          </a:p>
          <a:p>
            <a:pPr>
              <a:buFontTx/>
              <a:buChar char="-"/>
            </a:pPr>
            <a:r>
              <a:rPr lang="nl-NL" sz="2000" noProof="0" dirty="0">
                <a:cs typeface="Courier New" panose="02070309020205020404" pitchFamily="49" charset="0"/>
              </a:rPr>
              <a:t>Zoek de groep met </a:t>
            </a: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Leeftijd = 30</a:t>
            </a:r>
            <a:r>
              <a:rPr lang="nl-NL" sz="2000" noProof="0" dirty="0">
                <a:cs typeface="Courier New" panose="02070309020205020404" pitchFamily="49" charset="0"/>
              </a:rPr>
              <a:t>.</a:t>
            </a:r>
          </a:p>
          <a:p>
            <a:pPr>
              <a:buFontTx/>
              <a:buChar char="-"/>
            </a:pPr>
            <a:r>
              <a:rPr lang="nl-NL" sz="2000" noProof="0" dirty="0">
                <a:cs typeface="Courier New" panose="02070309020205020404" pitchFamily="49" charset="0"/>
              </a:rPr>
              <a:t>Retourneer de rijen uit deze groep.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EB21274-AFA5-494E-FC2D-5419AE98FFB1}"/>
              </a:ext>
            </a:extLst>
          </p:cNvPr>
          <p:cNvCxnSpPr>
            <a:cxnSpLocks/>
          </p:cNvCxnSpPr>
          <p:nvPr/>
        </p:nvCxnSpPr>
        <p:spPr>
          <a:xfrm>
            <a:off x="2398542" y="3844930"/>
            <a:ext cx="257153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76D5D813-8A71-28B2-D83B-5C794EB48F8E}"/>
              </a:ext>
            </a:extLst>
          </p:cNvPr>
          <p:cNvSpPr/>
          <p:nvPr/>
        </p:nvSpPr>
        <p:spPr>
          <a:xfrm>
            <a:off x="4723271" y="3073851"/>
            <a:ext cx="549024" cy="64718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noProof="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387390-231E-0BD3-9D57-FA183679B1C8}"/>
              </a:ext>
            </a:extLst>
          </p:cNvPr>
          <p:cNvSpPr txBox="1"/>
          <p:nvPr/>
        </p:nvSpPr>
        <p:spPr>
          <a:xfrm>
            <a:off x="2538598" y="1690688"/>
            <a:ext cx="887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/>
              <a:t>Leeftijd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C8108A-ADD9-E4F3-FF53-12049DD053B1}"/>
              </a:ext>
            </a:extLst>
          </p:cNvPr>
          <p:cNvSpPr txBox="1"/>
          <p:nvPr/>
        </p:nvSpPr>
        <p:spPr>
          <a:xfrm>
            <a:off x="2543855" y="2010740"/>
            <a:ext cx="882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err="1"/>
              <a:t>rij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44638F9-76AB-D1BB-C295-CA50E73E7B9C}"/>
              </a:ext>
            </a:extLst>
          </p:cNvPr>
          <p:cNvSpPr/>
          <p:nvPr/>
        </p:nvSpPr>
        <p:spPr>
          <a:xfrm>
            <a:off x="4322941" y="1732892"/>
            <a:ext cx="593188" cy="64718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noProof="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4C9D467-B1FD-6BC1-B5E1-1617912E941B}"/>
              </a:ext>
            </a:extLst>
          </p:cNvPr>
          <p:cNvSpPr/>
          <p:nvPr/>
        </p:nvSpPr>
        <p:spPr>
          <a:xfrm>
            <a:off x="7873476" y="1732892"/>
            <a:ext cx="593188" cy="64718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noProof="0" dirty="0"/>
          </a:p>
        </p:txBody>
      </p: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F1A6EA45-F632-4290-6F94-AFECF75209E0}"/>
              </a:ext>
            </a:extLst>
          </p:cNvPr>
          <p:cNvCxnSpPr>
            <a:stCxn id="16" idx="0"/>
            <a:endCxn id="14" idx="2"/>
          </p:cNvCxnSpPr>
          <p:nvPr/>
        </p:nvCxnSpPr>
        <p:spPr>
          <a:xfrm rot="16200000" flipV="1">
            <a:off x="4461770" y="2537838"/>
            <a:ext cx="693779" cy="378248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9F39301A-1FBC-87F1-E9A3-8A2AE9103DFE}"/>
              </a:ext>
            </a:extLst>
          </p:cNvPr>
          <p:cNvCxnSpPr>
            <a:stCxn id="16" idx="0"/>
            <a:endCxn id="17" idx="2"/>
          </p:cNvCxnSpPr>
          <p:nvPr/>
        </p:nvCxnSpPr>
        <p:spPr>
          <a:xfrm rot="5400000" flipH="1" flipV="1">
            <a:off x="6237037" y="1140819"/>
            <a:ext cx="693779" cy="3172287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87220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18C0F-E223-4919-0DD3-F7CA08741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03DE2-F556-BDB6-61FD-3FF63EB76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600" noProof="0" dirty="0"/>
              <a:t>Hoe werkt een index?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99AA90E-122A-D025-8AD3-19E98EF433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7736543"/>
              </p:ext>
            </p:extLst>
          </p:nvPr>
        </p:nvGraphicFramePr>
        <p:xfrm>
          <a:off x="2902503" y="3429001"/>
          <a:ext cx="677333" cy="6471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1218678177"/>
                    </a:ext>
                  </a:extLst>
                </a:gridCol>
              </a:tblGrid>
              <a:tr h="311900">
                <a:tc>
                  <a:txBody>
                    <a:bodyPr/>
                    <a:lstStyle/>
                    <a:p>
                      <a:pPr algn="ctr"/>
                      <a:r>
                        <a:rPr lang="nl-NL" sz="1600" b="1" noProof="0" dirty="0"/>
                        <a:t>20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2420150"/>
                  </a:ext>
                </a:extLst>
              </a:tr>
              <a:tr h="311900">
                <a:tc>
                  <a:txBody>
                    <a:bodyPr/>
                    <a:lstStyle/>
                    <a:p>
                      <a:pPr algn="ctr"/>
                      <a:r>
                        <a:rPr lang="nl-NL" sz="1200" noProof="0" dirty="0"/>
                        <a:t>5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8928135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558944B-BE0A-756F-C2EE-956AA6F827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4889779"/>
              </p:ext>
            </p:extLst>
          </p:nvPr>
        </p:nvGraphicFramePr>
        <p:xfrm>
          <a:off x="5757332" y="2668308"/>
          <a:ext cx="677333" cy="6471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1218678177"/>
                    </a:ext>
                  </a:extLst>
                </a:gridCol>
              </a:tblGrid>
              <a:tr h="311900">
                <a:tc>
                  <a:txBody>
                    <a:bodyPr/>
                    <a:lstStyle/>
                    <a:p>
                      <a:pPr algn="ctr"/>
                      <a:r>
                        <a:rPr lang="nl-NL" sz="1600" b="1" noProof="0" dirty="0"/>
                        <a:t>40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2420150"/>
                  </a:ext>
                </a:extLst>
              </a:tr>
              <a:tr h="311900">
                <a:tc>
                  <a:txBody>
                    <a:bodyPr/>
                    <a:lstStyle/>
                    <a:p>
                      <a:pPr algn="ctr"/>
                      <a:r>
                        <a:rPr lang="nl-NL" sz="1200" noProof="0" dirty="0"/>
                        <a:t>3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8928135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FE911C59-96E9-698C-BC20-FF492F6D70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6846628"/>
              </p:ext>
            </p:extLst>
          </p:nvPr>
        </p:nvGraphicFramePr>
        <p:xfrm>
          <a:off x="8612164" y="3429001"/>
          <a:ext cx="677333" cy="6471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4102303439"/>
                    </a:ext>
                  </a:extLst>
                </a:gridCol>
              </a:tblGrid>
              <a:tr h="311900">
                <a:tc>
                  <a:txBody>
                    <a:bodyPr/>
                    <a:lstStyle/>
                    <a:p>
                      <a:pPr algn="ctr"/>
                      <a:r>
                        <a:rPr lang="nl-NL" sz="1600" b="1" noProof="0" dirty="0"/>
                        <a:t>50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2420150"/>
                  </a:ext>
                </a:extLst>
              </a:tr>
              <a:tr h="311900">
                <a:tc>
                  <a:txBody>
                    <a:bodyPr/>
                    <a:lstStyle/>
                    <a:p>
                      <a:pPr algn="ctr"/>
                      <a:r>
                        <a:rPr lang="nl-NL" sz="1200" noProof="0" dirty="0"/>
                        <a:t>4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8928135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97BE3006-A086-8659-02E3-675C283CEE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1610970"/>
              </p:ext>
            </p:extLst>
          </p:nvPr>
        </p:nvGraphicFramePr>
        <p:xfrm>
          <a:off x="9999134" y="4280096"/>
          <a:ext cx="677333" cy="6471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1218678177"/>
                    </a:ext>
                  </a:extLst>
                </a:gridCol>
              </a:tblGrid>
              <a:tr h="311900">
                <a:tc>
                  <a:txBody>
                    <a:bodyPr/>
                    <a:lstStyle/>
                    <a:p>
                      <a:pPr algn="ctr"/>
                      <a:r>
                        <a:rPr lang="nl-NL" sz="1600" b="1" noProof="0" dirty="0"/>
                        <a:t>70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2420150"/>
                  </a:ext>
                </a:extLst>
              </a:tr>
              <a:tr h="311900">
                <a:tc>
                  <a:txBody>
                    <a:bodyPr/>
                    <a:lstStyle/>
                    <a:p>
                      <a:pPr algn="ctr"/>
                      <a:r>
                        <a:rPr lang="nl-NL" sz="1200" noProof="0" dirty="0"/>
                        <a:t>2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8928135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BB8A934-ADAF-10C5-1D39-7067F20EF1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7591194"/>
              </p:ext>
            </p:extLst>
          </p:nvPr>
        </p:nvGraphicFramePr>
        <p:xfrm>
          <a:off x="1872175" y="4280096"/>
          <a:ext cx="677333" cy="6471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4102303439"/>
                    </a:ext>
                  </a:extLst>
                </a:gridCol>
              </a:tblGrid>
              <a:tr h="311900">
                <a:tc>
                  <a:txBody>
                    <a:bodyPr/>
                    <a:lstStyle/>
                    <a:p>
                      <a:pPr algn="ctr"/>
                      <a:r>
                        <a:rPr lang="nl-NL" sz="1600" b="1" noProof="0" dirty="0"/>
                        <a:t>10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2420150"/>
                  </a:ext>
                </a:extLst>
              </a:tr>
              <a:tr h="311900">
                <a:tc>
                  <a:txBody>
                    <a:bodyPr/>
                    <a:lstStyle/>
                    <a:p>
                      <a:pPr algn="ctr"/>
                      <a:r>
                        <a:rPr lang="nl-NL" sz="1200" noProof="0" dirty="0"/>
                        <a:t>0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8928135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DB2919A-04BC-14CA-6BE1-8422670B43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4513629"/>
              </p:ext>
            </p:extLst>
          </p:nvPr>
        </p:nvGraphicFramePr>
        <p:xfrm>
          <a:off x="7284331" y="4327354"/>
          <a:ext cx="677333" cy="6471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1218678177"/>
                    </a:ext>
                  </a:extLst>
                </a:gridCol>
              </a:tblGrid>
              <a:tr h="311900">
                <a:tc>
                  <a:txBody>
                    <a:bodyPr/>
                    <a:lstStyle/>
                    <a:p>
                      <a:pPr algn="ctr"/>
                      <a:r>
                        <a:rPr lang="nl-NL" sz="1600" b="1" noProof="0" dirty="0"/>
                        <a:t>60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2420150"/>
                  </a:ext>
                </a:extLst>
              </a:tr>
              <a:tr h="311900">
                <a:tc>
                  <a:txBody>
                    <a:bodyPr/>
                    <a:lstStyle/>
                    <a:p>
                      <a:pPr algn="ctr"/>
                      <a:r>
                        <a:rPr lang="nl-NL" sz="1200" noProof="0" dirty="0"/>
                        <a:t>6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8928135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1B23F32-85A8-185F-5918-F1A4CEE6A7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7893835"/>
              </p:ext>
            </p:extLst>
          </p:nvPr>
        </p:nvGraphicFramePr>
        <p:xfrm>
          <a:off x="3915377" y="4280096"/>
          <a:ext cx="677333" cy="6471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4102303439"/>
                    </a:ext>
                  </a:extLst>
                </a:gridCol>
              </a:tblGrid>
              <a:tr h="311900">
                <a:tc>
                  <a:txBody>
                    <a:bodyPr/>
                    <a:lstStyle/>
                    <a:p>
                      <a:pPr algn="ctr"/>
                      <a:r>
                        <a:rPr lang="nl-NL" sz="1600" b="1" noProof="0" dirty="0"/>
                        <a:t>30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2420150"/>
                  </a:ext>
                </a:extLst>
              </a:tr>
              <a:tr h="311900">
                <a:tc>
                  <a:txBody>
                    <a:bodyPr/>
                    <a:lstStyle/>
                    <a:p>
                      <a:pPr algn="ctr"/>
                      <a:r>
                        <a:rPr lang="nl-NL" sz="1200" noProof="0" dirty="0"/>
                        <a:t>1, 7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8928135"/>
                  </a:ext>
                </a:extLst>
              </a:tr>
            </a:tbl>
          </a:graphicData>
        </a:graphic>
      </p:graphicFrame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19361B2E-E954-D195-6C79-1029408433D0}"/>
              </a:ext>
            </a:extLst>
          </p:cNvPr>
          <p:cNvCxnSpPr>
            <a:cxnSpLocks/>
            <a:stCxn id="9" idx="1"/>
            <a:endCxn id="8" idx="0"/>
          </p:cNvCxnSpPr>
          <p:nvPr/>
        </p:nvCxnSpPr>
        <p:spPr>
          <a:xfrm rot="10800000" flipV="1">
            <a:off x="3241170" y="2991897"/>
            <a:ext cx="2516163" cy="437103"/>
          </a:xfrm>
          <a:prstGeom prst="bentConnector2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7DDAFDA6-347C-AFC6-B485-CC80A530558C}"/>
              </a:ext>
            </a:extLst>
          </p:cNvPr>
          <p:cNvCxnSpPr>
            <a:cxnSpLocks/>
            <a:stCxn id="9" idx="3"/>
            <a:endCxn id="10" idx="0"/>
          </p:cNvCxnSpPr>
          <p:nvPr/>
        </p:nvCxnSpPr>
        <p:spPr>
          <a:xfrm>
            <a:off x="6434665" y="2991898"/>
            <a:ext cx="2516165" cy="43710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649C53D7-BA7C-F37F-45DA-E136A4D61D8C}"/>
              </a:ext>
            </a:extLst>
          </p:cNvPr>
          <p:cNvCxnSpPr>
            <a:cxnSpLocks/>
            <a:stCxn id="8" idx="1"/>
            <a:endCxn id="3" idx="0"/>
          </p:cNvCxnSpPr>
          <p:nvPr/>
        </p:nvCxnSpPr>
        <p:spPr>
          <a:xfrm rot="10800000" flipV="1">
            <a:off x="2210841" y="3752590"/>
            <a:ext cx="691662" cy="52750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BB0F1C2B-C0A1-1EFA-85B3-B5577091C1FC}"/>
              </a:ext>
            </a:extLst>
          </p:cNvPr>
          <p:cNvCxnSpPr>
            <a:cxnSpLocks/>
            <a:stCxn id="8" idx="3"/>
            <a:endCxn id="4" idx="0"/>
          </p:cNvCxnSpPr>
          <p:nvPr/>
        </p:nvCxnSpPr>
        <p:spPr>
          <a:xfrm>
            <a:off x="3579836" y="3752591"/>
            <a:ext cx="674207" cy="527505"/>
          </a:xfrm>
          <a:prstGeom prst="bentConnector2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DE11F16C-EF24-9111-BE3F-331D602E3618}"/>
              </a:ext>
            </a:extLst>
          </p:cNvPr>
          <p:cNvCxnSpPr>
            <a:cxnSpLocks/>
            <a:stCxn id="10" idx="1"/>
            <a:endCxn id="5" idx="0"/>
          </p:cNvCxnSpPr>
          <p:nvPr/>
        </p:nvCxnSpPr>
        <p:spPr>
          <a:xfrm rot="10800000" flipV="1">
            <a:off x="7622998" y="3752590"/>
            <a:ext cx="989167" cy="57476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AA9D834D-5188-FD3B-1444-B8E690CB8555}"/>
              </a:ext>
            </a:extLst>
          </p:cNvPr>
          <p:cNvCxnSpPr>
            <a:cxnSpLocks/>
            <a:stCxn id="10" idx="3"/>
            <a:endCxn id="11" idx="0"/>
          </p:cNvCxnSpPr>
          <p:nvPr/>
        </p:nvCxnSpPr>
        <p:spPr>
          <a:xfrm>
            <a:off x="9289497" y="3752591"/>
            <a:ext cx="1048303" cy="52750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2FBC6CE-6AFE-A133-55FF-984CABB99F14}"/>
              </a:ext>
            </a:extLst>
          </p:cNvPr>
          <p:cNvSpPr txBox="1">
            <a:spLocks/>
          </p:cNvSpPr>
          <p:nvPr/>
        </p:nvSpPr>
        <p:spPr>
          <a:xfrm>
            <a:off x="1872176" y="5564416"/>
            <a:ext cx="8804292" cy="4371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nl-NL" sz="2000" noProof="0" dirty="0"/>
              <a:t>Boomstructuur maakt index nog efficiënter.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E1D33C-33CB-4D44-C88E-1F46043F8B8A}"/>
              </a:ext>
            </a:extLst>
          </p:cNvPr>
          <p:cNvSpPr txBox="1"/>
          <p:nvPr/>
        </p:nvSpPr>
        <p:spPr>
          <a:xfrm>
            <a:off x="4339459" y="2674265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400" noProof="0" dirty="0"/>
              <a:t>&lt; 40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0CA122B-3941-9C4D-CB3B-6CBC4F6F2E9C}"/>
              </a:ext>
            </a:extLst>
          </p:cNvPr>
          <p:cNvSpPr txBox="1"/>
          <p:nvPr/>
        </p:nvSpPr>
        <p:spPr>
          <a:xfrm>
            <a:off x="7035705" y="2673341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400" noProof="0" dirty="0"/>
              <a:t>&gt; 40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8FC18B0-3209-A96D-E6D2-FE7B0025FA21}"/>
              </a:ext>
            </a:extLst>
          </p:cNvPr>
          <p:cNvSpPr txBox="1"/>
          <p:nvPr/>
        </p:nvSpPr>
        <p:spPr>
          <a:xfrm>
            <a:off x="2138713" y="3441843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400" noProof="0" dirty="0"/>
              <a:t>&lt; 20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079C28-690D-5294-29ED-3E4822DD01A6}"/>
              </a:ext>
            </a:extLst>
          </p:cNvPr>
          <p:cNvSpPr txBox="1"/>
          <p:nvPr/>
        </p:nvSpPr>
        <p:spPr>
          <a:xfrm>
            <a:off x="3860773" y="3450813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400" noProof="0" dirty="0"/>
              <a:t>&gt; 20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AD63D72-235F-1510-1F4F-2A1FBEBE2EE7}"/>
              </a:ext>
            </a:extLst>
          </p:cNvPr>
          <p:cNvSpPr txBox="1"/>
          <p:nvPr/>
        </p:nvSpPr>
        <p:spPr>
          <a:xfrm>
            <a:off x="7532957" y="3444123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400" noProof="0" dirty="0"/>
              <a:t>&lt; 50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34AD9E0-91D6-37FF-D31A-6B76ED1B4BB2}"/>
              </a:ext>
            </a:extLst>
          </p:cNvPr>
          <p:cNvSpPr txBox="1"/>
          <p:nvPr/>
        </p:nvSpPr>
        <p:spPr>
          <a:xfrm>
            <a:off x="9932462" y="3447495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400" noProof="0" dirty="0"/>
              <a:t>&gt; 50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F494902-A537-BDA3-6B85-97B008A64629}"/>
              </a:ext>
            </a:extLst>
          </p:cNvPr>
          <p:cNvSpPr/>
          <p:nvPr/>
        </p:nvSpPr>
        <p:spPr>
          <a:xfrm>
            <a:off x="3915377" y="4276579"/>
            <a:ext cx="653626" cy="64718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noProof="0" dirty="0"/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83B979DD-5BEB-EDC6-C6E5-A1EB601F54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519926"/>
              </p:ext>
            </p:extLst>
          </p:nvPr>
        </p:nvGraphicFramePr>
        <p:xfrm>
          <a:off x="3725336" y="1731448"/>
          <a:ext cx="4741328" cy="6471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92666">
                  <a:extLst>
                    <a:ext uri="{9D8B030D-6E8A-4147-A177-3AD203B41FA5}">
                      <a16:colId xmlns:a16="http://schemas.microsoft.com/office/drawing/2014/main" val="4102303439"/>
                    </a:ext>
                  </a:extLst>
                </a:gridCol>
                <a:gridCol w="592666">
                  <a:extLst>
                    <a:ext uri="{9D8B030D-6E8A-4147-A177-3AD203B41FA5}">
                      <a16:colId xmlns:a16="http://schemas.microsoft.com/office/drawing/2014/main" val="1218678177"/>
                    </a:ext>
                  </a:extLst>
                </a:gridCol>
                <a:gridCol w="592666">
                  <a:extLst>
                    <a:ext uri="{9D8B030D-6E8A-4147-A177-3AD203B41FA5}">
                      <a16:colId xmlns:a16="http://schemas.microsoft.com/office/drawing/2014/main" val="2042444892"/>
                    </a:ext>
                  </a:extLst>
                </a:gridCol>
                <a:gridCol w="592666">
                  <a:extLst>
                    <a:ext uri="{9D8B030D-6E8A-4147-A177-3AD203B41FA5}">
                      <a16:colId xmlns:a16="http://schemas.microsoft.com/office/drawing/2014/main" val="2644369270"/>
                    </a:ext>
                  </a:extLst>
                </a:gridCol>
                <a:gridCol w="592666">
                  <a:extLst>
                    <a:ext uri="{9D8B030D-6E8A-4147-A177-3AD203B41FA5}">
                      <a16:colId xmlns:a16="http://schemas.microsoft.com/office/drawing/2014/main" val="782840074"/>
                    </a:ext>
                  </a:extLst>
                </a:gridCol>
                <a:gridCol w="592666">
                  <a:extLst>
                    <a:ext uri="{9D8B030D-6E8A-4147-A177-3AD203B41FA5}">
                      <a16:colId xmlns:a16="http://schemas.microsoft.com/office/drawing/2014/main" val="791730115"/>
                    </a:ext>
                  </a:extLst>
                </a:gridCol>
                <a:gridCol w="592666">
                  <a:extLst>
                    <a:ext uri="{9D8B030D-6E8A-4147-A177-3AD203B41FA5}">
                      <a16:colId xmlns:a16="http://schemas.microsoft.com/office/drawing/2014/main" val="2623408546"/>
                    </a:ext>
                  </a:extLst>
                </a:gridCol>
                <a:gridCol w="592666">
                  <a:extLst>
                    <a:ext uri="{9D8B030D-6E8A-4147-A177-3AD203B41FA5}">
                      <a16:colId xmlns:a16="http://schemas.microsoft.com/office/drawing/2014/main" val="2605515535"/>
                    </a:ext>
                  </a:extLst>
                </a:gridCol>
              </a:tblGrid>
              <a:tr h="311900">
                <a:tc>
                  <a:txBody>
                    <a:bodyPr/>
                    <a:lstStyle/>
                    <a:p>
                      <a:pPr algn="ctr"/>
                      <a:r>
                        <a:rPr lang="nl-NL" sz="1600" b="1" noProof="0" dirty="0"/>
                        <a:t>10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600" b="1" noProof="0" dirty="0"/>
                        <a:t>30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600" b="1" noProof="0" dirty="0"/>
                        <a:t>70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600" b="1" noProof="0" dirty="0"/>
                        <a:t>40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600" b="1" noProof="0" dirty="0"/>
                        <a:t>50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600" b="1" noProof="0" dirty="0"/>
                        <a:t>20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600" b="1" noProof="0" dirty="0"/>
                        <a:t>60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600" b="1" noProof="0" dirty="0"/>
                        <a:t>30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8928135"/>
                  </a:ext>
                </a:extLst>
              </a:tr>
              <a:tr h="311900">
                <a:tc>
                  <a:txBody>
                    <a:bodyPr/>
                    <a:lstStyle/>
                    <a:p>
                      <a:pPr algn="ctr"/>
                      <a:r>
                        <a:rPr lang="nl-NL" sz="1200" b="0" noProof="0" dirty="0"/>
                        <a:t>0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200" b="0" noProof="0" dirty="0"/>
                        <a:t>1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200" b="0" noProof="0" dirty="0"/>
                        <a:t>2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200" b="0" noProof="0" dirty="0"/>
                        <a:t>3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200" b="0" noProof="0" dirty="0"/>
                        <a:t>4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200" b="0" noProof="0" dirty="0"/>
                        <a:t>5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200" b="0" noProof="0" dirty="0"/>
                        <a:t>6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200" b="0" noProof="0" dirty="0"/>
                        <a:t>7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509851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02182A9-E62E-A725-7676-4EF980DAA30D}"/>
              </a:ext>
            </a:extLst>
          </p:cNvPr>
          <p:cNvSpPr txBox="1"/>
          <p:nvPr/>
        </p:nvSpPr>
        <p:spPr>
          <a:xfrm>
            <a:off x="2543856" y="1690688"/>
            <a:ext cx="8826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waarde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00E3B2-BBCD-D80F-CD36-53235EB43949}"/>
              </a:ext>
            </a:extLst>
          </p:cNvPr>
          <p:cNvSpPr txBox="1"/>
          <p:nvPr/>
        </p:nvSpPr>
        <p:spPr>
          <a:xfrm>
            <a:off x="2543855" y="2010740"/>
            <a:ext cx="882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err="1"/>
              <a:t>rij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404384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FD261-0D2C-41B9-9E28-43DF575D4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600" noProof="0" dirty="0"/>
              <a:t>Syntax index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4B503-C44F-453E-9465-D42E4557DE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076308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2000" noProof="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 INDEX </a:t>
            </a:r>
            <a:r>
              <a:rPr lang="nl-NL" sz="20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IDX_Achternaam</a:t>
            </a:r>
            <a:endParaRPr lang="nl-NL" sz="20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nl-NL" sz="2000" noProof="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</a:t>
            </a: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Klanten(Achternaam);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8BBDAC7-28CB-4019-A508-03C63F0A9D12}"/>
              </a:ext>
            </a:extLst>
          </p:cNvPr>
          <p:cNvSpPr txBox="1">
            <a:spLocks/>
          </p:cNvSpPr>
          <p:nvPr/>
        </p:nvSpPr>
        <p:spPr>
          <a:xfrm>
            <a:off x="7343481" y="1825625"/>
            <a:ext cx="401031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nl-NL" sz="2000" noProof="0" dirty="0"/>
              <a:t>Met </a:t>
            </a:r>
            <a:r>
              <a:rPr lang="nl-NL" sz="2000" noProof="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 INDEX </a:t>
            </a:r>
            <a:r>
              <a:rPr lang="nl-NL" sz="2000" noProof="0" dirty="0"/>
              <a:t>maak je een index op één of meer kolommen.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5F74A41-A3CA-79AD-4811-55CE0734864F}"/>
              </a:ext>
            </a:extLst>
          </p:cNvPr>
          <p:cNvCxnSpPr/>
          <p:nvPr/>
        </p:nvCxnSpPr>
        <p:spPr>
          <a:xfrm>
            <a:off x="6986781" y="1825625"/>
            <a:ext cx="0" cy="435133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27865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DCA06-4572-C0E4-2661-B656DCB45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DD0E3-3980-9749-4915-995A69702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600" noProof="0" dirty="0"/>
              <a:t>Syntax index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AF54DC-57A6-57C9-20CE-D8ACD4AA56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076308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2000" noProof="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 INDEX </a:t>
            </a:r>
            <a:r>
              <a:rPr lang="nl-NL" sz="20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IDX_Achternaam</a:t>
            </a:r>
            <a:endParaRPr lang="nl-NL" sz="20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nl-NL" sz="2000" noProof="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</a:t>
            </a: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Klanten(Achternaam);</a:t>
            </a:r>
          </a:p>
          <a:p>
            <a:pPr marL="0" indent="0">
              <a:buNone/>
            </a:pPr>
            <a:endParaRPr lang="nl-NL" sz="20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nl-NL" sz="20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2000" noProof="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 UNIQUE INDEX </a:t>
            </a:r>
            <a:r>
              <a:rPr lang="nl-NL" sz="20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IDX_NaamAchternaam</a:t>
            </a:r>
            <a:endParaRPr lang="nl-NL" sz="20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nl-NL" sz="2000" noProof="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</a:t>
            </a: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Klanten(Naam, Achternaam);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D04560D-E22E-B561-FC73-F5C2C167D979}"/>
              </a:ext>
            </a:extLst>
          </p:cNvPr>
          <p:cNvSpPr txBox="1">
            <a:spLocks/>
          </p:cNvSpPr>
          <p:nvPr/>
        </p:nvSpPr>
        <p:spPr>
          <a:xfrm>
            <a:off x="7343481" y="1825625"/>
            <a:ext cx="401031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nl-NL" sz="2000" noProof="0" dirty="0"/>
              <a:t>Met </a:t>
            </a:r>
            <a:r>
              <a:rPr lang="nl-NL" sz="2000" noProof="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 INDEX </a:t>
            </a:r>
            <a:r>
              <a:rPr lang="nl-NL" sz="2000" noProof="0" dirty="0"/>
              <a:t>maak je een index op één of meer kolommen.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nl-NL" sz="2000" noProof="0" dirty="0"/>
          </a:p>
          <a:p>
            <a:pPr marL="0" indent="0">
              <a:buFont typeface="Arial" panose="020B0604020202020204" pitchFamily="34" charset="0"/>
              <a:buNone/>
            </a:pPr>
            <a:endParaRPr lang="nl-NL" sz="2000" noProof="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nl-NL" sz="2000" noProof="0" dirty="0"/>
              <a:t>Met </a:t>
            </a:r>
            <a:r>
              <a:rPr lang="nl-NL" sz="2000" noProof="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UNIQUE</a:t>
            </a:r>
            <a:r>
              <a:rPr lang="nl-NL" sz="2000" noProof="0" dirty="0"/>
              <a:t> geef je aan dat de (combinatie van) waardes uniek is.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F8D051F-A466-05CA-EA75-1AB635C04213}"/>
              </a:ext>
            </a:extLst>
          </p:cNvPr>
          <p:cNvCxnSpPr/>
          <p:nvPr/>
        </p:nvCxnSpPr>
        <p:spPr>
          <a:xfrm>
            <a:off x="6986781" y="1825625"/>
            <a:ext cx="0" cy="435133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763865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E6AD6C-99DD-EFDD-580B-95546BFD3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BA4FB-1FF7-DB94-0F5B-32124FEC8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600" noProof="0" dirty="0"/>
              <a:t>Syntax index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D1DF9B-89CA-B657-6CC1-B5D361EB4C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076308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2000" noProof="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 INDEX </a:t>
            </a:r>
            <a:r>
              <a:rPr lang="nl-NL" sz="20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IDX_Achternaam</a:t>
            </a:r>
            <a:endParaRPr lang="nl-NL" sz="20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nl-NL" sz="2000" noProof="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</a:t>
            </a: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Klanten(Achternaam);</a:t>
            </a:r>
          </a:p>
          <a:p>
            <a:pPr marL="0" indent="0">
              <a:buNone/>
            </a:pPr>
            <a:endParaRPr lang="nl-NL" sz="20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nl-NL" sz="20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2000" noProof="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 UNIQUE INDEX </a:t>
            </a:r>
            <a:r>
              <a:rPr lang="nl-NL" sz="20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IDX_NaamAchternaam</a:t>
            </a:r>
            <a:endParaRPr lang="nl-NL" sz="20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nl-NL" sz="2000" noProof="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</a:t>
            </a: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Klanten(Naam, Achternaam);</a:t>
            </a:r>
          </a:p>
          <a:p>
            <a:pPr marL="0" indent="0">
              <a:buNone/>
            </a:pPr>
            <a:endParaRPr lang="nl-NL" sz="20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nl-NL" sz="20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2000" noProof="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DROP INDEX </a:t>
            </a:r>
            <a:r>
              <a:rPr lang="nl-NL" sz="20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IDX_Achternaam</a:t>
            </a: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endParaRPr lang="nl-NL" sz="20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261F69B-4C0B-8EE5-8CE0-1FDD28B9FA74}"/>
              </a:ext>
            </a:extLst>
          </p:cNvPr>
          <p:cNvSpPr txBox="1">
            <a:spLocks/>
          </p:cNvSpPr>
          <p:nvPr/>
        </p:nvSpPr>
        <p:spPr>
          <a:xfrm>
            <a:off x="7343481" y="1825625"/>
            <a:ext cx="401031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nl-NL" sz="2000" noProof="0" dirty="0"/>
              <a:t>Met </a:t>
            </a:r>
            <a:r>
              <a:rPr lang="nl-NL" sz="2000" noProof="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 INDEX </a:t>
            </a:r>
            <a:r>
              <a:rPr lang="nl-NL" sz="2000" noProof="0" dirty="0"/>
              <a:t>maak je een index op één of meer kolommen.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nl-NL" sz="2000" noProof="0" dirty="0"/>
          </a:p>
          <a:p>
            <a:pPr marL="0" indent="0">
              <a:buFont typeface="Arial" panose="020B0604020202020204" pitchFamily="34" charset="0"/>
              <a:buNone/>
            </a:pPr>
            <a:endParaRPr lang="nl-NL" sz="2000" noProof="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nl-NL" sz="2000" noProof="0" dirty="0"/>
              <a:t>Met </a:t>
            </a:r>
            <a:r>
              <a:rPr lang="nl-NL" sz="2000" noProof="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UNIQUE</a:t>
            </a:r>
            <a:r>
              <a:rPr lang="nl-NL" sz="2000" noProof="0" dirty="0"/>
              <a:t> geef je aan dat de (combinatie van) waardes uniek is.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nl-NL" sz="2000" noProof="0" dirty="0"/>
          </a:p>
          <a:p>
            <a:pPr marL="0" indent="0">
              <a:buFont typeface="Arial" panose="020B0604020202020204" pitchFamily="34" charset="0"/>
              <a:buNone/>
            </a:pPr>
            <a:endParaRPr lang="nl-NL" sz="2000" noProof="0" dirty="0"/>
          </a:p>
          <a:p>
            <a:pPr marL="0" indent="0">
              <a:buFont typeface="Arial" panose="020B0604020202020204" pitchFamily="34" charset="0"/>
              <a:buNone/>
            </a:pPr>
            <a:endParaRPr lang="nl-NL" sz="2000" noProof="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nl-NL" sz="2000" noProof="0" dirty="0"/>
              <a:t>Met </a:t>
            </a:r>
            <a:r>
              <a:rPr lang="nl-NL" sz="2000" noProof="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DROP INDEX</a:t>
            </a:r>
            <a:r>
              <a:rPr lang="nl-NL" sz="2000" noProof="0" dirty="0"/>
              <a:t> verwijder je een index.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4BACAEE-9B6B-6428-B0FF-C2C0B45358D2}"/>
              </a:ext>
            </a:extLst>
          </p:cNvPr>
          <p:cNvCxnSpPr/>
          <p:nvPr/>
        </p:nvCxnSpPr>
        <p:spPr>
          <a:xfrm>
            <a:off x="6986781" y="1825625"/>
            <a:ext cx="0" cy="435133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110972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FD261-0D2C-41B9-9E28-43DF575D4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600" noProof="0" dirty="0"/>
              <a:t>Wordt de index gebruikt?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4B503-C44F-453E-9465-D42E4557DE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076308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2000" b="1" noProof="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EXPLAIN QUERY PLAN</a:t>
            </a:r>
          </a:p>
          <a:p>
            <a:pPr marL="0" indent="0">
              <a:buNone/>
            </a:pP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nl-NL" sz="2000" noProof="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  <a:r>
              <a:rPr lang="nl-NL" sz="2000" noProof="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Klanten</a:t>
            </a:r>
          </a:p>
          <a:p>
            <a:pPr marL="0" indent="0">
              <a:buNone/>
            </a:pP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nl-NL" sz="2000" noProof="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WHERE</a:t>
            </a: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Achternaam = </a:t>
            </a:r>
            <a:r>
              <a:rPr lang="nl-NL" sz="2000" noProof="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'Jansen'</a:t>
            </a:r>
          </a:p>
          <a:p>
            <a:pPr marL="0" indent="0">
              <a:buNone/>
            </a:pP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8BBDAC7-28CB-4019-A508-03C63F0A9D12}"/>
              </a:ext>
            </a:extLst>
          </p:cNvPr>
          <p:cNvSpPr txBox="1">
            <a:spLocks/>
          </p:cNvSpPr>
          <p:nvPr/>
        </p:nvSpPr>
        <p:spPr>
          <a:xfrm>
            <a:off x="7362334" y="1825625"/>
            <a:ext cx="399146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nl-NL" sz="2000" noProof="0" dirty="0"/>
              <a:t>Met </a:t>
            </a:r>
            <a:r>
              <a:rPr lang="nl-NL" sz="2000" noProof="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EXPLAIN QUERY PLAN</a:t>
            </a:r>
            <a:r>
              <a:rPr lang="nl-NL" sz="2000" noProof="0" dirty="0"/>
              <a:t> zie je hoe </a:t>
            </a:r>
            <a:r>
              <a:rPr lang="nl-NL" sz="2000" noProof="0" dirty="0" err="1"/>
              <a:t>SQLite</a:t>
            </a:r>
            <a:r>
              <a:rPr lang="nl-NL" sz="2000" noProof="0" dirty="0"/>
              <a:t> </a:t>
            </a:r>
            <a:r>
              <a:rPr lang="nl-NL" sz="2000" dirty="0"/>
              <a:t>de</a:t>
            </a:r>
            <a:r>
              <a:rPr lang="nl-NL" sz="2000" noProof="0" dirty="0"/>
              <a:t> query uitvoert.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nl-NL" sz="2000" noProof="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nl-NL" sz="2000" noProof="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SCAN &lt;</a:t>
            </a:r>
            <a:r>
              <a:rPr lang="nl-NL" sz="2000" noProof="0" dirty="0" err="1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table</a:t>
            </a:r>
            <a:r>
              <a:rPr lang="nl-NL" sz="2000" noProof="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nl-NL" sz="2000" noProof="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nl-NL" sz="2000" noProof="0" dirty="0"/>
              <a:t>Geen index, de hele tabel wordt doorzocht…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nl-NL" sz="2000" noProof="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nl-NL" sz="2000" noProof="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SEARCH &lt;</a:t>
            </a:r>
            <a:r>
              <a:rPr lang="nl-NL" sz="2000" noProof="0" dirty="0" err="1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table</a:t>
            </a:r>
            <a:r>
              <a:rPr lang="nl-NL" sz="2000" noProof="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USING INDEX &lt;index&gt;</a:t>
            </a:r>
            <a:endParaRPr lang="nl-NL" sz="2000" dirty="0">
              <a:solidFill>
                <a:schemeClr val="accent5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nl-NL" sz="2000" noProof="0" dirty="0"/>
              <a:t>De index wordt gebruikt!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B3FF13B-2B29-5C31-922A-C1F555453D2B}"/>
              </a:ext>
            </a:extLst>
          </p:cNvPr>
          <p:cNvCxnSpPr/>
          <p:nvPr/>
        </p:nvCxnSpPr>
        <p:spPr>
          <a:xfrm>
            <a:off x="6986781" y="1825625"/>
            <a:ext cx="0" cy="435133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038495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FD261-0D2C-41B9-9E28-43DF575D4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600" noProof="0" dirty="0"/>
              <a:t>Oefeningen 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4B503-C44F-453E-9465-D42E4557DE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nl-NL" sz="2000" noProof="0" dirty="0"/>
              <a:t>Gebruik voor deze oefening de </a:t>
            </a: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Transacties</a:t>
            </a:r>
            <a:r>
              <a:rPr lang="nl-NL" sz="2000" noProof="0" dirty="0"/>
              <a:t> tabel van </a:t>
            </a: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0_data/</a:t>
            </a:r>
            <a:r>
              <a:rPr lang="nl-NL" sz="20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sales_data.db</a:t>
            </a:r>
            <a:r>
              <a:rPr lang="nl-NL" sz="2000" noProof="0" dirty="0"/>
              <a:t>.</a:t>
            </a:r>
          </a:p>
          <a:p>
            <a:pPr marL="0" indent="0">
              <a:spcBef>
                <a:spcPts val="600"/>
              </a:spcBef>
              <a:buNone/>
            </a:pPr>
            <a:endParaRPr lang="nl-NL" sz="2000" noProof="0" dirty="0"/>
          </a:p>
          <a:p>
            <a:pPr marL="457200" indent="-457200">
              <a:spcBef>
                <a:spcPts val="600"/>
              </a:spcBef>
              <a:buAutoNum type="arabicPeriod"/>
            </a:pPr>
            <a:r>
              <a:rPr lang="nl-NL" sz="2000" noProof="0" dirty="0"/>
              <a:t>Schrijf een query om een willekeurig </a:t>
            </a:r>
            <a:r>
              <a:rPr lang="nl-NL" sz="20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ProductId</a:t>
            </a:r>
            <a:r>
              <a:rPr lang="nl-NL" sz="2000" noProof="0" dirty="0"/>
              <a:t> te selecteren.</a:t>
            </a:r>
          </a:p>
          <a:p>
            <a:pPr marL="457200" indent="-457200">
              <a:spcBef>
                <a:spcPts val="600"/>
              </a:spcBef>
              <a:buAutoNum type="arabicPeriod"/>
            </a:pPr>
            <a:endParaRPr lang="nl-NL" sz="2000" noProof="0" dirty="0"/>
          </a:p>
          <a:p>
            <a:pPr marL="457200" indent="-457200">
              <a:spcBef>
                <a:spcPts val="600"/>
              </a:spcBef>
              <a:buAutoNum type="arabicPeriod"/>
            </a:pPr>
            <a:r>
              <a:rPr lang="nl-NL" sz="2000" noProof="0" dirty="0"/>
              <a:t>Bekijk het executieplan voor de query.</a:t>
            </a:r>
          </a:p>
          <a:p>
            <a:pPr marL="457200" indent="-457200">
              <a:spcBef>
                <a:spcPts val="600"/>
              </a:spcBef>
              <a:buAutoNum type="arabicPeriod"/>
            </a:pPr>
            <a:endParaRPr lang="nl-NL" sz="2000" noProof="0" dirty="0"/>
          </a:p>
          <a:p>
            <a:pPr marL="457200" indent="-457200">
              <a:spcBef>
                <a:spcPts val="600"/>
              </a:spcBef>
              <a:buAutoNum type="arabicPeriod"/>
            </a:pPr>
            <a:r>
              <a:rPr lang="nl-NL" sz="2000" noProof="0" dirty="0"/>
              <a:t>Voeg nu een index toe op de </a:t>
            </a:r>
            <a:r>
              <a:rPr lang="nl-NL" sz="20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ProductId</a:t>
            </a:r>
            <a:r>
              <a:rPr lang="nl-NL" sz="2000" noProof="0" dirty="0"/>
              <a:t> kolom.</a:t>
            </a:r>
          </a:p>
          <a:p>
            <a:pPr marL="457200" indent="-457200">
              <a:spcBef>
                <a:spcPts val="600"/>
              </a:spcBef>
              <a:buAutoNum type="arabicPeriod"/>
            </a:pPr>
            <a:endParaRPr lang="nl-NL" sz="2000" noProof="0" dirty="0"/>
          </a:p>
          <a:p>
            <a:pPr marL="457200" indent="-457200">
              <a:spcBef>
                <a:spcPts val="600"/>
              </a:spcBef>
              <a:buAutoNum type="arabicPeriod"/>
            </a:pPr>
            <a:r>
              <a:rPr lang="nl-NL" sz="2000" noProof="0" dirty="0"/>
              <a:t>Bekijk opnieuw het executieplan; wordt de index gebruikt?</a:t>
            </a:r>
          </a:p>
          <a:p>
            <a:pPr marL="457200" indent="-457200">
              <a:spcBef>
                <a:spcPts val="600"/>
              </a:spcBef>
              <a:buAutoNum type="arabicPeriod"/>
            </a:pPr>
            <a:endParaRPr lang="nl-NL" sz="2000" noProof="0" dirty="0"/>
          </a:p>
          <a:p>
            <a:pPr marL="457200" indent="-457200">
              <a:spcBef>
                <a:spcPts val="600"/>
              </a:spcBef>
              <a:buAutoNum type="arabicPeriod"/>
            </a:pPr>
            <a:r>
              <a:rPr lang="nl-NL" sz="2000" noProof="0" dirty="0"/>
              <a:t>Wordt de index ook gebruikt met </a:t>
            </a:r>
            <a:r>
              <a:rPr lang="nl-NL" sz="2000" noProof="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LIKE</a:t>
            </a:r>
            <a:r>
              <a:rPr lang="nl-NL" sz="2000" noProof="0" dirty="0"/>
              <a:t>? En met </a:t>
            </a:r>
            <a:r>
              <a:rPr lang="nl-NL" sz="2000" noProof="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LOWER</a:t>
            </a: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nl-NL" sz="20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ProductId</a:t>
            </a: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nl-NL" sz="2000" noProof="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3387083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651</TotalTime>
  <Words>3183</Words>
  <Application>Microsoft Office PowerPoint</Application>
  <PresentationFormat>Widescreen</PresentationFormat>
  <Paragraphs>1064</Paragraphs>
  <Slides>64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69" baseType="lpstr">
      <vt:lpstr>Arial</vt:lpstr>
      <vt:lpstr>Calibri</vt:lpstr>
      <vt:lpstr>Calibri Light</vt:lpstr>
      <vt:lpstr>Courier New</vt:lpstr>
      <vt:lpstr>Office Theme</vt:lpstr>
      <vt:lpstr>SQL - Cursus</vt:lpstr>
      <vt:lpstr>Agenda</vt:lpstr>
      <vt:lpstr>Structuur en normalisatie</vt:lpstr>
      <vt:lpstr>Entiteiten in tabellen</vt:lpstr>
      <vt:lpstr>Relaties tussen entiteiten</vt:lpstr>
      <vt:lpstr>Drie soorten relaties</vt:lpstr>
      <vt:lpstr>Drie soorten relaties</vt:lpstr>
      <vt:lpstr>Een op veel relaties</vt:lpstr>
      <vt:lpstr>Drie soorten relaties</vt:lpstr>
      <vt:lpstr>Veel op veel relaties</vt:lpstr>
      <vt:lpstr>Veel op veel relaties</vt:lpstr>
      <vt:lpstr>Normalisatie: Eerste vorm</vt:lpstr>
      <vt:lpstr>Normalisatie: Eerste vorm</vt:lpstr>
      <vt:lpstr>Normalisatie: Tweede vorm</vt:lpstr>
      <vt:lpstr>Normalisatie: Tweede vorm</vt:lpstr>
      <vt:lpstr>Normalisatie: Derde vorm</vt:lpstr>
      <vt:lpstr>Normalisatie: Derde vorm</vt:lpstr>
      <vt:lpstr>Normalisatie samenvatting</vt:lpstr>
      <vt:lpstr>Normalisatie overwegingen</vt:lpstr>
      <vt:lpstr>Oefeningen 1</vt:lpstr>
      <vt:lpstr>Oefeningen 1</vt:lpstr>
      <vt:lpstr>Entity Relationship Diagrams</vt:lpstr>
      <vt:lpstr>Entity Relationship Diagram</vt:lpstr>
      <vt:lpstr>Entity Relationship Diagram</vt:lpstr>
      <vt:lpstr>Entity Relationship Diagram</vt:lpstr>
      <vt:lpstr>Entity Relationship Diagram</vt:lpstr>
      <vt:lpstr>Entity Relationship Diagram</vt:lpstr>
      <vt:lpstr>Oefeningen 2</vt:lpstr>
      <vt:lpstr>Oefeningen 2</vt:lpstr>
      <vt:lpstr>Oefeningen 2</vt:lpstr>
      <vt:lpstr>PowerPoint Presentation</vt:lpstr>
      <vt:lpstr>Tabellen en relaties in SQL</vt:lpstr>
      <vt:lpstr>Tabellen aanmaken</vt:lpstr>
      <vt:lpstr>SQLite data types</vt:lpstr>
      <vt:lpstr>Kolom opties</vt:lpstr>
      <vt:lpstr>Primaire sleutel</vt:lpstr>
      <vt:lpstr>Koppel sleutel</vt:lpstr>
      <vt:lpstr>Wijzigingen in gekoppelde tabellen</vt:lpstr>
      <vt:lpstr>Unieke waardes</vt:lpstr>
      <vt:lpstr>Unieke waardes</vt:lpstr>
      <vt:lpstr>Controles op waardes</vt:lpstr>
      <vt:lpstr>Controles een naam geven</vt:lpstr>
      <vt:lpstr>Tabellen verwijderen</vt:lpstr>
      <vt:lpstr>Tabellen verwijderen</vt:lpstr>
      <vt:lpstr>Tabel wijzigen: Hernoemen</vt:lpstr>
      <vt:lpstr>Tabel wijzigen: Kolom hernoemen</vt:lpstr>
      <vt:lpstr>Tabel wijzigen: Kolom toevoegen</vt:lpstr>
      <vt:lpstr>Tabel wijzigen: Kolom verwijderen</vt:lpstr>
      <vt:lpstr>Oefeningen 3</vt:lpstr>
      <vt:lpstr>Views</vt:lpstr>
      <vt:lpstr>Views: Opgeslagen queries</vt:lpstr>
      <vt:lpstr>View aanmaken</vt:lpstr>
      <vt:lpstr>View versus tabel</vt:lpstr>
      <vt:lpstr>Oefeningen 4</vt:lpstr>
      <vt:lpstr>Indices en optimalisatie</vt:lpstr>
      <vt:lpstr>Versnellen met indices</vt:lpstr>
      <vt:lpstr>Query zonder index</vt:lpstr>
      <vt:lpstr>Query met index</vt:lpstr>
      <vt:lpstr>Hoe werkt een index?</vt:lpstr>
      <vt:lpstr>Syntax index</vt:lpstr>
      <vt:lpstr>Syntax index</vt:lpstr>
      <vt:lpstr>Syntax index</vt:lpstr>
      <vt:lpstr>Wordt de index gebruikt?</vt:lpstr>
      <vt:lpstr>Oefeningen 5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 Introductie</dc:title>
  <dc:creator>Lukas Koning</dc:creator>
  <cp:lastModifiedBy>Lukas Koning</cp:lastModifiedBy>
  <cp:revision>917</cp:revision>
  <dcterms:created xsi:type="dcterms:W3CDTF">2020-09-06T09:43:21Z</dcterms:created>
  <dcterms:modified xsi:type="dcterms:W3CDTF">2026-10-21T17:35:23Z</dcterms:modified>
</cp:coreProperties>
</file>