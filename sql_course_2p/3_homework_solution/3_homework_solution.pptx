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49" r:id="rId2"/>
    <p:sldId id="333" r:id="rId3"/>
    <p:sldId id="324" r:id="rId4"/>
    <p:sldId id="352" r:id="rId5"/>
    <p:sldId id="337" r:id="rId6"/>
    <p:sldId id="351" r:id="rId7"/>
    <p:sldId id="353" r:id="rId8"/>
    <p:sldId id="341" r:id="rId9"/>
    <p:sldId id="336" r:id="rId10"/>
    <p:sldId id="354" r:id="rId11"/>
    <p:sldId id="355" r:id="rId12"/>
    <p:sldId id="399" r:id="rId13"/>
    <p:sldId id="356" r:id="rId1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533" autoAdjust="0"/>
  </p:normalViewPr>
  <p:slideViewPr>
    <p:cSldViewPr snapToGrid="0">
      <p:cViewPr varScale="1">
        <p:scale>
          <a:sx n="115" d="100"/>
          <a:sy n="115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BAE75-55A4-4394-9868-AE29E61D43AE}" type="datetimeFigureOut">
              <a:rPr lang="nl-NL" smtClean="0"/>
              <a:t>18-8-2026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CCAD8-DC29-44DA-AA6C-03A5A9FE520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327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Noot: Prijs is een "</a:t>
            </a:r>
            <a:r>
              <a:rPr lang="nl-NL" dirty="0" err="1"/>
              <a:t>slowly</a:t>
            </a:r>
            <a:r>
              <a:rPr lang="nl-NL" dirty="0"/>
              <a:t> </a:t>
            </a:r>
            <a:r>
              <a:rPr lang="nl-NL" dirty="0" err="1"/>
              <a:t>changing</a:t>
            </a:r>
            <a:r>
              <a:rPr lang="nl-NL" dirty="0"/>
              <a:t> </a:t>
            </a:r>
            <a:r>
              <a:rPr lang="nl-NL" dirty="0" err="1"/>
              <a:t>dimension</a:t>
            </a:r>
            <a:r>
              <a:rPr lang="nl-NL" dirty="0"/>
              <a:t>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CCAD8-DC29-44DA-AA6C-03A5A9FE5209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5263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homework</a:t>
            </a:r>
            <a:r>
              <a:rPr lang="nl-NL" dirty="0"/>
              <a:t>/</a:t>
            </a:r>
            <a:r>
              <a:rPr lang="nl-NL" dirty="0" err="1"/>
              <a:t>hierarchy.sql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CCAD8-DC29-44DA-AA6C-03A5A9FE5209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8586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CCAD8-DC29-44DA-AA6C-03A5A9FE5209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0130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D9A9-96E2-4B62-AF4E-D21EDAA22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08ABC-94C7-4217-BB3D-48896575A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AE5B2-02C7-4E86-8174-D0BC6D20F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D505F-CCD1-46F8-BF5E-4DBBA393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14B0C-C91C-4E26-8C6D-F21A9BEB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909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AE61-5B5E-4C60-8FFC-F45EC7AF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D51C5-71E1-4D57-A73A-F8222CBDC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BC9B4-053C-44D5-A76D-C10B569F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1811-23FC-4003-BEF8-D354C44F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1C11-243E-49F2-9964-BE7FD67E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535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E1B3-F510-408E-B5A9-86545FD6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CA8F8-81D4-4689-8EDF-3EF6D79F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A69FD-BF61-458D-84CD-14473A1DA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048A1-DAED-4952-9457-41EE573C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528D-CF72-47BE-8BEC-F8180721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16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2131-1FDB-48B7-A5C8-8AFE35AC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BC5A3-A76A-416E-AB1B-AEDFFB02D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B26EC-0513-4A48-B599-77E2DBB84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DC52D-F741-49C8-854E-1E80E105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0033C-B30B-4A92-8D9D-26DAA074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27ED7-3F9F-41BC-9555-911F7AABA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7591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1AFF-1ACB-48B2-A466-091299ED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A0DBD-D35E-460C-889E-E17BE1CCB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30DAB-7000-4702-8B81-127273412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38A00-0DE2-4A9E-A882-C9FDAB2F0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0445F-FAEA-46DD-ACC3-7F107FC62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1636C-287C-4274-87E0-4FD505CE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1ECB55-7927-4149-BA89-06310126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EBD68-1ADE-4E4D-BC2C-28D341AB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6701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8D67-451F-4365-8C61-F021ADE5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A8693-C1ED-43D3-9F2B-7B72A42D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54526-DFCB-415E-9F3F-9A5A7203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DE0CB-BF44-4FDB-840C-D0AAE9BB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239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8845E-8BFF-4819-84BE-B08816EA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AAF44-C40F-4539-AAD0-A0547A53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66919-09B5-488B-AC53-CB4F0CE1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905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3E99-AAAC-40D9-9D33-788EE6CE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ADB9D-1ABD-4F2B-9BAB-2513C90B4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71335-5533-4809-B615-3695CCE6D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0136-DFB9-4C43-B765-ECBF14A7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C1421-1282-4D37-A5B5-219705CF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E01D7-300F-4C9D-89A5-B40DE443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9835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5944-8349-479A-AA79-07CC5A858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6B6C7-7E6A-4EA0-A4CF-10A62B129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B4431-9BB1-4601-A3D3-0838AE773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F119A-33CF-41CA-A3BD-B5A5FE33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D1910-065E-4CF2-8333-054C2540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4E30F-C12B-4357-A357-5BE165B8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34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6E9F-ED3A-4676-9DA5-C066343A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6E590-2C8A-4068-8960-EA9E2BF63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0E384-EA9A-4485-B6BF-DED8EA41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16B5B-7625-4E8C-81A5-F7262582A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A5592-D2A0-471C-88FA-7603EAAF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87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DA3BB-4F45-4380-9189-719E5A731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6E0F4-7AD0-467A-9F6A-115AE42C6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EC7EB-3CE1-4AB9-B550-ABE3BDB8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52FBC-F03D-4DBE-881C-81F704007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2CFF1-18A3-4E4F-8AF6-04B75F13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155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C2EC4-DC2B-42D6-BFC6-5C3ABE771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72226-4FEA-43F5-ABD8-1DE78AF71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4DF22-6CEC-4B88-A002-6823D67E1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49272-0111-4310-A9F0-C1CA0D6AA5E5}" type="datetimeFigureOut">
              <a:rPr lang="en-NL" smtClean="0"/>
              <a:t>18/08/2026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D0F09-57CA-4039-A9D3-79C8F5692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5B711-1B30-4B10-9D22-C04220AA3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2B58C-A7BC-47B6-BD1E-CE8C9891DD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703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6FA2-7221-489B-AB51-A8440470F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SQL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03C72-2A16-4BC3-8AC1-0B03137BE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60144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D261-0D2C-41B9-9E28-43DF575D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600" noProof="0" dirty="0"/>
              <a:t>Huiswerk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B503-C44F-453E-9465-D42E4557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94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De sales database was niet erg goed gemodelleerd....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Kun jij de opzet van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Transacties</a:t>
            </a:r>
            <a:r>
              <a:rPr lang="nl-NL" sz="2000" noProof="0" dirty="0"/>
              <a:t> en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Producten</a:t>
            </a:r>
            <a:r>
              <a:rPr lang="nl-NL" sz="2000" noProof="0" dirty="0"/>
              <a:t> verbeteren?</a:t>
            </a:r>
            <a:endParaRPr lang="nl-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Maak een ERD waarin je de entiteiten en hun relaties weergeeft.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Maak een SQL script om de tabellen aan te maken.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FB1EF2-5E0A-4A37-8F20-78CE7AFACEC9}"/>
              </a:ext>
            </a:extLst>
          </p:cNvPr>
          <p:cNvSpPr txBox="1">
            <a:spLocks/>
          </p:cNvSpPr>
          <p:nvPr/>
        </p:nvSpPr>
        <p:spPr>
          <a:xfrm>
            <a:off x="6284360" y="1825625"/>
            <a:ext cx="50694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nl-NL" sz="2000" noProof="0" dirty="0"/>
              <a:t>Hoe zou je de transacties netjes genormaliseerd opslaan (3NF)?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Hoe ga je om met prijswijzigingen of tijdelijke kortingsacties?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Wat doe je als producten heel veel verschillende eigenschappen hebben?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Hoe ga je om met hiërarchische product categorieën (levensmiddelen &gt; vers &gt; fruit)?</a:t>
            </a:r>
          </a:p>
          <a:p>
            <a:pPr marL="0" indent="0">
              <a:buNone/>
            </a:pPr>
            <a:endParaRPr lang="nl-NL" sz="20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E5960F-5A4D-4A60-91C5-9D07E2269090}"/>
              </a:ext>
            </a:extLst>
          </p:cNvPr>
          <p:cNvCxnSpPr/>
          <p:nvPr/>
        </p:nvCxnSpPr>
        <p:spPr>
          <a:xfrm>
            <a:off x="6096000" y="1825625"/>
            <a:ext cx="0" cy="43513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3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660D0A5-4D69-4009-939F-E9EA258F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Transacties: 3NF</a:t>
            </a:r>
          </a:p>
        </p:txBody>
      </p:sp>
      <p:pic>
        <p:nvPicPr>
          <p:cNvPr id="13" name="Picture 12" descr="A diagram of a computer&#10;&#10;Description automatically generated">
            <a:extLst>
              <a:ext uri="{FF2B5EF4-FFF2-40B4-BE49-F238E27FC236}">
                <a16:creationId xmlns:a16="http://schemas.microsoft.com/office/drawing/2014/main" id="{C461387E-858E-B450-F7AB-9A8601615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700" y="1926359"/>
            <a:ext cx="7574936" cy="39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ABE8-F89B-BB4D-E81F-C9137671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46B6D5-BB82-E669-6E1B-E8A66CA51C25}"/>
              </a:ext>
            </a:extLst>
          </p:cNvPr>
          <p:cNvCxnSpPr/>
          <p:nvPr/>
        </p:nvCxnSpPr>
        <p:spPr>
          <a:xfrm>
            <a:off x="2357307" y="2214694"/>
            <a:ext cx="0" cy="3238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DF4A0D-6389-BE60-A57C-41E93AD52964}"/>
              </a:ext>
            </a:extLst>
          </p:cNvPr>
          <p:cNvCxnSpPr/>
          <p:nvPr/>
        </p:nvCxnSpPr>
        <p:spPr>
          <a:xfrm>
            <a:off x="2340529" y="5452844"/>
            <a:ext cx="81289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73C6D5-9936-2AA4-B1C9-2984BBFB3958}"/>
              </a:ext>
            </a:extLst>
          </p:cNvPr>
          <p:cNvSpPr txBox="1"/>
          <p:nvPr/>
        </p:nvSpPr>
        <p:spPr>
          <a:xfrm>
            <a:off x="6096000" y="5536734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/>
              <a:t>Tijd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E91113-251B-9543-7CBA-F7276E8C4B8A}"/>
              </a:ext>
            </a:extLst>
          </p:cNvPr>
          <p:cNvSpPr/>
          <p:nvPr/>
        </p:nvSpPr>
        <p:spPr>
          <a:xfrm>
            <a:off x="2357307" y="3540156"/>
            <a:ext cx="2843864" cy="3523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€ 3,39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04D1F6-E481-3690-31C9-ED2F593293F0}"/>
              </a:ext>
            </a:extLst>
          </p:cNvPr>
          <p:cNvSpPr/>
          <p:nvPr/>
        </p:nvSpPr>
        <p:spPr>
          <a:xfrm>
            <a:off x="5201171" y="3999455"/>
            <a:ext cx="1921077" cy="3523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€ 3,29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919DD9-5EA9-554C-7878-83A3EB6ADB81}"/>
              </a:ext>
            </a:extLst>
          </p:cNvPr>
          <p:cNvSpPr/>
          <p:nvPr/>
        </p:nvSpPr>
        <p:spPr>
          <a:xfrm>
            <a:off x="7122248" y="4465046"/>
            <a:ext cx="3347203" cy="3523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noProof="0" dirty="0"/>
              <a:t>€ 3,19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4E2AE5-BD5A-0B45-EEBF-17F0ECD5E419}"/>
              </a:ext>
            </a:extLst>
          </p:cNvPr>
          <p:cNvCxnSpPr/>
          <p:nvPr/>
        </p:nvCxnSpPr>
        <p:spPr>
          <a:xfrm>
            <a:off x="3842158" y="2357306"/>
            <a:ext cx="0" cy="10716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99F731-587D-D005-213E-E7FD3FA60C24}"/>
              </a:ext>
            </a:extLst>
          </p:cNvPr>
          <p:cNvSpPr txBox="1"/>
          <p:nvPr/>
        </p:nvSpPr>
        <p:spPr>
          <a:xfrm>
            <a:off x="5681338" y="1841056"/>
            <a:ext cx="1223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/>
              <a:t>Transacties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7646876-71F3-9787-70AA-E0FBD80DBB25}"/>
              </a:ext>
            </a:extLst>
          </p:cNvPr>
          <p:cNvCxnSpPr/>
          <p:nvPr/>
        </p:nvCxnSpPr>
        <p:spPr>
          <a:xfrm>
            <a:off x="4739778" y="2357306"/>
            <a:ext cx="0" cy="10716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3A0AD3-66F7-BF65-D9E2-23419BE4FC36}"/>
              </a:ext>
            </a:extLst>
          </p:cNvPr>
          <p:cNvCxnSpPr>
            <a:cxnSpLocks/>
          </p:cNvCxnSpPr>
          <p:nvPr/>
        </p:nvCxnSpPr>
        <p:spPr>
          <a:xfrm>
            <a:off x="6293141" y="2362554"/>
            <a:ext cx="0" cy="1553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7327FC-7A32-4083-71DE-515E0530BF8E}"/>
              </a:ext>
            </a:extLst>
          </p:cNvPr>
          <p:cNvCxnSpPr>
            <a:cxnSpLocks/>
          </p:cNvCxnSpPr>
          <p:nvPr/>
        </p:nvCxnSpPr>
        <p:spPr>
          <a:xfrm>
            <a:off x="7618490" y="2353108"/>
            <a:ext cx="0" cy="20280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3684E7-3571-DB26-847D-57DEA666A438}"/>
              </a:ext>
            </a:extLst>
          </p:cNvPr>
          <p:cNvCxnSpPr>
            <a:cxnSpLocks/>
          </p:cNvCxnSpPr>
          <p:nvPr/>
        </p:nvCxnSpPr>
        <p:spPr>
          <a:xfrm>
            <a:off x="9635284" y="2362554"/>
            <a:ext cx="0" cy="19977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8CD0C9FA-4248-339F-9696-2A5A6022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Producten: Prijswijzigingen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797A50A-A0D5-BB90-9511-144E56AE334C}"/>
              </a:ext>
            </a:extLst>
          </p:cNvPr>
          <p:cNvCxnSpPr>
            <a:cxnSpLocks/>
          </p:cNvCxnSpPr>
          <p:nvPr/>
        </p:nvCxnSpPr>
        <p:spPr>
          <a:xfrm>
            <a:off x="3842158" y="2353108"/>
            <a:ext cx="57931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1F0533E-5195-4D20-5FBB-9BCBD5A372E8}"/>
              </a:ext>
            </a:extLst>
          </p:cNvPr>
          <p:cNvSpPr txBox="1"/>
          <p:nvPr/>
        </p:nvSpPr>
        <p:spPr>
          <a:xfrm rot="16200000">
            <a:off x="1746751" y="3649103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Prijs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33713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660D0A5-4D69-4009-939F-E9EA258F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Producten: Prijzen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1B5377-1D43-F8A3-9910-96663104B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00016"/>
              </p:ext>
            </p:extLst>
          </p:nvPr>
        </p:nvGraphicFramePr>
        <p:xfrm>
          <a:off x="838197" y="3538676"/>
          <a:ext cx="56376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1499242464"/>
                    </a:ext>
                  </a:extLst>
                </a:gridCol>
                <a:gridCol w="945000">
                  <a:extLst>
                    <a:ext uri="{9D8B030D-6E8A-4147-A177-3AD203B41FA5}">
                      <a16:colId xmlns:a16="http://schemas.microsoft.com/office/drawing/2014/main" val="92805519"/>
                    </a:ext>
                  </a:extLst>
                </a:gridCol>
                <a:gridCol w="956699">
                  <a:extLst>
                    <a:ext uri="{9D8B030D-6E8A-4147-A177-3AD203B41FA5}">
                      <a16:colId xmlns:a16="http://schemas.microsoft.com/office/drawing/2014/main" val="1217006763"/>
                    </a:ext>
                  </a:extLst>
                </a:gridCol>
                <a:gridCol w="1325145">
                  <a:extLst>
                    <a:ext uri="{9D8B030D-6E8A-4147-A177-3AD203B41FA5}">
                      <a16:colId xmlns:a16="http://schemas.microsoft.com/office/drawing/2014/main" val="823250264"/>
                    </a:ext>
                  </a:extLst>
                </a:gridCol>
                <a:gridCol w="1465820">
                  <a:extLst>
                    <a:ext uri="{9D8B030D-6E8A-4147-A177-3AD203B41FA5}">
                      <a16:colId xmlns:a16="http://schemas.microsoft.com/office/drawing/2014/main" val="427135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PrijsId</a:t>
                      </a:r>
                      <a:endParaRPr lang="nl-NL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ProductId</a:t>
                      </a:r>
                      <a:endParaRPr lang="nl-NL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Prijs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GeldigVan</a:t>
                      </a:r>
                      <a:endParaRPr lang="nl-NL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GeldigTot</a:t>
                      </a:r>
                      <a:endParaRPr lang="nl-NL" sz="14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5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13,25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01-01-2022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09-02-2022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50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14,99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09-02-2022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9663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26C64E-AF48-DB8F-BE4A-7BEB8DB62583}"/>
              </a:ext>
            </a:extLst>
          </p:cNvPr>
          <p:cNvSpPr txBox="1"/>
          <p:nvPr/>
        </p:nvSpPr>
        <p:spPr>
          <a:xfrm>
            <a:off x="838197" y="1745440"/>
            <a:ext cx="1046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Producten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ED465-A6A0-07DF-F186-FA0592ECBBC3}"/>
              </a:ext>
            </a:extLst>
          </p:cNvPr>
          <p:cNvSpPr txBox="1"/>
          <p:nvPr/>
        </p:nvSpPr>
        <p:spPr>
          <a:xfrm>
            <a:off x="838199" y="3203464"/>
            <a:ext cx="1399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 err="1"/>
              <a:t>ProductPrijzen</a:t>
            </a:r>
            <a:endParaRPr lang="nl-NL" sz="16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699C09-5BF9-C09E-7DD0-B6E8A80C80FF}"/>
              </a:ext>
            </a:extLst>
          </p:cNvPr>
          <p:cNvSpPr txBox="1"/>
          <p:nvPr/>
        </p:nvSpPr>
        <p:spPr>
          <a:xfrm>
            <a:off x="7061198" y="3572933"/>
            <a:ext cx="429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noProof="0" dirty="0"/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9B617D3B-2788-F442-D654-2A492AF9B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164345"/>
              </p:ext>
            </p:extLst>
          </p:nvPr>
        </p:nvGraphicFramePr>
        <p:xfrm>
          <a:off x="838197" y="2076236"/>
          <a:ext cx="563766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891">
                  <a:extLst>
                    <a:ext uri="{9D8B030D-6E8A-4147-A177-3AD203B41FA5}">
                      <a16:colId xmlns:a16="http://schemas.microsoft.com/office/drawing/2014/main" val="2260167414"/>
                    </a:ext>
                  </a:extLst>
                </a:gridCol>
                <a:gridCol w="2378644">
                  <a:extLst>
                    <a:ext uri="{9D8B030D-6E8A-4147-A177-3AD203B41FA5}">
                      <a16:colId xmlns:a16="http://schemas.microsoft.com/office/drawing/2014/main" val="3113348022"/>
                    </a:ext>
                  </a:extLst>
                </a:gridCol>
                <a:gridCol w="1535884">
                  <a:extLst>
                    <a:ext uri="{9D8B030D-6E8A-4147-A177-3AD203B41FA5}">
                      <a16:colId xmlns:a16="http://schemas.microsoft.com/office/drawing/2014/main" val="2553575160"/>
                    </a:ext>
                  </a:extLst>
                </a:gridCol>
                <a:gridCol w="488245">
                  <a:extLst>
                    <a:ext uri="{9D8B030D-6E8A-4147-A177-3AD203B41FA5}">
                      <a16:colId xmlns:a16="http://schemas.microsoft.com/office/drawing/2014/main" val="330545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ProductId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Halfvolle melk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EAN001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4988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55DC974-E48A-F9F3-3E61-FDE63304CD25}"/>
              </a:ext>
            </a:extLst>
          </p:cNvPr>
          <p:cNvSpPr txBox="1"/>
          <p:nvPr/>
        </p:nvSpPr>
        <p:spPr>
          <a:xfrm>
            <a:off x="6837528" y="1949713"/>
            <a:ext cx="4448540" cy="2031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NL" b="1" noProof="0" dirty="0"/>
              <a:t>Prijswijzigingen bijhouden</a:t>
            </a:r>
          </a:p>
          <a:p>
            <a:r>
              <a:rPr lang="nl-NL" noProof="0" dirty="0"/>
              <a:t>Producten en prijzen opsplitsen in twee tabellen.</a:t>
            </a:r>
          </a:p>
          <a:p>
            <a:endParaRPr lang="nl-NL" noProof="0" dirty="0"/>
          </a:p>
          <a:p>
            <a:endParaRPr lang="nl-NL" noProof="0" dirty="0"/>
          </a:p>
          <a:p>
            <a:endParaRPr lang="nl-NL" noProof="0" dirty="0"/>
          </a:p>
          <a:p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ProductPrijzen</a:t>
            </a:r>
            <a:r>
              <a:rPr lang="nl-NL" noProof="0" dirty="0"/>
              <a:t> tabel geeft historisch overzicht van de prijs.</a:t>
            </a:r>
          </a:p>
        </p:txBody>
      </p:sp>
    </p:spTree>
    <p:extLst>
      <p:ext uri="{BB962C8B-B14F-4D97-AF65-F5344CB8AC3E}">
        <p14:creationId xmlns:p14="http://schemas.microsoft.com/office/powerpoint/2010/main" val="256415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3F05-E824-8E4B-516D-E426C945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E0DDFF68-4FA0-1250-E625-0EAA43A7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Producten: Prijzen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BDD5CC-F6AA-CBFA-4E6E-AC8ED70CA033}"/>
              </a:ext>
            </a:extLst>
          </p:cNvPr>
          <p:cNvGraphicFramePr>
            <a:graphicFrameLocks noGrp="1"/>
          </p:cNvGraphicFramePr>
          <p:nvPr/>
        </p:nvGraphicFramePr>
        <p:xfrm>
          <a:off x="838197" y="3538676"/>
          <a:ext cx="56376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1499242464"/>
                    </a:ext>
                  </a:extLst>
                </a:gridCol>
                <a:gridCol w="945000">
                  <a:extLst>
                    <a:ext uri="{9D8B030D-6E8A-4147-A177-3AD203B41FA5}">
                      <a16:colId xmlns:a16="http://schemas.microsoft.com/office/drawing/2014/main" val="92805519"/>
                    </a:ext>
                  </a:extLst>
                </a:gridCol>
                <a:gridCol w="956699">
                  <a:extLst>
                    <a:ext uri="{9D8B030D-6E8A-4147-A177-3AD203B41FA5}">
                      <a16:colId xmlns:a16="http://schemas.microsoft.com/office/drawing/2014/main" val="1217006763"/>
                    </a:ext>
                  </a:extLst>
                </a:gridCol>
                <a:gridCol w="1325145">
                  <a:extLst>
                    <a:ext uri="{9D8B030D-6E8A-4147-A177-3AD203B41FA5}">
                      <a16:colId xmlns:a16="http://schemas.microsoft.com/office/drawing/2014/main" val="823250264"/>
                    </a:ext>
                  </a:extLst>
                </a:gridCol>
                <a:gridCol w="1465820">
                  <a:extLst>
                    <a:ext uri="{9D8B030D-6E8A-4147-A177-3AD203B41FA5}">
                      <a16:colId xmlns:a16="http://schemas.microsoft.com/office/drawing/2014/main" val="4271352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PrijsId</a:t>
                      </a:r>
                      <a:endParaRPr lang="nl-NL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ProductId</a:t>
                      </a:r>
                      <a:endParaRPr lang="nl-NL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Prijs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GeldigVan</a:t>
                      </a:r>
                      <a:endParaRPr lang="nl-NL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GeldigTot</a:t>
                      </a:r>
                      <a:endParaRPr lang="nl-NL" sz="14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5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13,25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01-01-2022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09-02-2022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50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14,99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09-02-2022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9663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9856B0C-307C-CDF6-B1CF-4DF22F642767}"/>
              </a:ext>
            </a:extLst>
          </p:cNvPr>
          <p:cNvSpPr txBox="1"/>
          <p:nvPr/>
        </p:nvSpPr>
        <p:spPr>
          <a:xfrm>
            <a:off x="838197" y="1745440"/>
            <a:ext cx="1046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/>
              <a:t>Producten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BA702-6622-CB51-3F65-C7E9BBBE3456}"/>
              </a:ext>
            </a:extLst>
          </p:cNvPr>
          <p:cNvSpPr txBox="1"/>
          <p:nvPr/>
        </p:nvSpPr>
        <p:spPr>
          <a:xfrm>
            <a:off x="838199" y="3203464"/>
            <a:ext cx="1399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 err="1"/>
              <a:t>ProductPrijzen</a:t>
            </a:r>
            <a:endParaRPr lang="nl-NL" sz="1600" noProof="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3B3F5E1-5A45-5F26-1F27-96F82EDAA6BF}"/>
              </a:ext>
            </a:extLst>
          </p:cNvPr>
          <p:cNvGraphicFramePr>
            <a:graphicFrameLocks noGrp="1"/>
          </p:cNvGraphicFramePr>
          <p:nvPr/>
        </p:nvGraphicFramePr>
        <p:xfrm>
          <a:off x="838202" y="5376358"/>
          <a:ext cx="330389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497">
                  <a:extLst>
                    <a:ext uri="{9D8B030D-6E8A-4147-A177-3AD203B41FA5}">
                      <a16:colId xmlns:a16="http://schemas.microsoft.com/office/drawing/2014/main" val="92805519"/>
                    </a:ext>
                  </a:extLst>
                </a:gridCol>
                <a:gridCol w="1023582">
                  <a:extLst>
                    <a:ext uri="{9D8B030D-6E8A-4147-A177-3AD203B41FA5}">
                      <a16:colId xmlns:a16="http://schemas.microsoft.com/office/drawing/2014/main" val="1217006763"/>
                    </a:ext>
                  </a:extLst>
                </a:gridCol>
                <a:gridCol w="975815">
                  <a:extLst>
                    <a:ext uri="{9D8B030D-6E8A-4147-A177-3AD203B41FA5}">
                      <a16:colId xmlns:a16="http://schemas.microsoft.com/office/drawing/2014/main" val="823250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TransactieId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PrijsId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/>
                        <a:t>Aantal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50808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329025A-EA40-BE39-8298-1A667E1E10BE}"/>
              </a:ext>
            </a:extLst>
          </p:cNvPr>
          <p:cNvSpPr txBox="1"/>
          <p:nvPr/>
        </p:nvSpPr>
        <p:spPr>
          <a:xfrm>
            <a:off x="838197" y="5033402"/>
            <a:ext cx="1481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noProof="0" dirty="0" err="1"/>
              <a:t>TransactieRegel</a:t>
            </a:r>
            <a:endParaRPr lang="nl-NL" sz="16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3488B-460B-2CEF-1F9A-F81D2257A1C5}"/>
              </a:ext>
            </a:extLst>
          </p:cNvPr>
          <p:cNvSpPr txBox="1"/>
          <p:nvPr/>
        </p:nvSpPr>
        <p:spPr>
          <a:xfrm>
            <a:off x="7061198" y="3572933"/>
            <a:ext cx="429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noProof="0" dirty="0"/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7DFEE04E-2188-9358-A330-0DA76EFD2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71694"/>
              </p:ext>
            </p:extLst>
          </p:nvPr>
        </p:nvGraphicFramePr>
        <p:xfrm>
          <a:off x="838197" y="2076236"/>
          <a:ext cx="563766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891">
                  <a:extLst>
                    <a:ext uri="{9D8B030D-6E8A-4147-A177-3AD203B41FA5}">
                      <a16:colId xmlns:a16="http://schemas.microsoft.com/office/drawing/2014/main" val="2260167414"/>
                    </a:ext>
                  </a:extLst>
                </a:gridCol>
                <a:gridCol w="2378644">
                  <a:extLst>
                    <a:ext uri="{9D8B030D-6E8A-4147-A177-3AD203B41FA5}">
                      <a16:colId xmlns:a16="http://schemas.microsoft.com/office/drawing/2014/main" val="3113348022"/>
                    </a:ext>
                  </a:extLst>
                </a:gridCol>
                <a:gridCol w="1535884">
                  <a:extLst>
                    <a:ext uri="{9D8B030D-6E8A-4147-A177-3AD203B41FA5}">
                      <a16:colId xmlns:a16="http://schemas.microsoft.com/office/drawing/2014/main" val="2553575160"/>
                    </a:ext>
                  </a:extLst>
                </a:gridCol>
                <a:gridCol w="488245">
                  <a:extLst>
                    <a:ext uri="{9D8B030D-6E8A-4147-A177-3AD203B41FA5}">
                      <a16:colId xmlns:a16="http://schemas.microsoft.com/office/drawing/2014/main" val="330545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ProductId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Halfvolle melk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EAN001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4988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4269A55-B71F-5536-2A04-894AF7CECA7C}"/>
              </a:ext>
            </a:extLst>
          </p:cNvPr>
          <p:cNvSpPr txBox="1"/>
          <p:nvPr/>
        </p:nvSpPr>
        <p:spPr>
          <a:xfrm>
            <a:off x="6837528" y="1949713"/>
            <a:ext cx="4448540" cy="39703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NL" b="1" noProof="0" dirty="0"/>
              <a:t>Prijswijzigingen bijhouden</a:t>
            </a:r>
          </a:p>
          <a:p>
            <a:r>
              <a:rPr lang="nl-NL" noProof="0" dirty="0"/>
              <a:t>Producten en prijzen opsplitsen in twee tabellen.</a:t>
            </a:r>
          </a:p>
          <a:p>
            <a:endParaRPr lang="nl-NL" noProof="0" dirty="0"/>
          </a:p>
          <a:p>
            <a:endParaRPr lang="nl-NL" dirty="0"/>
          </a:p>
          <a:p>
            <a:endParaRPr lang="nl-NL" noProof="0" dirty="0"/>
          </a:p>
          <a:p>
            <a:r>
              <a:rPr lang="nl-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ProductPrijzen</a:t>
            </a:r>
            <a:r>
              <a:rPr lang="nl-NL" noProof="0" dirty="0"/>
              <a:t> tabel geeft historisch overzicht van de prijs.</a:t>
            </a:r>
          </a:p>
          <a:p>
            <a:endParaRPr lang="nl-NL" noProof="0" dirty="0"/>
          </a:p>
          <a:p>
            <a:endParaRPr lang="nl-NL" dirty="0"/>
          </a:p>
          <a:p>
            <a:endParaRPr lang="nl-NL" dirty="0"/>
          </a:p>
          <a:p>
            <a:endParaRPr lang="nl-NL" noProof="0" dirty="0"/>
          </a:p>
          <a:p>
            <a:r>
              <a:rPr lang="nl-NL" noProof="0" dirty="0"/>
              <a:t>Bij transacties worden beiden aan elkaar gekoppeld</a:t>
            </a:r>
            <a:r>
              <a:rPr lang="nl-NL" dirty="0"/>
              <a:t>.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38831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C455-A441-75C8-B53C-D673AF9B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DD459B88-212C-E30E-1A01-6DF678CA2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Transacties en prijzen</a:t>
            </a:r>
          </a:p>
        </p:txBody>
      </p:sp>
      <p:pic>
        <p:nvPicPr>
          <p:cNvPr id="3" name="Picture 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8916183-8EA3-429A-5077-DDC43820E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4" y="1874985"/>
            <a:ext cx="10089754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2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660D0A5-4D69-4009-939F-E9EA258F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Producten: Kenmerken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67974EE-7976-B876-F99D-EA58284ED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621923"/>
              </p:ext>
            </p:extLst>
          </p:nvPr>
        </p:nvGraphicFramePr>
        <p:xfrm>
          <a:off x="838200" y="2316480"/>
          <a:ext cx="44093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840">
                  <a:extLst>
                    <a:ext uri="{9D8B030D-6E8A-4147-A177-3AD203B41FA5}">
                      <a16:colId xmlns:a16="http://schemas.microsoft.com/office/drawing/2014/main" val="2260167414"/>
                    </a:ext>
                  </a:extLst>
                </a:gridCol>
                <a:gridCol w="1860400">
                  <a:extLst>
                    <a:ext uri="{9D8B030D-6E8A-4147-A177-3AD203B41FA5}">
                      <a16:colId xmlns:a16="http://schemas.microsoft.com/office/drawing/2014/main" val="3113348022"/>
                    </a:ext>
                  </a:extLst>
                </a:gridCol>
                <a:gridCol w="1201255">
                  <a:extLst>
                    <a:ext uri="{9D8B030D-6E8A-4147-A177-3AD203B41FA5}">
                      <a16:colId xmlns:a16="http://schemas.microsoft.com/office/drawing/2014/main" val="2553575160"/>
                    </a:ext>
                  </a:extLst>
                </a:gridCol>
                <a:gridCol w="381869">
                  <a:extLst>
                    <a:ext uri="{9D8B030D-6E8A-4147-A177-3AD203B41FA5}">
                      <a16:colId xmlns:a16="http://schemas.microsoft.com/office/drawing/2014/main" val="330545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ProductId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Halfvolle melk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EAN001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49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Witbrood (half)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EAN002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807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D21865-C4EA-76CC-F22B-4F684B633F56}"/>
              </a:ext>
            </a:extLst>
          </p:cNvPr>
          <p:cNvSpPr txBox="1"/>
          <p:nvPr/>
        </p:nvSpPr>
        <p:spPr>
          <a:xfrm>
            <a:off x="838200" y="1947148"/>
            <a:ext cx="11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/>
              <a:t>Producten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B9E32-91C1-16A5-98F9-ABA1E44F6B0A}"/>
              </a:ext>
            </a:extLst>
          </p:cNvPr>
          <p:cNvSpPr txBox="1"/>
          <p:nvPr/>
        </p:nvSpPr>
        <p:spPr>
          <a:xfrm>
            <a:off x="5960534" y="1949713"/>
            <a:ext cx="5325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noProof="0" dirty="0"/>
              <a:t>Probleem:</a:t>
            </a:r>
          </a:p>
          <a:p>
            <a:r>
              <a:rPr lang="nl-NL" noProof="0" dirty="0"/>
              <a:t>Producten hebben veel unieke kenmerken...</a:t>
            </a:r>
          </a:p>
          <a:p>
            <a:endParaRPr lang="nl-NL" noProof="0" dirty="0"/>
          </a:p>
          <a:p>
            <a:endParaRPr lang="nl-NL" noProof="0" dirty="0"/>
          </a:p>
          <a:p>
            <a:r>
              <a:rPr lang="nl-NL" b="1" noProof="0" dirty="0"/>
              <a:t>Oplossing: Kolommen in een tabel?</a:t>
            </a:r>
          </a:p>
          <a:p>
            <a:r>
              <a:rPr lang="nl-NL" noProof="0" dirty="0"/>
              <a:t>Groot aantal kolommen, veel ontbrekende waardes…</a:t>
            </a:r>
          </a:p>
        </p:txBody>
      </p:sp>
    </p:spTree>
    <p:extLst>
      <p:ext uri="{BB962C8B-B14F-4D97-AF65-F5344CB8AC3E}">
        <p14:creationId xmlns:p14="http://schemas.microsoft.com/office/powerpoint/2010/main" val="489352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B660D0A5-4D69-4009-939F-E9EA258F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Producten: Kenmerken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21865-C4EA-76CC-F22B-4F684B633F56}"/>
              </a:ext>
            </a:extLst>
          </p:cNvPr>
          <p:cNvSpPr txBox="1"/>
          <p:nvPr/>
        </p:nvSpPr>
        <p:spPr>
          <a:xfrm>
            <a:off x="838200" y="1947148"/>
            <a:ext cx="11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/>
              <a:t>Producten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DA19259-FE08-05F2-9024-51D4186A8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135318"/>
              </p:ext>
            </p:extLst>
          </p:nvPr>
        </p:nvGraphicFramePr>
        <p:xfrm>
          <a:off x="838200" y="4360333"/>
          <a:ext cx="44111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812">
                  <a:extLst>
                    <a:ext uri="{9D8B030D-6E8A-4147-A177-3AD203B41FA5}">
                      <a16:colId xmlns:a16="http://schemas.microsoft.com/office/drawing/2014/main" val="1547597187"/>
                    </a:ext>
                  </a:extLst>
                </a:gridCol>
                <a:gridCol w="1311797">
                  <a:extLst>
                    <a:ext uri="{9D8B030D-6E8A-4147-A177-3AD203B41FA5}">
                      <a16:colId xmlns:a16="http://schemas.microsoft.com/office/drawing/2014/main" val="1209011704"/>
                    </a:ext>
                  </a:extLst>
                </a:gridCol>
                <a:gridCol w="2103524">
                  <a:extLst>
                    <a:ext uri="{9D8B030D-6E8A-4147-A177-3AD203B41FA5}">
                      <a16:colId xmlns:a16="http://schemas.microsoft.com/office/drawing/2014/main" val="3853541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ProductId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Kenmerk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Waarde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68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Calorieën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560 kcal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98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Allergie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Melkeiwit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5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Allergie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Gluten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2855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47233D-022F-C419-2A30-26021B9DF157}"/>
              </a:ext>
            </a:extLst>
          </p:cNvPr>
          <p:cNvSpPr txBox="1"/>
          <p:nvPr/>
        </p:nvSpPr>
        <p:spPr>
          <a:xfrm>
            <a:off x="5960534" y="1949713"/>
            <a:ext cx="53255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noProof="0" dirty="0"/>
              <a:t>Probleem:</a:t>
            </a:r>
          </a:p>
          <a:p>
            <a:r>
              <a:rPr lang="nl-NL" noProof="0" dirty="0"/>
              <a:t>Producten hebben (veel) verschillende kenmerken...</a:t>
            </a:r>
          </a:p>
          <a:p>
            <a:endParaRPr lang="nl-NL" noProof="0" dirty="0"/>
          </a:p>
          <a:p>
            <a:endParaRPr lang="nl-NL" noProof="0" dirty="0"/>
          </a:p>
          <a:p>
            <a:r>
              <a:rPr lang="nl-NL" b="1" noProof="0" dirty="0"/>
              <a:t>Oplossing: Kolommen in een tabel?</a:t>
            </a:r>
          </a:p>
          <a:p>
            <a:r>
              <a:rPr lang="nl-NL" noProof="0" dirty="0"/>
              <a:t>Groot aantal kolommen, veel ontbrekende waardes…</a:t>
            </a:r>
          </a:p>
          <a:p>
            <a:endParaRPr lang="nl-NL" noProof="0" dirty="0"/>
          </a:p>
          <a:p>
            <a:endParaRPr lang="nl-NL" noProof="0" dirty="0"/>
          </a:p>
          <a:p>
            <a:r>
              <a:rPr lang="nl-NL" b="1" noProof="0" dirty="0"/>
              <a:t>Alternatief:</a:t>
            </a:r>
          </a:p>
          <a:p>
            <a:pPr marL="285750" indent="-285750">
              <a:buFontTx/>
              <a:buChar char="-"/>
            </a:pPr>
            <a:r>
              <a:rPr lang="nl-NL" noProof="0" dirty="0"/>
              <a:t>Gedeelde kenmerken in een basis tabel.</a:t>
            </a:r>
          </a:p>
          <a:p>
            <a:pPr marL="285750" indent="-285750">
              <a:buFontTx/>
              <a:buChar char="-"/>
            </a:pPr>
            <a:r>
              <a:rPr lang="nl-NL" dirty="0"/>
              <a:t>Unieke kenmerken in een aparte tabel.</a:t>
            </a:r>
            <a:endParaRPr lang="nl-NL" noProof="0" dirty="0"/>
          </a:p>
          <a:p>
            <a:pPr marL="285750" indent="-285750">
              <a:buFontTx/>
              <a:buChar char="-"/>
            </a:pPr>
            <a:r>
              <a:rPr lang="nl-NL" noProof="0" dirty="0"/>
              <a:t>Format: product + kenmerk + waarde</a:t>
            </a:r>
            <a:r>
              <a:rPr lang="nl-NL" dirty="0"/>
              <a:t>.</a:t>
            </a:r>
            <a:endParaRPr lang="nl-NL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569C8-F9A7-501B-EA14-29EEDD351B3E}"/>
              </a:ext>
            </a:extLst>
          </p:cNvPr>
          <p:cNvSpPr txBox="1"/>
          <p:nvPr/>
        </p:nvSpPr>
        <p:spPr>
          <a:xfrm>
            <a:off x="838199" y="3991001"/>
            <a:ext cx="198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 err="1"/>
              <a:t>ProductKenmerken</a:t>
            </a:r>
            <a:endParaRPr lang="nl-NL" noProof="0" dirty="0"/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2524BFFA-F893-A1FA-3965-8CAED848B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03926"/>
              </p:ext>
            </p:extLst>
          </p:nvPr>
        </p:nvGraphicFramePr>
        <p:xfrm>
          <a:off x="838200" y="2316480"/>
          <a:ext cx="44093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840">
                  <a:extLst>
                    <a:ext uri="{9D8B030D-6E8A-4147-A177-3AD203B41FA5}">
                      <a16:colId xmlns:a16="http://schemas.microsoft.com/office/drawing/2014/main" val="2260167414"/>
                    </a:ext>
                  </a:extLst>
                </a:gridCol>
                <a:gridCol w="1860400">
                  <a:extLst>
                    <a:ext uri="{9D8B030D-6E8A-4147-A177-3AD203B41FA5}">
                      <a16:colId xmlns:a16="http://schemas.microsoft.com/office/drawing/2014/main" val="3113348022"/>
                    </a:ext>
                  </a:extLst>
                </a:gridCol>
                <a:gridCol w="1201255">
                  <a:extLst>
                    <a:ext uri="{9D8B030D-6E8A-4147-A177-3AD203B41FA5}">
                      <a16:colId xmlns:a16="http://schemas.microsoft.com/office/drawing/2014/main" val="2553575160"/>
                    </a:ext>
                  </a:extLst>
                </a:gridCol>
                <a:gridCol w="381869">
                  <a:extLst>
                    <a:ext uri="{9D8B030D-6E8A-4147-A177-3AD203B41FA5}">
                      <a16:colId xmlns:a16="http://schemas.microsoft.com/office/drawing/2014/main" val="330545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ProductId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Naam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Halfvolle melk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EAN001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49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Witbrood (half)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EAN002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80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805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031D9-105A-61BE-D71F-8EF8EFB0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4ACD75C2-C481-A30D-851C-1D9D12B9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 kenmerken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BEED2DB-8126-87B6-F834-ECCBBCC4D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89" y="1875228"/>
            <a:ext cx="10409822" cy="40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97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C345D-C597-7903-55EA-10E5A954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2C9D7E5D-4FFF-F9BA-3A40-6917B2E1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 categorieën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F58DB-AE04-F089-B8FA-822DDC458D21}"/>
              </a:ext>
            </a:extLst>
          </p:cNvPr>
          <p:cNvSpPr txBox="1"/>
          <p:nvPr/>
        </p:nvSpPr>
        <p:spPr>
          <a:xfrm>
            <a:off x="838200" y="1947148"/>
            <a:ext cx="108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/>
              <a:t>Categorie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95ADA-9674-119C-9990-04784C831A29}"/>
              </a:ext>
            </a:extLst>
          </p:cNvPr>
          <p:cNvSpPr txBox="1"/>
          <p:nvPr/>
        </p:nvSpPr>
        <p:spPr>
          <a:xfrm>
            <a:off x="5960534" y="1949713"/>
            <a:ext cx="5325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noProof="0" dirty="0"/>
              <a:t>Probleem:</a:t>
            </a:r>
          </a:p>
          <a:p>
            <a:r>
              <a:rPr lang="nl-NL" noProof="0" dirty="0"/>
              <a:t>Hoe ga je om met hiërarchische product categorieën?</a:t>
            </a:r>
          </a:p>
          <a:p>
            <a:endParaRPr lang="nl-NL" noProof="0" dirty="0"/>
          </a:p>
          <a:p>
            <a:endParaRPr lang="nl-NL" noProof="0" dirty="0"/>
          </a:p>
          <a:p>
            <a:r>
              <a:rPr lang="nl-NL" b="1" noProof="0" dirty="0"/>
              <a:t>Oplossing: Kolommen in een tabel?</a:t>
            </a:r>
          </a:p>
          <a:p>
            <a:r>
              <a:rPr lang="nl-NL" noProof="0" dirty="0"/>
              <a:t>Hiërarchie heeft maximale diepte, veel herhaling...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D58F2C9A-31B0-2A96-1E76-FDB6669B3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417905"/>
              </p:ext>
            </p:extLst>
          </p:nvPr>
        </p:nvGraphicFramePr>
        <p:xfrm>
          <a:off x="838200" y="2316480"/>
          <a:ext cx="44093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007">
                  <a:extLst>
                    <a:ext uri="{9D8B030D-6E8A-4147-A177-3AD203B41FA5}">
                      <a16:colId xmlns:a16="http://schemas.microsoft.com/office/drawing/2014/main" val="2260167414"/>
                    </a:ext>
                  </a:extLst>
                </a:gridCol>
                <a:gridCol w="1126635">
                  <a:extLst>
                    <a:ext uri="{9D8B030D-6E8A-4147-A177-3AD203B41FA5}">
                      <a16:colId xmlns:a16="http://schemas.microsoft.com/office/drawing/2014/main" val="3113348022"/>
                    </a:ext>
                  </a:extLst>
                </a:gridCol>
                <a:gridCol w="1153236">
                  <a:extLst>
                    <a:ext uri="{9D8B030D-6E8A-4147-A177-3AD203B41FA5}">
                      <a16:colId xmlns:a16="http://schemas.microsoft.com/office/drawing/2014/main" val="2553575160"/>
                    </a:ext>
                  </a:extLst>
                </a:gridCol>
                <a:gridCol w="1186209">
                  <a:extLst>
                    <a:ext uri="{9D8B030D-6E8A-4147-A177-3AD203B41FA5}">
                      <a16:colId xmlns:a16="http://schemas.microsoft.com/office/drawing/2014/main" val="4067910513"/>
                    </a:ext>
                  </a:extLst>
                </a:gridCol>
                <a:gridCol w="267276">
                  <a:extLst>
                    <a:ext uri="{9D8B030D-6E8A-4147-A177-3AD203B41FA5}">
                      <a16:colId xmlns:a16="http://schemas.microsoft.com/office/drawing/2014/main" val="330545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CatId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CategorieL0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CategorieL1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CategorieL2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Voeding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49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Voeding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80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771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5DBE1-F9B5-2AC2-53C5-BFC81A99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1C52ADC4-621A-16E6-105C-5D1CCCBC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Product categorieën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16B7D-0CF5-996B-8E47-572ACFB758E4}"/>
              </a:ext>
            </a:extLst>
          </p:cNvPr>
          <p:cNvSpPr txBox="1"/>
          <p:nvPr/>
        </p:nvSpPr>
        <p:spPr>
          <a:xfrm>
            <a:off x="838200" y="1947148"/>
            <a:ext cx="108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/>
              <a:t>Categorie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3FBE8-8DA1-C5D9-8D88-2EA454351CFD}"/>
              </a:ext>
            </a:extLst>
          </p:cNvPr>
          <p:cNvSpPr txBox="1"/>
          <p:nvPr/>
        </p:nvSpPr>
        <p:spPr>
          <a:xfrm>
            <a:off x="5960534" y="1949713"/>
            <a:ext cx="53255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noProof="0" dirty="0"/>
              <a:t>Probleem:</a:t>
            </a:r>
          </a:p>
          <a:p>
            <a:r>
              <a:rPr lang="nl-NL" noProof="0" dirty="0"/>
              <a:t>Hoe ga je om met hiërarchische product categorieën?</a:t>
            </a:r>
          </a:p>
          <a:p>
            <a:endParaRPr lang="nl-NL" noProof="0" dirty="0"/>
          </a:p>
          <a:p>
            <a:endParaRPr lang="nl-NL" noProof="0" dirty="0"/>
          </a:p>
          <a:p>
            <a:r>
              <a:rPr lang="nl-NL" b="1" noProof="0" dirty="0"/>
              <a:t>Oplossing: Kolommen in een tabel?</a:t>
            </a:r>
          </a:p>
          <a:p>
            <a:r>
              <a:rPr lang="nl-NL" noProof="0" dirty="0"/>
              <a:t>Hiërarchie heeft maximale diepte, veel herhaling...</a:t>
            </a:r>
          </a:p>
          <a:p>
            <a:endParaRPr lang="nl-NL" noProof="0" dirty="0"/>
          </a:p>
          <a:p>
            <a:endParaRPr lang="nl-NL" noProof="0" dirty="0"/>
          </a:p>
          <a:p>
            <a:endParaRPr lang="nl-NL" noProof="0" dirty="0"/>
          </a:p>
          <a:p>
            <a:r>
              <a:rPr lang="nl-NL" b="1" noProof="0" dirty="0"/>
              <a:t>Alternatief:</a:t>
            </a:r>
          </a:p>
          <a:p>
            <a:pPr marL="285750" indent="-285750">
              <a:buFontTx/>
              <a:buChar char="-"/>
            </a:pPr>
            <a:r>
              <a:rPr lang="nl-NL" noProof="0" dirty="0"/>
              <a:t>Tabel met categorieën op aparte regels.</a:t>
            </a:r>
          </a:p>
          <a:p>
            <a:pPr marL="285750" indent="-285750">
              <a:buFontTx/>
              <a:buChar char="-"/>
            </a:pPr>
            <a:r>
              <a:rPr lang="nl-NL" dirty="0"/>
              <a:t>Verwijzing naar bovenliggende categorie.</a:t>
            </a:r>
            <a:endParaRPr lang="nl-NL" noProof="0" dirty="0"/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A25441B9-5C72-678E-FEC8-F15C2608A88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16480"/>
          <a:ext cx="44093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007">
                  <a:extLst>
                    <a:ext uri="{9D8B030D-6E8A-4147-A177-3AD203B41FA5}">
                      <a16:colId xmlns:a16="http://schemas.microsoft.com/office/drawing/2014/main" val="2260167414"/>
                    </a:ext>
                  </a:extLst>
                </a:gridCol>
                <a:gridCol w="1126635">
                  <a:extLst>
                    <a:ext uri="{9D8B030D-6E8A-4147-A177-3AD203B41FA5}">
                      <a16:colId xmlns:a16="http://schemas.microsoft.com/office/drawing/2014/main" val="3113348022"/>
                    </a:ext>
                  </a:extLst>
                </a:gridCol>
                <a:gridCol w="1153236">
                  <a:extLst>
                    <a:ext uri="{9D8B030D-6E8A-4147-A177-3AD203B41FA5}">
                      <a16:colId xmlns:a16="http://schemas.microsoft.com/office/drawing/2014/main" val="2553575160"/>
                    </a:ext>
                  </a:extLst>
                </a:gridCol>
                <a:gridCol w="1186209">
                  <a:extLst>
                    <a:ext uri="{9D8B030D-6E8A-4147-A177-3AD203B41FA5}">
                      <a16:colId xmlns:a16="http://schemas.microsoft.com/office/drawing/2014/main" val="4067910513"/>
                    </a:ext>
                  </a:extLst>
                </a:gridCol>
                <a:gridCol w="267276">
                  <a:extLst>
                    <a:ext uri="{9D8B030D-6E8A-4147-A177-3AD203B41FA5}">
                      <a16:colId xmlns:a16="http://schemas.microsoft.com/office/drawing/2014/main" val="3305451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CatId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CategorieL0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CategorieL1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CategorieL2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9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Voeding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49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Voeding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80770"/>
                  </a:ext>
                </a:extLst>
              </a:tr>
            </a:tbl>
          </a:graphicData>
        </a:graphic>
      </p:graphicFrame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CE7631A-7E65-B56E-0F80-F882B8A480D8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4420801"/>
          <a:ext cx="4409363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380">
                  <a:extLst>
                    <a:ext uri="{9D8B030D-6E8A-4147-A177-3AD203B41FA5}">
                      <a16:colId xmlns:a16="http://schemas.microsoft.com/office/drawing/2014/main" val="1547597187"/>
                    </a:ext>
                  </a:extLst>
                </a:gridCol>
                <a:gridCol w="1405720">
                  <a:extLst>
                    <a:ext uri="{9D8B030D-6E8A-4147-A177-3AD203B41FA5}">
                      <a16:colId xmlns:a16="http://schemas.microsoft.com/office/drawing/2014/main" val="1209011704"/>
                    </a:ext>
                  </a:extLst>
                </a:gridCol>
                <a:gridCol w="1733263">
                  <a:extLst>
                    <a:ext uri="{9D8B030D-6E8A-4147-A177-3AD203B41FA5}">
                      <a16:colId xmlns:a16="http://schemas.microsoft.com/office/drawing/2014/main" val="3853541196"/>
                    </a:ext>
                  </a:extLst>
                </a:gridCol>
              </a:tblGrid>
              <a:tr h="167844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CategorieId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 err="1"/>
                        <a:t>ValtOnderId</a:t>
                      </a:r>
                      <a:endParaRPr lang="nl-NL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Omschrijving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68575"/>
                  </a:ext>
                </a:extLst>
              </a:tr>
              <a:tr h="234522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Voeding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986422"/>
                  </a:ext>
                </a:extLst>
              </a:tr>
              <a:tr h="167844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54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285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0472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FB4500-45D8-91A5-D95B-89F865C7804F}"/>
              </a:ext>
            </a:extLst>
          </p:cNvPr>
          <p:cNvSpPr txBox="1"/>
          <p:nvPr/>
        </p:nvSpPr>
        <p:spPr>
          <a:xfrm>
            <a:off x="838199" y="4051469"/>
            <a:ext cx="108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noProof="0" dirty="0"/>
              <a:t>Categorie</a:t>
            </a:r>
          </a:p>
        </p:txBody>
      </p:sp>
    </p:spTree>
    <p:extLst>
      <p:ext uri="{BB962C8B-B14F-4D97-AF65-F5344CB8AC3E}">
        <p14:creationId xmlns:p14="http://schemas.microsoft.com/office/powerpoint/2010/main" val="1073047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DA7D3-5B38-03F2-6BB3-49B926C2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1BC4430A-2E29-4BB7-5004-561BB397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3600" noProof="0" dirty="0"/>
              <a:t>Volledige database</a:t>
            </a:r>
          </a:p>
        </p:txBody>
      </p:sp>
      <p:pic>
        <p:nvPicPr>
          <p:cNvPr id="3" name="Picture 2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0C2129EE-157B-FF41-AB15-EEC36453F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09" y="1690688"/>
            <a:ext cx="9131381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5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Widescreen</PresentationFormat>
  <Paragraphs>236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Courier New</vt:lpstr>
      <vt:lpstr>Office Theme</vt:lpstr>
      <vt:lpstr>SQL - Cursus</vt:lpstr>
      <vt:lpstr>Huiswerk</vt:lpstr>
      <vt:lpstr>Transacties: 3NF</vt:lpstr>
      <vt:lpstr>Producten: Prijswijzigingen</vt:lpstr>
      <vt:lpstr>Producten: Prijzen</vt:lpstr>
      <vt:lpstr>Producten: Prijzen</vt:lpstr>
      <vt:lpstr>Transacties en prijzen</vt:lpstr>
      <vt:lpstr>Producten: Kenmerken</vt:lpstr>
      <vt:lpstr>Producten: Kenmerken</vt:lpstr>
      <vt:lpstr>Product kenmerken</vt:lpstr>
      <vt:lpstr>Product categorieën</vt:lpstr>
      <vt:lpstr>Product categorieën</vt:lpstr>
      <vt:lpstr>Volledige 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Lukas Koning</dc:creator>
  <cp:lastModifiedBy>Lukas Koning</cp:lastModifiedBy>
  <cp:revision>384</cp:revision>
  <dcterms:created xsi:type="dcterms:W3CDTF">2021-01-24T13:10:19Z</dcterms:created>
  <dcterms:modified xsi:type="dcterms:W3CDTF">2026-08-18T07:23:52Z</dcterms:modified>
</cp:coreProperties>
</file>