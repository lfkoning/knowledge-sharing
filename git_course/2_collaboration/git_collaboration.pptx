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8"/>
  </p:notesMasterIdLst>
  <p:sldIdLst>
    <p:sldId id="256" r:id="rId2"/>
    <p:sldId id="257" r:id="rId3"/>
    <p:sldId id="357" r:id="rId4"/>
    <p:sldId id="378" r:id="rId5"/>
    <p:sldId id="500" r:id="rId6"/>
    <p:sldId id="501" r:id="rId7"/>
    <p:sldId id="379" r:id="rId8"/>
    <p:sldId id="503" r:id="rId9"/>
    <p:sldId id="504" r:id="rId10"/>
    <p:sldId id="377" r:id="rId11"/>
    <p:sldId id="390" r:id="rId12"/>
    <p:sldId id="454" r:id="rId13"/>
    <p:sldId id="453" r:id="rId14"/>
    <p:sldId id="465" r:id="rId15"/>
    <p:sldId id="447" r:id="rId16"/>
    <p:sldId id="451" r:id="rId17"/>
    <p:sldId id="498" r:id="rId18"/>
    <p:sldId id="457" r:id="rId19"/>
    <p:sldId id="462" r:id="rId20"/>
    <p:sldId id="456" r:id="rId21"/>
    <p:sldId id="458" r:id="rId22"/>
    <p:sldId id="391" r:id="rId23"/>
    <p:sldId id="464" r:id="rId24"/>
    <p:sldId id="467" r:id="rId25"/>
    <p:sldId id="468" r:id="rId26"/>
    <p:sldId id="469" r:id="rId27"/>
    <p:sldId id="470" r:id="rId28"/>
    <p:sldId id="505" r:id="rId29"/>
    <p:sldId id="506" r:id="rId30"/>
    <p:sldId id="463" r:id="rId31"/>
    <p:sldId id="475" r:id="rId32"/>
    <p:sldId id="476" r:id="rId33"/>
    <p:sldId id="477" r:id="rId34"/>
    <p:sldId id="478" r:id="rId35"/>
    <p:sldId id="479" r:id="rId36"/>
    <p:sldId id="459" r:id="rId37"/>
    <p:sldId id="483" r:id="rId38"/>
    <p:sldId id="484" r:id="rId39"/>
    <p:sldId id="481" r:id="rId40"/>
    <p:sldId id="482" r:id="rId41"/>
    <p:sldId id="449" r:id="rId42"/>
    <p:sldId id="445" r:id="rId43"/>
    <p:sldId id="448" r:id="rId44"/>
    <p:sldId id="444" r:id="rId45"/>
    <p:sldId id="493" r:id="rId46"/>
    <p:sldId id="385" r:id="rId47"/>
    <p:sldId id="384" r:id="rId48"/>
    <p:sldId id="388" r:id="rId49"/>
    <p:sldId id="494" r:id="rId50"/>
    <p:sldId id="471" r:id="rId51"/>
    <p:sldId id="472" r:id="rId52"/>
    <p:sldId id="473" r:id="rId53"/>
    <p:sldId id="474" r:id="rId54"/>
    <p:sldId id="495" r:id="rId55"/>
    <p:sldId id="486" r:id="rId56"/>
    <p:sldId id="487" r:id="rId57"/>
    <p:sldId id="489" r:id="rId58"/>
    <p:sldId id="490" r:id="rId59"/>
    <p:sldId id="496" r:id="rId60"/>
    <p:sldId id="491" r:id="rId61"/>
    <p:sldId id="492" r:id="rId62"/>
    <p:sldId id="497" r:id="rId63"/>
    <p:sldId id="387" r:id="rId64"/>
    <p:sldId id="383" r:id="rId65"/>
    <p:sldId id="386" r:id="rId66"/>
    <p:sldId id="443" r:id="rId67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61" autoAdjust="0"/>
    <p:restoredTop sz="88178" autoAdjust="0"/>
  </p:normalViewPr>
  <p:slideViewPr>
    <p:cSldViewPr snapToGrid="0">
      <p:cViewPr varScale="1">
        <p:scale>
          <a:sx n="68" d="100"/>
          <a:sy n="68" d="100"/>
        </p:scale>
        <p:origin x="580" y="52"/>
      </p:cViewPr>
      <p:guideLst/>
    </p:cSldViewPr>
  </p:slideViewPr>
  <p:outlineViewPr>
    <p:cViewPr>
      <p:scale>
        <a:sx n="33" d="100"/>
        <a:sy n="33" d="100"/>
      </p:scale>
      <p:origin x="0" y="-28284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DDCAA-88FC-44D4-A91A-DD0530AB88E0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F0DEA-1372-46C0-8FC9-2869E9CCF7DA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19274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436DD-E3DD-947A-9558-DC54AD54C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856440-7B8A-E252-C50C-552A07D77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05CAC-0B2F-D19B-B683-25AAFDDE97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CD8133-42C7-864E-4E85-B01FE6C427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639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git </a:t>
            </a:r>
            <a:r>
              <a:rPr lang="nl-NL" dirty="0" err="1"/>
              <a:t>fetch</a:t>
            </a:r>
            <a:r>
              <a:rPr lang="nl-NL" dirty="0"/>
              <a:t> &amp; pull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2686481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GH </a:t>
            </a:r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26696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934526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D4C06-E07E-E7E0-8E95-BA56DD48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6EF21-EDED-A5EB-D76C-AFCB8745B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AD28EA-08C7-CE3C-C4E3-F06B312CE0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remote </a:t>
            </a:r>
            <a:r>
              <a:rPr lang="nl-NL" dirty="0" err="1"/>
              <a:t>add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5CFF90-CE2D-B49F-AE66-752678072A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92496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C3BFB-783C-2C3F-E1F1-C5E0BA5E9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77335C-922D-4FB2-3DA0-83D8936129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A32406-C26C-14D1-684E-405AC03CB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51B46-7EE6-41E5-B336-72883C6C72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776546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19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4150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</a:t>
            </a:r>
            <a:r>
              <a:rPr lang="nl-NL" dirty="0" err="1"/>
              <a:t>branch</a:t>
            </a:r>
            <a:r>
              <a:rPr lang="nl-NL" dirty="0"/>
              <a:t> tracking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6798238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20ADA-6520-A2E2-634D-E30D15C7B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91303C-DA96-18FB-49FE-135D23D5DB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2A56F-A467-EA78-1E03-6D6D4172F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delete </a:t>
            </a:r>
            <a:r>
              <a:rPr lang="nl-NL" dirty="0" err="1"/>
              <a:t>branch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20956-FBD1-9E1B-0BAF-F6DB9992C9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825970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D3B02-657C-D12F-35DA-51A1838B1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36B3F-DBA1-1807-B4D5-F22D0F5F7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58178C-0743-06EF-3EE2-4005B992B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01EB1-7CF0-312B-394F-EEBB65ED8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628808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09C4EB-8178-8302-7931-9B2C9C3F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EC83C-E587-DDE1-3988-7C5B7EBD7C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613916-14DA-4CA0-B979-394B65AB38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E249B-FD74-11FB-40F7-57CCC09B36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8750929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8BA80-2ED5-867B-25D6-9BBC07E92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BA455B-73D6-E1B0-05DA-E0852C0BD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5CB2C-8056-054C-9CBC-B7E15F62A7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GH: </a:t>
            </a:r>
            <a:r>
              <a:rPr lang="nl-NL" dirty="0" err="1"/>
              <a:t>create</a:t>
            </a:r>
            <a:r>
              <a:rPr lang="nl-NL" dirty="0"/>
              <a:t> PR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8870C0-D32B-2B21-0434-BBF6CD4A5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725001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18752-58F0-DDE0-D98A-AFEDC257B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3D2F12-8FE3-DB45-4BBF-4A92FF946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03455F-570A-ADAB-B5CA-93596629EC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FB468-7656-B732-A2F5-833F6B425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5430515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164BD-9201-D2F8-6168-E577744B6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6DB50A-B9B5-E2CE-3393-CD528F55A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AE24A-39D3-D655-8A82-8935113744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GH: review PR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BA5B1-EB9C-43E8-529D-C686C8DF97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801477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BF3E9-3135-67BF-46C3-C73907DAD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EFE9E-0886-43FF-12FB-A20D161BE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AD6125-5447-675F-C6F3-8AAF0DFEF0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0C181-52C0-6F9F-FE9C-733CC75EC9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1954743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00C3-5C69-6BEF-14E3-C7C85C3BA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042742-22F1-5009-7667-AC74645504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3B03D1-7C33-4067-6CBD-A26A169E7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D65E8-945F-CB5A-A9A5-7F53915ED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29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243318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E4EBA-20D8-40A3-5677-BC18A2A4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D2FB0-7880-2B1D-55B0-8C02F5E93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7313FF-1059-96D9-6C0C-6E5DD137AD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2E65F2-BEFE-A205-9199-B9105BF9A2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675244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3182E-F5D3-8650-15DA-FA6985FC6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FC867-2568-4BAC-7B2A-728CB5277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9006E0-D928-A0FD-3BF6-48F8C84284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DE879-8A0F-9432-244C-CCD095ADC1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74871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AAE4D-6578-484D-CED7-B6343A0E8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8C0356-7BFD-5AD5-CAF4-6D4BBA259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31E67E-3BFE-FF3F-4D7B-9A79941A5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B0FEA-D563-3E72-B99B-1F4751C2EB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248873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D2CE35-B790-BD96-A2B2-2B02F6310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DCE851-69F8-0AA9-77FB-A5F6AA6523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72E9CE-0858-1E3B-DAA4-3969EDE0E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347354-F370-B00B-157A-056BA6FD2D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32415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39300-04C7-D5B9-22F3-E6A0F0E53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0A7FEA-63D1-B322-3C46-5B4270FBDC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9D692B-C510-1A74-B586-723B184B16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GH: </a:t>
            </a:r>
            <a:r>
              <a:rPr lang="nl-NL" dirty="0" err="1"/>
              <a:t>create</a:t>
            </a:r>
            <a:r>
              <a:rPr lang="nl-NL" dirty="0"/>
              <a:t> workflow.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1A5506-F8BD-3CC2-5E1D-0EE482472D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738644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CE2BA-9311-F4A4-3F7C-685C43693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4372FD-1801-2B19-C9DE-23B748AD37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124C1-51D1-E621-71DE-7672EB1672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8BEEF1-CB09-1934-593B-745A92E0D9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202598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B9ACA-4DFD-A7B0-1B4F-311E285B0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886D5-B5EB-9666-645C-09C7957946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166D4C-E288-F6EC-873D-1946E22C2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8D3E9-3143-02A8-1252-2AFBC7814F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899337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BFDF-9A69-8005-9A55-17624E883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17A505-923D-5EAC-7B09-480583683F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A3B4F6-29C2-C967-DF3F-6D3FFF58E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GH : </a:t>
            </a:r>
            <a:r>
              <a:rPr lang="nl-NL" dirty="0" err="1"/>
              <a:t>create</a:t>
            </a:r>
            <a:r>
              <a:rPr lang="nl-NL" dirty="0"/>
              <a:t> </a:t>
            </a:r>
            <a:r>
              <a:rPr lang="nl-NL" dirty="0" err="1"/>
              <a:t>ruleset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220E6-EFE0-27EC-7B00-949C6C4D7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39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81542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</a:t>
            </a:r>
            <a:r>
              <a:rPr lang="nl-NL" dirty="0" err="1"/>
              <a:t>create</a:t>
            </a:r>
            <a:r>
              <a:rPr lang="nl-NL" dirty="0"/>
              <a:t> issue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6514694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GH create project</a:t>
            </a:r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44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552822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2595161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AD: </a:t>
            </a:r>
            <a:r>
              <a:rPr lang="nl-NL" dirty="0" err="1"/>
              <a:t>create</a:t>
            </a:r>
            <a:r>
              <a:rPr lang="nl-NL" dirty="0"/>
              <a:t> project + </a:t>
            </a:r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48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174195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30A1B-205B-AAD0-B174-00CDDB41E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DD44A4-0926-55A2-97A0-E32B70A07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03894-32B0-C5E3-C186-1ECFD702BF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0BC0E0-5F8C-272A-84EB-BF3BD81D65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1513219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D52B0-C337-23CB-24D7-68A1DB4A1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E8301A-167B-EAC0-BC23-52ECD5D60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5B6090-6C67-B0A0-B647-562E2D83B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533A0-519F-60FD-357C-614C0B8FCA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205429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1FC99-DEE0-7997-93CA-1EFF3E2C0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6C330-A06C-DA46-506A-E4B737FE8F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776D8D-7417-4EAC-40A7-7DBEF5AD5A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D6F92-8CD4-FF1D-074C-F1A227480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52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6644504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98C18-6516-DC5E-9623-78DD88129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7B15E4-6392-C6B8-CA6B-1E31CAF4E9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E5310B-0B09-525B-46B6-030E5F8E0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AD: pull </a:t>
            </a:r>
            <a:r>
              <a:rPr lang="nl-NL" dirty="0" err="1"/>
              <a:t>requests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3F707-C37C-3BDD-A4DA-38AA2FF04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53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447310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23230-1028-A0C8-9059-E5E579540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EDBE25-BB35-1B98-F7AA-15922A75C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F511C0-B268-0CE6-61F3-EF8C3D21B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BC64C-B66B-6E17-DBD1-2E911EA80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168966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76175-95F1-BB96-2A19-C19D57211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74EAD-35E6-891A-9344-0DFA3659A3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DB15F6-2395-E45B-06A8-821B7E23F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AD: </a:t>
            </a:r>
            <a:r>
              <a:rPr lang="nl-NL" dirty="0" err="1"/>
              <a:t>pipelines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FDDBE-964B-C649-C4BA-960A557935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1427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701FD-E61C-07B4-3253-55BBD706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8BE5E-F6C3-617D-D8D9-393A917106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B775A-577A-0E9E-9DE9-CB24F0CD8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1CB2F3-9DF4-6124-C9D2-CAB89DA8A9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7091251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11EA7-8EA1-BFDC-BB58-92227E12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109846-2FD2-9B79-8987-3C33810E18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7E0A4C-C7B0-381D-61C6-FC30BBF26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E261E-2D97-B39E-3921-D405E72524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58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607624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F8D73-1F94-1659-2E06-2789AE0AE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32A947-B8EC-A640-4D29-88C4319013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7C48D-F06D-D7ED-D848-EED9D4D89C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D737F-1822-5CFF-FE82-F77A1CCC9C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60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8738390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F949A-F71D-6E21-1ED3-489292BC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61573A-CE93-209E-F9AF-A8FA28E23E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4BA2E5-21E0-C15C-4098-FDA88F38C8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/>
              <a:t>Demo: AD: </a:t>
            </a:r>
            <a:r>
              <a:rPr lang="nl-NL" dirty="0" err="1"/>
              <a:t>branch</a:t>
            </a:r>
            <a:r>
              <a:rPr lang="nl-NL" dirty="0"/>
              <a:t> </a:t>
            </a:r>
            <a:r>
              <a:rPr lang="nl-NL" dirty="0" err="1"/>
              <a:t>policies</a:t>
            </a:r>
            <a:endParaRPr lang="nl-N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0C84B-6C55-DACD-8B04-B3221D4269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61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240990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Demo: AD: </a:t>
            </a:r>
            <a:r>
              <a:rPr lang="nl-NL" dirty="0" err="1"/>
              <a:t>work</a:t>
            </a:r>
            <a:r>
              <a:rPr lang="nl-NL" dirty="0"/>
              <a:t>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F0DEA-1372-46C0-8FC9-2869E9CCF7DA}" type="slidenum">
              <a:rPr lang="en-NL" smtClean="0"/>
              <a:t>65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763676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D241-03CD-F66B-8F73-3CAC55B1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764D1B-A973-3847-3E91-0CE7E7C590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A73F5-F8B5-5710-2DC5-696AA5BD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12AD8F-D1F0-0013-98B0-5F53C9B83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5D6E6-6577-2A62-3786-BC160042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5735355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5ECB-AB54-0283-C544-060853BD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598C7-A144-C045-760E-8D2BEB73F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A8C3-D460-5FB9-BEF1-4B107863B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DD8C9-981B-68A4-FA03-2E7EC742C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4EE09-D031-B162-312B-D84AC3590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9848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268FD-4B23-D1C5-8A98-7C7573C06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42FD3-F45B-693C-BC8C-EE583529D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744C2-DC03-51D7-C490-EE7480C2E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2BAD9-9E13-E0C5-C044-050D16928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03286-1DED-EEE0-200D-D463623B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586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EC716-70B1-4956-623D-BB1884FBA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A3637C-9700-5EA7-E708-8CC7EA1D5E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E7191-85E9-7180-A8B2-CE05EB3C6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904500-E98B-0B65-AE0E-8E3A53130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8AE4F7-D675-8CE5-5297-5CE8654F9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06D77-2113-B755-D825-9AC10085B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56963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54435-6EC5-C8F0-1458-0FD424974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B50F0-90F4-8EBF-85FA-FB50BA5BD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AB29FF-E988-BCD5-26D3-72A2542B2A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76E652-0A53-1F5E-A2D3-63A4829C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2DAE7B-8EF7-730B-6526-C0162F6B3A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CAA4C-A4F1-5723-0770-713EDAE19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170581-1047-FE84-D78E-3E62A523F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D558D-55C7-4C10-BFE2-7612C5564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74842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5256D-09B3-F7B7-3173-218761854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B71C5F-4EB8-173F-B4D2-8CF23E47E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CF32B3-AEF3-EAA2-F854-680DC9C79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48300D-6F27-4617-C0A7-0BD7921D9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417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6FE86-8AAD-B43A-134E-4B68B5687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301974-8F8A-3BD8-1A3B-53C39BCA6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705B2-0628-7719-E328-C7019F7FC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1030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B594A-DFC2-B5D8-B0E4-F44F47CE6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B0292-87DF-858D-1FA8-C1EE927DA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D80CC-4D84-3AE9-0B35-C27E33FD89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5B28C-33D6-8039-630D-B9F1EC3A4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1A531E-5FFA-D204-5F1B-37806AD2A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16CC9B-46C4-60CC-D35A-59F9F306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4516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60F88-70DD-AD9F-4E44-45D44087F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1D932A-9C26-05B4-32D0-3FE165A33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81F30C-3886-DE65-EDE4-8C37F631F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17D30D-18AE-1F87-AFA5-484D8C3D9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2578AF-A060-D3BD-F2EA-5E48BF0DF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2776DD-8DE5-1525-C107-C6B823E84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27460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B9CCA-8BA8-9DF4-C382-292734AB9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0E17F0-E053-74A1-912D-AF910B21B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F8707-6C42-1B5F-68D0-01EB4C4E8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2ADD-8AA1-44C7-10D2-16EEC8BB2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355E38-9898-8533-EEE4-5769BECC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6920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C3836-BD47-52DC-6880-ED7139D796B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B849A1-250C-AC54-45CF-1F7269E9D1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7E283-D917-456A-9C51-03B2561D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48697-F252-3A77-2A44-80949825D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20A23-9480-351A-8CC9-D41184BE0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00743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1D996F-28E0-EE48-1A60-DD6C87C2C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33049-5EA4-FE91-AD3D-3E8221A583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8FFAA-1188-E7B0-B675-622693A118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BB069A-003F-4FC0-8534-236B0C5C7B5F}" type="datetimeFigureOut">
              <a:rPr lang="en-NL" smtClean="0"/>
              <a:t>05/10/2026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55ACD-263D-BC57-40AE-29769CF91C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62DF2-3BF7-0A3B-2578-57CA00478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4F68E7-C4DB-4E6B-9E60-657575AC8F8E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5935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8596B-E8A7-AF6B-F232-B6BEDDB436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noProof="0" dirty="0"/>
              <a:t>Git - Cursus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D6EAA2-FB69-19A9-52CE-B06A78AAEE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noProof="0" dirty="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3847969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606-8DD1-369C-5C09-471CDD551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515600" cy="4720696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nl-NL" sz="2000" dirty="0"/>
              <a:t>Code delen</a:t>
            </a:r>
            <a:endParaRPr lang="nl-NL" sz="2000" noProof="0" dirty="0"/>
          </a:p>
          <a:p>
            <a:pPr>
              <a:spcAft>
                <a:spcPts val="600"/>
              </a:spcAft>
            </a:pPr>
            <a:r>
              <a:rPr lang="nl-NL" sz="2000" noProof="0" dirty="0"/>
              <a:t>Remote </a:t>
            </a:r>
            <a:r>
              <a:rPr lang="nl-NL" sz="2000" noProof="0" dirty="0" err="1"/>
              <a:t>repository</a:t>
            </a:r>
            <a:endParaRPr lang="nl-NL" sz="2000" dirty="0"/>
          </a:p>
          <a:p>
            <a:pPr>
              <a:spcAft>
                <a:spcPts val="600"/>
              </a:spcAft>
            </a:pPr>
            <a:r>
              <a:rPr lang="nl-NL" sz="2000" dirty="0"/>
              <a:t>Synchroniseren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Pull </a:t>
            </a:r>
            <a:r>
              <a:rPr lang="nl-NL" sz="2000" dirty="0" err="1"/>
              <a:t>requests</a:t>
            </a:r>
            <a:endParaRPr lang="nl-NL" sz="2000" dirty="0"/>
          </a:p>
          <a:p>
            <a:pPr>
              <a:spcAft>
                <a:spcPts val="600"/>
              </a:spcAft>
            </a:pPr>
            <a:r>
              <a:rPr lang="nl-NL" sz="2000" dirty="0" err="1"/>
              <a:t>Workflows</a:t>
            </a:r>
            <a:r>
              <a:rPr lang="nl-NL" sz="2000" dirty="0"/>
              <a:t> en Actions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Branches beveiligen</a:t>
            </a:r>
          </a:p>
          <a:p>
            <a:pPr>
              <a:spcAft>
                <a:spcPts val="600"/>
              </a:spcAft>
            </a:pPr>
            <a:r>
              <a:rPr lang="nl-NL" sz="2000" dirty="0"/>
              <a:t>Taken beheren</a:t>
            </a:r>
          </a:p>
          <a:p>
            <a:pPr>
              <a:spcAft>
                <a:spcPts val="600"/>
              </a:spcAft>
            </a:pPr>
            <a:endParaRPr lang="nl-NL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3F8847-D293-954D-A79A-B3882FA885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2768" y="3164682"/>
            <a:ext cx="4470919" cy="30122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65611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50AC3-44D2-125F-C901-74E8A6F6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C9436C-DC36-00A0-18E7-6B9DD57D9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Code delen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B61E79-1961-C560-A7F0-B064C69A1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1769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F7D25-FA36-C1BA-D566-1352A19F6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66D20-BF51-D366-0E3F-7FABEDBF0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Van lokaal naar remote</a:t>
            </a:r>
            <a:endParaRPr lang="nl-NL" sz="3600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66E9770-902F-C2D8-CA34-51598214F9B6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2000" dirty="0"/>
              <a:t> folder bevat:</a:t>
            </a:r>
          </a:p>
          <a:p>
            <a:pPr>
              <a:buFontTx/>
              <a:buChar char="-"/>
            </a:pPr>
            <a:r>
              <a:rPr lang="nl-NL" sz="2000" dirty="0"/>
              <a:t>Alle versies van bestanden.</a:t>
            </a:r>
          </a:p>
          <a:p>
            <a:pPr>
              <a:buFontTx/>
              <a:buChar char="-"/>
            </a:pPr>
            <a:r>
              <a:rPr lang="nl-NL" sz="2000" dirty="0"/>
              <a:t>Informatie over </a:t>
            </a:r>
            <a:r>
              <a:rPr lang="nl-NL" sz="2000" dirty="0" err="1"/>
              <a:t>commits</a:t>
            </a:r>
            <a:r>
              <a:rPr lang="nl-NL" sz="2000" dirty="0"/>
              <a:t>.</a:t>
            </a:r>
          </a:p>
          <a:p>
            <a:pPr>
              <a:buFontTx/>
              <a:buChar char="-"/>
            </a:pPr>
            <a:r>
              <a:rPr lang="nl-NL" sz="2000" dirty="0"/>
              <a:t>Informatie over branches.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6328B88-A5FD-AB3F-D8AF-EA77C08DAAAA}"/>
              </a:ext>
            </a:extLst>
          </p:cNvPr>
          <p:cNvGrpSpPr/>
          <p:nvPr/>
        </p:nvGrpSpPr>
        <p:grpSpPr>
          <a:xfrm>
            <a:off x="1837006" y="1845602"/>
            <a:ext cx="1674455" cy="576000"/>
            <a:chOff x="957943" y="3152171"/>
            <a:chExt cx="1674455" cy="576000"/>
          </a:xfrm>
        </p:grpSpPr>
        <p:pic>
          <p:nvPicPr>
            <p:cNvPr id="10" name="Graphic 9" descr="Folder">
              <a:extLst>
                <a:ext uri="{FF2B5EF4-FFF2-40B4-BE49-F238E27FC236}">
                  <a16:creationId xmlns:a16="http://schemas.microsoft.com/office/drawing/2014/main" id="{35C392A1-A0E5-8E5C-56FA-236A0BF784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81C6E0D-4A18-70E3-266F-6400F5B0B982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A7F4B8-7E7E-A077-7A0D-604F2762F09C}"/>
              </a:ext>
            </a:extLst>
          </p:cNvPr>
          <p:cNvGrpSpPr/>
          <p:nvPr/>
        </p:nvGrpSpPr>
        <p:grpSpPr>
          <a:xfrm>
            <a:off x="2125006" y="2442450"/>
            <a:ext cx="1223818" cy="576000"/>
            <a:chOff x="957943" y="3152171"/>
            <a:chExt cx="1223818" cy="576000"/>
          </a:xfrm>
        </p:grpSpPr>
        <p:pic>
          <p:nvPicPr>
            <p:cNvPr id="14" name="Graphic 13" descr="Folder">
              <a:extLst>
                <a:ext uri="{FF2B5EF4-FFF2-40B4-BE49-F238E27FC236}">
                  <a16:creationId xmlns:a16="http://schemas.microsoft.com/office/drawing/2014/main" id="{CEEC1F53-B36B-E346-3BC9-34A700056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61F440-F7AB-34A4-0A69-B850B9092C5A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1419D739-8A79-393D-67D6-0267CE73E28C}"/>
              </a:ext>
            </a:extLst>
          </p:cNvPr>
          <p:cNvSpPr/>
          <p:nvPr/>
        </p:nvSpPr>
        <p:spPr>
          <a:xfrm>
            <a:off x="1610751" y="1512274"/>
            <a:ext cx="2919046" cy="154744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Lokaal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31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5AD8B-A419-54B0-CED3-6F6E264AC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AE38-4028-12FB-2128-64BC97B07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Van lokaal naar remote</a:t>
            </a:r>
            <a:endParaRPr lang="nl-NL" sz="3600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8C39A9EC-F815-D22A-5B58-2CBF4FA9F43F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2000" dirty="0"/>
              <a:t> folder bevat:</a:t>
            </a:r>
          </a:p>
          <a:p>
            <a:pPr>
              <a:buFontTx/>
              <a:buChar char="-"/>
            </a:pPr>
            <a:r>
              <a:rPr lang="nl-NL" sz="2000" dirty="0"/>
              <a:t>Alle versies van bestanden.</a:t>
            </a:r>
          </a:p>
          <a:p>
            <a:pPr>
              <a:buFontTx/>
              <a:buChar char="-"/>
            </a:pPr>
            <a:r>
              <a:rPr lang="nl-NL" sz="2000" dirty="0"/>
              <a:t>Informatie over </a:t>
            </a:r>
            <a:r>
              <a:rPr lang="nl-NL" sz="2000" dirty="0" err="1"/>
              <a:t>commits</a:t>
            </a:r>
            <a:r>
              <a:rPr lang="nl-NL" sz="2000" dirty="0"/>
              <a:t>.</a:t>
            </a:r>
          </a:p>
          <a:p>
            <a:pPr>
              <a:buFontTx/>
              <a:buChar char="-"/>
            </a:pPr>
            <a:r>
              <a:rPr lang="nl-NL" sz="2000" dirty="0"/>
              <a:t>Informatie over branches.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Code delen is eenvoudig:</a:t>
            </a:r>
          </a:p>
          <a:p>
            <a:pPr>
              <a:buFontTx/>
              <a:buChar char="-"/>
            </a:pPr>
            <a:r>
              <a:rPr lang="nl-NL" sz="2000" dirty="0"/>
              <a:t>Upload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2000" dirty="0"/>
              <a:t> folder naar remote server.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FF85640-B867-1678-3743-8B99FD3BDFAC}"/>
              </a:ext>
            </a:extLst>
          </p:cNvPr>
          <p:cNvGrpSpPr/>
          <p:nvPr/>
        </p:nvGrpSpPr>
        <p:grpSpPr>
          <a:xfrm>
            <a:off x="1837006" y="1845602"/>
            <a:ext cx="1674455" cy="576000"/>
            <a:chOff x="957943" y="3152171"/>
            <a:chExt cx="1674455" cy="576000"/>
          </a:xfrm>
        </p:grpSpPr>
        <p:pic>
          <p:nvPicPr>
            <p:cNvPr id="10" name="Graphic 9" descr="Folder">
              <a:extLst>
                <a:ext uri="{FF2B5EF4-FFF2-40B4-BE49-F238E27FC236}">
                  <a16:creationId xmlns:a16="http://schemas.microsoft.com/office/drawing/2014/main" id="{ACFEE3E9-878D-D919-BC5F-F4E1FE58F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1E8D9A6-98EF-B84C-CEEC-0DC05A002A2B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BBEA68-448E-2AD5-7E9A-712CDEAB3CFC}"/>
              </a:ext>
            </a:extLst>
          </p:cNvPr>
          <p:cNvGrpSpPr/>
          <p:nvPr/>
        </p:nvGrpSpPr>
        <p:grpSpPr>
          <a:xfrm>
            <a:off x="2125006" y="2442450"/>
            <a:ext cx="1223818" cy="576000"/>
            <a:chOff x="957943" y="3152171"/>
            <a:chExt cx="1223818" cy="576000"/>
          </a:xfrm>
        </p:grpSpPr>
        <p:pic>
          <p:nvPicPr>
            <p:cNvPr id="14" name="Graphic 13" descr="Folder">
              <a:extLst>
                <a:ext uri="{FF2B5EF4-FFF2-40B4-BE49-F238E27FC236}">
                  <a16:creationId xmlns:a16="http://schemas.microsoft.com/office/drawing/2014/main" id="{1F99E783-5D99-0615-A043-798FEAD268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530F5D-82EB-1E81-CA70-01F7B4BCC79E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607B4-306A-E34F-E8B3-3BDA64AA8B3A}"/>
              </a:ext>
            </a:extLst>
          </p:cNvPr>
          <p:cNvSpPr/>
          <p:nvPr/>
        </p:nvSpPr>
        <p:spPr>
          <a:xfrm>
            <a:off x="1610751" y="1512274"/>
            <a:ext cx="2919046" cy="154744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Lokaal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DB95720-2807-A896-1B01-50D2311B2332}"/>
              </a:ext>
            </a:extLst>
          </p:cNvPr>
          <p:cNvGrpSpPr/>
          <p:nvPr/>
        </p:nvGrpSpPr>
        <p:grpSpPr>
          <a:xfrm>
            <a:off x="2125006" y="4558575"/>
            <a:ext cx="1223818" cy="576000"/>
            <a:chOff x="957943" y="3152171"/>
            <a:chExt cx="1223818" cy="576000"/>
          </a:xfrm>
        </p:grpSpPr>
        <p:pic>
          <p:nvPicPr>
            <p:cNvPr id="7" name="Graphic 6" descr="Folder">
              <a:extLst>
                <a:ext uri="{FF2B5EF4-FFF2-40B4-BE49-F238E27FC236}">
                  <a16:creationId xmlns:a16="http://schemas.microsoft.com/office/drawing/2014/main" id="{D24EAD37-72BA-F769-98FC-DCC0057D073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953C0FAA-400F-159E-D987-28A17829F178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3F5BE93-0DA0-C1E6-89ED-4DEA2DEA3918}"/>
              </a:ext>
            </a:extLst>
          </p:cNvPr>
          <p:cNvSpPr/>
          <p:nvPr/>
        </p:nvSpPr>
        <p:spPr>
          <a:xfrm>
            <a:off x="1610751" y="4162971"/>
            <a:ext cx="2919046" cy="154744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Remote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76935B0-D704-3E9F-2001-6672981E469E}"/>
              </a:ext>
            </a:extLst>
          </p:cNvPr>
          <p:cNvCxnSpPr>
            <a:stCxn id="15" idx="2"/>
            <a:endCxn id="9" idx="0"/>
          </p:cNvCxnSpPr>
          <p:nvPr/>
        </p:nvCxnSpPr>
        <p:spPr>
          <a:xfrm>
            <a:off x="3062079" y="2915116"/>
            <a:ext cx="0" cy="174679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2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AD72-B626-59F3-1F1E-B003F3B4F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104C4-FC68-9AA2-E543-006EBCB0F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Van lokaal naar remote</a:t>
            </a:r>
            <a:endParaRPr lang="nl-NL" sz="3600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C89D6D89-07F3-DEB4-FE1E-B246B6CA072C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De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2000" dirty="0"/>
              <a:t> folder bevat:</a:t>
            </a:r>
          </a:p>
          <a:p>
            <a:pPr>
              <a:buFontTx/>
              <a:buChar char="-"/>
            </a:pPr>
            <a:r>
              <a:rPr lang="nl-NL" sz="2000" dirty="0"/>
              <a:t>Alle versies van bestanden.</a:t>
            </a:r>
          </a:p>
          <a:p>
            <a:pPr>
              <a:buFontTx/>
              <a:buChar char="-"/>
            </a:pPr>
            <a:r>
              <a:rPr lang="nl-NL" sz="2000" dirty="0"/>
              <a:t>Informatie over </a:t>
            </a:r>
            <a:r>
              <a:rPr lang="nl-NL" sz="2000" dirty="0" err="1"/>
              <a:t>commits</a:t>
            </a:r>
            <a:r>
              <a:rPr lang="nl-NL" sz="2000" dirty="0"/>
              <a:t>.</a:t>
            </a:r>
          </a:p>
          <a:p>
            <a:pPr>
              <a:buFontTx/>
              <a:buChar char="-"/>
            </a:pPr>
            <a:r>
              <a:rPr lang="nl-NL" sz="2000" dirty="0"/>
              <a:t>Informatie over branches.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Code delen is eenvoudig:</a:t>
            </a:r>
          </a:p>
          <a:p>
            <a:pPr>
              <a:buFontTx/>
              <a:buChar char="-"/>
            </a:pPr>
            <a:r>
              <a:rPr lang="nl-NL" sz="2000" dirty="0"/>
              <a:t>Upload </a:t>
            </a:r>
            <a:r>
              <a:rPr lang="nl-NL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2000" dirty="0"/>
              <a:t> folder naar remote server.</a:t>
            </a:r>
          </a:p>
          <a:p>
            <a:pPr>
              <a:buFontTx/>
              <a:buChar char="-"/>
            </a:pPr>
            <a:r>
              <a:rPr lang="nl-NL" sz="2000" dirty="0"/>
              <a:t>Upload werkt op </a:t>
            </a:r>
            <a:r>
              <a:rPr lang="nl-NL" sz="2000" dirty="0" err="1"/>
              <a:t>branch</a:t>
            </a:r>
            <a:r>
              <a:rPr lang="nl-NL" sz="2000" dirty="0"/>
              <a:t> niveau!</a:t>
            </a:r>
          </a:p>
          <a:p>
            <a:pPr>
              <a:buFontTx/>
              <a:buChar char="-"/>
            </a:pPr>
            <a:r>
              <a:rPr lang="nl-NL" sz="2000" dirty="0"/>
              <a:t>Je kunt lokaal blijven experimenteren.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3EA4C90-67B9-69D2-265F-A9F45F689B1A}"/>
              </a:ext>
            </a:extLst>
          </p:cNvPr>
          <p:cNvGrpSpPr/>
          <p:nvPr/>
        </p:nvGrpSpPr>
        <p:grpSpPr>
          <a:xfrm>
            <a:off x="1837006" y="1845602"/>
            <a:ext cx="1674455" cy="576000"/>
            <a:chOff x="957943" y="3152171"/>
            <a:chExt cx="1674455" cy="576000"/>
          </a:xfrm>
        </p:grpSpPr>
        <p:pic>
          <p:nvPicPr>
            <p:cNvPr id="10" name="Graphic 9" descr="Folder">
              <a:extLst>
                <a:ext uri="{FF2B5EF4-FFF2-40B4-BE49-F238E27FC236}">
                  <a16:creationId xmlns:a16="http://schemas.microsoft.com/office/drawing/2014/main" id="{A1692DA2-766C-31CF-9711-2A80E35010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0F46C23-F4F1-2536-680A-F58B86401E38}"/>
                </a:ext>
              </a:extLst>
            </p:cNvPr>
            <p:cNvSpPr txBox="1"/>
            <p:nvPr/>
          </p:nvSpPr>
          <p:spPr>
            <a:xfrm>
              <a:off x="1608271" y="3255505"/>
              <a:ext cx="10241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 err="1"/>
                <a:t>work_dir</a:t>
              </a:r>
              <a:endParaRPr lang="nl-NL" noProof="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F91CA5A-E4F5-0D5B-AB2E-6F304DB3DE50}"/>
              </a:ext>
            </a:extLst>
          </p:cNvPr>
          <p:cNvGrpSpPr/>
          <p:nvPr/>
        </p:nvGrpSpPr>
        <p:grpSpPr>
          <a:xfrm>
            <a:off x="2125006" y="2442450"/>
            <a:ext cx="1223818" cy="576000"/>
            <a:chOff x="957943" y="3152171"/>
            <a:chExt cx="1223818" cy="576000"/>
          </a:xfrm>
        </p:grpSpPr>
        <p:pic>
          <p:nvPicPr>
            <p:cNvPr id="14" name="Graphic 13" descr="Folder">
              <a:extLst>
                <a:ext uri="{FF2B5EF4-FFF2-40B4-BE49-F238E27FC236}">
                  <a16:creationId xmlns:a16="http://schemas.microsoft.com/office/drawing/2014/main" id="{F83DEFCA-6DF6-0BFD-7229-1A6BF1838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03FAF08-00F3-3313-5431-0D2BBE96B65F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6B28B-B49A-A6B2-5016-DA1F39363B02}"/>
              </a:ext>
            </a:extLst>
          </p:cNvPr>
          <p:cNvSpPr/>
          <p:nvPr/>
        </p:nvSpPr>
        <p:spPr>
          <a:xfrm>
            <a:off x="1610751" y="1512274"/>
            <a:ext cx="2919046" cy="154744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dirty="0" err="1">
                <a:solidFill>
                  <a:schemeClr val="accent5">
                    <a:lumMod val="50000"/>
                  </a:schemeClr>
                </a:solidFill>
              </a:rPr>
              <a:t>Lokaal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A977BA1-58C9-43A9-A177-669CA81949F4}"/>
              </a:ext>
            </a:extLst>
          </p:cNvPr>
          <p:cNvGrpSpPr/>
          <p:nvPr/>
        </p:nvGrpSpPr>
        <p:grpSpPr>
          <a:xfrm>
            <a:off x="2125006" y="4558575"/>
            <a:ext cx="1223818" cy="576000"/>
            <a:chOff x="957943" y="3152171"/>
            <a:chExt cx="1223818" cy="576000"/>
          </a:xfrm>
        </p:grpSpPr>
        <p:pic>
          <p:nvPicPr>
            <p:cNvPr id="7" name="Graphic 6" descr="Folder">
              <a:extLst>
                <a:ext uri="{FF2B5EF4-FFF2-40B4-BE49-F238E27FC236}">
                  <a16:creationId xmlns:a16="http://schemas.microsoft.com/office/drawing/2014/main" id="{A08CB22B-8054-9563-86B2-734C2365A7D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7943" y="3152171"/>
              <a:ext cx="576000" cy="5760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9DA483E-E65F-2237-0069-15838746B0C2}"/>
                </a:ext>
              </a:extLst>
            </p:cNvPr>
            <p:cNvSpPr txBox="1"/>
            <p:nvPr/>
          </p:nvSpPr>
          <p:spPr>
            <a:xfrm>
              <a:off x="1608271" y="3255505"/>
              <a:ext cx="5734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noProof="0" dirty="0"/>
                <a:t>.git/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F3DC4EAC-81C1-39DF-2493-A5D61FB96122}"/>
              </a:ext>
            </a:extLst>
          </p:cNvPr>
          <p:cNvSpPr/>
          <p:nvPr/>
        </p:nvSpPr>
        <p:spPr>
          <a:xfrm>
            <a:off x="1610751" y="4162971"/>
            <a:ext cx="2919046" cy="1547447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Remote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370042-BDA3-10BF-A82B-2511A0094DD1}"/>
              </a:ext>
            </a:extLst>
          </p:cNvPr>
          <p:cNvCxnSpPr>
            <a:stCxn id="15" idx="2"/>
            <a:endCxn id="9" idx="0"/>
          </p:cNvCxnSpPr>
          <p:nvPr/>
        </p:nvCxnSpPr>
        <p:spPr>
          <a:xfrm>
            <a:off x="3062079" y="2915116"/>
            <a:ext cx="0" cy="1746793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584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CE52F-4E13-15AD-B969-44E0251E2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4875B-1043-00D5-252C-4AC593944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Gedistribueerd systeem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BD521F-6CC3-5EA7-1237-B5B92D37DAD1}"/>
              </a:ext>
            </a:extLst>
          </p:cNvPr>
          <p:cNvSpPr/>
          <p:nvPr/>
        </p:nvSpPr>
        <p:spPr>
          <a:xfrm>
            <a:off x="1261068" y="3286815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52E1D10-8984-5013-95EB-58C73E3F2DEB}"/>
              </a:ext>
            </a:extLst>
          </p:cNvPr>
          <p:cNvSpPr/>
          <p:nvPr/>
        </p:nvSpPr>
        <p:spPr>
          <a:xfrm>
            <a:off x="1440681" y="4900077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394C34-86CF-A49F-F9DD-5C2955D075B9}"/>
              </a:ext>
            </a:extLst>
          </p:cNvPr>
          <p:cNvSpPr/>
          <p:nvPr/>
        </p:nvSpPr>
        <p:spPr>
          <a:xfrm>
            <a:off x="1440680" y="1477329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FAA0AEC-93BA-F0CA-6DFD-FDE2D35CDB3E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861959" y="3933426"/>
            <a:ext cx="1" cy="9666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E6BE79C-DB44-4EA5-7CC2-167994A675FC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>
            <a:off x="1861958" y="2319884"/>
            <a:ext cx="2" cy="9669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FEA024B5-B6FA-6701-4517-C4FE7BB42986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De remote heeft een selectie van alle lokale branches.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Alle gebruikers krijgen </a:t>
            </a:r>
            <a:r>
              <a:rPr lang="nl-NL" sz="2000" u="sng" dirty="0"/>
              <a:t>alle</a:t>
            </a:r>
            <a:r>
              <a:rPr lang="nl-NL" sz="2000" dirty="0"/>
              <a:t> informatie van die gedeelde branches.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Rechten bepalen wie branches mag toevoegen, </a:t>
            </a:r>
            <a:r>
              <a:rPr lang="nl-NL" sz="2000" dirty="0" err="1"/>
              <a:t>commits</a:t>
            </a:r>
            <a:r>
              <a:rPr lang="nl-NL" sz="2000" dirty="0"/>
              <a:t> mag maken, et cetera.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558D655-3F8E-0407-01B9-A7C6E27B335D}"/>
              </a:ext>
            </a:extLst>
          </p:cNvPr>
          <p:cNvSpPr/>
          <p:nvPr/>
        </p:nvSpPr>
        <p:spPr>
          <a:xfrm>
            <a:off x="2649031" y="4900077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P3</a:t>
            </a:r>
          </a:p>
        </p:txBody>
      </p:sp>
      <p:cxnSp>
        <p:nvCxnSpPr>
          <p:cNvPr id="33" name="Connector: Elbow 32">
            <a:extLst>
              <a:ext uri="{FF2B5EF4-FFF2-40B4-BE49-F238E27FC236}">
                <a16:creationId xmlns:a16="http://schemas.microsoft.com/office/drawing/2014/main" id="{1A24E98E-E2BA-234E-A34E-B1C9C2D0B08A}"/>
              </a:ext>
            </a:extLst>
          </p:cNvPr>
          <p:cNvCxnSpPr>
            <a:cxnSpLocks/>
            <a:stCxn id="7" idx="3"/>
            <a:endCxn id="31" idx="0"/>
          </p:cNvCxnSpPr>
          <p:nvPr/>
        </p:nvCxnSpPr>
        <p:spPr>
          <a:xfrm>
            <a:off x="2462851" y="3610121"/>
            <a:ext cx="607458" cy="1289956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30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A49BD-EDA9-C850-CC45-CB8E2AA0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388E-0357-C2C9-7B93-D1488AF8D0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Gedistribueerd systeem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CB473-FC1E-8308-DC36-4B83DA26C60B}"/>
              </a:ext>
            </a:extLst>
          </p:cNvPr>
          <p:cNvSpPr/>
          <p:nvPr/>
        </p:nvSpPr>
        <p:spPr>
          <a:xfrm>
            <a:off x="1261068" y="3286815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 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38CCDA0-3F34-C1E9-E856-87DB8858E75A}"/>
              </a:ext>
            </a:extLst>
          </p:cNvPr>
          <p:cNvSpPr/>
          <p:nvPr/>
        </p:nvSpPr>
        <p:spPr>
          <a:xfrm>
            <a:off x="1440681" y="4900077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0126D29-8E35-5783-6E20-0E964D332C22}"/>
              </a:ext>
            </a:extLst>
          </p:cNvPr>
          <p:cNvSpPr/>
          <p:nvPr/>
        </p:nvSpPr>
        <p:spPr>
          <a:xfrm>
            <a:off x="1440680" y="1477329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C1BE920-25FD-B928-2DE6-982ED0DAB2A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861959" y="3933426"/>
            <a:ext cx="1" cy="9666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2B17EAF-0C47-5B40-80F1-EBB68F824E2B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>
            <a:off x="1861958" y="2319884"/>
            <a:ext cx="2" cy="9669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2F6A6022-6C08-F298-56DB-FB3BC468DE43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Je kunt meerdere remote servers koppelen aan een repository.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Kan handig zijn als back up om beschikbaarheid te verhogen.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428A509-1000-C121-28EA-1C49694E7128}"/>
              </a:ext>
            </a:extLst>
          </p:cNvPr>
          <p:cNvSpPr/>
          <p:nvPr/>
        </p:nvSpPr>
        <p:spPr>
          <a:xfrm>
            <a:off x="3272491" y="3286814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 B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83C7DF0-2C60-D448-2395-EC0DC10FE9DE}"/>
              </a:ext>
            </a:extLst>
          </p:cNvPr>
          <p:cNvCxnSpPr>
            <a:cxnSpLocks/>
            <a:stCxn id="3" idx="6"/>
            <a:endCxn id="12" idx="0"/>
          </p:cNvCxnSpPr>
          <p:nvPr/>
        </p:nvCxnSpPr>
        <p:spPr>
          <a:xfrm>
            <a:off x="2283235" y="1898607"/>
            <a:ext cx="1590148" cy="138820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39059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6EB57-3EC2-3BC3-37B9-CC59322E2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D931A-4D91-DB71-D641-0E1D5948F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Gedistribueerd systeem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933F41-8320-FDAE-EC93-D5D18CE82256}"/>
              </a:ext>
            </a:extLst>
          </p:cNvPr>
          <p:cNvSpPr/>
          <p:nvPr/>
        </p:nvSpPr>
        <p:spPr>
          <a:xfrm>
            <a:off x="1261068" y="3286815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 A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5CFCD8-5BD7-0B43-FA76-6598E08B1C4B}"/>
              </a:ext>
            </a:extLst>
          </p:cNvPr>
          <p:cNvSpPr/>
          <p:nvPr/>
        </p:nvSpPr>
        <p:spPr>
          <a:xfrm>
            <a:off x="1440681" y="4900077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P2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1E252DC-8B8B-3CAE-930C-A4FCCF0EA5DE}"/>
              </a:ext>
            </a:extLst>
          </p:cNvPr>
          <p:cNvSpPr/>
          <p:nvPr/>
        </p:nvSpPr>
        <p:spPr>
          <a:xfrm>
            <a:off x="1440680" y="1477329"/>
            <a:ext cx="842555" cy="842555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P1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42263412-69AD-C5FD-9208-CEC6325374B2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861959" y="3933426"/>
            <a:ext cx="1" cy="9666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36EADE-1779-6432-C405-3D83C316E12F}"/>
              </a:ext>
            </a:extLst>
          </p:cNvPr>
          <p:cNvCxnSpPr>
            <a:cxnSpLocks/>
            <a:stCxn id="3" idx="4"/>
            <a:endCxn id="7" idx="0"/>
          </p:cNvCxnSpPr>
          <p:nvPr/>
        </p:nvCxnSpPr>
        <p:spPr>
          <a:xfrm>
            <a:off x="1861958" y="2319884"/>
            <a:ext cx="2" cy="96693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4BBC8937-72ED-1A8C-89B5-DCBABA5FB94D}"/>
              </a:ext>
            </a:extLst>
          </p:cNvPr>
          <p:cNvSpPr txBox="1">
            <a:spLocks/>
          </p:cNvSpPr>
          <p:nvPr/>
        </p:nvSpPr>
        <p:spPr>
          <a:xfrm>
            <a:off x="6395199" y="1512274"/>
            <a:ext cx="4749800" cy="4198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2000" dirty="0"/>
              <a:t>Je kunt meerdere remote servers koppelen aan een repository.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Kan handig zijn als back up om beschikbaarheid te verhogen.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dirty="0"/>
              <a:t>Volledig gedistribueerd:</a:t>
            </a:r>
          </a:p>
          <a:p>
            <a:pPr marL="0" indent="0">
              <a:buNone/>
            </a:pPr>
            <a:r>
              <a:rPr lang="nl-NL" sz="2000" dirty="0"/>
              <a:t>Alle gebruikers kunnen </a:t>
            </a:r>
            <a:r>
              <a:rPr lang="nl-NL" sz="2000" dirty="0" err="1"/>
              <a:t>remotes</a:t>
            </a:r>
            <a:r>
              <a:rPr lang="nl-NL" sz="2000" dirty="0"/>
              <a:t> instellen.</a:t>
            </a:r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FB901C-B8AF-8161-8089-91CEA51DE56C}"/>
              </a:ext>
            </a:extLst>
          </p:cNvPr>
          <p:cNvSpPr/>
          <p:nvPr/>
        </p:nvSpPr>
        <p:spPr>
          <a:xfrm>
            <a:off x="3272491" y="3286814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 B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C2551B52-E851-A86E-DF1C-5F1407D39180}"/>
              </a:ext>
            </a:extLst>
          </p:cNvPr>
          <p:cNvCxnSpPr>
            <a:stCxn id="3" idx="6"/>
            <a:endCxn id="4" idx="0"/>
          </p:cNvCxnSpPr>
          <p:nvPr/>
        </p:nvCxnSpPr>
        <p:spPr>
          <a:xfrm>
            <a:off x="2283235" y="1898607"/>
            <a:ext cx="1590148" cy="1388207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76869AF-A11E-6E88-2EFD-8E79F429653C}"/>
              </a:ext>
            </a:extLst>
          </p:cNvPr>
          <p:cNvSpPr/>
          <p:nvPr/>
        </p:nvSpPr>
        <p:spPr>
          <a:xfrm>
            <a:off x="3272491" y="4998048"/>
            <a:ext cx="1201783" cy="64661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remote X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D52FC97-6637-620D-E0B6-142D1CD96C5E}"/>
              </a:ext>
            </a:extLst>
          </p:cNvPr>
          <p:cNvCxnSpPr>
            <a:cxnSpLocks/>
            <a:stCxn id="9" idx="6"/>
            <a:endCxn id="6" idx="1"/>
          </p:cNvCxnSpPr>
          <p:nvPr/>
        </p:nvCxnSpPr>
        <p:spPr>
          <a:xfrm flipV="1">
            <a:off x="2283236" y="5321354"/>
            <a:ext cx="98925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436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E2841-2F83-37F1-20EB-5DB71D01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5C7B9-F271-F8DB-AE44-48DD9F1C3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Remote SAAS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3778CF-F5D4-F643-1870-A8B8C6B57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4749800" cy="4720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000" dirty="0"/>
              <a:t>Remote servers meestal via SAAS dienst:</a:t>
            </a:r>
          </a:p>
          <a:p>
            <a:pPr marL="0" indent="0">
              <a:buNone/>
            </a:pPr>
            <a:endParaRPr lang="nl-NL" sz="2000" noProof="0" dirty="0"/>
          </a:p>
          <a:p>
            <a:pPr>
              <a:buFontTx/>
              <a:buChar char="-"/>
            </a:pPr>
            <a:r>
              <a:rPr lang="nl-NL" sz="2000" noProof="0" dirty="0"/>
              <a:t>Azure DevOps</a:t>
            </a:r>
          </a:p>
          <a:p>
            <a:pPr>
              <a:buFontTx/>
              <a:buChar char="-"/>
            </a:pPr>
            <a:r>
              <a:rPr lang="nl-NL" sz="2000" dirty="0"/>
              <a:t>GitHub</a:t>
            </a:r>
          </a:p>
          <a:p>
            <a:pPr>
              <a:buFontTx/>
              <a:buChar char="-"/>
            </a:pPr>
            <a:r>
              <a:rPr lang="nl-NL" sz="2000" dirty="0" err="1"/>
              <a:t>GitLab</a:t>
            </a:r>
            <a:endParaRPr lang="nl-NL" sz="200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r>
              <a:rPr lang="nl-NL" sz="2000" noProof="0" dirty="0"/>
              <a:t>Naast </a:t>
            </a:r>
            <a:r>
              <a:rPr lang="nl-NL" sz="2000" noProof="0" dirty="0" err="1"/>
              <a:t>repositories</a:t>
            </a:r>
            <a:r>
              <a:rPr lang="nl-NL" sz="2000" noProof="0" dirty="0"/>
              <a:t> ook veel andere tools:</a:t>
            </a:r>
          </a:p>
          <a:p>
            <a:pPr marL="0" indent="0">
              <a:buNone/>
            </a:pPr>
            <a:endParaRPr lang="nl-NL" sz="2000" dirty="0"/>
          </a:p>
          <a:p>
            <a:pPr>
              <a:buFontTx/>
              <a:buChar char="-"/>
            </a:pPr>
            <a:r>
              <a:rPr lang="nl-NL" sz="2000" noProof="0" dirty="0"/>
              <a:t>Project management.</a:t>
            </a:r>
          </a:p>
          <a:p>
            <a:pPr>
              <a:buFontTx/>
              <a:buChar char="-"/>
            </a:pPr>
            <a:r>
              <a:rPr lang="nl-NL" sz="2000" dirty="0"/>
              <a:t>Pull </a:t>
            </a:r>
            <a:r>
              <a:rPr lang="nl-NL" sz="2000" dirty="0" err="1"/>
              <a:t>Requests</a:t>
            </a:r>
            <a:r>
              <a:rPr lang="nl-NL" sz="2000" dirty="0"/>
              <a:t>.</a:t>
            </a:r>
          </a:p>
          <a:p>
            <a:pPr>
              <a:buFontTx/>
              <a:buChar char="-"/>
            </a:pPr>
            <a:r>
              <a:rPr lang="nl-NL" sz="2000" noProof="0" dirty="0" err="1"/>
              <a:t>Continuous</a:t>
            </a:r>
            <a:r>
              <a:rPr lang="nl-NL" sz="2000" noProof="0" dirty="0"/>
              <a:t> Integration.</a:t>
            </a:r>
          </a:p>
          <a:p>
            <a:pPr>
              <a:buFontTx/>
              <a:buChar char="-"/>
            </a:pPr>
            <a:endParaRPr lang="nl-NL" sz="2000" noProof="0" dirty="0"/>
          </a:p>
          <a:p>
            <a:pPr marL="0" indent="0">
              <a:buNone/>
            </a:pPr>
            <a:endParaRPr lang="nl-NL" sz="2000" dirty="0"/>
          </a:p>
          <a:p>
            <a:pPr marL="0" indent="0">
              <a:buNone/>
            </a:pPr>
            <a:endParaRPr lang="nl-NL" sz="2000" noProof="0" dirty="0"/>
          </a:p>
        </p:txBody>
      </p:sp>
      <p:pic>
        <p:nvPicPr>
          <p:cNvPr id="6" name="Picture 5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2D7E345B-B1B4-8FA3-59B6-4C9E38F49B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565" y="2813455"/>
            <a:ext cx="2029183" cy="1141416"/>
          </a:xfrm>
          <a:prstGeom prst="rect">
            <a:avLst/>
          </a:prstGeom>
        </p:spPr>
      </p:pic>
      <p:pic>
        <p:nvPicPr>
          <p:cNvPr id="8" name="Picture 7" descr="A logo of a folder&#10;&#10;Description automatically generated">
            <a:extLst>
              <a:ext uri="{FF2B5EF4-FFF2-40B4-BE49-F238E27FC236}">
                <a16:creationId xmlns:a16="http://schemas.microsoft.com/office/drawing/2014/main" id="{95610839-712E-3235-80D2-19F9D4B312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933" y="1456267"/>
            <a:ext cx="1818672" cy="1652961"/>
          </a:xfrm>
          <a:prstGeom prst="rect">
            <a:avLst/>
          </a:prstGeom>
        </p:spPr>
      </p:pic>
      <p:pic>
        <p:nvPicPr>
          <p:cNvPr id="12" name="Picture 11" descr="A black text on a black background&#10;&#10;Description automatically generated">
            <a:extLst>
              <a:ext uri="{FF2B5EF4-FFF2-40B4-BE49-F238E27FC236}">
                <a16:creationId xmlns:a16="http://schemas.microsoft.com/office/drawing/2014/main" id="{17BA1C09-B1D7-15DC-8924-88B9E39154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87697" y="3954871"/>
            <a:ext cx="1953916" cy="937879"/>
          </a:xfrm>
          <a:prstGeom prst="rect">
            <a:avLst/>
          </a:prstGeom>
        </p:spPr>
      </p:pic>
      <p:pic>
        <p:nvPicPr>
          <p:cNvPr id="9" name="Picture 8" descr="A logo on a black background&#10;&#10;Description automatically generated">
            <a:extLst>
              <a:ext uri="{FF2B5EF4-FFF2-40B4-BE49-F238E27FC236}">
                <a16:creationId xmlns:a16="http://schemas.microsoft.com/office/drawing/2014/main" id="{EE549E10-C7A2-8766-E619-3FC2D1358A4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0" t="34670" r="9015" b="33954"/>
          <a:stretch/>
        </p:blipFill>
        <p:spPr>
          <a:xfrm>
            <a:off x="8325306" y="5434738"/>
            <a:ext cx="2422412" cy="62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713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352B7-D863-427C-F7F1-E4F5FAD29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6C8958-46C4-028B-180E-49559DB52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Bestaand </a:t>
            </a:r>
            <a:r>
              <a:rPr lang="nl-NL" noProof="0" dirty="0" err="1"/>
              <a:t>Github</a:t>
            </a:r>
            <a:r>
              <a:rPr lang="nl-NL" noProof="0" dirty="0"/>
              <a:t> </a:t>
            </a:r>
            <a:r>
              <a:rPr lang="nl-NL" noProof="0" dirty="0" err="1"/>
              <a:t>repo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5F22C3-8EDA-320E-0A76-A41023396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56654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8061-7493-5894-0462-01ED9A34E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5913-96A9-5E80-8E26-1A4B44FB7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Remote </a:t>
            </a:r>
            <a:r>
              <a:rPr lang="nl-NL" sz="3600" dirty="0" err="1"/>
              <a:t>repo</a:t>
            </a:r>
            <a:r>
              <a:rPr lang="nl-NL" sz="3600" dirty="0"/>
              <a:t> binnenhalen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FFB4D0-C6D2-F22C-1FB2-8A8037700E6E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Om een bestaand </a:t>
            </a:r>
            <a:r>
              <a:rPr lang="nl-NL" sz="1600" dirty="0" err="1"/>
              <a:t>repo</a:t>
            </a:r>
            <a:r>
              <a:rPr lang="nl-NL" sz="1600" dirty="0"/>
              <a:t> binnen te halen: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&lt;remote URL&gt;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https://github.com/LFKoning/git-cursus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 err="1"/>
              <a:t>Clone</a:t>
            </a:r>
            <a:r>
              <a:rPr lang="nl-NL" sz="1600" dirty="0"/>
              <a:t> commando: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Maakt werk directory aan met de naam van het repository.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Stelt deze werk directory in op de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main</a:t>
            </a:r>
            <a:r>
              <a:rPr lang="nl-NL" sz="1600" dirty="0"/>
              <a:t> </a:t>
            </a:r>
            <a:r>
              <a:rPr lang="nl-NL" sz="1600" dirty="0" err="1"/>
              <a:t>branch</a:t>
            </a:r>
            <a:r>
              <a:rPr lang="nl-NL" sz="16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Stelt URL in als remote server met de naam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sz="16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5B26EA-37DB-A8AC-56A9-6DBA9A4A9516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8C6892-355E-D823-0588-51FF8A170C66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E926456-D6E2-6E48-C3E5-0C6944FF1F1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F198F09-BA03-B3F7-24D6-734275203008}"/>
              </a:ext>
            </a:extLst>
          </p:cNvPr>
          <p:cNvSpPr txBox="1"/>
          <p:nvPr/>
        </p:nvSpPr>
        <p:spPr>
          <a:xfrm rot="16200000">
            <a:off x="9115043" y="3352950"/>
            <a:ext cx="6944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clone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935078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432087-AA4D-2704-BBEA-379C5F179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213C2-EFB6-2868-B88C-13F7DD4A0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Wijzigingen ophalen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5FAB2D2-AF1A-63BC-AB6C-15A885F32E61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Twee commando's om wijzigingen op te halen: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Update allen de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1600" dirty="0"/>
              <a:t> directory, niet de werk directory.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Je moet wijzigingen zelf </a:t>
            </a:r>
            <a:r>
              <a:rPr lang="nl-NL" sz="1600" dirty="0" err="1"/>
              <a:t>mergen</a:t>
            </a:r>
            <a:r>
              <a:rPr lang="nl-NL" sz="16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pull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Update de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.git</a:t>
            </a:r>
            <a:r>
              <a:rPr lang="nl-NL" sz="1600" dirty="0"/>
              <a:t> directory en de werk directory.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Is identiek aan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merge</a:t>
            </a:r>
            <a:r>
              <a:rPr lang="nl-NL" sz="1600" dirty="0"/>
              <a:t>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D9E5603-F53C-500E-164A-788D5503DBFB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6CEB74-9F16-4E64-10C6-8AAE09A99278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FF025E8-0721-763D-CFB3-C711A617E97F}"/>
              </a:ext>
            </a:extLst>
          </p:cNvPr>
          <p:cNvCxnSpPr>
            <a:cxnSpLocks/>
            <a:stCxn id="3" idx="2"/>
            <a:endCxn id="4" idx="0"/>
          </p:cNvCxnSpPr>
          <p:nvPr/>
        </p:nvCxnSpPr>
        <p:spPr>
          <a:xfrm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47938FC-3C3C-2352-BDFC-0A0ADC0AE3FE}"/>
              </a:ext>
            </a:extLst>
          </p:cNvPr>
          <p:cNvSpPr txBox="1"/>
          <p:nvPr/>
        </p:nvSpPr>
        <p:spPr>
          <a:xfrm rot="16200000">
            <a:off x="8842245" y="3352949"/>
            <a:ext cx="1240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fetch</a:t>
            </a:r>
            <a:r>
              <a:rPr lang="nl-NL" dirty="0"/>
              <a:t> / pull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122ABE-4A6B-2420-88EF-4FB9BDAD8978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fetch / pull.</a:t>
            </a:r>
          </a:p>
        </p:txBody>
      </p:sp>
    </p:spTree>
    <p:extLst>
      <p:ext uri="{BB962C8B-B14F-4D97-AF65-F5344CB8AC3E}">
        <p14:creationId xmlns:p14="http://schemas.microsoft.com/office/powerpoint/2010/main" val="1156780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630868-F557-AEDA-FDE0-F2805824F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96F8B3-B2C6-9AA3-6CB4-870A83AA2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Nieuw </a:t>
            </a:r>
            <a:r>
              <a:rPr lang="nl-NL" dirty="0" err="1"/>
              <a:t>Github</a:t>
            </a:r>
            <a:r>
              <a:rPr lang="nl-NL" dirty="0"/>
              <a:t> </a:t>
            </a:r>
            <a:r>
              <a:rPr lang="nl-NL" dirty="0" err="1"/>
              <a:t>repo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79508-5865-4D05-F9B9-8FFD89EA97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585727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FC659-C121-88A6-B644-EBD5801E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BD65D-2F79-EF72-5FBD-18032F9D2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Repo</a:t>
            </a:r>
            <a:r>
              <a:rPr lang="nl-NL" sz="3600" noProof="0" dirty="0"/>
              <a:t>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7356E41-5696-10E0-49A3-2D945EE1AAE2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812676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Ga naar de hoofdpagina van GitHub.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Selecteer Repositories.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Klik rechtsboven op New.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Vul de gegevens in.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Zet </a:t>
            </a:r>
            <a:r>
              <a:rPr lang="nl-NL" sz="1600" dirty="0" err="1"/>
              <a:t>Add</a:t>
            </a:r>
            <a:r>
              <a:rPr lang="nl-NL" sz="1600" dirty="0"/>
              <a:t> a README uit.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Zet .</a:t>
            </a:r>
            <a:r>
              <a:rPr lang="nl-NL" sz="1600" dirty="0" err="1"/>
              <a:t>gitignore</a:t>
            </a:r>
            <a:r>
              <a:rPr lang="nl-NL" sz="1600" dirty="0"/>
              <a:t> op None.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Zet </a:t>
            </a:r>
            <a:r>
              <a:rPr lang="nl-NL" sz="1600" dirty="0" err="1"/>
              <a:t>license</a:t>
            </a:r>
            <a:r>
              <a:rPr lang="nl-NL" sz="1600" dirty="0"/>
              <a:t> op None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33796CB-DA16-FA6C-1CD4-611162FF2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124" y="949092"/>
            <a:ext cx="4812676" cy="55437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D4B258-3CED-7047-0EC0-4B08A8C019E9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repo.</a:t>
            </a:r>
          </a:p>
        </p:txBody>
      </p:sp>
    </p:spTree>
    <p:extLst>
      <p:ext uri="{BB962C8B-B14F-4D97-AF65-F5344CB8AC3E}">
        <p14:creationId xmlns:p14="http://schemas.microsoft.com/office/powerpoint/2010/main" val="274574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6841-27F2-7FAF-7B58-4A81E57C23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67512-399A-A66E-4323-BA8B12333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Lokaal </a:t>
            </a:r>
            <a:r>
              <a:rPr lang="nl-NL" sz="3600" dirty="0" err="1"/>
              <a:t>repo</a:t>
            </a:r>
            <a:r>
              <a:rPr lang="nl-NL" sz="3600" dirty="0"/>
              <a:t> koppelen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3B13240-C8BD-22EF-37DF-9ED6CE843FFF}"/>
              </a:ext>
            </a:extLst>
          </p:cNvPr>
          <p:cNvSpPr txBox="1">
            <a:spLocks/>
          </p:cNvSpPr>
          <p:nvPr/>
        </p:nvSpPr>
        <p:spPr>
          <a:xfrm>
            <a:off x="838198" y="1456267"/>
            <a:ext cx="7802881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Check welke remote servers actief zijn: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-v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Voeg remote server toe aan een </a:t>
            </a:r>
            <a:r>
              <a:rPr lang="nl-NL" sz="1600" dirty="0" err="1"/>
              <a:t>repo</a:t>
            </a:r>
            <a:r>
              <a:rPr lang="nl-NL" sz="16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&lt;naam&gt; &lt;remote URL&gt;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https://github.com/You/pig-latin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Of wijzig het URL van een bestaande remote: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set-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&lt;naam&gt; &lt;remote URL&gt;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set-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url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https://github.com/You/pig-latin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982A46F-12FE-83D9-C5AD-400614998A06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0ED466-E9CA-4EDB-1FBD-F3220F1FB806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17EF159-8648-8BC1-A59A-B41EE182380C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9646920" y="2344542"/>
            <a:ext cx="0" cy="2386148"/>
          </a:xfrm>
          <a:prstGeom prst="straightConnector1">
            <a:avLst/>
          </a:prstGeom>
          <a:ln>
            <a:headEnd type="none" w="lg" len="lg"/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BAC3E95-EF37-9989-77E4-795111C75114}"/>
              </a:ext>
            </a:extLst>
          </p:cNvPr>
          <p:cNvSpPr txBox="1"/>
          <p:nvPr/>
        </p:nvSpPr>
        <p:spPr>
          <a:xfrm rot="16200000">
            <a:off x="8822047" y="3352949"/>
            <a:ext cx="1280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remote </a:t>
            </a:r>
            <a:r>
              <a:rPr lang="nl-NL" dirty="0" err="1"/>
              <a:t>add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262836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CAC94-C673-AA8A-006B-306FC00BA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BA83D-155A-72D3-66E3-E01596441B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Wijzigingen wegschrijven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53D69EA-DC8E-D06D-674F-C5DC0C74E7B5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Commit eerst je lokale wijzigingen: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–A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commit –m &lt;commit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message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Schrijf de wijzigingen weg met: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&lt;naam remote&gt;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C94C3C-7B37-8132-EF00-17DDF3F53B55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EA950-7EE5-6F8D-47A9-D2C483B630C7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8A4BB43-BEF0-BA0B-9C28-6AA0BAC4428A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8F276EE-5ABF-0457-C3FD-EEB4F43E6EE3}"/>
              </a:ext>
            </a:extLst>
          </p:cNvPr>
          <p:cNvSpPr txBox="1"/>
          <p:nvPr/>
        </p:nvSpPr>
        <p:spPr>
          <a:xfrm rot="16200000">
            <a:off x="9142295" y="335294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push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0E8209-669B-3CE7-5ABC-3C546A6ABF45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remote add.</a:t>
            </a:r>
          </a:p>
        </p:txBody>
      </p:sp>
    </p:spTree>
    <p:extLst>
      <p:ext uri="{BB962C8B-B14F-4D97-AF65-F5344CB8AC3E}">
        <p14:creationId xmlns:p14="http://schemas.microsoft.com/office/powerpoint/2010/main" val="19722056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2EAB2-736D-6389-6371-ABDF0ED81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DA408-9CCC-4953-91B8-2BD7F7BD7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Nieuwe branches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D5BCD3B-9061-C498-2E58-4234C5759158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Nieuwe lokale </a:t>
            </a:r>
            <a:r>
              <a:rPr lang="nl-NL" sz="1600" dirty="0" err="1"/>
              <a:t>branch</a:t>
            </a:r>
            <a:r>
              <a:rPr lang="nl-NL" sz="1600" dirty="0"/>
              <a:t> aanmaken: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–b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Push mislukt, want </a:t>
            </a:r>
            <a:r>
              <a:rPr lang="nl-NL" sz="1600" dirty="0" err="1"/>
              <a:t>branch</a:t>
            </a:r>
            <a:r>
              <a:rPr lang="nl-NL" sz="1600" dirty="0"/>
              <a:t> bestaat nog niet op remote: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0F3521-AB6A-5C85-E4E6-D4274721854D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EDA225-5ED9-C5DB-5E22-CBF4A3ACDC53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0A423D0-0D9E-60A8-C51D-AFA0BB6E2A64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A3F1643-CAC4-69B7-D90F-22121E652B06}"/>
              </a:ext>
            </a:extLst>
          </p:cNvPr>
          <p:cNvSpPr txBox="1"/>
          <p:nvPr/>
        </p:nvSpPr>
        <p:spPr>
          <a:xfrm rot="16200000">
            <a:off x="9142295" y="335294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push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5B0B973-6A75-DB37-F439-1DD927E58859}"/>
              </a:ext>
            </a:extLst>
          </p:cNvPr>
          <p:cNvGrpSpPr/>
          <p:nvPr/>
        </p:nvGrpSpPr>
        <p:grpSpPr>
          <a:xfrm>
            <a:off x="942536" y="3390314"/>
            <a:ext cx="6893719" cy="1593056"/>
            <a:chOff x="778669" y="4150519"/>
            <a:chExt cx="6893719" cy="15930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ECEA71-8097-4524-6FE8-B4BF94C9F47F}"/>
                </a:ext>
              </a:extLst>
            </p:cNvPr>
            <p:cNvSpPr/>
            <p:nvPr/>
          </p:nvSpPr>
          <p:spPr>
            <a:xfrm>
              <a:off x="778669" y="4150519"/>
              <a:ext cx="6893719" cy="1593056"/>
            </a:xfrm>
            <a:prstGeom prst="rect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Picture 12" descr="A screen shot of a computer&#10;&#10;Description automatically generated">
              <a:extLst>
                <a:ext uri="{FF2B5EF4-FFF2-40B4-BE49-F238E27FC236}">
                  <a16:creationId xmlns:a16="http://schemas.microsoft.com/office/drawing/2014/main" id="{81653055-ADC4-2908-0FE9-D201AC0E47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805"/>
            <a:stretch/>
          </p:blipFill>
          <p:spPr>
            <a:xfrm>
              <a:off x="932211" y="4294456"/>
              <a:ext cx="6584251" cy="132450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85609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0C5B8-5F01-C4FC-3889-FEF52956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BE474-D848-EAD9-DFFD-BBAFEDDEE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Branch</a:t>
            </a:r>
            <a:r>
              <a:rPr lang="nl-NL" sz="3600" dirty="0"/>
              <a:t> tracking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3FD0456-EB1C-C0C1-1CB8-76D6ECCE0B3B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Koppeling tussen een </a:t>
            </a:r>
            <a:r>
              <a:rPr lang="nl-NL" sz="1600" u="sng" dirty="0"/>
              <a:t>lokale</a:t>
            </a:r>
            <a:r>
              <a:rPr lang="nl-NL" sz="1600" dirty="0"/>
              <a:t> en een </a:t>
            </a:r>
            <a:r>
              <a:rPr lang="nl-NL" sz="1600" u="sng" dirty="0"/>
              <a:t>remote</a:t>
            </a:r>
            <a:r>
              <a:rPr lang="nl-NL" sz="1600" dirty="0"/>
              <a:t> </a:t>
            </a:r>
            <a:r>
              <a:rPr lang="nl-NL" sz="1600" dirty="0" err="1"/>
              <a:t>branch</a:t>
            </a:r>
            <a:r>
              <a:rPr lang="nl-NL" sz="16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--set-upstream &lt;remote&gt;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--set-upstream 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feature/unit-tests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Overzicht van lokale branches met hun tracking branches: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-vv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70711E-C635-A5E7-BF0D-75046C93D62D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B185F-817A-2D42-EEAA-71AE610AC03B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7B1044-B14D-AD92-2A81-663744FE59BE}"/>
              </a:ext>
            </a:extLst>
          </p:cNvPr>
          <p:cNvCxnSpPr>
            <a:cxnSpLocks/>
            <a:stCxn id="9" idx="0"/>
            <a:endCxn id="3" idx="2"/>
          </p:cNvCxnSpPr>
          <p:nvPr/>
        </p:nvCxnSpPr>
        <p:spPr>
          <a:xfrm flipV="1"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3796D48-F6CC-29B9-BDEA-F215A6304575}"/>
              </a:ext>
            </a:extLst>
          </p:cNvPr>
          <p:cNvSpPr txBox="1"/>
          <p:nvPr/>
        </p:nvSpPr>
        <p:spPr>
          <a:xfrm rot="16200000">
            <a:off x="9142295" y="335294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push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14C7F29-E343-29D3-3AF1-DD4679470CCA}"/>
              </a:ext>
            </a:extLst>
          </p:cNvPr>
          <p:cNvGrpSpPr/>
          <p:nvPr/>
        </p:nvGrpSpPr>
        <p:grpSpPr>
          <a:xfrm>
            <a:off x="916560" y="4272734"/>
            <a:ext cx="6893719" cy="1346231"/>
            <a:chOff x="902492" y="2407444"/>
            <a:chExt cx="6893719" cy="1346231"/>
          </a:xfrm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3C843332-AE9F-BE6D-36F7-FDBBF4A76BD3}"/>
                </a:ext>
              </a:extLst>
            </p:cNvPr>
            <p:cNvGrpSpPr/>
            <p:nvPr/>
          </p:nvGrpSpPr>
          <p:grpSpPr>
            <a:xfrm>
              <a:off x="902492" y="2407444"/>
              <a:ext cx="6893719" cy="907256"/>
              <a:chOff x="747574" y="4114800"/>
              <a:chExt cx="6893719" cy="907256"/>
            </a:xfrm>
          </p:grpSpPr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6464BE-1F24-9CCD-E81C-9C1A41BD59DD}"/>
                  </a:ext>
                </a:extLst>
              </p:cNvPr>
              <p:cNvSpPr/>
              <p:nvPr/>
            </p:nvSpPr>
            <p:spPr>
              <a:xfrm>
                <a:off x="747574" y="4114800"/>
                <a:ext cx="6893719" cy="907256"/>
              </a:xfrm>
              <a:prstGeom prst="rect">
                <a:avLst/>
              </a:prstGeom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/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1CE784C8-9094-9E1E-E9AE-17144B962C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001"/>
              <a:stretch/>
            </p:blipFill>
            <p:spPr>
              <a:xfrm>
                <a:off x="838199" y="4252816"/>
                <a:ext cx="6655872" cy="651016"/>
              </a:xfrm>
              <a:prstGeom prst="rect">
                <a:avLst/>
              </a:prstGeom>
            </p:spPr>
          </p:pic>
        </p:grp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C67E743-5595-4FEE-AA63-5BF23A23E28F}"/>
                </a:ext>
              </a:extLst>
            </p:cNvPr>
            <p:cNvSpPr txBox="1"/>
            <p:nvPr/>
          </p:nvSpPr>
          <p:spPr>
            <a:xfrm>
              <a:off x="1235566" y="3384343"/>
              <a:ext cx="7337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lokaal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B6DE7DD-1725-B19F-436F-514047A937E7}"/>
                </a:ext>
              </a:extLst>
            </p:cNvPr>
            <p:cNvSpPr txBox="1"/>
            <p:nvPr/>
          </p:nvSpPr>
          <p:spPr>
            <a:xfrm>
              <a:off x="4427916" y="3384343"/>
              <a:ext cx="8732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nl-NL" dirty="0"/>
                <a:t>remote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5686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81709-FD5D-133B-3651-D2B151D0D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D92E56-5FAB-A333-21A7-0F92DDF6D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Remote branches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67F5B5B-5FDB-7C05-A8A0-77695F4CFDC7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Branches op de remote worden opgehaald met: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nl-NL" sz="1600" dirty="0"/>
              <a:t> /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  <a:r>
              <a:rPr lang="nl-NL" sz="1600" dirty="0"/>
              <a:t> / 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pull.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Je kunt kijken welke branches beschikbaar zijn met: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-r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Wisselen naar een bestaande </a:t>
            </a:r>
            <a:r>
              <a:rPr lang="nl-NL" sz="1600" dirty="0" err="1"/>
              <a:t>branch</a:t>
            </a:r>
            <a:r>
              <a:rPr lang="nl-NL" sz="1600" dirty="0"/>
              <a:t> doe je met: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checkout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Dit zet de werk directory naar de laatste commit op de bestaande </a:t>
            </a:r>
            <a:r>
              <a:rPr lang="nl-NL" sz="1600" dirty="0" err="1"/>
              <a:t>branch</a:t>
            </a:r>
            <a:r>
              <a:rPr lang="nl-NL" sz="16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665E88-54CE-BF58-12FA-DC5A4A1AE5BC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252E04-29C7-3763-3BAF-3902A1ACC3D6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5EC1985A-9CC3-B4D5-1C0C-3E158329BB89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F695F67-3462-D9A4-27E0-B51DCB60C98F}"/>
              </a:ext>
            </a:extLst>
          </p:cNvPr>
          <p:cNvSpPr txBox="1"/>
          <p:nvPr/>
        </p:nvSpPr>
        <p:spPr>
          <a:xfrm rot="16200000">
            <a:off x="8944997" y="3352950"/>
            <a:ext cx="10345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checkout</a:t>
            </a:r>
            <a:endParaRPr lang="nl-NL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BDD26-5927-6B3C-BC72-3AEFE0C6436C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branch tracking.</a:t>
            </a:r>
          </a:p>
        </p:txBody>
      </p:sp>
    </p:spTree>
    <p:extLst>
      <p:ext uri="{BB962C8B-B14F-4D97-AF65-F5344CB8AC3E}">
        <p14:creationId xmlns:p14="http://schemas.microsoft.com/office/powerpoint/2010/main" val="3331569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BDE7-340C-5194-228B-F176B03E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395D4-99ED-CE88-5640-596B30916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Branch</a:t>
            </a:r>
            <a:r>
              <a:rPr lang="nl-NL" sz="3600" noProof="0" dirty="0"/>
              <a:t> verwijderen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8CD6C00-AEED-4DDE-8BAA-55DC38504B27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Een lokale </a:t>
            </a:r>
            <a:r>
              <a:rPr lang="nl-NL" sz="1600" dirty="0" err="1"/>
              <a:t>branch</a:t>
            </a:r>
            <a:r>
              <a:rPr lang="nl-NL" sz="1600" dirty="0"/>
              <a:t> verwijderen: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 err="1"/>
              <a:t>Gemerged</a:t>
            </a:r>
            <a:r>
              <a:rPr lang="nl-NL" sz="1600" dirty="0"/>
              <a:t>:	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–d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Niet </a:t>
            </a:r>
            <a:r>
              <a:rPr lang="nl-NL" sz="1600" dirty="0" err="1"/>
              <a:t>gemerged</a:t>
            </a:r>
            <a:r>
              <a:rPr lang="nl-NL" sz="1600" dirty="0"/>
              <a:t>:	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–D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Een remote </a:t>
            </a:r>
            <a:r>
              <a:rPr lang="nl-NL" sz="1600" dirty="0" err="1"/>
              <a:t>branch</a:t>
            </a:r>
            <a:r>
              <a:rPr lang="nl-NL" sz="1600" dirty="0"/>
              <a:t> verwijderen: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&lt;remote&gt; --delete &lt;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branch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 </a:t>
            </a:r>
            <a:r>
              <a:rPr lang="nl-NL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origin</a:t>
            </a:r>
            <a:r>
              <a:rPr lang="nl-NL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--delete feature/test-tracking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BAE364-CA2D-7470-3AAB-668F9A997440}"/>
              </a:ext>
            </a:extLst>
          </p:cNvPr>
          <p:cNvSpPr/>
          <p:nvPr/>
        </p:nvSpPr>
        <p:spPr>
          <a:xfrm>
            <a:off x="9006840" y="1456267"/>
            <a:ext cx="1280160" cy="88827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GitHub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CC3296-785D-EECD-FB00-F63923590CFE}"/>
              </a:ext>
            </a:extLst>
          </p:cNvPr>
          <p:cNvSpPr/>
          <p:nvPr/>
        </p:nvSpPr>
        <p:spPr>
          <a:xfrm>
            <a:off x="9006840" y="4730690"/>
            <a:ext cx="1280160" cy="888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Lokaal</a:t>
            </a:r>
          </a:p>
          <a:p>
            <a:pPr algn="ctr"/>
            <a:r>
              <a:rPr lang="nl-NL" dirty="0" err="1"/>
              <a:t>Repo</a:t>
            </a:r>
            <a:endParaRPr lang="nl-NL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9D4F1C-CC36-9553-C7A2-E334D15134F0}"/>
              </a:ext>
            </a:extLst>
          </p:cNvPr>
          <p:cNvCxnSpPr>
            <a:cxnSpLocks/>
            <a:stCxn id="8" idx="0"/>
            <a:endCxn id="6" idx="2"/>
          </p:cNvCxnSpPr>
          <p:nvPr/>
        </p:nvCxnSpPr>
        <p:spPr>
          <a:xfrm flipV="1">
            <a:off x="9646920" y="2344542"/>
            <a:ext cx="0" cy="2386148"/>
          </a:xfrm>
          <a:prstGeom prst="straightConnector1">
            <a:avLst/>
          </a:prstGeom>
          <a:ln>
            <a:tailEnd type="triangle" w="lg" len="lg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DBD304F-5671-B654-FAE7-62C8DE3BA275}"/>
              </a:ext>
            </a:extLst>
          </p:cNvPr>
          <p:cNvSpPr txBox="1"/>
          <p:nvPr/>
        </p:nvSpPr>
        <p:spPr>
          <a:xfrm rot="16200000">
            <a:off x="9142295" y="3352949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push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B0A00A-046F-DC70-47CD-6D95CA9A048A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delete branch.</a:t>
            </a:r>
          </a:p>
        </p:txBody>
      </p:sp>
    </p:spTree>
    <p:extLst>
      <p:ext uri="{BB962C8B-B14F-4D97-AF65-F5344CB8AC3E}">
        <p14:creationId xmlns:p14="http://schemas.microsoft.com/office/powerpoint/2010/main" val="2353427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DE154-8111-ACD8-4BD6-20492CA74D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82013C-A720-B7B5-690D-4EBE3DEA36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Pull </a:t>
            </a:r>
            <a:r>
              <a:rPr lang="nl-NL" noProof="0" dirty="0" err="1"/>
              <a:t>requests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A7BC3-C84C-7B37-2E0A-B787EB253D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2662195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B68ED-0267-BDCE-C6AA-AA55651C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12BD0B79-8CD2-C9C1-9DE6-C229B5D74307}"/>
              </a:ext>
            </a:extLst>
          </p:cNvPr>
          <p:cNvCxnSpPr>
            <a:stCxn id="11" idx="0"/>
            <a:endCxn id="20" idx="4"/>
          </p:cNvCxnSpPr>
          <p:nvPr/>
        </p:nvCxnSpPr>
        <p:spPr>
          <a:xfrm rot="16200000" flipV="1">
            <a:off x="9484528" y="2812004"/>
            <a:ext cx="2050583" cy="702814"/>
          </a:xfrm>
          <a:prstGeom prst="bentConnector3">
            <a:avLst>
              <a:gd name="adj1" fmla="val 91108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0DF8A431-F105-915A-0640-25FFFE908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Wat is een Pull </a:t>
            </a:r>
            <a:r>
              <a:rPr lang="nl-NL" sz="3600" noProof="0" dirty="0" err="1"/>
              <a:t>Request</a:t>
            </a:r>
            <a:r>
              <a:rPr lang="nl-NL" sz="3600" noProof="0" dirty="0"/>
              <a:t>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0ADD345-F241-3780-1075-26AF68BE3363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751549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/>
              <a:t>Door branches kan iedereen los van elkaar werken.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/>
              <a:t>Maar: uiteindelijk wil je branches </a:t>
            </a:r>
            <a:r>
              <a:rPr lang="nl-NL" sz="1800" dirty="0" err="1"/>
              <a:t>mergen</a:t>
            </a:r>
            <a:r>
              <a:rPr lang="nl-NL" sz="1800" dirty="0"/>
              <a:t>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/>
              <a:t>Met een Pull </a:t>
            </a:r>
            <a:r>
              <a:rPr lang="nl-NL" sz="1800" dirty="0" err="1"/>
              <a:t>Request</a:t>
            </a:r>
            <a:r>
              <a:rPr lang="nl-NL" sz="1800" dirty="0"/>
              <a:t> kun je samenwerken aan een </a:t>
            </a:r>
            <a:r>
              <a:rPr lang="nl-NL" sz="1800" dirty="0" err="1"/>
              <a:t>merge</a:t>
            </a:r>
            <a:r>
              <a:rPr lang="nl-NL" sz="1800" dirty="0"/>
              <a:t>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Aanvraag om twee branches te </a:t>
            </a:r>
            <a:r>
              <a:rPr lang="nl-NL" sz="1800" dirty="0" err="1"/>
              <a:t>mergen</a:t>
            </a:r>
            <a:r>
              <a:rPr lang="nl-NL" sz="18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Geeft wijzigingen duidelijk weer.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Geeft aan of er conflicten zijn.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Geeft mogelijkheid voor commentaar en suggesties.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Kan worden geaccepteerd of afgewezen.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B31ED17-F9C3-28FA-518D-8E3CE91C777D}"/>
              </a:ext>
            </a:extLst>
          </p:cNvPr>
          <p:cNvCxnSpPr/>
          <p:nvPr/>
        </p:nvCxnSpPr>
        <p:spPr>
          <a:xfrm flipV="1">
            <a:off x="10158412" y="1657350"/>
            <a:ext cx="0" cy="394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74400A1F-6344-66B6-BE53-1D7B6D4267FB}"/>
              </a:ext>
            </a:extLst>
          </p:cNvPr>
          <p:cNvSpPr/>
          <p:nvPr/>
        </p:nvSpPr>
        <p:spPr>
          <a:xfrm>
            <a:off x="9996832" y="5131689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NL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F9302F-4D29-BE03-6171-C9B09363F290}"/>
              </a:ext>
            </a:extLst>
          </p:cNvPr>
          <p:cNvSpPr/>
          <p:nvPr/>
        </p:nvSpPr>
        <p:spPr>
          <a:xfrm>
            <a:off x="10699646" y="4188702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NL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719DB3F-5EA1-92C9-2B9B-2128721AA2AF}"/>
              </a:ext>
            </a:extLst>
          </p:cNvPr>
          <p:cNvCxnSpPr>
            <a:cxnSpLocks/>
            <a:stCxn id="6" idx="0"/>
            <a:endCxn id="11" idx="4"/>
          </p:cNvCxnSpPr>
          <p:nvPr/>
        </p:nvCxnSpPr>
        <p:spPr>
          <a:xfrm rot="5400000" flipH="1" flipV="1">
            <a:off x="10199429" y="4469892"/>
            <a:ext cx="620780" cy="702814"/>
          </a:xfrm>
          <a:prstGeom prst="bentConnector3">
            <a:avLst>
              <a:gd name="adj1" fmla="val 50000"/>
            </a:avLst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34C56204-79A5-C9E2-9BB4-7B3C5B5E3A0B}"/>
              </a:ext>
            </a:extLst>
          </p:cNvPr>
          <p:cNvSpPr/>
          <p:nvPr/>
        </p:nvSpPr>
        <p:spPr>
          <a:xfrm>
            <a:off x="10699646" y="3406818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NL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3491504-CF21-6DFA-EAC7-0473CCDA4830}"/>
              </a:ext>
            </a:extLst>
          </p:cNvPr>
          <p:cNvSpPr/>
          <p:nvPr/>
        </p:nvSpPr>
        <p:spPr>
          <a:xfrm>
            <a:off x="10699646" y="2624934"/>
            <a:ext cx="323160" cy="322207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NL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DFB2F25-04B7-DDB8-C91F-4E7563373FB7}"/>
              </a:ext>
            </a:extLst>
          </p:cNvPr>
          <p:cNvSpPr/>
          <p:nvPr/>
        </p:nvSpPr>
        <p:spPr>
          <a:xfrm>
            <a:off x="9996832" y="1815912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</a:t>
            </a:r>
            <a:endParaRPr lang="en-NL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665C924-8430-9906-8647-94A244722D7E}"/>
              </a:ext>
            </a:extLst>
          </p:cNvPr>
          <p:cNvSpPr/>
          <p:nvPr/>
        </p:nvSpPr>
        <p:spPr>
          <a:xfrm>
            <a:off x="9996831" y="2976923"/>
            <a:ext cx="323160" cy="322207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  <a:endParaRPr lang="en-NL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794BB6-F531-A5E8-4858-2F7C73E4F3F1}"/>
              </a:ext>
            </a:extLst>
          </p:cNvPr>
          <p:cNvSpPr txBox="1"/>
          <p:nvPr/>
        </p:nvSpPr>
        <p:spPr>
          <a:xfrm>
            <a:off x="10644164" y="1768787"/>
            <a:ext cx="4283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PR</a:t>
            </a:r>
          </a:p>
        </p:txBody>
      </p:sp>
    </p:spTree>
    <p:extLst>
      <p:ext uri="{BB962C8B-B14F-4D97-AF65-F5344CB8AC3E}">
        <p14:creationId xmlns:p14="http://schemas.microsoft.com/office/powerpoint/2010/main" val="22190844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A10F-40C3-0682-28BF-5F0283604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1BB88-2A5E-FFA5-E72B-74748083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CD05DE-5C9F-49C7-CE8B-DE4F84FD8E84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Ga Repository &gt; Pull </a:t>
            </a:r>
            <a:r>
              <a:rPr lang="nl-NL" sz="1800" dirty="0" err="1"/>
              <a:t>Requests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[New pull </a:t>
            </a:r>
            <a:r>
              <a:rPr lang="nl-NL" sz="1800" dirty="0" err="1"/>
              <a:t>request</a:t>
            </a:r>
            <a:r>
              <a:rPr lang="nl-NL" sz="1800" dirty="0"/>
              <a:t>].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Kies de branches die je wilt </a:t>
            </a:r>
            <a:r>
              <a:rPr lang="nl-NL" sz="1800" dirty="0" err="1"/>
              <a:t>mergen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Check of </a:t>
            </a:r>
            <a:r>
              <a:rPr lang="nl-NL" sz="1800" dirty="0" err="1"/>
              <a:t>gemerged</a:t>
            </a:r>
            <a:r>
              <a:rPr lang="nl-NL" sz="1800" dirty="0"/>
              <a:t> kan worden.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</a:t>
            </a:r>
            <a:r>
              <a:rPr lang="nl-NL" sz="1800" dirty="0" err="1"/>
              <a:t>Create</a:t>
            </a:r>
            <a:r>
              <a:rPr lang="nl-NL" sz="1800" dirty="0"/>
              <a:t> pull </a:t>
            </a:r>
            <a:r>
              <a:rPr lang="nl-NL" sz="1800" dirty="0" err="1"/>
              <a:t>request</a:t>
            </a:r>
            <a:r>
              <a:rPr lang="nl-NL" sz="1800" dirty="0"/>
              <a:t>]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F5122215-A220-E455-2070-7881F2A411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216" y="1456267"/>
            <a:ext cx="5586584" cy="44292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654880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5EE7-F5A4-81BB-4E49-10358D4CC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C5ED443-5867-499D-6078-8CCB20E3A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217" y="1456267"/>
            <a:ext cx="5586584" cy="463528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10B23D-2C99-DF75-B09F-93B947C23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16076A2-2DDA-C993-371A-7A5EB9076186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Voeg een titel toe.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Voeg een beschrijving toe.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Kies </a:t>
            </a:r>
            <a:r>
              <a:rPr lang="nl-NL" sz="1800" dirty="0" err="1"/>
              <a:t>reviewers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00763F-C1BF-F1CD-BC89-FDF85081D18C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PR.</a:t>
            </a:r>
          </a:p>
        </p:txBody>
      </p:sp>
    </p:spTree>
    <p:extLst>
      <p:ext uri="{BB962C8B-B14F-4D97-AF65-F5344CB8AC3E}">
        <p14:creationId xmlns:p14="http://schemas.microsoft.com/office/powerpoint/2010/main" val="12292070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95D28-BB45-5322-FAB0-8F1E3320D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13F71F4E-42D2-EA00-2D45-1257F35B3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214" y="1456267"/>
            <a:ext cx="5586585" cy="470385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8CC676-16CE-E0B1-5104-FF6611EAB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reviewen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F444C1B-8679-0EA3-527C-6AA9F8E719EC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Ga naar de repository.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[Pull </a:t>
            </a:r>
            <a:r>
              <a:rPr lang="nl-NL" sz="1800" dirty="0" err="1"/>
              <a:t>requests</a:t>
            </a:r>
            <a:r>
              <a:rPr lang="nl-NL" sz="1800" dirty="0"/>
              <a:t>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rechtsboven op [</a:t>
            </a:r>
            <a:r>
              <a:rPr lang="nl-NL" sz="1800" dirty="0" err="1"/>
              <a:t>Add</a:t>
            </a:r>
            <a:r>
              <a:rPr lang="nl-NL" sz="1800" dirty="0"/>
              <a:t> </a:t>
            </a:r>
            <a:r>
              <a:rPr lang="nl-NL" sz="1800" dirty="0" err="1"/>
              <a:t>your</a:t>
            </a:r>
            <a:r>
              <a:rPr lang="nl-NL" sz="1800" dirty="0"/>
              <a:t> review]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Geef commentaar op de code.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20402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64275-E0C9-4D94-FDBC-B61D5FED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55227B6-6950-9D17-106B-DEDCBC104C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5483" y="1456267"/>
            <a:ext cx="5538316" cy="46516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B357752-2B7C-CADB-7210-A5CD676D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reviewen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0B31DB1-ED36-FEF5-E8B1-051650FE5C19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Ga naar de repository.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[Pull </a:t>
            </a:r>
            <a:r>
              <a:rPr lang="nl-NL" sz="1800" dirty="0" err="1"/>
              <a:t>requests</a:t>
            </a:r>
            <a:r>
              <a:rPr lang="nl-NL" sz="1800" dirty="0"/>
              <a:t>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rechtsboven op [</a:t>
            </a:r>
            <a:r>
              <a:rPr lang="nl-NL" sz="1800" dirty="0" err="1"/>
              <a:t>Add</a:t>
            </a:r>
            <a:r>
              <a:rPr lang="nl-NL" sz="1800" dirty="0"/>
              <a:t> </a:t>
            </a:r>
            <a:r>
              <a:rPr lang="nl-NL" sz="1800" dirty="0" err="1"/>
              <a:t>your</a:t>
            </a:r>
            <a:r>
              <a:rPr lang="nl-NL" sz="1800" dirty="0"/>
              <a:t> review]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Geef commentaar op de code.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[Review changes].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Schrijf een beoordeling.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Keur de PR goed of niet.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EB232A-50BB-D179-BB8A-09AE1AF6D2FB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review PR.</a:t>
            </a:r>
          </a:p>
        </p:txBody>
      </p:sp>
    </p:spTree>
    <p:extLst>
      <p:ext uri="{BB962C8B-B14F-4D97-AF65-F5344CB8AC3E}">
        <p14:creationId xmlns:p14="http://schemas.microsoft.com/office/powerpoint/2010/main" val="2782554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501D5-2674-9AC3-1809-2E45DF44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827FE-346C-6DDD-EDD2-124AEE5F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Tips: PR 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93C7A197-BC38-1C5F-D5E1-0D74823E8CA5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1051560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nl-NL" sz="1800" dirty="0"/>
              <a:t>Doel: Maak het de </a:t>
            </a:r>
            <a:r>
              <a:rPr lang="nl-NL" sz="1800" dirty="0" err="1"/>
              <a:t>reviewer</a:t>
            </a:r>
            <a:r>
              <a:rPr lang="nl-NL" sz="1800" dirty="0"/>
              <a:t> zo makkelijk mogelijk!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nl-NL" sz="1800" dirty="0"/>
              <a:t>Tips: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Maak </a:t>
            </a:r>
            <a:r>
              <a:rPr lang="nl-NL" sz="1800" dirty="0" err="1"/>
              <a:t>PR's</a:t>
            </a:r>
            <a:r>
              <a:rPr lang="nl-NL" sz="1800" dirty="0"/>
              <a:t> van beperkte omvang!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 context en uitleg.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Ga zorgvuldig om met de gegeven feedback.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Vermijd ideologische discussies…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Bellen is sneller.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9846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B3A6A-0428-D6B3-DA27-5E51FF3E5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FD3FA-9F51-C740-C172-873214669E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Tips: PR reviewen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A6CC6FC-B0E7-0EA9-5D6D-43B0A161EC54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1051560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nl-NL" sz="1800" dirty="0"/>
              <a:t>Doel: Help de auteur betere code op te leveren.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nl-NL" sz="1800" dirty="0"/>
              <a:t>Tips: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Reageer tijdig!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 opbouwende feedback.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Geef concrete suggesties.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Vele wegen naar Rome; anders is niet fout.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Vermijd ideologische discussies…</a:t>
            </a:r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r>
              <a:rPr lang="nl-NL" sz="1800" dirty="0"/>
              <a:t>Bellen is sneller.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endParaRPr lang="nl-NL" sz="1800" dirty="0"/>
          </a:p>
          <a:p>
            <a:pPr>
              <a:lnSpc>
                <a:spcPct val="15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4547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6D042-0994-4885-880A-203BF606D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67D703-3F74-AC99-B031-80B627CB6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 err="1"/>
              <a:t>Workflows</a:t>
            </a:r>
            <a:r>
              <a:rPr lang="nl-NL" noProof="0" dirty="0"/>
              <a:t> en Actions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73B2C5-F86F-12A6-CD45-DFDECAA688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333847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D12F-B401-4F1A-D4DE-307A4F99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89DFE-EE76-F242-B302-9878CD8CF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Wat is een Workflow?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13107C-D505-6BBE-C6EE-EA3293B68A61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5257801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Je wilt graag code van hoge kwaliteit in je repository.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In een Workflow kun je tools gebruiken om de kwaliteit te controleren: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Opmaak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Fouten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Unit tests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De Workflow start bij bijvoorbeeld een 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git push</a:t>
            </a:r>
            <a:r>
              <a:rPr lang="nl-NL" sz="1800" dirty="0">
                <a:cs typeface="Courier New" panose="02070309020205020404" pitchFamily="49" charset="0"/>
              </a:rPr>
              <a:t> of een 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70391FE-8159-720D-E458-6B6B14DF3103}"/>
              </a:ext>
            </a:extLst>
          </p:cNvPr>
          <p:cNvSpPr/>
          <p:nvPr/>
        </p:nvSpPr>
        <p:spPr>
          <a:xfrm>
            <a:off x="7157927" y="583937"/>
            <a:ext cx="1493043" cy="5950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git push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F2A86E-C55A-893A-7C85-495CD631CAEE}"/>
              </a:ext>
            </a:extLst>
          </p:cNvPr>
          <p:cNvSpPr/>
          <p:nvPr/>
        </p:nvSpPr>
        <p:spPr>
          <a:xfrm>
            <a:off x="7157927" y="2757880"/>
            <a:ext cx="3924974" cy="373499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vert270" rtlCol="0" anchor="t"/>
          <a:lstStyle/>
          <a:p>
            <a:pPr algn="ctr"/>
            <a:r>
              <a:rPr lang="nl-NL" dirty="0"/>
              <a:t>Virtual Machine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96E9195-DDC1-96BA-1B5E-693236B34920}"/>
              </a:ext>
            </a:extLst>
          </p:cNvPr>
          <p:cNvSpPr/>
          <p:nvPr/>
        </p:nvSpPr>
        <p:spPr>
          <a:xfrm>
            <a:off x="7697208" y="3011484"/>
            <a:ext cx="3024554" cy="5950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200" dirty="0"/>
              <a:t>Action 1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git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clone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repo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B4483D-1BCD-46D7-F099-80616DFC7B1A}"/>
              </a:ext>
            </a:extLst>
          </p:cNvPr>
          <p:cNvSpPr/>
          <p:nvPr/>
        </p:nvSpPr>
        <p:spPr>
          <a:xfrm>
            <a:off x="7697208" y="3894266"/>
            <a:ext cx="3024553" cy="5950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200" dirty="0"/>
              <a:t>Action 2</a:t>
            </a:r>
          </a:p>
          <a:p>
            <a:pPr algn="ctr"/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python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118A17D-D1D0-ECE7-6E59-59089E4AE054}"/>
              </a:ext>
            </a:extLst>
          </p:cNvPr>
          <p:cNvSpPr/>
          <p:nvPr/>
        </p:nvSpPr>
        <p:spPr>
          <a:xfrm>
            <a:off x="7697208" y="4777048"/>
            <a:ext cx="3024553" cy="5950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200" dirty="0"/>
              <a:t>Action 3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pip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install</a:t>
            </a:r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.</a:t>
            </a:r>
          </a:p>
        </p:txBody>
      </p:sp>
      <p:pic>
        <p:nvPicPr>
          <p:cNvPr id="21" name="Graphic 20" descr="Checkmark with solid fill">
            <a:extLst>
              <a:ext uri="{FF2B5EF4-FFF2-40B4-BE49-F238E27FC236}">
                <a16:creationId xmlns:a16="http://schemas.microsoft.com/office/drawing/2014/main" id="{B770E1A5-7367-A485-4B38-FD64612DD2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6796" y="2349502"/>
            <a:ext cx="274375" cy="33241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FD34295-0E2A-CD4D-4F28-FF9B301FB412}"/>
              </a:ext>
            </a:extLst>
          </p:cNvPr>
          <p:cNvSpPr/>
          <p:nvPr/>
        </p:nvSpPr>
        <p:spPr>
          <a:xfrm>
            <a:off x="9589858" y="583937"/>
            <a:ext cx="1493043" cy="5950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PR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C429C6-B30A-2F2B-BB3C-8DDF1C058933}"/>
              </a:ext>
            </a:extLst>
          </p:cNvPr>
          <p:cNvSpPr/>
          <p:nvPr/>
        </p:nvSpPr>
        <p:spPr>
          <a:xfrm>
            <a:off x="8462961" y="1670908"/>
            <a:ext cx="1493043" cy="59504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dirty="0"/>
              <a:t>Workflow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EBB17E3-B43B-389B-E1C9-4E4DDB17F5CA}"/>
              </a:ext>
            </a:extLst>
          </p:cNvPr>
          <p:cNvSpPr/>
          <p:nvPr/>
        </p:nvSpPr>
        <p:spPr>
          <a:xfrm>
            <a:off x="7697207" y="5659830"/>
            <a:ext cx="3024553" cy="595047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200" dirty="0"/>
              <a:t>Action 4</a:t>
            </a:r>
          </a:p>
          <a:p>
            <a:pPr algn="ctr"/>
            <a:r>
              <a:rPr lang="nl-NL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python -m </a:t>
            </a:r>
            <a:r>
              <a:rPr lang="nl-NL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pytest</a:t>
            </a:r>
            <a:endParaRPr lang="nl-N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68B279-6417-9DBB-04C7-15F29D9D351B}"/>
              </a:ext>
            </a:extLst>
          </p:cNvPr>
          <p:cNvCxnSpPr>
            <a:stCxn id="5" idx="2"/>
            <a:endCxn id="10" idx="0"/>
          </p:cNvCxnSpPr>
          <p:nvPr/>
        </p:nvCxnSpPr>
        <p:spPr>
          <a:xfrm>
            <a:off x="7904449" y="1178985"/>
            <a:ext cx="1305034" cy="491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B2E4CEA-8650-619D-C318-AE600CA70D75}"/>
              </a:ext>
            </a:extLst>
          </p:cNvPr>
          <p:cNvCxnSpPr>
            <a:stCxn id="4" idx="2"/>
            <a:endCxn id="10" idx="0"/>
          </p:cNvCxnSpPr>
          <p:nvPr/>
        </p:nvCxnSpPr>
        <p:spPr>
          <a:xfrm flipH="1">
            <a:off x="9209483" y="1178985"/>
            <a:ext cx="1126897" cy="4919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897E8C8-40FD-F88A-7084-7C0DA4AA310F}"/>
              </a:ext>
            </a:extLst>
          </p:cNvPr>
          <p:cNvCxnSpPr/>
          <p:nvPr/>
        </p:nvCxnSpPr>
        <p:spPr>
          <a:xfrm>
            <a:off x="9003323" y="2265956"/>
            <a:ext cx="0" cy="491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5818A20-5217-AF12-F877-8F366A382CC8}"/>
              </a:ext>
            </a:extLst>
          </p:cNvPr>
          <p:cNvCxnSpPr>
            <a:cxnSpLocks/>
          </p:cNvCxnSpPr>
          <p:nvPr/>
        </p:nvCxnSpPr>
        <p:spPr>
          <a:xfrm flipV="1">
            <a:off x="9493347" y="2265956"/>
            <a:ext cx="0" cy="4919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52012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DC2DC-4B2F-C88E-58BA-A299C199F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ACA19-7A3B-B2A5-B7FF-EB8D76CEF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Workflow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2C0B911-60F7-E6C2-6D6D-A4A679D891FB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879283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Klik op [Actions] in je repository.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Kies bestaande workflow (vb. Python package).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Of: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Kies: [set up a workflow </a:t>
            </a:r>
            <a:r>
              <a:rPr lang="nl-NL" sz="1800" dirty="0" err="1">
                <a:cs typeface="Courier New" panose="02070309020205020404" pitchFamily="49" charset="0"/>
              </a:rPr>
              <a:t>yourself</a:t>
            </a:r>
            <a:r>
              <a:rPr lang="nl-NL" sz="1800" dirty="0">
                <a:cs typeface="Courier New" panose="02070309020205020404" pitchFamily="49" charset="0"/>
              </a:rPr>
              <a:t>].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Beide opties maken een YAML bestand in: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github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nl-NL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workflows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0ABBE7B4-D197-4AC0-F8F4-F8A71707E2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517" y="1083734"/>
            <a:ext cx="4879283" cy="50256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61394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C14B5-DC74-2D01-58F7-E6086B83D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32F6-0EAC-F828-C52C-A048E2836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Workflows</a:t>
            </a:r>
            <a:r>
              <a:rPr lang="nl-NL" sz="3600" dirty="0"/>
              <a:t>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90E4B74-0D92-1786-5579-396114096D0B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In het YAML bestand definieer je: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Voor welke branches de Workflow draait.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Welke versies van Python gebruikt worden.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Welke stappen uitgevoerd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CC854DC-BB4F-3FB0-EA4B-65FE191ADE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9350" y="1083734"/>
            <a:ext cx="5124450" cy="509322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D39560-9CB6-3D8F-A708-C4969C152841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workflow.</a:t>
            </a:r>
          </a:p>
        </p:txBody>
      </p:sp>
    </p:spTree>
    <p:extLst>
      <p:ext uri="{BB962C8B-B14F-4D97-AF65-F5344CB8AC3E}">
        <p14:creationId xmlns:p14="http://schemas.microsoft.com/office/powerpoint/2010/main" val="25161703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C7D0A-5C0A-BF90-1AC4-3ED80AA13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3C3EA-C8CC-E518-642B-2C3968EB5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Workflow draaien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6D2A2572-8C44-56C3-F3E7-81486DF93309}"/>
              </a:ext>
            </a:extLst>
          </p:cNvPr>
          <p:cNvSpPr txBox="1">
            <a:spLocks/>
          </p:cNvSpPr>
          <p:nvPr/>
        </p:nvSpPr>
        <p:spPr>
          <a:xfrm>
            <a:off x="3362179" y="1392962"/>
            <a:ext cx="5873261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Workflow draait bij elke push of 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De run krijgt de naam van de commit.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Icoon geeft aan of de Workflow run succesvol was.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2A818499-6E80-AB58-9B9F-1183EE7297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153" y="2699303"/>
            <a:ext cx="8001693" cy="3589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043728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39BC5-7E32-1B69-2A8F-4173FDCB6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8619A-5D02-2975-A578-B62A4E8A6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Workflow draaien</a:t>
            </a:r>
            <a:endParaRPr lang="nl-NL" sz="3600" noProof="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2E3B365-9234-7E44-0D26-C9B0457F3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7165" y="2041897"/>
            <a:ext cx="8057669" cy="42815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FE9305E-1E9A-2306-6ABE-F2D43B775021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1062752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Klik op een Workflow run voor logging.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48E1496-6026-7555-F17E-08164D7C81F6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workflow.</a:t>
            </a:r>
          </a:p>
        </p:txBody>
      </p:sp>
    </p:spTree>
    <p:extLst>
      <p:ext uri="{BB962C8B-B14F-4D97-AF65-F5344CB8AC3E}">
        <p14:creationId xmlns:p14="http://schemas.microsoft.com/office/powerpoint/2010/main" val="690665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6B1D5-2126-D950-1929-049A1E352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270A84C-0DE9-2682-8BF7-4FAD8DF36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Branches beveiligen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EE7C78-BCB9-7ECC-44B7-6CEA8EEC2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74799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A0D2C-ADE5-4D21-755C-F05FC23A8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67CD-B281-BE59-9CE0-F796CDAD4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Ruleset</a:t>
            </a:r>
            <a:r>
              <a:rPr lang="nl-NL" sz="3600" dirty="0"/>
              <a:t>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F2B6EA0-8C04-8FA6-99CC-1E3464AB58F3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Rulesets beveiligen branches tegen: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Verwijderen van de 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Mergen zonder 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 zonder reviews.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 waarbij de Workflow faalt.</a:t>
            </a: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A18A8119-E866-8730-7132-0A092BE30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0476" y="1456267"/>
            <a:ext cx="5493324" cy="2972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3169550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372C-DF0F-2FC0-B845-8D45E9E5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198E8-0E40-AEC5-618C-8D42C2602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Ruleset</a:t>
            </a:r>
            <a:r>
              <a:rPr lang="nl-NL" sz="3600" dirty="0"/>
              <a:t>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7ED9BF3-01DD-79A6-2E67-6FF221681938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Rulesets beveiligen branches tegen: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Verwijderen van de 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Mergen zonder 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Pull </a:t>
            </a:r>
            <a:r>
              <a:rPr lang="nl-NL" sz="1800" dirty="0" err="1">
                <a:cs typeface="Courier New" panose="02070309020205020404" pitchFamily="49" charset="0"/>
              </a:rPr>
              <a:t>Requests</a:t>
            </a:r>
            <a:r>
              <a:rPr lang="nl-NL" sz="1800" dirty="0">
                <a:cs typeface="Courier New" panose="02070309020205020404" pitchFamily="49" charset="0"/>
              </a:rPr>
              <a:t> zonder reviews.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Pull </a:t>
            </a:r>
            <a:r>
              <a:rPr lang="nl-NL" sz="1800" dirty="0" err="1">
                <a:cs typeface="Courier New" panose="02070309020205020404" pitchFamily="49" charset="0"/>
              </a:rPr>
              <a:t>Requests</a:t>
            </a:r>
            <a:r>
              <a:rPr lang="nl-NL" sz="1800" dirty="0">
                <a:cs typeface="Courier New" panose="02070309020205020404" pitchFamily="49" charset="0"/>
              </a:rPr>
              <a:t> waarbij de Workflow faalt.</a:t>
            </a:r>
          </a:p>
        </p:txBody>
      </p:sp>
      <p:pic>
        <p:nvPicPr>
          <p:cNvPr id="4" name="Picture 3" descr="A white rectangular object with a black text&#10;&#10;Description automatically generated">
            <a:extLst>
              <a:ext uri="{FF2B5EF4-FFF2-40B4-BE49-F238E27FC236}">
                <a16:creationId xmlns:a16="http://schemas.microsoft.com/office/drawing/2014/main" id="{7C090C70-7A3E-B871-AE35-452609AACC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38"/>
          <a:stretch/>
        </p:blipFill>
        <p:spPr>
          <a:xfrm>
            <a:off x="6596818" y="861856"/>
            <a:ext cx="4541914" cy="1166970"/>
          </a:xfrm>
          <a:prstGeom prst="rect">
            <a:avLst/>
          </a:prstGeom>
        </p:spPr>
      </p:pic>
      <p:pic>
        <p:nvPicPr>
          <p:cNvPr id="7" name="Picture 6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ADF38E6A-5AA8-2822-DF15-0C8D1D5D11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922" y="2280735"/>
            <a:ext cx="4503810" cy="6248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0B8A15-7A66-FB99-368B-0EBF4761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4922" y="3305622"/>
            <a:ext cx="4503810" cy="647756"/>
          </a:xfrm>
          <a:prstGeom prst="rect">
            <a:avLst/>
          </a:prstGeom>
        </p:spPr>
      </p:pic>
      <p:pic>
        <p:nvPicPr>
          <p:cNvPr id="11" name="Picture 10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86915651-EBC3-C094-D056-7BBFD10DA2D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111" y="4353371"/>
            <a:ext cx="4473328" cy="708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2775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B19BF-B785-6D19-41D4-62106282A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FC332-7203-8EF4-CC7F-255CF31CF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Ruleset</a:t>
            </a:r>
            <a:r>
              <a:rPr lang="nl-NL" sz="3600" dirty="0"/>
              <a:t> in actie</a:t>
            </a:r>
            <a:endParaRPr lang="nl-NL" sz="3600" noProof="0" dirty="0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A095823A-2DC0-6742-F867-2A8EF7391F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424" y="2372500"/>
            <a:ext cx="8657070" cy="288823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710E314-6F74-73E6-9416-2B71F2B7B61B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1062752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Workflow draait als een Pull </a:t>
            </a:r>
            <a:r>
              <a:rPr lang="nl-NL" sz="1800" dirty="0" err="1">
                <a:cs typeface="Courier New" panose="02070309020205020404" pitchFamily="49" charset="0"/>
              </a:rPr>
              <a:t>Request</a:t>
            </a:r>
            <a:r>
              <a:rPr lang="nl-NL" sz="1800" dirty="0">
                <a:cs typeface="Courier New" panose="02070309020205020404" pitchFamily="49" charset="0"/>
              </a:rPr>
              <a:t> wordt aangemaakt.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71F34A-2C3B-06E4-B0B7-78326E0E8876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ruleset.</a:t>
            </a:r>
          </a:p>
        </p:txBody>
      </p:sp>
    </p:spTree>
    <p:extLst>
      <p:ext uri="{BB962C8B-B14F-4D97-AF65-F5344CB8AC3E}">
        <p14:creationId xmlns:p14="http://schemas.microsoft.com/office/powerpoint/2010/main" val="27218857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40A45-57D6-4B57-6CF6-DFE11F1E9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579399-68A7-C464-3780-544D50771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Taken beheren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A7F936-2C11-9266-C225-9E47933CB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069308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EA8A2-09C3-6C8E-58C3-68AE93B47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18F6F-5175-8AA3-408E-E13768652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Taken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4DCBF055-7428-2021-44E2-CCD550754DA2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331231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Wat is een issue?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Een taak / concreet stukje werk: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nieuwe feature.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 err="1"/>
              <a:t>bugfix</a:t>
            </a:r>
            <a:r>
              <a:rPr lang="nl-NL" sz="14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documentatie.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Belangrijke elementen: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Duidelijke titel en omschrijving.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Wie gaat het oppakken.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Labels voor type werk.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Wanneer is het af?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36BBA03-D9DD-D985-58E3-1D280C65B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300" y="1456267"/>
            <a:ext cx="6865500" cy="300365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F34AA1-61CD-BB68-DC6E-4203E36B0424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issue.</a:t>
            </a:r>
          </a:p>
        </p:txBody>
      </p:sp>
    </p:spTree>
    <p:extLst>
      <p:ext uri="{BB962C8B-B14F-4D97-AF65-F5344CB8AC3E}">
        <p14:creationId xmlns:p14="http://schemas.microsoft.com/office/powerpoint/2010/main" val="118134688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3243-7060-08BD-5B17-B06F4701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87D41-8C28-A022-3B9A-B66CEB5E9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Project aanmaken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60CB07D-A0C4-FF85-0497-1D6563BCF9E8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3512344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Wat is een project?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Een manier om issues overzichtelijk te beheren.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Verschillende project types: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 err="1"/>
              <a:t>Kanban</a:t>
            </a:r>
            <a:endParaRPr lang="nl-NL" sz="14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Team planning (sprints)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Bug </a:t>
            </a:r>
            <a:r>
              <a:rPr lang="nl-NL" sz="1400" dirty="0" err="1"/>
              <a:t>tracker</a:t>
            </a:r>
            <a:endParaRPr lang="nl-NL" sz="14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 err="1"/>
              <a:t>Roadmap</a:t>
            </a: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914531A-6392-C5C6-F5A2-CE3FE262D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38" y="1456267"/>
            <a:ext cx="6700862" cy="449184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596098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EC3AE-0169-3972-ED43-AD95D673F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C5656-2A36-B53F-DB52-9C99DA4E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Project aanmaken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A98D2FF-672C-B65D-CD5F-9C29055B0C88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Het soort project kun je verder verfijnen via de instellingen: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Status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Definieer voortgangsstadia.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Prioriteiten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Definieer prioriteiten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 err="1"/>
              <a:t>Size</a:t>
            </a:r>
            <a:r>
              <a:rPr lang="nl-NL" sz="1400" b="1" dirty="0"/>
              <a:t> / </a:t>
            </a:r>
            <a:r>
              <a:rPr lang="nl-NL" sz="1400" b="1" dirty="0" err="1"/>
              <a:t>Estimate</a:t>
            </a: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Inschatting hoeveelheid werk.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Iteration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Aanmaken van sprints.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b="1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CBF1A83-01C2-F077-9F4B-A247040B0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2938" y="1456267"/>
            <a:ext cx="6700862" cy="341792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9284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B6063-BEB7-7383-638E-90AFF96E1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030C9-3A6F-5853-08FD-7F963B97E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Views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5688E2-2DD8-7204-4574-BF73A3C2897D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3440906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Geven taken op overzichtelijke wijze weer: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 err="1"/>
              <a:t>Backlog</a:t>
            </a: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Alle taken ingedeeld op voortgangsstadium.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Team </a:t>
            </a:r>
            <a:r>
              <a:rPr lang="nl-NL" sz="1400" b="1" dirty="0" err="1"/>
              <a:t>capacity</a:t>
            </a: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Taken opgesplitst naar team leden.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 err="1"/>
              <a:t>Current</a:t>
            </a:r>
            <a:r>
              <a:rPr lang="nl-NL" sz="1400" b="1" dirty="0"/>
              <a:t> iteration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Taken in huidige sprint ingedeeld op voortgangsstadium.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 err="1"/>
              <a:t>Roadmap</a:t>
            </a: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Taken geplot op een tijdslijn.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FC7653E-444E-0293-457C-27DCB185E5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0376" y="1456267"/>
            <a:ext cx="6703423" cy="427349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68E47C-6D4E-459C-E033-E6D66184E5C7}"/>
              </a:ext>
            </a:extLst>
          </p:cNvPr>
          <p:cNvSpPr txBox="1"/>
          <p:nvPr/>
        </p:nvSpPr>
        <p:spPr>
          <a:xfrm>
            <a:off x="9619967" y="6471982"/>
            <a:ext cx="24992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D: create project.</a:t>
            </a:r>
          </a:p>
        </p:txBody>
      </p:sp>
    </p:spTree>
    <p:extLst>
      <p:ext uri="{BB962C8B-B14F-4D97-AF65-F5344CB8AC3E}">
        <p14:creationId xmlns:p14="http://schemas.microsoft.com/office/powerpoint/2010/main" val="419641497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C1D5F-9654-14C3-B3A3-AB203A233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FD4893-329D-8D25-841F-BA4F43A3E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Azure DevOps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3137B2-F265-4526-446D-BE8D5D3233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300936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2A7DD-5ECD-B1C2-6E37-C35041EF9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312DD-C13A-2559-9403-0C56DDB42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Project aanmaken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0CD9C80-8B0D-75DD-5F1D-6B529DB688A4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876801" cy="472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/>
              <a:t>Project </a:t>
            </a:r>
            <a:r>
              <a:rPr lang="nl-NL" sz="1600" b="1" dirty="0" err="1"/>
              <a:t>settings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Vul een naam en omschrijving in.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b="1" dirty="0" err="1"/>
              <a:t>Visibility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Kies public voor de cursus.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b="1" dirty="0"/>
              <a:t>Version control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Kies altijd git.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b="1" dirty="0" err="1"/>
              <a:t>Work</a:t>
            </a:r>
            <a:r>
              <a:rPr lang="nl-NL" sz="1600" b="1" dirty="0"/>
              <a:t> item </a:t>
            </a:r>
            <a:r>
              <a:rPr lang="nl-NL" sz="1600" b="1" dirty="0" err="1"/>
              <a:t>process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600" dirty="0"/>
              <a:t>Kies voor nu Agile.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b="1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D0A9FB0-B883-D5BA-AD67-162793247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77889"/>
            <a:ext cx="4352109" cy="47235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7709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438C9-E557-D2D0-ADB3-F95C616D0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3E408-0B35-DCF9-49AF-F5DEB3BF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Projecten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1BA5BEF-F66C-FC7D-5332-0A7F24364122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 err="1"/>
              <a:t>Overview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Overzicht van het project met eventueel een Wiki.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/>
              <a:t>Boards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Bijhouden en plannen van taken.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 err="1"/>
              <a:t>Repos</a:t>
            </a:r>
            <a:endParaRPr lang="nl-NL" sz="16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Git repositories voor opslag code.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/>
              <a:t>Pipelines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dirty="0"/>
              <a:t>Pipelines voor het checken van code.</a:t>
            </a: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39357847-F17D-3A78-F4B0-0E72CC606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156" y="1456267"/>
            <a:ext cx="7172644" cy="363470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16599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BFFB3-ECDA-5C06-AC04-FBE84026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66A56-7BFC-E53B-9878-AD96BCEFF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Repo</a:t>
            </a:r>
            <a:r>
              <a:rPr lang="nl-NL" sz="3600" noProof="0" dirty="0"/>
              <a:t>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1AA1F46-F546-B40E-3EBF-371482A4F751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600" b="1" dirty="0"/>
              <a:t>Nieuw </a:t>
            </a:r>
            <a:r>
              <a:rPr lang="nl-NL" sz="1600" b="1" dirty="0" err="1"/>
              <a:t>repo</a:t>
            </a:r>
            <a:r>
              <a:rPr lang="nl-NL" sz="1600" b="1" dirty="0"/>
              <a:t> aanmaken: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b="1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Klik op het standaard </a:t>
            </a:r>
            <a:r>
              <a:rPr lang="nl-NL" sz="1600" dirty="0" err="1"/>
              <a:t>repo</a:t>
            </a:r>
            <a:r>
              <a:rPr lang="nl-NL" sz="16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Selecteer New repository.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Vul rechts de gegevens in.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Zet </a:t>
            </a:r>
            <a:r>
              <a:rPr lang="nl-NL" sz="1600" dirty="0" err="1"/>
              <a:t>Add</a:t>
            </a:r>
            <a:r>
              <a:rPr lang="nl-NL" sz="1600" dirty="0"/>
              <a:t> a README uit.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6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600" dirty="0"/>
              <a:t>Kies None voor .</a:t>
            </a:r>
            <a:r>
              <a:rPr lang="nl-NL" sz="1600" dirty="0" err="1"/>
              <a:t>gitignore</a:t>
            </a:r>
            <a:r>
              <a:rPr lang="nl-NL" sz="1600" dirty="0"/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600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0FBFE6A5-B7C7-781E-46B1-C33A95D012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/>
          <a:stretch/>
        </p:blipFill>
        <p:spPr>
          <a:xfrm>
            <a:off x="4132074" y="1456267"/>
            <a:ext cx="3024767" cy="146357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9E0A5B9E-367E-3D8B-CA7D-393888781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8958" y="1382233"/>
            <a:ext cx="3699024" cy="48333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15241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B69A-27AF-3E88-6B92-83AA54F22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1FCFEF-4576-BA50-48F9-213CFB1F6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Pull </a:t>
            </a:r>
            <a:r>
              <a:rPr lang="nl-NL" noProof="0" dirty="0" err="1"/>
              <a:t>Requests</a:t>
            </a:r>
            <a:endParaRPr lang="nl-NL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F9A5EB-ABF8-C79A-B812-190A04CCFF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122900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40656D-C988-26AF-CD83-C4181D2E0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79BDA-8F1D-4172-D293-7A7CB8AD2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E8E0398-0270-3009-2916-F6C2561BA9E8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Ga naar </a:t>
            </a:r>
            <a:r>
              <a:rPr lang="nl-NL" sz="1800" dirty="0" err="1"/>
              <a:t>Repos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[Pull </a:t>
            </a:r>
            <a:r>
              <a:rPr lang="nl-NL" sz="1800" dirty="0" err="1"/>
              <a:t>requests</a:t>
            </a:r>
            <a:r>
              <a:rPr lang="nl-NL" sz="1800" dirty="0"/>
              <a:t>] in het menu.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[New pull </a:t>
            </a:r>
            <a:r>
              <a:rPr lang="nl-NL" sz="1800" dirty="0" err="1"/>
              <a:t>request</a:t>
            </a:r>
            <a:r>
              <a:rPr lang="nl-NL" sz="1800" dirty="0"/>
              <a:t>].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87772F24-7AB5-8674-6947-98F99E31FB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8716" y="1540293"/>
            <a:ext cx="5775084" cy="37774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347411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B04F9-24C5-70E7-FA3C-61FA72A5EC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C83C5-B471-520C-D2F6-A770979E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83C5A6B-C4B3-3F37-020B-D2D11AE62BE2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Kies de branches die je wilt </a:t>
            </a:r>
            <a:r>
              <a:rPr lang="nl-NL" sz="1800" dirty="0" err="1"/>
              <a:t>mergen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Vul een titel in.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Vul een beschrijving in.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Kies </a:t>
            </a:r>
            <a:r>
              <a:rPr lang="nl-NL" sz="1800" dirty="0" err="1"/>
              <a:t>reviewers</a:t>
            </a:r>
            <a:r>
              <a:rPr lang="nl-NL" sz="1800" dirty="0"/>
              <a:t>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Klik op [</a:t>
            </a:r>
            <a:r>
              <a:rPr lang="nl-NL" sz="1800" dirty="0" err="1"/>
              <a:t>Create</a:t>
            </a:r>
            <a:r>
              <a:rPr lang="nl-NL" sz="1800" dirty="0"/>
              <a:t>].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B7AA46CE-4239-BDB3-1BA7-614F70D5B4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097" y="740832"/>
            <a:ext cx="4838703" cy="53763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8120740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6D70F-F2CC-D7A9-8C4A-56DCDA24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9CF83-C799-8E53-747B-70F56D8E3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reviewen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3B0FC21-4BAC-C69A-FDEF-C7263E28D874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10515600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Bekijk de wijzigingen onder [Files].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Geef commentaar op de code.</a:t>
            </a: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2E02ED40-3058-4FE5-93FF-020B27572C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887" y="3139188"/>
            <a:ext cx="8658225" cy="30377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889924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FD20-4C07-03C2-C2A4-3A3269BBB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1CD1F-04A2-B86A-8843-90E6C4845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Een PR reviewen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A5359B5-3F38-7AAF-0979-0D16A9E90213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Schrijf een algemeen oordeel.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/>
              <a:t>Keur de PR goed of niet.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6E97D6B-29C4-23B3-E848-5C021BF56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4472" y="1135856"/>
            <a:ext cx="6049328" cy="504110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05709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25B9-AF3C-7895-59FC-1F3993BB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BFAC46-49A0-5693-9394-902A9BDEC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Pipelines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1B7073-A1E4-256D-C41A-262D36882A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751306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4A4B2-B593-8EA2-309D-20619A5BD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D17C7D-542D-5E0E-8B97-FC019E36A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Pipeline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BC18E835-28F3-0B3A-1686-C4DE3B7D8695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Ga naar Pipelines in het menu.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Klik op [</a:t>
            </a:r>
            <a:r>
              <a:rPr lang="nl-NL" sz="1800" dirty="0" err="1">
                <a:cs typeface="Courier New" panose="02070309020205020404" pitchFamily="49" charset="0"/>
              </a:rPr>
              <a:t>Create</a:t>
            </a:r>
            <a:r>
              <a:rPr lang="nl-NL" sz="1800" dirty="0">
                <a:cs typeface="Courier New" panose="02070309020205020404" pitchFamily="49" charset="0"/>
              </a:rPr>
              <a:t> Pipeline] 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Kies [Azure </a:t>
            </a:r>
            <a:r>
              <a:rPr lang="nl-NL" sz="1800" dirty="0" err="1">
                <a:cs typeface="Courier New" panose="02070309020205020404" pitchFamily="49" charset="0"/>
              </a:rPr>
              <a:t>Repos</a:t>
            </a:r>
            <a:r>
              <a:rPr lang="nl-NL" sz="1800" dirty="0">
                <a:cs typeface="Courier New" panose="02070309020205020404" pitchFamily="49" charset="0"/>
              </a:rPr>
              <a:t> Git] als code locatie.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Kies je repository.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Kies een template.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A3F661BA-48FC-8C7E-497F-821C276F90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9807" y="1456267"/>
            <a:ext cx="5443993" cy="39086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74830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D6F81-3777-6564-55D0-0DA5581B2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E908A-6C17-763B-2031-8311C4182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Pipeline maken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B89461F-BAB9-7C49-7EC4-4BF744C25FD0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In het YAML bestand definieer je: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Voor welke branches de pipeline draait.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Welke versies van Python gebruikt worden.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endParaRPr lang="nl-NL" sz="1800" dirty="0">
              <a:cs typeface="Courier New" panose="02070309020205020404" pitchFamily="49" charset="0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AutoNum type="arabicPeriod"/>
            </a:pPr>
            <a:r>
              <a:rPr lang="nl-NL" sz="1800" dirty="0">
                <a:cs typeface="Courier New" panose="02070309020205020404" pitchFamily="49" charset="0"/>
              </a:rPr>
              <a:t>Welke stappen uitgevoerd worden.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pic>
        <p:nvPicPr>
          <p:cNvPr id="5" name="Picture 4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EFBF7872-87CB-7F9A-34B2-E34315E50B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338" y="789248"/>
            <a:ext cx="4081462" cy="527950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3716502-0018-DFD8-DB74-32B0039B2B00}"/>
              </a:ext>
            </a:extLst>
          </p:cNvPr>
          <p:cNvSpPr txBox="1"/>
          <p:nvPr/>
        </p:nvSpPr>
        <p:spPr>
          <a:xfrm>
            <a:off x="6858000" y="119300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FE9B59-910B-0C2D-7FAA-C7881548241F}"/>
              </a:ext>
            </a:extLst>
          </p:cNvPr>
          <p:cNvSpPr txBox="1"/>
          <p:nvPr/>
        </p:nvSpPr>
        <p:spPr>
          <a:xfrm>
            <a:off x="6858000" y="24026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D78D2C-C6C7-73FD-4F64-9BC60FFFA991}"/>
              </a:ext>
            </a:extLst>
          </p:cNvPr>
          <p:cNvSpPr txBox="1"/>
          <p:nvPr/>
        </p:nvSpPr>
        <p:spPr>
          <a:xfrm>
            <a:off x="6858000" y="436006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776152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48B5-626E-3941-6F00-FE3797B2D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6A4A8-CC86-2AFC-090C-2C2240F71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Pipeline draaien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0B6BE4C-2689-2425-1163-4B0F478EE401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49103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De pipeline draait als code naar het repository wordt </a:t>
            </a:r>
            <a:r>
              <a:rPr lang="nl-NL" sz="1800" dirty="0" err="1">
                <a:cs typeface="Courier New" panose="02070309020205020404" pitchFamily="49" charset="0"/>
              </a:rPr>
              <a:t>gepushed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cs typeface="Courier New" panose="02070309020205020404" pitchFamily="49" charset="0"/>
              </a:rPr>
              <a:t>Summary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Overzicht dat aangeeft welke pipeline heeft gedraaid en op welke 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dirty="0">
                <a:cs typeface="Courier New" panose="02070309020205020404" pitchFamily="49" charset="0"/>
              </a:rPr>
              <a:t>Onderaan staan jobs waarop je kunt doorklikken.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b="1" dirty="0">
                <a:cs typeface="Courier New" panose="02070309020205020404" pitchFamily="49" charset="0"/>
              </a:rPr>
              <a:t>Tests / Code Coverage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Resultaten van eventuele unit tests.</a:t>
            </a: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A8DBAB30-4A22-879C-DA72-E12C052596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1823" y="1185862"/>
            <a:ext cx="5371977" cy="51712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927057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F2054-AEF5-DDBD-D61C-81DF1006C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118A4-5651-AE7D-FB6E-B9A5A2FA1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/>
              <a:t>Pipeline draaien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6898278-72A2-F120-F8E3-BCBC30355F4F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31765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Links staan alle stappen die doorlopen zijn.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Klikt op een stap om de output ervan te zien.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Hier vind je bijvoorbeeld foutmeldingen van </a:t>
            </a:r>
            <a:r>
              <a:rPr lang="nl-NL" sz="1800" dirty="0" err="1">
                <a:cs typeface="Courier New" panose="02070309020205020404" pitchFamily="49" charset="0"/>
              </a:rPr>
              <a:t>pylint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364B808-1C63-1DBE-2988-343F267067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9169" y="1645604"/>
            <a:ext cx="6574631" cy="42804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11933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14037-72EA-178C-B847-D41BAF886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C4E041-62AC-F297-A482-BD77C31FB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Branches beveiligen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1FD642-C88E-EAEE-94F7-76B7DDA8D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3129186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35B7-4993-ED63-E632-F6E1AE4B3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1133-C749-2482-5CCD-B1321F22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Branch</a:t>
            </a:r>
            <a:r>
              <a:rPr lang="nl-NL" sz="3600" dirty="0"/>
              <a:t> </a:t>
            </a:r>
            <a:r>
              <a:rPr lang="nl-NL" sz="3600" dirty="0" err="1"/>
              <a:t>Policies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4B3ADDA-62C6-F61E-AC4A-99FD10D09AF5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b="1" dirty="0">
                <a:cs typeface="Courier New" panose="02070309020205020404" pitchFamily="49" charset="0"/>
              </a:rPr>
              <a:t>Instellen via repository: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Ga naar [Branches].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Klik op [</a:t>
            </a:r>
            <a:r>
              <a:rPr lang="nl-NL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⁞</a:t>
            </a:r>
            <a:r>
              <a:rPr lang="nl-NL" sz="1800" dirty="0">
                <a:cs typeface="Courier New" panose="02070309020205020404" pitchFamily="49" charset="0"/>
              </a:rPr>
              <a:t>] achter een 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Selecteer [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Policies</a:t>
            </a:r>
            <a:r>
              <a:rPr lang="nl-NL" sz="1800" dirty="0">
                <a:cs typeface="Courier New" panose="02070309020205020404" pitchFamily="49" charset="0"/>
              </a:rPr>
              <a:t>]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800" b="1" dirty="0">
                <a:cs typeface="Courier New" panose="02070309020205020404" pitchFamily="49" charset="0"/>
              </a:rPr>
              <a:t>Instellen via Project </a:t>
            </a:r>
            <a:r>
              <a:rPr lang="nl-NL" sz="1800" b="1" dirty="0" err="1">
                <a:cs typeface="Courier New" panose="02070309020205020404" pitchFamily="49" charset="0"/>
              </a:rPr>
              <a:t>settings</a:t>
            </a:r>
            <a:r>
              <a:rPr lang="nl-NL" sz="1800" b="1" dirty="0">
                <a:cs typeface="Courier New" panose="02070309020205020404" pitchFamily="49" charset="0"/>
              </a:rPr>
              <a:t>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Ga naar [Repositories].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Ga naar [</a:t>
            </a:r>
            <a:r>
              <a:rPr lang="nl-NL" sz="1800" dirty="0" err="1">
                <a:cs typeface="Courier New" panose="02070309020205020404" pitchFamily="49" charset="0"/>
              </a:rPr>
              <a:t>Policies</a:t>
            </a:r>
            <a:r>
              <a:rPr lang="nl-NL" sz="1800" dirty="0">
                <a:cs typeface="Courier New" panose="02070309020205020404" pitchFamily="49" charset="0"/>
              </a:rPr>
              <a:t>].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Klik onderaan op [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Policies</a:t>
            </a:r>
            <a:r>
              <a:rPr lang="nl-NL" sz="1800" dirty="0">
                <a:cs typeface="Courier New" panose="02070309020205020404" pitchFamily="49" charset="0"/>
              </a:rPr>
              <a:t>].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3C804938-29B9-170E-3018-FFFFE41446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602" y="1456267"/>
            <a:ext cx="5184198" cy="44127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01450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DFC77-8324-EEF5-9364-F1ECD165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084E6-BA8C-00CC-6D50-E8CE0A7F8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dirty="0" err="1"/>
              <a:t>Branch</a:t>
            </a:r>
            <a:r>
              <a:rPr lang="nl-NL" sz="3600" dirty="0"/>
              <a:t> </a:t>
            </a:r>
            <a:r>
              <a:rPr lang="nl-NL" sz="3600" dirty="0" err="1"/>
              <a:t>Policies</a:t>
            </a:r>
            <a:endParaRPr lang="nl-NL" sz="3600" noProof="0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8D072B6-3A54-8FCF-824E-67AF90F9DF8C}"/>
              </a:ext>
            </a:extLst>
          </p:cNvPr>
          <p:cNvSpPr txBox="1">
            <a:spLocks/>
          </p:cNvSpPr>
          <p:nvPr/>
        </p:nvSpPr>
        <p:spPr>
          <a:xfrm>
            <a:off x="838199" y="1456267"/>
            <a:ext cx="4548189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800" dirty="0">
                <a:cs typeface="Courier New" panose="02070309020205020404" pitchFamily="49" charset="0"/>
              </a:rPr>
              <a:t>Gebruik </a:t>
            </a:r>
            <a:r>
              <a:rPr lang="nl-NL" sz="1800" dirty="0" err="1">
                <a:cs typeface="Courier New" panose="02070309020205020404" pitchFamily="49" charset="0"/>
              </a:rPr>
              <a:t>Branch</a:t>
            </a:r>
            <a:r>
              <a:rPr lang="nl-NL" sz="1800" dirty="0">
                <a:cs typeface="Courier New" panose="02070309020205020404" pitchFamily="49" charset="0"/>
              </a:rPr>
              <a:t> </a:t>
            </a:r>
            <a:r>
              <a:rPr lang="nl-NL" sz="1800" dirty="0" err="1">
                <a:cs typeface="Courier New" panose="02070309020205020404" pitchFamily="49" charset="0"/>
              </a:rPr>
              <a:t>Policies</a:t>
            </a:r>
            <a:r>
              <a:rPr lang="nl-NL" sz="1800" dirty="0">
                <a:cs typeface="Courier New" panose="02070309020205020404" pitchFamily="49" charset="0"/>
              </a:rPr>
              <a:t> om je branches te beveiligen tegen: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Een </a:t>
            </a:r>
            <a:r>
              <a:rPr lang="nl-NL" sz="1800" dirty="0" err="1">
                <a:cs typeface="Courier New" panose="02070309020205020404" pitchFamily="49" charset="0"/>
              </a:rPr>
              <a:t>merge</a:t>
            </a:r>
            <a:r>
              <a:rPr lang="nl-NL" sz="1800" dirty="0">
                <a:cs typeface="Courier New" panose="02070309020205020404" pitchFamily="49" charset="0"/>
              </a:rPr>
              <a:t> zonder reviews.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endParaRPr lang="nl-NL" sz="1800" dirty="0"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800" dirty="0">
                <a:cs typeface="Courier New" panose="02070309020205020404" pitchFamily="49" charset="0"/>
              </a:rPr>
              <a:t>Een </a:t>
            </a:r>
            <a:r>
              <a:rPr lang="nl-NL" sz="1800" dirty="0" err="1">
                <a:cs typeface="Courier New" panose="02070309020205020404" pitchFamily="49" charset="0"/>
              </a:rPr>
              <a:t>merge</a:t>
            </a:r>
            <a:r>
              <a:rPr lang="nl-NL" sz="1800" dirty="0">
                <a:cs typeface="Courier New" panose="02070309020205020404" pitchFamily="49" charset="0"/>
              </a:rPr>
              <a:t> die niet door de Pipeline komt.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800" dirty="0">
              <a:cs typeface="Courier New" panose="02070309020205020404" pitchFamily="49" charset="0"/>
            </a:endParaRPr>
          </a:p>
        </p:txBody>
      </p:sp>
      <p:pic>
        <p:nvPicPr>
          <p:cNvPr id="5" name="Picture 4" descr="A screenshot of a survey&#10;&#10;Description automatically generated">
            <a:extLst>
              <a:ext uri="{FF2B5EF4-FFF2-40B4-BE49-F238E27FC236}">
                <a16:creationId xmlns:a16="http://schemas.microsoft.com/office/drawing/2014/main" id="{3B3E8D4C-80F0-7DCA-B369-03985FD754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614" y="1820598"/>
            <a:ext cx="4032776" cy="1212512"/>
          </a:xfrm>
          <a:prstGeom prst="rect">
            <a:avLst/>
          </a:prstGeom>
        </p:spPr>
      </p:pic>
      <p:pic>
        <p:nvPicPr>
          <p:cNvPr id="8" name="Picture 7" descr="A screenshot of a phone&#10;&#10;Description automatically generated">
            <a:extLst>
              <a:ext uri="{FF2B5EF4-FFF2-40B4-BE49-F238E27FC236}">
                <a16:creationId xmlns:a16="http://schemas.microsoft.com/office/drawing/2014/main" id="{0E2F8CCC-CB76-8458-7214-724A1B8044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5614" y="3342817"/>
            <a:ext cx="4032777" cy="132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5869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FD6C7-3E16-7F1B-8A63-776617B0E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69F13-B442-C5BD-ABE3-E0B3DE9B8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Taken beheren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CEAC3D-2255-0E6E-20DC-934D3AA56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538519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6478-208E-4485-7412-1112BCEAD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51244-0FFC-077F-DAC9-19B847967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 err="1"/>
              <a:t>Work</a:t>
            </a:r>
            <a:r>
              <a:rPr lang="nl-NL" sz="3600" noProof="0" dirty="0"/>
              <a:t> Item aanmaken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A87EF73-84DA-F055-69D3-4BE7B854250A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Nieuw </a:t>
            </a:r>
            <a:r>
              <a:rPr lang="nl-NL" sz="1400" b="1" dirty="0" err="1"/>
              <a:t>work</a:t>
            </a:r>
            <a:r>
              <a:rPr lang="nl-NL" sz="1400" b="1" dirty="0"/>
              <a:t> item maken: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Ga naar: </a:t>
            </a:r>
            <a:r>
              <a:rPr lang="nl-NL" sz="1400" dirty="0" err="1"/>
              <a:t>Work</a:t>
            </a:r>
            <a:r>
              <a:rPr lang="nl-NL" sz="1400" dirty="0"/>
              <a:t> Items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Kies: [+ New </a:t>
            </a:r>
            <a:r>
              <a:rPr lang="nl-NL" sz="1400" dirty="0" err="1"/>
              <a:t>Work</a:t>
            </a:r>
            <a:r>
              <a:rPr lang="nl-NL" sz="1400" dirty="0"/>
              <a:t> Item].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b="1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Beschrijvende informatie: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Titel en omschrijving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 err="1"/>
              <a:t>Acceptance</a:t>
            </a:r>
            <a:r>
              <a:rPr lang="nl-NL" sz="1400" dirty="0"/>
              <a:t> criteria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Geef status op: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dirty="0"/>
              <a:t>New &gt; Active &gt; </a:t>
            </a:r>
            <a:r>
              <a:rPr lang="nl-NL" sz="1400" dirty="0" err="1"/>
              <a:t>Resolved</a:t>
            </a:r>
            <a:r>
              <a:rPr lang="nl-NL" sz="1400" dirty="0"/>
              <a:t> &gt; Closed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Aantal punten: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0, 1, 2, 3, 5, 8, 13, …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Gerelateerd aan: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Kies een Parent / Child item.</a:t>
            </a:r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9A3FEB6-3EA3-738A-D432-152D391FF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7710" y="1456267"/>
            <a:ext cx="6776090" cy="4069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879589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8D910-2CA4-E77C-55F0-0BCD7B90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6315C-BBC2-36EE-1116-330460BEB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Boards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0B0CAD1-A08B-930E-4B19-D53C3C3E0BC7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 err="1"/>
              <a:t>Kanban</a:t>
            </a:r>
            <a:r>
              <a:rPr lang="nl-NL" sz="1400" b="1" dirty="0"/>
              <a:t> board: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Focus op voortgangsstadia: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New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Active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 err="1"/>
              <a:t>Resolved</a:t>
            </a:r>
            <a:endParaRPr lang="nl-NL" sz="14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Closed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Voordelen:</a:t>
            </a:r>
            <a:endParaRPr lang="nl-NL" sz="14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Eenvoudig systeem.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Focus op voortgang.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Kan gecombineerd met sprints.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3E7CEDC8-9D44-8845-54AC-CA4D748EBF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3"/>
          <a:stretch/>
        </p:blipFill>
        <p:spPr>
          <a:xfrm>
            <a:off x="4103177" y="1456267"/>
            <a:ext cx="7250623" cy="46003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153167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D27A-1585-9D67-FC6D-343DA4207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86527-6541-BDFC-8C7D-9EC5D76B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8608"/>
          </a:xfrm>
        </p:spPr>
        <p:txBody>
          <a:bodyPr>
            <a:normAutofit/>
          </a:bodyPr>
          <a:lstStyle/>
          <a:p>
            <a:r>
              <a:rPr lang="nl-NL" sz="3600" noProof="0" dirty="0"/>
              <a:t>Sprints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4A2657-E372-A02D-8D65-105F3DFA126E}"/>
              </a:ext>
            </a:extLst>
          </p:cNvPr>
          <p:cNvSpPr txBox="1">
            <a:spLocks/>
          </p:cNvSpPr>
          <p:nvPr/>
        </p:nvSpPr>
        <p:spPr>
          <a:xfrm>
            <a:off x="838200" y="1456267"/>
            <a:ext cx="2921758" cy="472069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b="1" dirty="0"/>
              <a:t>Iteratief board: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nl-NL" sz="1400" dirty="0"/>
              <a:t>Focus vaste iteraties: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Sprints van 2 a 3 weken.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Vaste fases: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Planning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Implementatie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Review en </a:t>
            </a:r>
            <a:r>
              <a:rPr lang="nl-NL" sz="1400" dirty="0" err="1"/>
              <a:t>Retrospective</a:t>
            </a: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endParaRPr lang="nl-NL" sz="1400" dirty="0"/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nl-NL" sz="1400" b="1" dirty="0"/>
              <a:t>Voordelen:</a:t>
            </a:r>
            <a:endParaRPr lang="nl-NL" sz="1400" dirty="0"/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Opdelen in overzichtelijke brokjes.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Regelmatige terugkoppeling.</a:t>
            </a:r>
          </a:p>
          <a:p>
            <a:pPr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nl-NL" sz="1400" dirty="0"/>
              <a:t>Tussendoor bijsturen.</a:t>
            </a:r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D9F988C-2BAA-8AF6-7EB5-9A8DF3411F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3177" y="1456267"/>
            <a:ext cx="7250623" cy="423672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40048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2D286-E049-0AAB-1360-B7157E11A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6267"/>
            <a:ext cx="10375900" cy="47206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r>
              <a:rPr lang="nl-NL" sz="3600" dirty="0"/>
              <a:t>Bedankt voor jullie aandacht!</a:t>
            </a:r>
          </a:p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r>
              <a:rPr lang="nl-NL" sz="1800" dirty="0"/>
              <a:t>Feedback op de cursus zeer welkom!</a:t>
            </a:r>
          </a:p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endParaRPr lang="nl-NL" sz="2400" dirty="0"/>
          </a:p>
          <a:p>
            <a:pPr marL="0" indent="0" algn="ctr">
              <a:buNone/>
            </a:pPr>
            <a:endParaRPr lang="nl-NL" sz="2400" dirty="0"/>
          </a:p>
        </p:txBody>
      </p:sp>
    </p:spTree>
    <p:extLst>
      <p:ext uri="{BB962C8B-B14F-4D97-AF65-F5344CB8AC3E}">
        <p14:creationId xmlns:p14="http://schemas.microsoft.com/office/powerpoint/2010/main" val="14874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2215</Words>
  <Application>Microsoft Office PowerPoint</Application>
  <PresentationFormat>Widescreen</PresentationFormat>
  <Paragraphs>666</Paragraphs>
  <Slides>66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1" baseType="lpstr">
      <vt:lpstr>Arial</vt:lpstr>
      <vt:lpstr>Calibri</vt:lpstr>
      <vt:lpstr>Calibri Light</vt:lpstr>
      <vt:lpstr>Courier New</vt:lpstr>
      <vt:lpstr>Office Theme</vt:lpstr>
      <vt:lpstr>Git - Cursus</vt:lpstr>
      <vt:lpstr>Agenda</vt:lpstr>
      <vt:lpstr>Code delen</vt:lpstr>
      <vt:lpstr>Van lokaal naar remote</vt:lpstr>
      <vt:lpstr>Van lokaal naar remote</vt:lpstr>
      <vt:lpstr>Van lokaal naar remote</vt:lpstr>
      <vt:lpstr>Gedistribueerd systeem</vt:lpstr>
      <vt:lpstr>Gedistribueerd systeem</vt:lpstr>
      <vt:lpstr>Gedistribueerd systeem</vt:lpstr>
      <vt:lpstr>Remote SAAS</vt:lpstr>
      <vt:lpstr>Bestaand Github repo</vt:lpstr>
      <vt:lpstr>Remote repo binnenhalen</vt:lpstr>
      <vt:lpstr>Wijzigingen ophalen</vt:lpstr>
      <vt:lpstr>Nieuw Github repo</vt:lpstr>
      <vt:lpstr>Repo aanmaken</vt:lpstr>
      <vt:lpstr>Lokaal repo koppelen</vt:lpstr>
      <vt:lpstr>Wijzigingen wegschrijven</vt:lpstr>
      <vt:lpstr>Nieuwe branches</vt:lpstr>
      <vt:lpstr>Branch tracking</vt:lpstr>
      <vt:lpstr>Remote branches</vt:lpstr>
      <vt:lpstr>Branch verwijderen</vt:lpstr>
      <vt:lpstr>Pull requests</vt:lpstr>
      <vt:lpstr>Wat is een Pull Request?</vt:lpstr>
      <vt:lpstr>Een PR aanmaken</vt:lpstr>
      <vt:lpstr>Een PR aanmaken</vt:lpstr>
      <vt:lpstr>Een PR reviewen</vt:lpstr>
      <vt:lpstr>Een PR reviewen</vt:lpstr>
      <vt:lpstr>Tips: PR maken</vt:lpstr>
      <vt:lpstr>Tips: PR reviewen</vt:lpstr>
      <vt:lpstr>Workflows en Actions</vt:lpstr>
      <vt:lpstr>Wat is een Workflow?</vt:lpstr>
      <vt:lpstr>Workflow maken</vt:lpstr>
      <vt:lpstr>Workflows maken</vt:lpstr>
      <vt:lpstr>Workflow draaien</vt:lpstr>
      <vt:lpstr>Workflow draaien</vt:lpstr>
      <vt:lpstr>Branches beveiligen</vt:lpstr>
      <vt:lpstr>Ruleset maken</vt:lpstr>
      <vt:lpstr>Ruleset maken</vt:lpstr>
      <vt:lpstr>Ruleset in actie</vt:lpstr>
      <vt:lpstr>Taken beheren</vt:lpstr>
      <vt:lpstr>Taken aanmaken</vt:lpstr>
      <vt:lpstr>Project aanmaken</vt:lpstr>
      <vt:lpstr>Project aanmaken</vt:lpstr>
      <vt:lpstr>Views</vt:lpstr>
      <vt:lpstr>Azure DevOps</vt:lpstr>
      <vt:lpstr>Project aanmaken</vt:lpstr>
      <vt:lpstr>Projecten</vt:lpstr>
      <vt:lpstr>Repo aanmaken</vt:lpstr>
      <vt:lpstr>Pull Requests</vt:lpstr>
      <vt:lpstr>Een PR aanmaken</vt:lpstr>
      <vt:lpstr>Een PR aanmaken</vt:lpstr>
      <vt:lpstr>Een PR reviewen</vt:lpstr>
      <vt:lpstr>Een PR reviewen</vt:lpstr>
      <vt:lpstr>Pipelines</vt:lpstr>
      <vt:lpstr>Pipeline maken</vt:lpstr>
      <vt:lpstr>Pipeline maken</vt:lpstr>
      <vt:lpstr>Pipeline draaien</vt:lpstr>
      <vt:lpstr>Pipeline draaien</vt:lpstr>
      <vt:lpstr>Branches beveiligen</vt:lpstr>
      <vt:lpstr>Branch Policies</vt:lpstr>
      <vt:lpstr>Branch Policies</vt:lpstr>
      <vt:lpstr>Taken beheren</vt:lpstr>
      <vt:lpstr>Work Item aanmaken</vt:lpstr>
      <vt:lpstr>Boards</vt:lpstr>
      <vt:lpstr>Sprints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voor Engineers</dc:title>
  <dc:creator>Lukas Koning</dc:creator>
  <cp:lastModifiedBy>Lukas Koning</cp:lastModifiedBy>
  <cp:revision>1254</cp:revision>
  <dcterms:created xsi:type="dcterms:W3CDTF">2022-11-09T07:34:24Z</dcterms:created>
  <dcterms:modified xsi:type="dcterms:W3CDTF">2026-10-05T10:51:38Z</dcterms:modified>
</cp:coreProperties>
</file>