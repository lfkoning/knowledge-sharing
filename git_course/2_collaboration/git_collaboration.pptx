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357" r:id="rId4"/>
    <p:sldId id="378" r:id="rId5"/>
    <p:sldId id="500" r:id="rId6"/>
    <p:sldId id="501" r:id="rId7"/>
    <p:sldId id="379" r:id="rId8"/>
    <p:sldId id="503" r:id="rId9"/>
    <p:sldId id="504" r:id="rId10"/>
    <p:sldId id="377" r:id="rId11"/>
    <p:sldId id="390" r:id="rId12"/>
    <p:sldId id="454" r:id="rId13"/>
    <p:sldId id="453" r:id="rId14"/>
    <p:sldId id="465" r:id="rId15"/>
    <p:sldId id="447" r:id="rId16"/>
    <p:sldId id="451" r:id="rId17"/>
    <p:sldId id="498" r:id="rId18"/>
    <p:sldId id="457" r:id="rId19"/>
    <p:sldId id="462" r:id="rId20"/>
    <p:sldId id="456" r:id="rId21"/>
    <p:sldId id="458" r:id="rId22"/>
    <p:sldId id="391" r:id="rId23"/>
    <p:sldId id="464" r:id="rId24"/>
    <p:sldId id="467" r:id="rId25"/>
    <p:sldId id="468" r:id="rId26"/>
    <p:sldId id="469" r:id="rId27"/>
    <p:sldId id="470" r:id="rId28"/>
    <p:sldId id="505" r:id="rId29"/>
    <p:sldId id="506" r:id="rId30"/>
    <p:sldId id="463" r:id="rId31"/>
    <p:sldId id="475" r:id="rId32"/>
    <p:sldId id="476" r:id="rId33"/>
    <p:sldId id="477" r:id="rId34"/>
    <p:sldId id="478" r:id="rId35"/>
    <p:sldId id="479" r:id="rId36"/>
    <p:sldId id="459" r:id="rId37"/>
    <p:sldId id="483" r:id="rId38"/>
    <p:sldId id="484" r:id="rId39"/>
    <p:sldId id="481" r:id="rId40"/>
    <p:sldId id="482" r:id="rId41"/>
    <p:sldId id="449" r:id="rId42"/>
    <p:sldId id="445" r:id="rId43"/>
    <p:sldId id="448" r:id="rId44"/>
    <p:sldId id="444" r:id="rId45"/>
    <p:sldId id="493" r:id="rId46"/>
    <p:sldId id="385" r:id="rId47"/>
    <p:sldId id="384" r:id="rId48"/>
    <p:sldId id="388" r:id="rId49"/>
    <p:sldId id="494" r:id="rId50"/>
    <p:sldId id="471" r:id="rId51"/>
    <p:sldId id="472" r:id="rId52"/>
    <p:sldId id="473" r:id="rId53"/>
    <p:sldId id="474" r:id="rId54"/>
    <p:sldId id="495" r:id="rId55"/>
    <p:sldId id="486" r:id="rId56"/>
    <p:sldId id="487" r:id="rId57"/>
    <p:sldId id="489" r:id="rId58"/>
    <p:sldId id="490" r:id="rId59"/>
    <p:sldId id="496" r:id="rId60"/>
    <p:sldId id="491" r:id="rId61"/>
    <p:sldId id="492" r:id="rId62"/>
    <p:sldId id="497" r:id="rId63"/>
    <p:sldId id="387" r:id="rId64"/>
    <p:sldId id="383" r:id="rId65"/>
    <p:sldId id="386" r:id="rId66"/>
    <p:sldId id="443" r:id="rId6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8178" autoAdjust="0"/>
  </p:normalViewPr>
  <p:slideViewPr>
    <p:cSldViewPr snapToGrid="0">
      <p:cViewPr varScale="1">
        <p:scale>
          <a:sx n="68" d="100"/>
          <a:sy n="68" d="100"/>
        </p:scale>
        <p:origin x="580" y="52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436DD-E3DD-947A-9558-DC54AD54C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56440-7B8A-E252-C50C-552A07D77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05CAC-0B2F-D19B-B683-25AAFDDE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D8133-42C7-864E-4E85-B01FE6C42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639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git </a:t>
            </a:r>
            <a:r>
              <a:rPr lang="nl-NL" dirty="0" err="1"/>
              <a:t>fetch</a:t>
            </a:r>
            <a:r>
              <a:rPr lang="nl-NL" dirty="0"/>
              <a:t> &amp; pull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8648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GH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6696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3452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4C06-E07E-E7E0-8E95-BA56DD48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6EF21-EDED-A5EB-D76C-AFCB8745B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8EA-08C7-CE3C-C4E3-F06B312CE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remote </a:t>
            </a:r>
            <a:r>
              <a:rPr lang="nl-NL" dirty="0" err="1"/>
              <a:t>add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CFF90-CE2D-B49F-AE66-752678072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2496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C3BFB-783C-2C3F-E1F1-C5E0BA5E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7335C-922D-4FB2-3DA0-83D893612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32406-C26C-14D1-684E-405AC03CB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51B46-7EE6-41E5-B336-72883C6C7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65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</a:t>
            </a:r>
            <a:r>
              <a:rPr lang="nl-NL" dirty="0" err="1"/>
              <a:t>branch</a:t>
            </a:r>
            <a:r>
              <a:rPr lang="nl-NL" dirty="0"/>
              <a:t> tracking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150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79823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0ADA-6520-A2E2-634D-E30D15C7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1303C-DA96-18FB-49FE-135D23D5D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2A56F-A467-EA78-1E03-6D6D4172F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delete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20956-FBD1-9E1B-0BAF-F6DB9992C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259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3B02-657C-D12F-35DA-51A1838B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36B3F-DBA1-1807-B4D5-F22D0F5F7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8178C-0743-06EF-3EE2-4005B992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1EB1-7CF0-312B-394F-EEBB65ED8B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80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C4EB-8178-8302-7931-9B2C9C3F3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EC83C-E587-DDE1-3988-7C5B7EBD7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13916-14DA-4CA0-B979-394B65AB3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E249B-FD74-11FB-40F7-57CCC09B3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5092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BA80-2ED5-867B-25D6-9BBC07E9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A455B-73D6-E1B0-05DA-E0852C0BD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5CB2C-8056-054C-9CBC-B7E15F62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70C0-D32B-2B21-0434-BBF6CD4A5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250012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18752-58F0-DDE0-D98A-AFEDC257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D2F12-8FE3-DB45-4BBF-4A92FF946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3455F-570A-ADAB-B5CA-93596629E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FB468-7656-B732-A2F5-833F6B425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3051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64BD-9201-D2F8-6168-E577744B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DB50A-B9B5-E2CE-3393-CD528F55A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AE24A-39D3-D655-8A82-893511374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review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BA5B1-EB9C-43E8-529D-C686C8DF9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80147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BF3E9-3135-67BF-46C3-C73907DA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EFE9E-0886-43FF-12FB-A20D161BE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D6125-5447-675F-C6F3-8AAF0DFEF0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0C181-52C0-6F9F-FE9C-733CC75EC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9547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0C3-5C69-6BEF-14E3-C7C85C3B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42742-22F1-5009-7667-AC7464550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B03D1-7C33-4067-6CBD-A26A169E72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D65E8-945F-CB5A-A9A5-7F53915ED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243318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4EBA-20D8-40A3-5677-BC18A2A4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D2FB0-7880-2B1D-55B0-8C02F5E93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13FF-1059-96D9-6C0C-6E5DD137A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E65F2-BEFE-A205-9199-B9105BF9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75244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182E-F5D3-8650-15DA-FA6985FC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FC867-2568-4BAC-7B2A-728CB5277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006E0-D928-A0FD-3BF6-48F8C842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DE879-8A0F-9432-244C-CCD095ADC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74871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AAE4D-6578-484D-CED7-B6343A0E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C0356-7BFD-5AD5-CAF4-6D4BBA25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1E67E-3BFE-FF3F-4D7B-9A79941A5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B0FEA-D563-3E72-B99B-1F4751C2E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48873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2CE35-B790-BD96-A2B2-2B02F63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CE851-69F8-0AA9-77FB-A5F6AA652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2E9CE-0858-1E3B-DAA4-3969EDE0E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7354-F370-B00B-157A-056BA6FD2D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32415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39300-04C7-D5B9-22F3-E6A0F0E5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7FEA-63D1-B322-3C46-5B4270FBD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D692B-C510-1A74-B586-723B184B1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5506-F8BD-3CC2-5E1D-0EE482472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38644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CE2BA-9311-F4A4-3F7C-685C43693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4372FD-1801-2B19-C9DE-23B748A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124C1-51D1-E621-71DE-7672EB167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BEEF1-CB09-1934-593B-745A92E0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202598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B9ACA-4DFD-A7B0-1B4F-311E285B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6886D5-B5EB-9666-645C-09C795794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66D4C-E288-F6EC-873D-1946E22C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8D3E9-3143-02A8-1252-2AFBC7814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899337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5BFDF-9A69-8005-9A55-17624E88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7A505-923D-5EAC-7B09-480583683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3B4F6-29C2-C967-DF3F-6D3FFF58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 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ruleset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220E6-EFE0-27EC-7B00-949C6C4D7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81542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issue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51469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GH create project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552822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59516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create</a:t>
            </a:r>
            <a:r>
              <a:rPr lang="nl-NL" dirty="0"/>
              <a:t> project +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174195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0A1B-205B-AAD0-B174-00CDDB41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DD44A4-0926-55A2-97A0-E32B70A07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3894-32B0-C5E3-C186-1ECFD702B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C0E0-5F8C-272A-84EB-BF3BD81D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51321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52B0-C337-23CB-24D7-68A1DB4A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8301A-167B-EAC0-BC23-52ECD5D60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B6090-6C67-B0A0-B647-562E2D83B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533A0-519F-60FD-357C-614C0B8FC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05429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FC99-DEE0-7997-93CA-1EFF3E2C0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66C330-A06C-DA46-506A-E4B737FE8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76D8D-7417-4EAC-40A7-7DBEF5AD5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6F92-8CD4-FF1D-074C-F1A227480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64450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8C18-6516-DC5E-9623-78DD8812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B15E4-6392-C6B8-CA6B-1E31CAF4E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10B-0B09-525B-46B6-030E5F8E0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pull </a:t>
            </a:r>
            <a:r>
              <a:rPr lang="nl-NL" dirty="0" err="1"/>
              <a:t>requests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3F707-C37C-3BDD-A4DA-38AA2FF04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7310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3230-1028-A0C8-9059-E5E579540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DBE25-BB35-1B98-F7AA-15922A75C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F511C0-B268-0CE6-61F3-EF8C3D21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BC64C-B66B-6E17-DBD1-2E911EA80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68966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76175-95F1-BB96-2A19-C19D5721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74EAD-35E6-891A-9344-0DFA3659A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B15F6-2395-E45B-06A8-821B7E23F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pipelines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FDDBE-964B-C649-C4BA-960A5579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01427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1FD-E61C-07B4-3253-55BBD706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8BE5E-F6C3-617D-D8D9-393A91710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B775A-577A-0E9E-9DE9-CB24F0CD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CB2F3-9DF4-6124-C9D2-CAB89DA8A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9125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11EA7-8EA1-BFDC-BB58-92227E12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09846-2FD2-9B79-8987-3C33810E1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E0A4C-C7B0-381D-61C6-FC30BBF26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E261E-2D97-B39E-3921-D405E72524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60762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F8D73-1F94-1659-2E06-2789AE0A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2A947-B8EC-A640-4D29-88C431901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7C48D-F06D-D7ED-D848-EED9D4D89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737F-1822-5CFF-FE82-F77A1CCC9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73839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F949A-F71D-6E21-1ED3-489292BC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1573A-CE93-209E-F9AF-A8FA28E2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BA2E5-21E0-C15C-4098-FDA88F38C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branch</a:t>
            </a:r>
            <a:r>
              <a:rPr lang="nl-NL" dirty="0"/>
              <a:t> </a:t>
            </a:r>
            <a:r>
              <a:rPr lang="nl-NL" dirty="0" err="1"/>
              <a:t>policies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84B-6C55-DACD-8B04-B3221D426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40990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work</a:t>
            </a:r>
            <a:r>
              <a:rPr lang="nl-NL" dirty="0"/>
              <a:t>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6367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05/10/2026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dirty="0"/>
              <a:t>Code delen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Remote </a:t>
            </a:r>
            <a:r>
              <a:rPr lang="nl-NL" sz="2000" noProof="0" dirty="0" err="1"/>
              <a:t>repository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Synchroniseren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 err="1"/>
              <a:t>Workflows</a:t>
            </a:r>
            <a:r>
              <a:rPr lang="nl-NL" sz="2000" dirty="0"/>
              <a:t> en Actions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Branches beveiligen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Taken beheren</a:t>
            </a:r>
          </a:p>
          <a:p>
            <a:pPr>
              <a:spcAft>
                <a:spcPts val="600"/>
              </a:spcAft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F8847-D293-954D-A79A-B3882FA88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68" y="3164682"/>
            <a:ext cx="4470919" cy="30122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D25-FA36-C1BA-D566-1352A19F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6D20-BF51-D366-0E3F-7FABEDBF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66E9770-902F-C2D8-CA34-51598214F9B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6328B88-A5FD-AB3F-D8AF-EA77C08DAAA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35C392A1-A0E5-8E5C-56FA-236A0BF78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1C6E0D-4A18-70E3-266F-6400F5B0B982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A7F4B8-7E7E-A077-7A0D-604F2762F09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CEEC1F53-B36B-E346-3BC9-34A700056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61F440-F7AB-34A4-0A69-B850B9092C5A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1419D739-8A79-393D-67D6-0267CE73E28C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316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5AD8B-A419-54B0-CED3-6F6E264AC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AE38-4028-12FB-2128-64BC97B0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C39A9EC-F815-D22A-5B58-2CBF4FA9F43F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85640-B867-1678-3743-8B99FD3BDFAC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CFEE3E9-878D-D919-BC5F-F4E1FE58F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E8D9A6-98EF-B84C-CEEC-0DC05A002A2B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BBEA68-448E-2AD5-7E9A-712CDEAB3CF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1F99E783-5D99-0615-A043-798FEAD26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3530F5D-82EB-1E81-CA70-01F7B4BCC79E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607B4-306A-E34F-E8B3-3BDA64AA8B3A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B95720-2807-A896-1B01-50D2311B2332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D24EAD37-72BA-F769-98FC-DCC0057D0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3C0FAA-400F-159E-D987-28A17829F17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5BE93-0DA0-C1E6-89ED-4DEA2DEA3918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76935B0-D704-3E9F-2001-6672981E469E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20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EAD72-B626-59F3-1F1E-B003F3B4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104C4-FC68-9AA2-E543-006EBCB0F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89D6D89-07F3-DEB4-FE1E-B246B6CA072C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  <a:p>
            <a:pPr>
              <a:buFontTx/>
              <a:buChar char="-"/>
            </a:pPr>
            <a:r>
              <a:rPr lang="nl-NL" sz="2000" dirty="0"/>
              <a:t>Upload werkt op </a:t>
            </a:r>
            <a:r>
              <a:rPr lang="nl-NL" sz="2000" dirty="0" err="1"/>
              <a:t>branch</a:t>
            </a:r>
            <a:r>
              <a:rPr lang="nl-NL" sz="2000" dirty="0"/>
              <a:t> niveau!</a:t>
            </a:r>
          </a:p>
          <a:p>
            <a:pPr>
              <a:buFontTx/>
              <a:buChar char="-"/>
            </a:pPr>
            <a:r>
              <a:rPr lang="nl-NL" sz="2000" dirty="0"/>
              <a:t>Je kunt lokaal blijven experimenteren.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3EA4C90-67B9-69D2-265F-A9F45F689B1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1692DA2-766C-31CF-9711-2A80E35010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F46C23-F4F1-2536-680A-F58B86401E3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F91CA5A-E4F5-0D5B-AB2E-6F304DB3DE50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F83DEFCA-6DF6-0BFD-7229-1A6BF1838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03FAF08-00F3-3313-5431-0D2BBE96B65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6A6B28B-B49A-A6B2-5016-DA1F39363B02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977BA1-58C9-43A9-A177-669CA81949F4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A08CB22B-8054-9563-86B2-734C2365A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DA483E-E65F-2237-0069-15838746B0C2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3DC4EAC-81C1-39DF-2493-A5D61FB96122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370042-BDA3-10BF-A82B-2511A0094DD1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58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E52F-4E13-15AD-B969-44E0251E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875B-1043-00D5-252C-4AC593944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D521F-6CC3-5EA7-1237-B5B92D37DAD1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52E1D10-8984-5013-95EB-58C73E3F2DE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394C34-86CF-A49F-F9DD-5C2955D075B9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AA0AEC-93BA-F0CA-6DFD-FDE2D35CDB3E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6BE79C-DB44-4EA5-7CC2-167994A675FC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EA024B5-B6FA-6701-4517-C4FE7BB4298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remote heeft een selectie van alle lokale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Alle gebruikers krijgen </a:t>
            </a:r>
            <a:r>
              <a:rPr lang="nl-NL" sz="2000" u="sng" dirty="0"/>
              <a:t>alle</a:t>
            </a:r>
            <a:r>
              <a:rPr lang="nl-NL" sz="2000" dirty="0"/>
              <a:t> informatie van die gedeelde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Rechten bepalen wie branches mag toevoegen, </a:t>
            </a:r>
            <a:r>
              <a:rPr lang="nl-NL" sz="2000" dirty="0" err="1"/>
              <a:t>commits</a:t>
            </a:r>
            <a:r>
              <a:rPr lang="nl-NL" sz="2000" dirty="0"/>
              <a:t> mag maken, et cetera.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558D655-3F8E-0407-01B9-A7C6E27B335D}"/>
              </a:ext>
            </a:extLst>
          </p:cNvPr>
          <p:cNvSpPr/>
          <p:nvPr/>
        </p:nvSpPr>
        <p:spPr>
          <a:xfrm>
            <a:off x="264903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P3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A24E98E-E2BA-234E-A34E-B1C9C2D0B08A}"/>
              </a:ext>
            </a:extLst>
          </p:cNvPr>
          <p:cNvCxnSpPr>
            <a:cxnSpLocks/>
            <a:stCxn id="7" idx="3"/>
            <a:endCxn id="31" idx="0"/>
          </p:cNvCxnSpPr>
          <p:nvPr/>
        </p:nvCxnSpPr>
        <p:spPr>
          <a:xfrm>
            <a:off x="2462851" y="3610121"/>
            <a:ext cx="607458" cy="1289956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130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A49BD-EDA9-C850-CC45-CB8E2AA0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D388E-0357-C2C9-7B93-D1488AF8D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CB473-FC1E-8308-DC36-4B83DA26C60B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8CCDA0-3F34-C1E9-E856-87DB8858E75A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0126D29-8E35-5783-6E20-0E964D332C22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C1BE920-25FD-B928-2DE6-982ED0DAB2A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B17EAF-0C47-5B40-80F1-EBB68F824E2B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F6A6022-6C08-F298-56DB-FB3BC468DE43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28A509-1000-C121-28EA-1C49694E7128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83C7DF0-2C60-D448-2395-EC0DC10FE9DE}"/>
              </a:ext>
            </a:extLst>
          </p:cNvPr>
          <p:cNvCxnSpPr>
            <a:cxnSpLocks/>
            <a:stCxn id="3" idx="6"/>
            <a:endCxn id="12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90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6EB57-3EC2-3BC3-37B9-CC59322E2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D931A-4D91-DB71-D641-0E1D5948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933F41-8320-FDAE-EC93-D5D18CE82256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5CFCD8-5BD7-0B43-FA76-6598E08B1C4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E252DC-8B8B-3CAE-930C-A4FCCF0EA5DE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63412-69AD-C5FD-9208-CEC6325374B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36EADE-1779-6432-C405-3D83C316E12F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4BBC8937-72ED-1A8C-89B5-DCBABA5FB94D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Volledig gedistribueerd:</a:t>
            </a:r>
          </a:p>
          <a:p>
            <a:pPr marL="0" indent="0">
              <a:buNone/>
            </a:pPr>
            <a:r>
              <a:rPr lang="nl-NL" sz="2000" dirty="0"/>
              <a:t>Alle gebruikers kunnen </a:t>
            </a:r>
            <a:r>
              <a:rPr lang="nl-NL" sz="2000" dirty="0" err="1"/>
              <a:t>remotes</a:t>
            </a:r>
            <a:r>
              <a:rPr lang="nl-NL" sz="2000" dirty="0"/>
              <a:t> instellen.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B901C-B8AF-8161-8089-91CEA51DE56C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2551B52-E851-A86E-DF1C-5F1407D39180}"/>
              </a:ext>
            </a:extLst>
          </p:cNvPr>
          <p:cNvCxnSpPr>
            <a:stCxn id="3" idx="6"/>
            <a:endCxn id="4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76869AF-A11E-6E88-2EFD-8E79F429653C}"/>
              </a:ext>
            </a:extLst>
          </p:cNvPr>
          <p:cNvSpPr/>
          <p:nvPr/>
        </p:nvSpPr>
        <p:spPr>
          <a:xfrm>
            <a:off x="3272491" y="4998048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X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52FC97-6637-620D-E0B6-142D1CD96C5E}"/>
              </a:ext>
            </a:extLst>
          </p:cNvPr>
          <p:cNvCxnSpPr>
            <a:stCxn id="9" idx="6"/>
            <a:endCxn id="6" idx="1"/>
          </p:cNvCxnSpPr>
          <p:nvPr/>
        </p:nvCxnSpPr>
        <p:spPr>
          <a:xfrm flipV="1">
            <a:off x="2283236" y="5321354"/>
            <a:ext cx="98925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96E141-97AA-ED45-AB35-DEA5942C0A37}"/>
              </a:ext>
            </a:extLst>
          </p:cNvPr>
          <p:cNvCxnSpPr>
            <a:cxnSpLocks/>
          </p:cNvCxnSpPr>
          <p:nvPr/>
        </p:nvCxnSpPr>
        <p:spPr>
          <a:xfrm rot="5400000" flipH="1">
            <a:off x="2777863" y="5025302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436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E2841-2F83-37F1-20EB-5DB71D0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5C7B9-F271-F8DB-AE44-48DD9F1C3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SAAS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778CF-F5D4-F643-1870-A8B8C6B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Remote servers meestal via SAAS dienst: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Azure DevOps</a:t>
            </a:r>
          </a:p>
          <a:p>
            <a:pPr>
              <a:buFontTx/>
              <a:buChar char="-"/>
            </a:pPr>
            <a:r>
              <a:rPr lang="nl-NL" sz="2000" dirty="0"/>
              <a:t>GitHub</a:t>
            </a:r>
          </a:p>
          <a:p>
            <a:pPr>
              <a:buFontTx/>
              <a:buChar char="-"/>
            </a:pPr>
            <a:r>
              <a:rPr lang="nl-NL" sz="2000" dirty="0" err="1"/>
              <a:t>GitLab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Naast </a:t>
            </a:r>
            <a:r>
              <a:rPr lang="nl-NL" sz="2000" noProof="0" dirty="0" err="1"/>
              <a:t>repositories</a:t>
            </a:r>
            <a:r>
              <a:rPr lang="nl-NL" sz="2000" noProof="0" dirty="0"/>
              <a:t> ook veel andere tools: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Project management.</a:t>
            </a:r>
          </a:p>
          <a:p>
            <a:pPr>
              <a:buFontTx/>
              <a:buChar char="-"/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 err="1"/>
              <a:t>Continuous</a:t>
            </a:r>
            <a:r>
              <a:rPr lang="nl-NL" sz="2000" noProof="0" dirty="0"/>
              <a:t> Integration.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D7E345B-B1B4-8FA3-59B6-4C9E38F49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4565" y="2813455"/>
            <a:ext cx="2029183" cy="1141416"/>
          </a:xfrm>
          <a:prstGeom prst="rect">
            <a:avLst/>
          </a:prstGeom>
        </p:spPr>
      </p:pic>
      <p:pic>
        <p:nvPicPr>
          <p:cNvPr id="8" name="Picture 7" descr="A logo of a folder&#10;&#10;Description automatically generated">
            <a:extLst>
              <a:ext uri="{FF2B5EF4-FFF2-40B4-BE49-F238E27FC236}">
                <a16:creationId xmlns:a16="http://schemas.microsoft.com/office/drawing/2014/main" id="{95610839-712E-3235-80D2-19F9D4B31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933" y="1456267"/>
            <a:ext cx="1818672" cy="1652961"/>
          </a:xfrm>
          <a:prstGeom prst="rect">
            <a:avLst/>
          </a:prstGeom>
        </p:spPr>
      </p:pic>
      <p:pic>
        <p:nvPicPr>
          <p:cNvPr id="12" name="Picture 11" descr="A black text on a black background&#10;&#10;Description automatically generated">
            <a:extLst>
              <a:ext uri="{FF2B5EF4-FFF2-40B4-BE49-F238E27FC236}">
                <a16:creationId xmlns:a16="http://schemas.microsoft.com/office/drawing/2014/main" id="{17BA1C09-B1D7-15DC-8924-88B9E3915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697" y="3954871"/>
            <a:ext cx="1953916" cy="937879"/>
          </a:xfrm>
          <a:prstGeom prst="rect">
            <a:avLst/>
          </a:prstGeom>
        </p:spPr>
      </p:pic>
      <p:pic>
        <p:nvPicPr>
          <p:cNvPr id="9" name="Picture 8" descr="A logo on a black background&#10;&#10;Description automatically generated">
            <a:extLst>
              <a:ext uri="{FF2B5EF4-FFF2-40B4-BE49-F238E27FC236}">
                <a16:creationId xmlns:a16="http://schemas.microsoft.com/office/drawing/2014/main" id="{EE549E10-C7A2-8766-E619-3FC2D1358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t="34670" r="9015" b="33954"/>
          <a:stretch/>
        </p:blipFill>
        <p:spPr>
          <a:xfrm>
            <a:off x="8325306" y="5434738"/>
            <a:ext cx="2422412" cy="62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13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352B7-D863-427C-F7F1-E4F5FAD2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6C8958-46C4-028B-180E-49559DB5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Bestaand </a:t>
            </a:r>
            <a:r>
              <a:rPr lang="nl-NL" noProof="0" dirty="0" err="1"/>
              <a:t>Github</a:t>
            </a:r>
            <a:r>
              <a:rPr lang="nl-NL" noProof="0" dirty="0"/>
              <a:t> </a:t>
            </a:r>
            <a:r>
              <a:rPr lang="nl-NL" noProof="0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F22C3-8EDA-320E-0A76-A41023396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6654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8061-7493-5894-0462-01ED9A34E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5913-96A9-5E80-8E26-1A4B44FB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Remote </a:t>
            </a:r>
            <a:r>
              <a:rPr lang="nl-NL" sz="3600" dirty="0" err="1"/>
              <a:t>repo</a:t>
            </a:r>
            <a:r>
              <a:rPr lang="nl-NL" sz="3600" dirty="0"/>
              <a:t> binnenhalen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FFB4D0-C6D2-F22C-1FB2-8A8037700E6E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Om een bestaand </a:t>
            </a:r>
            <a:r>
              <a:rPr lang="nl-NL" sz="1600" dirty="0" err="1"/>
              <a:t>repo</a:t>
            </a:r>
            <a:r>
              <a:rPr lang="nl-NL" sz="1600" dirty="0"/>
              <a:t> binnen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https://github.com/LFKoning/git-cursus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Clone</a:t>
            </a:r>
            <a:r>
              <a:rPr lang="nl-NL" sz="1600" dirty="0"/>
              <a:t> commando: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Maakt directory aan met de naam van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deze werk directory in op de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URL in als remote server met de 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B26EA-37DB-A8AC-56A9-6DBA9A4A951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8C6892-355E-D823-0588-51FF8A170C6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926456-D6E2-6E48-C3E5-0C6944FF1F16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198F09-BA03-B3F7-24D6-734275203008}"/>
              </a:ext>
            </a:extLst>
          </p:cNvPr>
          <p:cNvSpPr txBox="1"/>
          <p:nvPr/>
        </p:nvSpPr>
        <p:spPr>
          <a:xfrm rot="16200000">
            <a:off x="9115043" y="3352950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clone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5078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2087-AA4D-2704-BBEA-379C5F17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213C2-EFB6-2868-B88C-13F7DD4A0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ophalen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FAB2D2-AF1A-63BC-AB6C-15A885F32E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Twee commando's om wijzigingen op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allen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directory, niet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moet wijzigingen zelf </a:t>
            </a:r>
            <a:r>
              <a:rPr lang="nl-NL" sz="1600" dirty="0" err="1"/>
              <a:t>mergen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 en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Is identiek aan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sz="1600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9E5603-F53C-500E-164A-788D5503DBFB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CEB74-9F16-4E64-10C6-8AAE09A99278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F025E8-0721-763D-CFB3-C711A617E9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7938FC-3C3C-2352-BDFC-0A0ADC0AE3FE}"/>
              </a:ext>
            </a:extLst>
          </p:cNvPr>
          <p:cNvSpPr txBox="1"/>
          <p:nvPr/>
        </p:nvSpPr>
        <p:spPr>
          <a:xfrm rot="16200000">
            <a:off x="8842245" y="3352949"/>
            <a:ext cx="1240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fetch</a:t>
            </a:r>
            <a:r>
              <a:rPr lang="nl-NL" dirty="0"/>
              <a:t> / pull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22ABE-4A6B-2420-88EF-4FB9BDAD8978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fetch / pull.</a:t>
            </a:r>
          </a:p>
        </p:txBody>
      </p:sp>
    </p:spTree>
    <p:extLst>
      <p:ext uri="{BB962C8B-B14F-4D97-AF65-F5344CB8AC3E}">
        <p14:creationId xmlns:p14="http://schemas.microsoft.com/office/powerpoint/2010/main" val="1156780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0868-F557-AEDA-FDE0-F2805824F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96F8B3-B2C6-9AA3-6CB4-870A83AA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Nieuw </a:t>
            </a:r>
            <a:r>
              <a:rPr lang="nl-NL" dirty="0" err="1"/>
              <a:t>Github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79508-5865-4D05-F9B9-8FFD89EA97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8572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FC659-C121-88A6-B644-EBD5801E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BD65D-2F79-EF72-5FBD-18032F9D2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356E41-5696-10E0-49A3-2D945EE1AA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1267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Ga naar de hoofdpagina van GitHub.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Repositories.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rechtsboven op New.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.</a:t>
            </a:r>
            <a:r>
              <a:rPr lang="nl-NL" sz="1600" dirty="0" err="1"/>
              <a:t>gitignore</a:t>
            </a:r>
            <a:r>
              <a:rPr lang="nl-NL" sz="1600" dirty="0"/>
              <a:t> op None.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license</a:t>
            </a:r>
            <a:r>
              <a:rPr lang="nl-NL" sz="1600" dirty="0"/>
              <a:t> op None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33796CB-DA16-FA6C-1CD4-611162FF2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1124" y="949092"/>
            <a:ext cx="4812676" cy="55437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D4B258-3CED-7047-0EC0-4B08A8C019E9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repo.</a:t>
            </a:r>
          </a:p>
        </p:txBody>
      </p:sp>
    </p:spTree>
    <p:extLst>
      <p:ext uri="{BB962C8B-B14F-4D97-AF65-F5344CB8AC3E}">
        <p14:creationId xmlns:p14="http://schemas.microsoft.com/office/powerpoint/2010/main" val="27457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F6841-27F2-7FAF-7B58-4A81E57C2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67512-399A-A66E-4323-BA8B1233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Lokaal </a:t>
            </a:r>
            <a:r>
              <a:rPr lang="nl-NL" sz="3600" dirty="0" err="1"/>
              <a:t>repo</a:t>
            </a:r>
            <a:r>
              <a:rPr lang="nl-NL" sz="3600" dirty="0"/>
              <a:t> koppelen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B13240-C8BD-22EF-37DF-9ED6CE843FFF}"/>
              </a:ext>
            </a:extLst>
          </p:cNvPr>
          <p:cNvSpPr txBox="1">
            <a:spLocks/>
          </p:cNvSpPr>
          <p:nvPr/>
        </p:nvSpPr>
        <p:spPr>
          <a:xfrm>
            <a:off x="838198" y="1456267"/>
            <a:ext cx="780288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Check welke remote servers actief zijn: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-v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Voeg remote server toe aan een </a:t>
            </a:r>
            <a:r>
              <a:rPr lang="nl-NL" sz="1600" dirty="0" err="1"/>
              <a:t>repo</a:t>
            </a:r>
            <a:r>
              <a:rPr lang="nl-NL" sz="16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Of wijzig het URL van een bestaande remote: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https://github.com/You/pig-latin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2A46F-12FE-83D9-C5AD-400614998A0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0ED466-E9CA-4EDB-1FBD-F3220F1FB80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7EF159-8648-8BC1-A59A-B41EE182380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headEnd type="non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BAC3E95-EF37-9989-77E4-795111C75114}"/>
              </a:ext>
            </a:extLst>
          </p:cNvPr>
          <p:cNvSpPr txBox="1"/>
          <p:nvPr/>
        </p:nvSpPr>
        <p:spPr>
          <a:xfrm rot="16200000">
            <a:off x="8822047" y="3352949"/>
            <a:ext cx="1280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remote </a:t>
            </a:r>
            <a:r>
              <a:rPr lang="nl-NL" dirty="0" err="1"/>
              <a:t>add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836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AC94-C673-AA8A-006B-306FC00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A83D-155A-72D3-66E3-E01596441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wegschrijven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53D69EA-DC8E-D06D-674F-C5DC0C74E7B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Commit eerst je lokale wijzigingen: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&lt;commit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Schrijf de wijzigingen weg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&lt;naam remote&gt;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94C3C-7B37-8132-EF00-17DDF3F53B55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A950-7EE5-6F8D-47A9-D2C483B630C7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A4BB43-BEF0-BA0B-9C28-6AA0BAC4428A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F276EE-5ABF-0457-C3FD-EEB4F43E6EE3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8209-669B-3CE7-5ABC-3C546A6ABF45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remote add.</a:t>
            </a:r>
          </a:p>
        </p:txBody>
      </p:sp>
    </p:spTree>
    <p:extLst>
      <p:ext uri="{BB962C8B-B14F-4D97-AF65-F5344CB8AC3E}">
        <p14:creationId xmlns:p14="http://schemas.microsoft.com/office/powerpoint/2010/main" val="197220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EAB2-736D-6389-6371-ABDF0ED8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DA408-9CCC-4953-91B8-2BD7F7BD7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D5BCD3B-9061-C498-2E58-4234C575915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Nieuwe lokale </a:t>
            </a:r>
            <a:r>
              <a:rPr lang="nl-NL" sz="1600" dirty="0" err="1"/>
              <a:t>branch</a:t>
            </a:r>
            <a:r>
              <a:rPr lang="nl-NL" sz="1600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–b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Push mislukt, want </a:t>
            </a:r>
            <a:r>
              <a:rPr lang="nl-NL" sz="1600" dirty="0" err="1"/>
              <a:t>branch</a:t>
            </a:r>
            <a:r>
              <a:rPr lang="nl-NL" sz="1600" dirty="0"/>
              <a:t> bestaat nog niet op remote: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F3521-AB6A-5C85-E4E6-D4274721854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EDA225-5ED9-C5DB-5E22-CBF4A3ACDC53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A423D0-0D9E-60A8-C51D-AFA0BB6E2A64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A3F1643-CAC4-69B7-D90F-22121E652B06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B0B973-6A75-DB37-F439-1DD927E58859}"/>
              </a:ext>
            </a:extLst>
          </p:cNvPr>
          <p:cNvGrpSpPr/>
          <p:nvPr/>
        </p:nvGrpSpPr>
        <p:grpSpPr>
          <a:xfrm>
            <a:off x="942536" y="3390314"/>
            <a:ext cx="6893719" cy="1593056"/>
            <a:chOff x="778669" y="4150519"/>
            <a:chExt cx="6893719" cy="15930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ECEA71-8097-4524-6FE8-B4BF94C9F47F}"/>
                </a:ext>
              </a:extLst>
            </p:cNvPr>
            <p:cNvSpPr/>
            <p:nvPr/>
          </p:nvSpPr>
          <p:spPr>
            <a:xfrm>
              <a:off x="778669" y="4150519"/>
              <a:ext cx="6893719" cy="159305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13" name="Picture 12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81653055-ADC4-2908-0FE9-D201AC0E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05"/>
            <a:stretch/>
          </p:blipFill>
          <p:spPr>
            <a:xfrm>
              <a:off x="932211" y="4294456"/>
              <a:ext cx="6584251" cy="13245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560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C5B8-5F01-C4FC-3889-FEF52956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BE474-D848-EAD9-DFFD-BBAFEDDE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tracking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3FD0456-EB1C-C0C1-1CB8-76D6ECCE0B3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Koppeling tussen een </a:t>
            </a:r>
            <a:r>
              <a:rPr lang="nl-NL" sz="1600" u="sng" dirty="0"/>
              <a:t>lokale</a:t>
            </a:r>
            <a:r>
              <a:rPr lang="nl-NL" sz="1600" dirty="0"/>
              <a:t> en een </a:t>
            </a:r>
            <a:r>
              <a:rPr lang="nl-NL" sz="1600" u="sng" dirty="0"/>
              <a:t>remote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&lt;remote&gt;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feature/unit-tests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Overzicht van lokale branches met hun tracking branches: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-vv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0711E-C635-A5E7-BF0D-75046C93D62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B185F-817A-2D42-EEAA-71AE610AC03B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B1044-B14D-AD92-2A81-663744FE59B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796D48-F6CC-29B9-BDEA-F215A63045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4C7F29-E343-29D3-3AF1-DD4679470CCA}"/>
              </a:ext>
            </a:extLst>
          </p:cNvPr>
          <p:cNvGrpSpPr/>
          <p:nvPr/>
        </p:nvGrpSpPr>
        <p:grpSpPr>
          <a:xfrm>
            <a:off x="916560" y="4272734"/>
            <a:ext cx="6893719" cy="1346231"/>
            <a:chOff x="902492" y="2407444"/>
            <a:chExt cx="6893719" cy="134623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C843332-AE9F-BE6D-36F7-FDBBF4A76BD3}"/>
                </a:ext>
              </a:extLst>
            </p:cNvPr>
            <p:cNvGrpSpPr/>
            <p:nvPr/>
          </p:nvGrpSpPr>
          <p:grpSpPr>
            <a:xfrm>
              <a:off x="902492" y="2407444"/>
              <a:ext cx="6893719" cy="907256"/>
              <a:chOff x="747574" y="4114800"/>
              <a:chExt cx="6893719" cy="907256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D6464BE-1F24-9CCD-E81C-9C1A41BD59DD}"/>
                  </a:ext>
                </a:extLst>
              </p:cNvPr>
              <p:cNvSpPr/>
              <p:nvPr/>
            </p:nvSpPr>
            <p:spPr>
              <a:xfrm>
                <a:off x="747574" y="4114800"/>
                <a:ext cx="6893719" cy="907256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CE784C8-9094-9E1E-E9AE-17144B962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001"/>
              <a:stretch/>
            </p:blipFill>
            <p:spPr>
              <a:xfrm>
                <a:off x="838199" y="4252816"/>
                <a:ext cx="6655872" cy="651016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C67E743-5595-4FEE-AA63-5BF23A23E28F}"/>
                </a:ext>
              </a:extLst>
            </p:cNvPr>
            <p:cNvSpPr txBox="1"/>
            <p:nvPr/>
          </p:nvSpPr>
          <p:spPr>
            <a:xfrm>
              <a:off x="1235566" y="3384343"/>
              <a:ext cx="733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lokaal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B6DE7DD-1725-B19F-436F-514047A937E7}"/>
                </a:ext>
              </a:extLst>
            </p:cNvPr>
            <p:cNvSpPr txBox="1"/>
            <p:nvPr/>
          </p:nvSpPr>
          <p:spPr>
            <a:xfrm>
              <a:off x="4427916" y="3384343"/>
              <a:ext cx="873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remote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568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1709-FD5D-133B-3651-D2B151D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2E56-5FAB-A333-21A7-0F92DDF6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67F5B5B-5FDB-7C05-A8A0-77695F4CFDC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Branches op de remote worden opgehaald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/>
              <a:t> /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/>
              <a:t> /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pull.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kunt kijken welke branches beschikbaar zijn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Wisselen naar een bestaande </a:t>
            </a:r>
            <a:r>
              <a:rPr lang="nl-NL" sz="1600" dirty="0" err="1"/>
              <a:t>branch</a:t>
            </a:r>
            <a:r>
              <a:rPr lang="nl-NL" sz="1600" dirty="0"/>
              <a:t> doe je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Dit zet de werk directory naar de laatste commit op de bestaande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65E88-54CE-BF58-12FA-DC5A4A1AE5BC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52E04-29C7-3763-3BAF-3902A1ACC3D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C1985A-9CC3-B4D5-1C0C-3E158329BB89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695F67-3462-D9A4-27E0-B51DCB60C98F}"/>
              </a:ext>
            </a:extLst>
          </p:cNvPr>
          <p:cNvSpPr txBox="1"/>
          <p:nvPr/>
        </p:nvSpPr>
        <p:spPr>
          <a:xfrm rot="16200000">
            <a:off x="8944997" y="3352950"/>
            <a:ext cx="103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checkout</a:t>
            </a:r>
            <a:endParaRPr lang="nl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BDD26-5927-6B3C-BC72-3AEFE0C6436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branch tracking.</a:t>
            </a:r>
          </a:p>
        </p:txBody>
      </p:sp>
    </p:spTree>
    <p:extLst>
      <p:ext uri="{BB962C8B-B14F-4D97-AF65-F5344CB8AC3E}">
        <p14:creationId xmlns:p14="http://schemas.microsoft.com/office/powerpoint/2010/main" val="3331569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3BDE7-340C-5194-228B-F176B03E4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395D4-99ED-CE88-5640-596B3091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 dirty="0"/>
              <a:t> verwijderen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8CD6C00-AEED-4DDE-8BAA-55DC38504B2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lokale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Niet </a:t>
            </a: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remote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&lt;remote&gt; --delete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--delete feature/test-tracking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BAE364-CA2D-7470-3AAB-668F9A997440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CC3296-785D-EECD-FB00-F63923590CFE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9D4F1C-CC36-9553-C7A2-E334D15134F0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DBD304F-5671-B654-FAE7-62C8DE3BA2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B0A00A-046F-DC70-47CD-6D95CA9A048A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delete branch.</a:t>
            </a:r>
          </a:p>
        </p:txBody>
      </p:sp>
    </p:spTree>
    <p:extLst>
      <p:ext uri="{BB962C8B-B14F-4D97-AF65-F5344CB8AC3E}">
        <p14:creationId xmlns:p14="http://schemas.microsoft.com/office/powerpoint/2010/main" val="235342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E154-8111-ACD8-4BD6-20492CA7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82013C-A720-B7B5-690D-4EBE3DEA3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A7BC3-C84C-7B37-2E0A-B787EB253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6219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68ED-0267-BDCE-C6AA-AA55651C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2BD0B79-8CD2-C9C1-9DE6-C229B5D74307}"/>
              </a:ext>
            </a:extLst>
          </p:cNvPr>
          <p:cNvCxnSpPr>
            <a:stCxn id="11" idx="0"/>
            <a:endCxn id="20" idx="4"/>
          </p:cNvCxnSpPr>
          <p:nvPr/>
        </p:nvCxnSpPr>
        <p:spPr>
          <a:xfrm rot="16200000" flipV="1">
            <a:off x="9484528" y="2812004"/>
            <a:ext cx="2050583" cy="702814"/>
          </a:xfrm>
          <a:prstGeom prst="bentConnector3">
            <a:avLst>
              <a:gd name="adj1" fmla="val 9110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DF8A431-F105-915A-0640-25FFFE90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Pull </a:t>
            </a:r>
            <a:r>
              <a:rPr lang="nl-NL" sz="3600" noProof="0" dirty="0" err="1"/>
              <a:t>Request</a:t>
            </a:r>
            <a:r>
              <a:rPr lang="nl-NL" sz="3600" noProof="0" dirty="0"/>
              <a:t>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0ADD345-F241-3780-1075-26AF68BE336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Door branches kan iedereen los van elkaar werken.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Maar: uiteindelijk wil je branches </a:t>
            </a:r>
            <a:r>
              <a:rPr lang="nl-NL" sz="1800" dirty="0" err="1"/>
              <a:t>mergen</a:t>
            </a:r>
            <a:r>
              <a:rPr lang="nl-NL" sz="1800" dirty="0"/>
              <a:t>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Met een Pull </a:t>
            </a:r>
            <a:r>
              <a:rPr lang="nl-NL" sz="1800" dirty="0" err="1"/>
              <a:t>Request</a:t>
            </a:r>
            <a:r>
              <a:rPr lang="nl-NL" sz="1800" dirty="0"/>
              <a:t> kun je samenwerken aan een </a:t>
            </a:r>
            <a:r>
              <a:rPr lang="nl-NL" sz="1800" dirty="0" err="1"/>
              <a:t>merge</a:t>
            </a:r>
            <a:r>
              <a:rPr lang="nl-NL" sz="18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Aanvraag om twee branches te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wijzigingen duidelijk weer.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aan of er conflicten zijn.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mogelijkheid voor commentaar en suggesties.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Kan worden geaccepteerd of afgewezen.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B31ED17-F9C3-28FA-518D-8E3CE91C777D}"/>
              </a:ext>
            </a:extLst>
          </p:cNvPr>
          <p:cNvCxnSpPr/>
          <p:nvPr/>
        </p:nvCxnSpPr>
        <p:spPr>
          <a:xfrm flipV="1">
            <a:off x="10158412" y="1657350"/>
            <a:ext cx="0" cy="3943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4400A1F-6344-66B6-BE53-1D7B6D4267FB}"/>
              </a:ext>
            </a:extLst>
          </p:cNvPr>
          <p:cNvSpPr/>
          <p:nvPr/>
        </p:nvSpPr>
        <p:spPr>
          <a:xfrm>
            <a:off x="9996832" y="513168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F9302F-4D29-BE03-6171-C9B09363F290}"/>
              </a:ext>
            </a:extLst>
          </p:cNvPr>
          <p:cNvSpPr/>
          <p:nvPr/>
        </p:nvSpPr>
        <p:spPr>
          <a:xfrm>
            <a:off x="10699646" y="418870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719DB3F-5EA1-92C9-2B9B-2128721AA2AF}"/>
              </a:ext>
            </a:extLst>
          </p:cNvPr>
          <p:cNvCxnSpPr>
            <a:cxnSpLocks/>
            <a:stCxn id="6" idx="0"/>
            <a:endCxn id="11" idx="4"/>
          </p:cNvCxnSpPr>
          <p:nvPr/>
        </p:nvCxnSpPr>
        <p:spPr>
          <a:xfrm rot="5400000" flipH="1" flipV="1">
            <a:off x="10199429" y="4469892"/>
            <a:ext cx="620780" cy="702814"/>
          </a:xfrm>
          <a:prstGeom prst="bentConnector3">
            <a:avLst>
              <a:gd name="adj1" fmla="val 50000"/>
            </a:avLst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C56204-79A5-C9E2-9BB4-7B3C5B5E3A0B}"/>
              </a:ext>
            </a:extLst>
          </p:cNvPr>
          <p:cNvSpPr/>
          <p:nvPr/>
        </p:nvSpPr>
        <p:spPr>
          <a:xfrm>
            <a:off x="10699646" y="34068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491504-CF21-6DFA-EAC7-0473CCDA4830}"/>
              </a:ext>
            </a:extLst>
          </p:cNvPr>
          <p:cNvSpPr/>
          <p:nvPr/>
        </p:nvSpPr>
        <p:spPr>
          <a:xfrm>
            <a:off x="10699646" y="2624934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FB2F25-04B7-DDB8-C91F-4E7563373FB7}"/>
              </a:ext>
            </a:extLst>
          </p:cNvPr>
          <p:cNvSpPr/>
          <p:nvPr/>
        </p:nvSpPr>
        <p:spPr>
          <a:xfrm>
            <a:off x="9996832" y="181591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  <a:endParaRPr lang="en-NL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665C924-8430-9906-8647-94A244722D7E}"/>
              </a:ext>
            </a:extLst>
          </p:cNvPr>
          <p:cNvSpPr/>
          <p:nvPr/>
        </p:nvSpPr>
        <p:spPr>
          <a:xfrm>
            <a:off x="9996831" y="29769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4BB6-F531-A5E8-4858-2F7C73E4F3F1}"/>
              </a:ext>
            </a:extLst>
          </p:cNvPr>
          <p:cNvSpPr txBox="1"/>
          <p:nvPr/>
        </p:nvSpPr>
        <p:spPr>
          <a:xfrm>
            <a:off x="10644164" y="176878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PR</a:t>
            </a:r>
          </a:p>
        </p:txBody>
      </p:sp>
    </p:spTree>
    <p:extLst>
      <p:ext uri="{BB962C8B-B14F-4D97-AF65-F5344CB8AC3E}">
        <p14:creationId xmlns:p14="http://schemas.microsoft.com/office/powerpoint/2010/main" val="22190844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A10F-40C3-0682-28BF-5F028360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1BB88-2A5E-FFA5-E72B-74748083D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CD05DE-5C9F-49C7-CE8B-DE4F84FD8E8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Repository &gt; Pull </a:t>
            </a:r>
            <a:r>
              <a:rPr lang="nl-NL" sz="1800" dirty="0" err="1"/>
              <a:t>Requests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Check of </a:t>
            </a:r>
            <a:r>
              <a:rPr lang="nl-NL" sz="1800" dirty="0" err="1"/>
              <a:t>gemerged</a:t>
            </a:r>
            <a:r>
              <a:rPr lang="nl-NL" sz="1800" dirty="0"/>
              <a:t> kan worden.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 pull </a:t>
            </a:r>
            <a:r>
              <a:rPr lang="nl-NL" sz="1800" dirty="0" err="1"/>
              <a:t>request</a:t>
            </a:r>
            <a:r>
              <a:rPr lang="nl-NL" sz="1800" dirty="0"/>
              <a:t>]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F5122215-A220-E455-2070-7881F2A41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6" y="1456267"/>
            <a:ext cx="5586584" cy="44292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5488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5EE7-F5A4-81BB-4E49-10358D4CC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C5ED443-5867-499D-6078-8CCB20E3A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7" y="1456267"/>
            <a:ext cx="5586584" cy="4635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10B23D-2C99-DF75-B09F-93B947C23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6076A2-2DDA-C993-371A-7A5EB9076186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titel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beschrijving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0763F-C1BF-F1CD-BC89-FDF85081D18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PR.</a:t>
            </a:r>
          </a:p>
        </p:txBody>
      </p:sp>
    </p:spTree>
    <p:extLst>
      <p:ext uri="{BB962C8B-B14F-4D97-AF65-F5344CB8AC3E}">
        <p14:creationId xmlns:p14="http://schemas.microsoft.com/office/powerpoint/2010/main" val="1229207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5D28-BB45-5322-FAB0-8F1E3320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3F71F4E-42D2-EA00-2D45-1257F35B3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4" y="1456267"/>
            <a:ext cx="5586585" cy="47038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8CC676-16CE-E0B1-5104-FF6611EAB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444C1B-8679-0EA3-527C-6AA9F8E719E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040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4275-E0C9-4D94-FDBC-B61D5FED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55227B6-6950-9D17-106B-DEDCBC10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483" y="1456267"/>
            <a:ext cx="5538316" cy="46516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357752-2B7C-CADB-7210-A5CD676D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0B31DB1-ED36-FEF5-E8B1-051650FE5C19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[Review changes].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beoordeling.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EB232A-50BB-D179-BB8A-09AE1AF6D2FB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review PR.</a:t>
            </a:r>
          </a:p>
        </p:txBody>
      </p:sp>
    </p:spTree>
    <p:extLst>
      <p:ext uri="{BB962C8B-B14F-4D97-AF65-F5344CB8AC3E}">
        <p14:creationId xmlns:p14="http://schemas.microsoft.com/office/powerpoint/2010/main" val="278255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01D5-2674-9AC3-1809-2E45DF44A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827FE-346C-6DDD-EDD2-124AEE5FB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Tips: PR 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3C7A197-BC38-1C5F-D5E1-0D74823E8CA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r>
              <a:rPr lang="nl-NL" sz="1800" dirty="0"/>
              <a:t>Doel: Maak het de </a:t>
            </a:r>
            <a:r>
              <a:rPr lang="nl-NL" sz="1800" dirty="0" err="1"/>
              <a:t>reviewer</a:t>
            </a:r>
            <a:r>
              <a:rPr lang="nl-NL" sz="1800" dirty="0"/>
              <a:t> zo makkelijk mogelijk!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r>
              <a:rPr lang="nl-NL" sz="1800" dirty="0"/>
              <a:t>Tips: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Maak </a:t>
            </a:r>
            <a:r>
              <a:rPr lang="nl-NL" sz="1800" dirty="0" err="1"/>
              <a:t>PR's</a:t>
            </a:r>
            <a:r>
              <a:rPr lang="nl-NL" sz="1800" dirty="0"/>
              <a:t> van beperkte omvang!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 context en uitleg.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Ga zorgvuldig om met de gegeven feedback.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Vermijd ideologische discussies…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Bellen is sneller.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846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B3A6A-0428-D6B3-DA27-5E51FF3E5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FD3FA-9F51-C740-C172-873214669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Tips: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A6CC6FC-B0E7-0EA9-5D6D-43B0A161EC5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r>
              <a:rPr lang="nl-NL" sz="1800" dirty="0"/>
              <a:t>Doel: Help de auteur betere code op te leveren.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r>
              <a:rPr lang="nl-NL" sz="1800" dirty="0"/>
              <a:t>Tips: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Reageer tijdig!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 opbouwende feedback.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 concrete suggesties.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Vele wegen naar Rome; anders is niet fout.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Vermijd ideologische discussies…</a:t>
            </a:r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Bellen is sneller.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547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D042-0994-4885-880A-203BF606D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67D703-3F74-AC99-B031-80B627CB6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Workflows</a:t>
            </a:r>
            <a:r>
              <a:rPr lang="nl-NL" noProof="0" dirty="0"/>
              <a:t> en 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3B2C5-F86F-12A6-CD45-DFDECAA6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38471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D12F-B401-4F1A-D4DE-307A4F99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9DFE-EE76-F242-B302-9878CD8CF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Wat is een Workflow?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013107C-D505-6BBE-C6EE-EA3293B68A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525780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Je wilt graag code van hoge kwaliteit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een Workflow kun je tools gebruiken om de kwaliteit te controleren: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Opmaak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Fouten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Unit 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Workflow start bij bijvoorbeeld een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  <a:r>
              <a:rPr lang="nl-NL" sz="1800" dirty="0">
                <a:cs typeface="Courier New" panose="02070309020205020404" pitchFamily="49" charset="0"/>
              </a:rPr>
              <a:t> of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0391FE-8159-720D-E458-6B6B14DF3103}"/>
              </a:ext>
            </a:extLst>
          </p:cNvPr>
          <p:cNvSpPr/>
          <p:nvPr/>
        </p:nvSpPr>
        <p:spPr>
          <a:xfrm>
            <a:off x="7157927" y="583937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 push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F2A86E-C55A-893A-7C85-495CD631CAEE}"/>
              </a:ext>
            </a:extLst>
          </p:cNvPr>
          <p:cNvSpPr/>
          <p:nvPr/>
        </p:nvSpPr>
        <p:spPr>
          <a:xfrm>
            <a:off x="7157927" y="2757880"/>
            <a:ext cx="3924974" cy="373499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t"/>
          <a:lstStyle/>
          <a:p>
            <a:pPr algn="ctr"/>
            <a:r>
              <a:rPr lang="nl-NL" dirty="0"/>
              <a:t>Virtual Machine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6E9195-DDC1-96BA-1B5E-693236B34920}"/>
              </a:ext>
            </a:extLst>
          </p:cNvPr>
          <p:cNvSpPr/>
          <p:nvPr/>
        </p:nvSpPr>
        <p:spPr>
          <a:xfrm>
            <a:off x="7697208" y="3011484"/>
            <a:ext cx="3024554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1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B4483D-1BCD-46D7-F099-80616DFC7B1A}"/>
              </a:ext>
            </a:extLst>
          </p:cNvPr>
          <p:cNvSpPr/>
          <p:nvPr/>
        </p:nvSpPr>
        <p:spPr>
          <a:xfrm>
            <a:off x="7697208" y="3894266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2</a:t>
            </a:r>
          </a:p>
          <a:p>
            <a:pPr algn="ctr"/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118A17D-D1D0-ECE7-6E59-59089E4AE054}"/>
              </a:ext>
            </a:extLst>
          </p:cNvPr>
          <p:cNvSpPr/>
          <p:nvPr/>
        </p:nvSpPr>
        <p:spPr>
          <a:xfrm>
            <a:off x="7697208" y="4777048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3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pip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</a:p>
        </p:txBody>
      </p:sp>
      <p:pic>
        <p:nvPicPr>
          <p:cNvPr id="21" name="Graphic 20" descr="Checkmark with solid fill">
            <a:extLst>
              <a:ext uri="{FF2B5EF4-FFF2-40B4-BE49-F238E27FC236}">
                <a16:creationId xmlns:a16="http://schemas.microsoft.com/office/drawing/2014/main" id="{B770E1A5-7367-A485-4B38-FD64612DD2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16796" y="2349502"/>
            <a:ext cx="274375" cy="33241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D34295-0E2A-CD4D-4F28-FF9B301FB412}"/>
              </a:ext>
            </a:extLst>
          </p:cNvPr>
          <p:cNvSpPr/>
          <p:nvPr/>
        </p:nvSpPr>
        <p:spPr>
          <a:xfrm>
            <a:off x="9589858" y="583937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C429C6-B30A-2F2B-BB3C-8DDF1C058933}"/>
              </a:ext>
            </a:extLst>
          </p:cNvPr>
          <p:cNvSpPr/>
          <p:nvPr/>
        </p:nvSpPr>
        <p:spPr>
          <a:xfrm>
            <a:off x="8462961" y="1670908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Workflow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BB17E3-B43B-389B-E1C9-4E4DDB17F5CA}"/>
              </a:ext>
            </a:extLst>
          </p:cNvPr>
          <p:cNvSpPr/>
          <p:nvPr/>
        </p:nvSpPr>
        <p:spPr>
          <a:xfrm>
            <a:off x="7697207" y="5659830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4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68B279-6417-9DBB-04C7-15F29D9D351B}"/>
              </a:ext>
            </a:extLst>
          </p:cNvPr>
          <p:cNvCxnSpPr>
            <a:stCxn id="5" idx="2"/>
            <a:endCxn id="10" idx="0"/>
          </p:cNvCxnSpPr>
          <p:nvPr/>
        </p:nvCxnSpPr>
        <p:spPr>
          <a:xfrm>
            <a:off x="7904449" y="1178985"/>
            <a:ext cx="1305034" cy="491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2E4CEA-8650-619D-C318-AE600CA70D75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flipH="1">
            <a:off x="9209483" y="1178985"/>
            <a:ext cx="1126897" cy="491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897E8C8-40FD-F88A-7084-7C0DA4AA310F}"/>
              </a:ext>
            </a:extLst>
          </p:cNvPr>
          <p:cNvCxnSpPr/>
          <p:nvPr/>
        </p:nvCxnSpPr>
        <p:spPr>
          <a:xfrm>
            <a:off x="9003323" y="2265956"/>
            <a:ext cx="0" cy="491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818A20-5217-AF12-F877-8F366A382CC8}"/>
              </a:ext>
            </a:extLst>
          </p:cNvPr>
          <p:cNvCxnSpPr>
            <a:cxnSpLocks/>
          </p:cNvCxnSpPr>
          <p:nvPr/>
        </p:nvCxnSpPr>
        <p:spPr>
          <a:xfrm flipV="1">
            <a:off x="9493347" y="2265956"/>
            <a:ext cx="0" cy="491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2012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C2DC-4B2F-C88E-58BA-A299C199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ACA19-7A3B-B2A5-B7FF-EB8D76CEF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2C0B911-60F7-E6C2-6D6D-A4A679D891F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9283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[Actions]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Kies bestaande workflow (vb. Python package).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Of: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Kies: [set up a workflow </a:t>
            </a:r>
            <a:r>
              <a:rPr lang="nl-NL" sz="1800" dirty="0" err="1">
                <a:cs typeface="Courier New" panose="02070309020205020404" pitchFamily="49" charset="0"/>
              </a:rPr>
              <a:t>yourself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Beide opties maken een YAML bestand in: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workflows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0ABBE7B4-D197-4AC0-F8F4-F8A71707E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517" y="1083734"/>
            <a:ext cx="4879283" cy="502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6139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C14B5-DC74-2D01-58F7-E6086B83D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332F6-0EAC-F828-C52C-A048E2836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Workflows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90E4B74-0D92-1786-5579-396114096D0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854DC-BB4F-3FB0-EA4B-65FE191AD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083734"/>
            <a:ext cx="5124450" cy="50932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D39560-9CB6-3D8F-A708-C4969C152841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workflow.</a:t>
            </a:r>
          </a:p>
        </p:txBody>
      </p:sp>
    </p:spTree>
    <p:extLst>
      <p:ext uri="{BB962C8B-B14F-4D97-AF65-F5344CB8AC3E}">
        <p14:creationId xmlns:p14="http://schemas.microsoft.com/office/powerpoint/2010/main" val="25161703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C7D0A-5C0A-BF90-1AC4-3ED80AA1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3C3EA-C8CC-E518-642B-2C3968EB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D2A2572-8C44-56C3-F3E7-81486DF93309}"/>
              </a:ext>
            </a:extLst>
          </p:cNvPr>
          <p:cNvSpPr txBox="1">
            <a:spLocks/>
          </p:cNvSpPr>
          <p:nvPr/>
        </p:nvSpPr>
        <p:spPr>
          <a:xfrm>
            <a:off x="3362179" y="1392962"/>
            <a:ext cx="587326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bij elke push of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De run krijgt de naam van de commit.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Icoon geeft aan of de Workflow run succesvol was.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A818499-6E80-AB58-9B9F-1183EE729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153" y="2699303"/>
            <a:ext cx="8001693" cy="3589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43728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9BC5-7E32-1B69-2A8F-4173FDCB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8619A-5D02-2975-A578-B62A4E8A6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2E3B365-9234-7E44-0D26-C9B0457F3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165" y="2041897"/>
            <a:ext cx="8057669" cy="42815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E9305E-1E9A-2306-6ABE-F2D43B77502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een Workflow run voor logging.</a:t>
            </a:r>
          </a:p>
        </p:txBody>
      </p:sp>
    </p:spTree>
    <p:extLst>
      <p:ext uri="{BB962C8B-B14F-4D97-AF65-F5344CB8AC3E}">
        <p14:creationId xmlns:p14="http://schemas.microsoft.com/office/powerpoint/2010/main" val="6906650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B1D5-2126-D950-1929-049A1E35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70A84C-0DE9-2682-8BF7-4FAD8DF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EE7C78-BCB9-7ECC-44B7-6CEA8EEC2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4799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0D2C-ADE5-4D21-755C-F05FC23A8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967CD-B281-BE59-9CE0-F796CDAD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F2B6EA0-8C04-8FA6-99CC-1E3464AB58F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18A8119-E866-8730-7132-0A092BE30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0476" y="1456267"/>
            <a:ext cx="5493324" cy="2972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16955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372C-DF0F-2FC0-B845-8D45E9E57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98E8-0E40-AEC5-618C-8D42C260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D9BF3-01DD-79A6-2E67-6FF22168193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4" name="Picture 3" descr="A white rectangular object with a black text&#10;&#10;Description automatically generated">
            <a:extLst>
              <a:ext uri="{FF2B5EF4-FFF2-40B4-BE49-F238E27FC236}">
                <a16:creationId xmlns:a16="http://schemas.microsoft.com/office/drawing/2014/main" id="{7C090C70-7A3E-B871-AE35-452609AAC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"/>
          <a:stretch/>
        </p:blipFill>
        <p:spPr>
          <a:xfrm>
            <a:off x="6596818" y="861856"/>
            <a:ext cx="4541914" cy="1166970"/>
          </a:xfrm>
          <a:prstGeom prst="rect">
            <a:avLst/>
          </a:prstGeom>
        </p:spPr>
      </p:pic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DF38E6A-5AA8-2822-DF15-0C8D1D5D1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2280735"/>
            <a:ext cx="4503810" cy="62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0B8A15-7A66-FB99-368B-0EBF4761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3305622"/>
            <a:ext cx="4503810" cy="647756"/>
          </a:xfrm>
          <a:prstGeom prst="rect">
            <a:avLst/>
          </a:prstGeom>
        </p:spPr>
      </p:pic>
      <p:pic>
        <p:nvPicPr>
          <p:cNvPr id="11" name="Picture 1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6915651-EBC3-C094-D056-7BBFD10DA2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111" y="4353371"/>
            <a:ext cx="4473328" cy="7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775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B19BF-B785-6D19-41D4-62106282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FC332-7203-8EF4-CC7F-255CF31C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in actie</a:t>
            </a:r>
            <a:endParaRPr lang="nl-NL" sz="3600" noProof="0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A095823A-2DC0-6742-F867-2A8EF739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424" y="2372500"/>
            <a:ext cx="8657070" cy="28882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710E314-6F74-73E6-9416-2B71F2B7B61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als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wordt aangemaakt.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71F34A-2C3B-06E4-B0B7-78326E0E8876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ruleset.</a:t>
            </a:r>
          </a:p>
        </p:txBody>
      </p:sp>
    </p:spTree>
    <p:extLst>
      <p:ext uri="{BB962C8B-B14F-4D97-AF65-F5344CB8AC3E}">
        <p14:creationId xmlns:p14="http://schemas.microsoft.com/office/powerpoint/2010/main" val="27218857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40A45-57D6-4B57-6CF6-DFE11F1E9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579399-68A7-C464-3780-544D5077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7F936-2C11-9266-C225-9E47933CB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69308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A8A2-09C3-6C8E-58C3-68AE93B47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18F6F-5175-8AA3-408E-E1376865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Taken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DCBF055-7428-2021-44E2-CCD550754DA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31231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issue?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taak / concreet stukje werk: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nieuwe feature.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bugfix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documentatie.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Belangrijke elementen: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Duidelijke titel en omschrijving.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Wie gaat het oppakken.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Labels voor type werk.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Wanneer is het af?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36BBA03-D9DD-D985-58E3-1D280C65B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300" y="1456267"/>
            <a:ext cx="6865500" cy="30036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F34AA1-61CD-BB68-DC6E-4203E36B0424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issue.</a:t>
            </a:r>
          </a:p>
        </p:txBody>
      </p:sp>
    </p:spTree>
    <p:extLst>
      <p:ext uri="{BB962C8B-B14F-4D97-AF65-F5344CB8AC3E}">
        <p14:creationId xmlns:p14="http://schemas.microsoft.com/office/powerpoint/2010/main" val="11813468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3243-7060-08BD-5B17-B06F47013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D41-8C28-A022-3B9A-B66CEB5E9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60CB07D-A0C4-FF85-0497-1D6563BCF9E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51234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project?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manier om issues overzichtelijk te beheren.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Verschillende project types: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Kanban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Team planning (sprints)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Bug </a:t>
            </a:r>
            <a:r>
              <a:rPr lang="nl-NL" sz="1400" dirty="0" err="1"/>
              <a:t>tracker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14531A-6392-C5C6-F5A2-CE3FE262D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4491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96098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C3AE-0169-3972-ED43-AD95D673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656-2A36-B53F-DB52-9C99DA4E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98D2FF-672C-B65D-CD5F-9C29055B0C8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Het soort project kun je verder verfijnen via de instellingen: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Status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voortgangsstadia.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 err="1"/>
              <a:t>Size</a:t>
            </a:r>
            <a:r>
              <a:rPr lang="nl-NL" sz="1400" b="1" dirty="0"/>
              <a:t> / </a:t>
            </a:r>
            <a:r>
              <a:rPr lang="nl-NL" sz="1400" b="1" dirty="0" err="1"/>
              <a:t>Estimate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Inschatting hoeveelheid werk.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Aanmaken van sprints.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CBF1A83-01C2-F077-9F4B-A247040B0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341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92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B6063-BEB7-7383-638E-90AFF96E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30C9-3A6F-5853-08FD-7F963B97E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Views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688E2-2DD8-7204-4574-BF73A3C2897D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44090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Geven taken op overzichtelijke wijze weer: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Backlog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Alle taken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Team </a:t>
            </a:r>
            <a:r>
              <a:rPr lang="nl-NL" sz="1400" b="1" dirty="0" err="1"/>
              <a:t>capacity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opgesplitst naar team leden.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Current</a:t>
            </a:r>
            <a:r>
              <a:rPr lang="nl-NL" sz="1400" b="1" dirty="0"/>
              <a:t> 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in huidige sprint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geplot op een tijdslijn.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C7653E-444E-0293-457C-27DCB185E5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376" y="1456267"/>
            <a:ext cx="6703423" cy="42734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68E47C-6D4E-459C-E033-E6D66184E5C7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project.</a:t>
            </a:r>
          </a:p>
        </p:txBody>
      </p:sp>
    </p:spTree>
    <p:extLst>
      <p:ext uri="{BB962C8B-B14F-4D97-AF65-F5344CB8AC3E}">
        <p14:creationId xmlns:p14="http://schemas.microsoft.com/office/powerpoint/2010/main" val="41964149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1D5F-9654-14C3-B3A3-AB203A2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FD4893-329D-8D25-841F-BA4F43A3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Azure DevOps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137B2-F265-4526-446D-BE8D5D323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00936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A7DD-5ECD-B1C2-6E37-C35041EF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12DD-C13A-2559-9403-0C56DDB4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CD9C80-8B0D-75DD-5F1D-6B529DB688A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6801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Project </a:t>
            </a:r>
            <a:r>
              <a:rPr lang="nl-NL" sz="1600" b="1" dirty="0" err="1"/>
              <a:t>settings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Vul een naam en omschrijving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Visibility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public voor de cursus.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/>
              <a:t>Version control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altijd git.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Work</a:t>
            </a:r>
            <a:r>
              <a:rPr lang="nl-NL" sz="1600" b="1" dirty="0"/>
              <a:t> item </a:t>
            </a:r>
            <a:r>
              <a:rPr lang="nl-NL" sz="1600" b="1" dirty="0" err="1"/>
              <a:t>process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voor nu Agile.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D0A9FB0-B883-D5BA-AD67-162793247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7889"/>
            <a:ext cx="4352109" cy="47235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177094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438C9-E557-D2D0-ADB3-F95C616D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E408-0B35-DCF9-49AF-F5DEB3BF9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BA5BEF-F66C-FC7D-5332-0A7F2436412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Overview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Overzicht van het project met eventueel een Wiki.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Boards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Bijhouden en plannen van taken.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Repos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Git repositories voor opslag code.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Pipelines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Pipelines voor het checken van code.</a:t>
            </a: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39357847-F17D-3A78-F4B0-0E72CC60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156" y="1456267"/>
            <a:ext cx="7172644" cy="36347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1659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FFB3-ECDA-5C06-AC04-FBE84026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6A56-7BFC-E53B-9878-AD96BCEFF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1AA1F46-F546-B40E-3EBF-371482A4F751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Nieuw </a:t>
            </a:r>
            <a:r>
              <a:rPr lang="nl-NL" sz="1600" b="1" dirty="0" err="1"/>
              <a:t>repo</a:t>
            </a:r>
            <a:r>
              <a:rPr lang="nl-NL" sz="1600" b="1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op het standaard </a:t>
            </a:r>
            <a:r>
              <a:rPr lang="nl-NL" sz="1600" dirty="0" err="1"/>
              <a:t>repo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New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rechts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Kies None voor .</a:t>
            </a:r>
            <a:r>
              <a:rPr lang="nl-NL" sz="1600" dirty="0" err="1"/>
              <a:t>gitignore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FBFE6A5-B7C7-781E-46B1-C33A95D01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"/>
          <a:stretch/>
        </p:blipFill>
        <p:spPr>
          <a:xfrm>
            <a:off x="4132074" y="1456267"/>
            <a:ext cx="3024767" cy="14635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E0A5B9E-367E-3D8B-CA7D-3938887811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8958" y="1382233"/>
            <a:ext cx="3699024" cy="48333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715241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B69A-27AF-3E88-6B92-83AA54F2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1FCFEF-4576-BA50-48F9-213CFB1F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F9A5EB-ABF8-C79A-B812-190A04CCF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22900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0656D-C988-26AF-CD83-C4181D2E0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9BDA-8F1D-4172-D293-7A7CB8AD2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8E0398-0270-3009-2916-F6C2561BA9E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</a:t>
            </a:r>
            <a:r>
              <a:rPr lang="nl-NL" sz="1800" dirty="0" err="1"/>
              <a:t>Repos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 in het menu.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87772F24-7AB5-8674-6947-98F99E31F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8716" y="1540293"/>
            <a:ext cx="5775084" cy="37774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347411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04F9-24C5-70E7-FA3C-61FA72A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C83C5-B471-520C-D2F6-A770979E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83C5A6B-C4B3-3F37-020B-D2D11AE62B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titel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beschrijving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].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7AA46CE-4239-BDB3-1BA7-614F70D5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097" y="740832"/>
            <a:ext cx="4838703" cy="5376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812074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D70F-F2CC-D7A9-8C4A-56DCDA24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CF83-C799-8E53-747B-70F56D8E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3B0FC21-4BAC-C69A-FDEF-C7263E28D87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Bekijk de wijzigingen onder [Files].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2E02ED40-3058-4FE5-93FF-020B27572C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887" y="3139188"/>
            <a:ext cx="8658225" cy="3037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89924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4FD20-4C07-03C2-C2A4-3A3269BB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1CD1F-04A2-B86A-8843-90E6C4845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A5359B5-3F38-7AAF-0979-0D16A9E9021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algemeen oordeel.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6E97D6B-29C4-23B3-E848-5C021BF56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472" y="1135856"/>
            <a:ext cx="6049328" cy="5041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05709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325B9-AF3C-7895-59FC-1F3993BB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BFAC46-49A0-5693-9394-902A9BDE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Pipelines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B7073-A1E4-256D-C41A-262D36882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51306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A4B2-B593-8EA2-309D-20619A5B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17C7D-542D-5E0E-8B97-FC019E36A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C18E835-28F3-0B3A-1686-C4DE3B7D869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Ga naar Pipelines in het menu.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 err="1">
                <a:cs typeface="Courier New" panose="02070309020205020404" pitchFamily="49" charset="0"/>
              </a:rPr>
              <a:t>Create</a:t>
            </a:r>
            <a:r>
              <a:rPr lang="nl-NL" sz="1800" dirty="0">
                <a:cs typeface="Courier New" panose="02070309020205020404" pitchFamily="49" charset="0"/>
              </a:rPr>
              <a:t> Pipeline] 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[Azure </a:t>
            </a:r>
            <a:r>
              <a:rPr lang="nl-NL" sz="1800" dirty="0" err="1">
                <a:cs typeface="Courier New" panose="02070309020205020404" pitchFamily="49" charset="0"/>
              </a:rPr>
              <a:t>Repos</a:t>
            </a:r>
            <a:r>
              <a:rPr lang="nl-NL" sz="1800" dirty="0">
                <a:cs typeface="Courier New" panose="02070309020205020404" pitchFamily="49" charset="0"/>
              </a:rPr>
              <a:t> Git] als code locatie.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je repository.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een template.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A3F661BA-48FC-8C7E-497F-821C276F9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807" y="1456267"/>
            <a:ext cx="5443993" cy="390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48305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6F81-3777-6564-55D0-0DA5581B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908A-6C17-763B-2031-8311C418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89461F-BAB9-7C49-7EC4-4BF744C25FD0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FBF7872-87CB-7F9A-34B2-E34315E50B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8" y="789248"/>
            <a:ext cx="4081462" cy="52795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16502-0018-DFD8-DB74-32B0039B2B00}"/>
              </a:ext>
            </a:extLst>
          </p:cNvPr>
          <p:cNvSpPr txBox="1"/>
          <p:nvPr/>
        </p:nvSpPr>
        <p:spPr>
          <a:xfrm>
            <a:off x="6858000" y="11930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FE9B59-910B-0C2D-7FAA-C7881548241F}"/>
              </a:ext>
            </a:extLst>
          </p:cNvPr>
          <p:cNvSpPr txBox="1"/>
          <p:nvPr/>
        </p:nvSpPr>
        <p:spPr>
          <a:xfrm>
            <a:off x="6858000" y="24026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78D2C-C6C7-73FD-4F64-9BC60FFFA991}"/>
              </a:ext>
            </a:extLst>
          </p:cNvPr>
          <p:cNvSpPr txBox="1"/>
          <p:nvPr/>
        </p:nvSpPr>
        <p:spPr>
          <a:xfrm>
            <a:off x="6858000" y="4360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76152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848B5-626E-3941-6F00-FE3797B2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A4A8-CC86-2AFC-090C-2C2240F71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B6BE4C-2689-2425-1163-4B0F478EE40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49103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pipeline draait als code naar het repository wordt </a:t>
            </a:r>
            <a:r>
              <a:rPr lang="nl-NL" sz="1800" dirty="0" err="1">
                <a:cs typeface="Courier New" panose="02070309020205020404" pitchFamily="49" charset="0"/>
              </a:rPr>
              <a:t>gepushed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Summary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Overzicht dat aangeeft welke pipeline heeft gedraaid en op welke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Onderaan staan jobs waarop je kunt doorklikken.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Tests / Code Coverage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Resultaten van eventuele unit tests.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8DBAB30-4A22-879C-DA72-E12C05259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823" y="1185862"/>
            <a:ext cx="5371977" cy="51712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92705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2054-AEF5-DDBD-D61C-81DF100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118A4-5651-AE7D-FB6E-B9A5A2FA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6898278-72A2-F120-F8E3-BCBC30355F4F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1765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Links staan alle stappen die doorlopen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Klikt op een stap om de output ervan te zien.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Hier vind je bijvoorbeeld foutmeldingen van </a:t>
            </a:r>
            <a:r>
              <a:rPr lang="nl-NL" sz="1800" dirty="0" err="1">
                <a:cs typeface="Courier New" panose="02070309020205020404" pitchFamily="49" charset="0"/>
              </a:rPr>
              <a:t>pylint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364B808-1C63-1DBE-2988-343F26706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169" y="1645604"/>
            <a:ext cx="6574631" cy="42804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19333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14037-72EA-178C-B847-D41BAF88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4E041-62AC-F297-A482-BD77C31FB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FD642-C88E-EAEE-94F7-76B7DDA8D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12918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35B7-4993-ED63-E632-F6E1AE4B3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1133-C749-2482-5CCD-B1321F2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4B3ADDA-62C6-F61E-AC4A-99FD10D09AF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repository: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[Branches].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⁞</a:t>
            </a:r>
            <a:r>
              <a:rPr lang="nl-NL" sz="1800" dirty="0">
                <a:cs typeface="Courier New" panose="02070309020205020404" pitchFamily="49" charset="0"/>
              </a:rPr>
              <a:t>] achter een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Selecteer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Project </a:t>
            </a:r>
            <a:r>
              <a:rPr lang="nl-NL" sz="1800" b="1" dirty="0" err="1">
                <a:cs typeface="Courier New" panose="02070309020205020404" pitchFamily="49" charset="0"/>
              </a:rPr>
              <a:t>settings</a:t>
            </a:r>
            <a:r>
              <a:rPr lang="nl-NL" sz="1800" b="1" dirty="0"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[Repositories].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onderaan op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3C804938-29B9-170E-3018-FFFFE4144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602" y="1456267"/>
            <a:ext cx="5184198" cy="44127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1450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FC77-8324-EEF5-9364-F1ECD165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084E6-BA8C-00CC-6D50-E8CE0A7F8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8D072B6-3A54-8FCF-824E-67AF90F9DF8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Gebruik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 om je branches te beveiligen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die niet door de Pipeline 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survey&#10;&#10;Description automatically generated">
            <a:extLst>
              <a:ext uri="{FF2B5EF4-FFF2-40B4-BE49-F238E27FC236}">
                <a16:creationId xmlns:a16="http://schemas.microsoft.com/office/drawing/2014/main" id="{3B3E8D4C-80F0-7DCA-B369-03985FD75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1820598"/>
            <a:ext cx="4032776" cy="1212512"/>
          </a:xfrm>
          <a:prstGeom prst="rect">
            <a:avLst/>
          </a:prstGeom>
        </p:spPr>
      </p:pic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0E2F8CCC-CB76-8458-7214-724A1B8044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3342817"/>
            <a:ext cx="4032777" cy="132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5869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D6C7-3E16-7F1B-8A63-776617B0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369F13-B442-C5BD-ABE3-E0B3DE9B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CEAC3D-2255-0E6E-20DC-934D3AA56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851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6478-208E-4485-7412-1112BCEA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1244-0FFC-077F-DAC9-19B84796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Work</a:t>
            </a:r>
            <a:r>
              <a:rPr lang="nl-NL" sz="3600" noProof="0" dirty="0"/>
              <a:t> Item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87EF73-84DA-F055-69D3-4BE7B854250A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Nieuw </a:t>
            </a:r>
            <a:r>
              <a:rPr lang="nl-NL" sz="1400" b="1" dirty="0" err="1"/>
              <a:t>work</a:t>
            </a:r>
            <a:r>
              <a:rPr lang="nl-NL" sz="1400" b="1" dirty="0"/>
              <a:t> item maken: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naar: </a:t>
            </a:r>
            <a:r>
              <a:rPr lang="nl-NL" sz="1400" dirty="0" err="1"/>
              <a:t>Work</a:t>
            </a:r>
            <a:r>
              <a:rPr lang="nl-NL" sz="1400" dirty="0"/>
              <a:t> Items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Kies: [+ New </a:t>
            </a:r>
            <a:r>
              <a:rPr lang="nl-NL" sz="1400" dirty="0" err="1"/>
              <a:t>Work</a:t>
            </a:r>
            <a:r>
              <a:rPr lang="nl-NL" sz="1400" dirty="0"/>
              <a:t> Item].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Beschrijvende informatie: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Titel en omschrijving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Acceptance</a:t>
            </a:r>
            <a:r>
              <a:rPr lang="nl-NL" sz="1400" dirty="0"/>
              <a:t> criteria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Geef status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New &gt; Active &gt; </a:t>
            </a:r>
            <a:r>
              <a:rPr lang="nl-NL" sz="1400" dirty="0" err="1"/>
              <a:t>Resolved</a:t>
            </a:r>
            <a:r>
              <a:rPr lang="nl-NL" sz="1400" dirty="0"/>
              <a:t> &gt; 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Aantal punten: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0, 1, 2, 3, 5, 8, 13, 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Gerelateerd aan: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Kies een Parent / Child item.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A3FEB6-3EA3-738A-D432-152D391FF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0" y="1456267"/>
            <a:ext cx="6776090" cy="40690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79589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8D910-2CA4-E77C-55F0-0BCD7B904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315C-BBC2-36EE-1116-330460BE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Boards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0B0CAD1-A08B-930E-4B19-D53C3C3E0BC7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Kanban</a:t>
            </a:r>
            <a:r>
              <a:rPr lang="nl-NL" sz="1400" b="1" dirty="0"/>
              <a:t>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op voortgangsstadia: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New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Active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Resolved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Eenvoudig systeem.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Focus op voortgang.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Kan gecombineerd met sprints.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3E7CEDC8-9D44-8845-54AC-CA4D748EB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"/>
          <a:stretch/>
        </p:blipFill>
        <p:spPr>
          <a:xfrm>
            <a:off x="4103177" y="1456267"/>
            <a:ext cx="7250623" cy="46003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3167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D27A-1585-9D67-FC6D-343DA420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86527-6541-BDFC-8C7D-9EC5D76BD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Sprints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4A2657-E372-A02D-8D65-105F3DFA126E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Iteratief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vaste iteraties: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Sprints van 2 a 3 weken.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Vaste fases: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Planning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Implementatie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Review en </a:t>
            </a:r>
            <a:r>
              <a:rPr lang="nl-NL" sz="1400" dirty="0" err="1"/>
              <a:t>Retrospective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Opdelen in overzichtelijke brokjes.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Regelmatige terugkoppeling.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Tussendoor bijsturen.</a:t>
            </a: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D9F988C-2BAA-8AF6-7EB5-9A8DF3411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177" y="1456267"/>
            <a:ext cx="7250623" cy="4236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4004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3600" dirty="0"/>
              <a:t>Bedankt voor jullie aandacht!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1800" dirty="0"/>
              <a:t>Feedback op de cursus zeer welkom!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14874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2209</Words>
  <Application>Microsoft Office PowerPoint</Application>
  <PresentationFormat>Widescreen</PresentationFormat>
  <Paragraphs>665</Paragraphs>
  <Slides>66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Code delen</vt:lpstr>
      <vt:lpstr>Van lokaal naar remote</vt:lpstr>
      <vt:lpstr>Van lokaal naar remote</vt:lpstr>
      <vt:lpstr>Van lokaal naar remote</vt:lpstr>
      <vt:lpstr>Gedistribueerd systeem</vt:lpstr>
      <vt:lpstr>Gedistribueerd systeem</vt:lpstr>
      <vt:lpstr>Gedistribueerd systeem</vt:lpstr>
      <vt:lpstr>Remote SAAS</vt:lpstr>
      <vt:lpstr>Bestaand Github repo</vt:lpstr>
      <vt:lpstr>Remote repo binnenhalen</vt:lpstr>
      <vt:lpstr>Wijzigingen ophalen</vt:lpstr>
      <vt:lpstr>Nieuw Github repo</vt:lpstr>
      <vt:lpstr>Repo aanmaken</vt:lpstr>
      <vt:lpstr>Lokaal repo koppelen</vt:lpstr>
      <vt:lpstr>Wijzigingen wegschrijven</vt:lpstr>
      <vt:lpstr>Nieuwe branches</vt:lpstr>
      <vt:lpstr>Branch tracking</vt:lpstr>
      <vt:lpstr>Remote branches</vt:lpstr>
      <vt:lpstr>Branch verwijderen</vt:lpstr>
      <vt:lpstr>Pull requests</vt:lpstr>
      <vt:lpstr>Wat is een Pull Request?</vt:lpstr>
      <vt:lpstr>Een PR aanmaken</vt:lpstr>
      <vt:lpstr>Een PR aanmaken</vt:lpstr>
      <vt:lpstr>Een PR reviewen</vt:lpstr>
      <vt:lpstr>Een PR reviewen</vt:lpstr>
      <vt:lpstr>Tips: PR maken</vt:lpstr>
      <vt:lpstr>Tips: PR reviewen</vt:lpstr>
      <vt:lpstr>Workflows en Actions</vt:lpstr>
      <vt:lpstr>Wat is een Workflow?</vt:lpstr>
      <vt:lpstr>Workflow maken</vt:lpstr>
      <vt:lpstr>Workflows maken</vt:lpstr>
      <vt:lpstr>Workflow draaien</vt:lpstr>
      <vt:lpstr>Workflow draaien</vt:lpstr>
      <vt:lpstr>Branches beveiligen</vt:lpstr>
      <vt:lpstr>Ruleset maken</vt:lpstr>
      <vt:lpstr>Ruleset maken</vt:lpstr>
      <vt:lpstr>Ruleset in actie</vt:lpstr>
      <vt:lpstr>Taken beheren</vt:lpstr>
      <vt:lpstr>Taken aanmaken</vt:lpstr>
      <vt:lpstr>Project aanmaken</vt:lpstr>
      <vt:lpstr>Project aanmaken</vt:lpstr>
      <vt:lpstr>Views</vt:lpstr>
      <vt:lpstr>Azure DevOps</vt:lpstr>
      <vt:lpstr>Project aanmaken</vt:lpstr>
      <vt:lpstr>Projecten</vt:lpstr>
      <vt:lpstr>Repo aanmaken</vt:lpstr>
      <vt:lpstr>Pull Requests</vt:lpstr>
      <vt:lpstr>Een PR aanmaken</vt:lpstr>
      <vt:lpstr>Een PR aanmaken</vt:lpstr>
      <vt:lpstr>Een PR reviewen</vt:lpstr>
      <vt:lpstr>Een PR reviewen</vt:lpstr>
      <vt:lpstr>Pipelines</vt:lpstr>
      <vt:lpstr>Pipeline maken</vt:lpstr>
      <vt:lpstr>Pipeline maken</vt:lpstr>
      <vt:lpstr>Pipeline draaien</vt:lpstr>
      <vt:lpstr>Pipeline draaien</vt:lpstr>
      <vt:lpstr>Branches beveiligen</vt:lpstr>
      <vt:lpstr>Branch Policies</vt:lpstr>
      <vt:lpstr>Branch Policies</vt:lpstr>
      <vt:lpstr>Taken beheren</vt:lpstr>
      <vt:lpstr>Work Item aanmaken</vt:lpstr>
      <vt:lpstr>Boards</vt:lpstr>
      <vt:lpstr>Sprints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1248</cp:revision>
  <dcterms:created xsi:type="dcterms:W3CDTF">2022-11-09T07:34:24Z</dcterms:created>
  <dcterms:modified xsi:type="dcterms:W3CDTF">2026-10-05T09:27:14Z</dcterms:modified>
</cp:coreProperties>
</file>